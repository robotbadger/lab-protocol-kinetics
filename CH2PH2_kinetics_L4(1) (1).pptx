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402" r:id="rId5"/>
    <p:sldId id="430" r:id="rId6"/>
    <p:sldId id="517" r:id="rId7"/>
    <p:sldId id="432" r:id="rId8"/>
    <p:sldId id="433" r:id="rId9"/>
    <p:sldId id="434" r:id="rId10"/>
    <p:sldId id="435" r:id="rId11"/>
    <p:sldId id="436" r:id="rId12"/>
    <p:sldId id="518" r:id="rId13"/>
    <p:sldId id="519" r:id="rId14"/>
    <p:sldId id="520" r:id="rId15"/>
    <p:sldId id="521" r:id="rId16"/>
    <p:sldId id="437" r:id="rId17"/>
    <p:sldId id="438" r:id="rId18"/>
    <p:sldId id="526" r:id="rId19"/>
    <p:sldId id="439" r:id="rId20"/>
    <p:sldId id="527" r:id="rId21"/>
    <p:sldId id="440" r:id="rId22"/>
    <p:sldId id="441" r:id="rId23"/>
    <p:sldId id="442" r:id="rId24"/>
    <p:sldId id="443" r:id="rId25"/>
    <p:sldId id="444" r:id="rId26"/>
    <p:sldId id="525" r:id="rId27"/>
    <p:sldId id="522" r:id="rId28"/>
    <p:sldId id="446" r:id="rId29"/>
    <p:sldId id="447" r:id="rId30"/>
    <p:sldId id="448" r:id="rId31"/>
    <p:sldId id="529" r:id="rId32"/>
    <p:sldId id="449" r:id="rId33"/>
    <p:sldId id="450" r:id="rId34"/>
    <p:sldId id="528" r:id="rId35"/>
    <p:sldId id="524" r:id="rId36"/>
    <p:sldId id="530" r:id="rId37"/>
    <p:sldId id="452" r:id="rId38"/>
    <p:sldId id="453" r:id="rId39"/>
    <p:sldId id="488" r:id="rId40"/>
    <p:sldId id="454" r:id="rId41"/>
    <p:sldId id="455" r:id="rId42"/>
    <p:sldId id="523" r:id="rId43"/>
    <p:sldId id="531" r:id="rId44"/>
  </p:sldIdLst>
  <p:sldSz cx="9144000" cy="6858000" type="screen4x3"/>
  <p:notesSz cx="7099300" cy="10234613"/>
  <p:embeddedFontLst>
    <p:embeddedFont>
      <p:font typeface="Rdg Vesta" panose="020B0604020202020204" charset="0"/>
      <p:regular r:id="rId47"/>
      <p:bold r:id="rId48"/>
      <p:italic r:id="rId49"/>
      <p:boldItalic r:id="rId50"/>
    </p:embeddedFont>
    <p:embeddedFont>
      <p:font typeface="Times" panose="02020603050405020304" pitchFamily="18" charset="0"/>
      <p:regular r:id="rId51"/>
      <p:bold r:id="rId52"/>
      <p:italic r:id="rId53"/>
      <p:boldItalic r:id="rId54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EAF35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0"/>
  </p:normalViewPr>
  <p:slideViewPr>
    <p:cSldViewPr snapToGrid="0">
      <p:cViewPr varScale="1">
        <p:scale>
          <a:sx n="92" d="100"/>
          <a:sy n="92" d="100"/>
        </p:scale>
        <p:origin x="1059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9E63729E-F98D-59AE-8FA6-FDDC881E90FE}"/>
    <pc:docChg chg="custSel addSld modSld">
      <pc:chgData name="James Hallett" userId="c714d19a-e50d-439a-876c-0e1be1458f92" providerId="ADAL" clId="{9E63729E-F98D-59AE-8FA6-FDDC881E90FE}" dt="2026-02-10T10:12:46.592" v="394" actId="20577"/>
      <pc:docMkLst>
        <pc:docMk/>
      </pc:docMkLst>
      <pc:sldChg chg="modSp new mod">
        <pc:chgData name="James Hallett" userId="c714d19a-e50d-439a-876c-0e1be1458f92" providerId="ADAL" clId="{9E63729E-F98D-59AE-8FA6-FDDC881E90FE}" dt="2026-02-10T10:12:46.592" v="394" actId="20577"/>
        <pc:sldMkLst>
          <pc:docMk/>
          <pc:sldMk cId="1179132420" sldId="531"/>
        </pc:sldMkLst>
        <pc:spChg chg="mod">
          <ac:chgData name="James Hallett" userId="c714d19a-e50d-439a-876c-0e1be1458f92" providerId="ADAL" clId="{9E63729E-F98D-59AE-8FA6-FDDC881E90FE}" dt="2026-02-10T10:11:35.215" v="17" actId="20577"/>
          <ac:spMkLst>
            <pc:docMk/>
            <pc:sldMk cId="1179132420" sldId="531"/>
            <ac:spMk id="2" creationId="{9EEC94A4-3989-00D8-A677-A9C5C09091F9}"/>
          </ac:spMkLst>
        </pc:spChg>
        <pc:spChg chg="mod">
          <ac:chgData name="James Hallett" userId="c714d19a-e50d-439a-876c-0e1be1458f92" providerId="ADAL" clId="{9E63729E-F98D-59AE-8FA6-FDDC881E90FE}" dt="2026-02-10T10:12:46.592" v="394" actId="20577"/>
          <ac:spMkLst>
            <pc:docMk/>
            <pc:sldMk cId="1179132420" sldId="531"/>
            <ac:spMk id="3" creationId="{6DE53829-9537-213B-6CC5-67BD19A990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400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758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246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742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603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373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115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56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649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344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989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88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517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4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064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410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388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92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78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608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684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720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386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5117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210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073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A898-9D8B-D9BF-8FA9-891C84CC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5C676-1305-C2DD-2F1E-E1974DE1B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B593E-A485-F058-5280-0279B788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20C21-7F3F-27C8-41DB-7F7B72F0F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8815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1845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3763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5376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07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063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17 March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5ptI6Pi3GA?start=50&amp;feature=oembed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/>
              <a:t>Dr. James Hallett</a:t>
            </a:r>
          </a:p>
          <a:p>
            <a:r>
              <a:rPr lang="en-US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3833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F8CB49-BCE7-4B27-9728-A290959C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 loops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C4AFD-3420-45F8-B729-42701CB84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30650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/>
              <a:t>Why do these reach steady-state?</a:t>
            </a:r>
            <a:endParaRPr lang="en-US" sz="30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380466" cy="56435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dirty="0"/>
              <a:t>Negative feedback gives stability (“stable equilibrium”)</a:t>
            </a:r>
            <a:endParaRPr lang="en-US" sz="21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47664" y="3374994"/>
            <a:ext cx="3176588" cy="1100138"/>
            <a:chOff x="478" y="1554"/>
            <a:chExt cx="3381" cy="117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911" y="2287"/>
              <a:ext cx="421" cy="421"/>
              <a:chOff x="1051" y="3337"/>
              <a:chExt cx="421" cy="421"/>
            </a:xfrm>
          </p:grpSpPr>
          <p:sp>
            <p:nvSpPr>
              <p:cNvPr id="32774" name="Oval 6"/>
              <p:cNvSpPr>
                <a:spLocks noChangeArrowheads="1"/>
              </p:cNvSpPr>
              <p:nvPr/>
            </p:nvSpPr>
            <p:spPr bwMode="auto">
              <a:xfrm>
                <a:off x="1051" y="3337"/>
                <a:ext cx="421" cy="42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1223" y="3410"/>
                <a:ext cx="156" cy="156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2776" name="Arc 8"/>
            <p:cNvSpPr>
              <a:spLocks/>
            </p:cNvSpPr>
            <p:nvPr/>
          </p:nvSpPr>
          <p:spPr bwMode="auto">
            <a:xfrm flipV="1">
              <a:off x="2167" y="1555"/>
              <a:ext cx="1692" cy="11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7" name="Arc 9"/>
            <p:cNvSpPr>
              <a:spLocks/>
            </p:cNvSpPr>
            <p:nvPr/>
          </p:nvSpPr>
          <p:spPr bwMode="auto">
            <a:xfrm flipH="1" flipV="1">
              <a:off x="478" y="1554"/>
              <a:ext cx="1692" cy="11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 flipH="1">
              <a:off x="2650" y="2405"/>
              <a:ext cx="139" cy="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 flipH="1">
              <a:off x="2963" y="2103"/>
              <a:ext cx="257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grpSp>
          <p:nvGrpSpPr>
            <p:cNvPr id="4" name="Group 12"/>
            <p:cNvGrpSpPr>
              <a:grpSpLocks/>
            </p:cNvGrpSpPr>
            <p:nvPr/>
          </p:nvGrpSpPr>
          <p:grpSpPr bwMode="auto">
            <a:xfrm flipH="1">
              <a:off x="994" y="2029"/>
              <a:ext cx="570" cy="339"/>
              <a:chOff x="2493" y="3546"/>
              <a:chExt cx="570" cy="339"/>
            </a:xfrm>
          </p:grpSpPr>
          <p:sp>
            <p:nvSpPr>
              <p:cNvPr id="32781" name="Line 13"/>
              <p:cNvSpPr>
                <a:spLocks noChangeShapeType="1"/>
              </p:cNvSpPr>
              <p:nvPr/>
            </p:nvSpPr>
            <p:spPr bwMode="auto">
              <a:xfrm flipH="1">
                <a:off x="2493" y="3848"/>
                <a:ext cx="139" cy="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2782" name="Line 14"/>
              <p:cNvSpPr>
                <a:spLocks noChangeShapeType="1"/>
              </p:cNvSpPr>
              <p:nvPr/>
            </p:nvSpPr>
            <p:spPr bwMode="auto">
              <a:xfrm flipH="1">
                <a:off x="2806" y="3546"/>
                <a:ext cx="257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5009108" y="2968373"/>
            <a:ext cx="286702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100" dirty="0" err="1">
                <a:solidFill>
                  <a:prstClr val="black"/>
                </a:solidFill>
              </a:rPr>
              <a:t>Eg</a:t>
            </a:r>
            <a:r>
              <a:rPr lang="en-GB" sz="2100" dirty="0">
                <a:solidFill>
                  <a:prstClr val="black"/>
                </a:solidFill>
              </a:rPr>
              <a:t>: ball at the bottom of a valley: The further away the ball is from the centre, the greater the force pushing it back</a:t>
            </a:r>
            <a:endParaRPr lang="en-US" sz="2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6966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Neutrally stable:</a:t>
            </a: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172200" cy="564356"/>
          </a:xfrm>
        </p:spPr>
        <p:txBody>
          <a:bodyPr>
            <a:normAutofit/>
          </a:bodyPr>
          <a:lstStyle/>
          <a:p>
            <a:r>
              <a:rPr lang="en-GB" dirty="0"/>
              <a:t>Zero feedback gives “neutral equilibrium”</a:t>
            </a: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58716" y="3395663"/>
            <a:ext cx="395288" cy="396479"/>
            <a:chOff x="1051" y="3337"/>
            <a:chExt cx="421" cy="421"/>
          </a:xfrm>
        </p:grpSpPr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1051" y="3337"/>
              <a:ext cx="421" cy="4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>
              <a:off x="1223" y="3410"/>
              <a:ext cx="156" cy="156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4972051" y="2888458"/>
            <a:ext cx="286702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100" dirty="0" err="1">
                <a:solidFill>
                  <a:prstClr val="black"/>
                </a:solidFill>
              </a:rPr>
              <a:t>Eg</a:t>
            </a:r>
            <a:r>
              <a:rPr lang="en-GB" sz="2100" dirty="0">
                <a:solidFill>
                  <a:prstClr val="black"/>
                </a:solidFill>
              </a:rPr>
              <a:t>: “ball on flat ground“ – no restoring force; move it to the right – it stays there.</a:t>
            </a:r>
            <a:endParaRPr lang="en-US" sz="2100" dirty="0">
              <a:solidFill>
                <a:prstClr val="black"/>
              </a:solidFill>
            </a:endParaRPr>
          </a:p>
        </p:txBody>
      </p:sp>
      <p:sp>
        <p:nvSpPr>
          <p:cNvPr id="33826" name="Line 34"/>
          <p:cNvSpPr>
            <a:spLocks noChangeShapeType="1"/>
          </p:cNvSpPr>
          <p:nvPr/>
        </p:nvSpPr>
        <p:spPr bwMode="auto">
          <a:xfrm>
            <a:off x="2514601" y="3798094"/>
            <a:ext cx="15787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8767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Unstable</a:t>
            </a:r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172200" cy="56435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i="1" dirty="0"/>
              <a:t>Positive </a:t>
            </a:r>
            <a:r>
              <a:rPr lang="en-GB" sz="2100" dirty="0"/>
              <a:t>feedback gives instability (things that make themselves worse)</a:t>
            </a:r>
            <a:endParaRPr lang="en-US" sz="2100" dirty="0"/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4966920" y="2942947"/>
            <a:ext cx="2867025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100" dirty="0" err="1">
                <a:solidFill>
                  <a:prstClr val="black"/>
                </a:solidFill>
              </a:rPr>
              <a:t>Eg</a:t>
            </a:r>
            <a:r>
              <a:rPr lang="en-GB" sz="2100" dirty="0">
                <a:solidFill>
                  <a:prstClr val="black"/>
                </a:solidFill>
              </a:rPr>
              <a:t>: ball on top of a hill – no restoring force; move it to the right – the slope pushes it even further.</a:t>
            </a:r>
            <a:endParaRPr lang="en-US" sz="2100" dirty="0">
              <a:solidFill>
                <a:prstClr val="black"/>
              </a:solidFill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897814" y="2996952"/>
            <a:ext cx="395288" cy="396478"/>
            <a:chOff x="1051" y="3337"/>
            <a:chExt cx="421" cy="421"/>
          </a:xfrm>
        </p:grpSpPr>
        <p:sp>
          <p:nvSpPr>
            <p:cNvPr id="34830" name="Oval 14"/>
            <p:cNvSpPr>
              <a:spLocks noChangeArrowheads="1"/>
            </p:cNvSpPr>
            <p:nvPr/>
          </p:nvSpPr>
          <p:spPr bwMode="auto">
            <a:xfrm>
              <a:off x="1051" y="3337"/>
              <a:ext cx="421" cy="4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auto">
            <a:xfrm>
              <a:off x="1223" y="3410"/>
              <a:ext cx="156" cy="156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34832" name="Arc 16"/>
          <p:cNvSpPr>
            <a:spLocks/>
          </p:cNvSpPr>
          <p:nvPr/>
        </p:nvSpPr>
        <p:spPr bwMode="auto">
          <a:xfrm>
            <a:off x="3159752" y="3402956"/>
            <a:ext cx="1589484" cy="109894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3" name="Arc 17"/>
          <p:cNvSpPr>
            <a:spLocks/>
          </p:cNvSpPr>
          <p:nvPr/>
        </p:nvSpPr>
        <p:spPr bwMode="auto">
          <a:xfrm flipH="1">
            <a:off x="1572649" y="3401765"/>
            <a:ext cx="1589485" cy="109894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>
            <a:off x="2514434" y="3260081"/>
            <a:ext cx="130969" cy="3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 flipH="1">
            <a:off x="1861971" y="3432722"/>
            <a:ext cx="241697" cy="1690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>
            <a:off x="3495509" y="3212456"/>
            <a:ext cx="130969" cy="345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3982475" y="3375572"/>
            <a:ext cx="241697" cy="1690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47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Steady-state? Or explosion?</a:t>
            </a:r>
            <a:endParaRPr lang="en-US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Steady-state</a:t>
            </a:r>
            <a:r>
              <a:rPr lang="en-GB" dirty="0"/>
              <a:t> goes with </a:t>
            </a:r>
            <a:r>
              <a:rPr lang="en-GB" b="1" dirty="0"/>
              <a:t>negative feedback</a:t>
            </a:r>
            <a:r>
              <a:rPr lang="en-GB" dirty="0"/>
              <a:t>.</a:t>
            </a:r>
          </a:p>
          <a:p>
            <a:endParaRPr lang="en-US" dirty="0"/>
          </a:p>
          <a:p>
            <a:r>
              <a:rPr lang="en-US" dirty="0" err="1"/>
              <a:t>Eg</a:t>
            </a:r>
            <a:r>
              <a:rPr lang="en-US" dirty="0"/>
              <a:t> </a:t>
            </a:r>
          </a:p>
          <a:p>
            <a:pPr>
              <a:buFontTx/>
              <a:buNone/>
            </a:pPr>
            <a:r>
              <a:rPr lang="en-GB" i="1" dirty="0"/>
              <a:t>		Lecture 2: 	d[I]/</a:t>
            </a:r>
            <a:r>
              <a:rPr lang="en-GB" i="1" dirty="0" err="1"/>
              <a:t>dt</a:t>
            </a:r>
            <a:r>
              <a:rPr lang="en-GB" i="1" dirty="0"/>
              <a:t> = k</a:t>
            </a:r>
            <a:r>
              <a:rPr lang="en-GB" i="1" baseline="-25000" dirty="0"/>
              <a:t>1</a:t>
            </a:r>
            <a:r>
              <a:rPr lang="en-GB" i="1" dirty="0"/>
              <a:t>[A] – k</a:t>
            </a:r>
            <a:r>
              <a:rPr lang="en-GB" i="1" baseline="-25000" dirty="0"/>
              <a:t>2</a:t>
            </a:r>
            <a:r>
              <a:rPr lang="en-GB" i="1" dirty="0"/>
              <a:t>[I] </a:t>
            </a:r>
          </a:p>
          <a:p>
            <a:pPr lvl="1">
              <a:buFontTx/>
              <a:buNone/>
            </a:pPr>
            <a:endParaRPr lang="en-GB" dirty="0"/>
          </a:p>
          <a:p>
            <a:pPr lvl="1">
              <a:buFontTx/>
              <a:buNone/>
            </a:pPr>
            <a:r>
              <a:rPr lang="en-GB" i="1" dirty="0"/>
              <a:t>		The more [I], the faster it disappears.</a:t>
            </a:r>
          </a:p>
          <a:p>
            <a:r>
              <a:rPr lang="en-US" dirty="0"/>
              <a:t>In chain reactions, termination steps provide negative feedback</a:t>
            </a:r>
          </a:p>
        </p:txBody>
      </p:sp>
      <p:sp>
        <p:nvSpPr>
          <p:cNvPr id="136197" name="Oval 5"/>
          <p:cNvSpPr>
            <a:spLocks noChangeArrowheads="1"/>
          </p:cNvSpPr>
          <p:nvPr/>
        </p:nvSpPr>
        <p:spPr bwMode="auto">
          <a:xfrm>
            <a:off x="5291887" y="2962866"/>
            <a:ext cx="1000423" cy="64807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59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1585914" y="2388395"/>
            <a:ext cx="597217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 sz="2700" b="1" dirty="0">
                <a:solidFill>
                  <a:prstClr val="black"/>
                </a:solidFill>
              </a:rPr>
              <a:t>Positive feedback</a:t>
            </a:r>
            <a:r>
              <a:rPr lang="en-GB" sz="2700" dirty="0">
                <a:solidFill>
                  <a:prstClr val="black"/>
                </a:solidFill>
              </a:rPr>
              <a:t> can cause </a:t>
            </a:r>
            <a:r>
              <a:rPr lang="en-GB" sz="2700" b="1" dirty="0">
                <a:solidFill>
                  <a:prstClr val="black"/>
                </a:solidFill>
              </a:rPr>
              <a:t>explosions</a:t>
            </a:r>
          </a:p>
          <a:p>
            <a:pPr lvl="1">
              <a:spcBef>
                <a:spcPct val="50000"/>
              </a:spcBef>
            </a:pPr>
            <a:r>
              <a:rPr lang="en-GB" dirty="0" err="1">
                <a:solidFill>
                  <a:prstClr val="black"/>
                </a:solidFill>
              </a:rPr>
              <a:t>Eg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i="1" dirty="0">
                <a:solidFill>
                  <a:prstClr val="black"/>
                </a:solidFill>
              </a:rPr>
              <a:t>d[I]/</a:t>
            </a:r>
            <a:r>
              <a:rPr lang="en-GB" i="1" dirty="0" err="1">
                <a:solidFill>
                  <a:prstClr val="black"/>
                </a:solidFill>
              </a:rPr>
              <a:t>dt</a:t>
            </a:r>
            <a:r>
              <a:rPr lang="en-GB" dirty="0">
                <a:solidFill>
                  <a:prstClr val="black"/>
                </a:solidFill>
              </a:rPr>
              <a:t> = ….. </a:t>
            </a:r>
            <a:r>
              <a:rPr lang="en-GB" b="1" dirty="0">
                <a:solidFill>
                  <a:srgbClr val="FF0000"/>
                </a:solidFill>
              </a:rPr>
              <a:t>+</a:t>
            </a:r>
            <a:r>
              <a:rPr lang="en-GB" i="1" dirty="0">
                <a:solidFill>
                  <a:prstClr val="black"/>
                </a:solidFill>
              </a:rPr>
              <a:t>k</a:t>
            </a:r>
            <a:r>
              <a:rPr lang="en-GB" i="1" baseline="-25000" dirty="0">
                <a:solidFill>
                  <a:prstClr val="black"/>
                </a:solidFill>
              </a:rPr>
              <a:t>2</a:t>
            </a:r>
            <a:r>
              <a:rPr lang="en-GB" i="1" dirty="0">
                <a:solidFill>
                  <a:prstClr val="black"/>
                </a:solidFill>
              </a:rPr>
              <a:t>[I]</a:t>
            </a:r>
            <a:endParaRPr lang="en-GB" b="1" i="1" dirty="0">
              <a:solidFill>
                <a:prstClr val="black"/>
              </a:solidFill>
            </a:endParaRPr>
          </a:p>
          <a:p>
            <a:pPr lvl="1">
              <a:spcBef>
                <a:spcPct val="50000"/>
              </a:spcBef>
            </a:pPr>
            <a:r>
              <a:rPr lang="en-GB" i="1" dirty="0">
                <a:solidFill>
                  <a:prstClr val="black"/>
                </a:solidFill>
              </a:rPr>
              <a:t>The more [I], the faster it </a:t>
            </a:r>
            <a:r>
              <a:rPr lang="en-GB" b="1" i="1" dirty="0">
                <a:solidFill>
                  <a:prstClr val="black"/>
                </a:solidFill>
              </a:rPr>
              <a:t>appears</a:t>
            </a:r>
            <a:endParaRPr lang="en-US" b="1" i="1" dirty="0">
              <a:solidFill>
                <a:prstClr val="black"/>
              </a:solidFill>
            </a:endParaRP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3923929" y="3318407"/>
            <a:ext cx="1000423" cy="64807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7296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 dirty="0"/>
              <a:t>Why do these systems reach steady-state?</a:t>
            </a:r>
            <a:endParaRPr lang="en-US" sz="30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380466" cy="56435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dirty="0"/>
              <a:t>Negative feedback gives stability (“stable equilibrium”)</a:t>
            </a:r>
            <a:r>
              <a:rPr lang="en-GB" sz="2000" i="1" dirty="0"/>
              <a:t>  e.g. d[I]/dt = k</a:t>
            </a:r>
            <a:r>
              <a:rPr lang="en-GB" sz="2000" i="1" baseline="-25000" dirty="0"/>
              <a:t>1</a:t>
            </a:r>
            <a:r>
              <a:rPr lang="en-GB" sz="2000" i="1" dirty="0"/>
              <a:t>[A] – k</a:t>
            </a:r>
            <a:r>
              <a:rPr lang="en-GB" sz="2000" i="1" baseline="-25000" dirty="0"/>
              <a:t>2</a:t>
            </a:r>
            <a:r>
              <a:rPr lang="en-GB" sz="2000" i="1" dirty="0"/>
              <a:t>[I] </a:t>
            </a:r>
          </a:p>
          <a:p>
            <a:pPr>
              <a:lnSpc>
                <a:spcPct val="90000"/>
              </a:lnSpc>
            </a:pPr>
            <a:endParaRPr lang="en-US" sz="21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47664" y="3374994"/>
            <a:ext cx="3176588" cy="1100138"/>
            <a:chOff x="478" y="1554"/>
            <a:chExt cx="3381" cy="117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911" y="2287"/>
              <a:ext cx="421" cy="421"/>
              <a:chOff x="1051" y="3337"/>
              <a:chExt cx="421" cy="421"/>
            </a:xfrm>
          </p:grpSpPr>
          <p:sp>
            <p:nvSpPr>
              <p:cNvPr id="32774" name="Oval 6"/>
              <p:cNvSpPr>
                <a:spLocks noChangeArrowheads="1"/>
              </p:cNvSpPr>
              <p:nvPr/>
            </p:nvSpPr>
            <p:spPr bwMode="auto">
              <a:xfrm>
                <a:off x="1051" y="3337"/>
                <a:ext cx="421" cy="42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1223" y="3410"/>
                <a:ext cx="156" cy="156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2776" name="Arc 8"/>
            <p:cNvSpPr>
              <a:spLocks/>
            </p:cNvSpPr>
            <p:nvPr/>
          </p:nvSpPr>
          <p:spPr bwMode="auto">
            <a:xfrm flipV="1">
              <a:off x="2167" y="1555"/>
              <a:ext cx="1692" cy="11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7" name="Arc 9"/>
            <p:cNvSpPr>
              <a:spLocks/>
            </p:cNvSpPr>
            <p:nvPr/>
          </p:nvSpPr>
          <p:spPr bwMode="auto">
            <a:xfrm flipH="1" flipV="1">
              <a:off x="478" y="1554"/>
              <a:ext cx="1692" cy="11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 flipH="1">
              <a:off x="2650" y="2405"/>
              <a:ext cx="139" cy="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 flipH="1">
              <a:off x="2963" y="2103"/>
              <a:ext cx="257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grpSp>
          <p:nvGrpSpPr>
            <p:cNvPr id="4" name="Group 12"/>
            <p:cNvGrpSpPr>
              <a:grpSpLocks/>
            </p:cNvGrpSpPr>
            <p:nvPr/>
          </p:nvGrpSpPr>
          <p:grpSpPr bwMode="auto">
            <a:xfrm flipH="1">
              <a:off x="994" y="2029"/>
              <a:ext cx="570" cy="339"/>
              <a:chOff x="2493" y="3546"/>
              <a:chExt cx="570" cy="339"/>
            </a:xfrm>
          </p:grpSpPr>
          <p:sp>
            <p:nvSpPr>
              <p:cNvPr id="32781" name="Line 13"/>
              <p:cNvSpPr>
                <a:spLocks noChangeShapeType="1"/>
              </p:cNvSpPr>
              <p:nvPr/>
            </p:nvSpPr>
            <p:spPr bwMode="auto">
              <a:xfrm flipH="1">
                <a:off x="2493" y="3848"/>
                <a:ext cx="139" cy="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2782" name="Line 14"/>
              <p:cNvSpPr>
                <a:spLocks noChangeShapeType="1"/>
              </p:cNvSpPr>
              <p:nvPr/>
            </p:nvSpPr>
            <p:spPr bwMode="auto">
              <a:xfrm flipH="1">
                <a:off x="2806" y="3546"/>
                <a:ext cx="257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DCCD5FB-F705-42FF-AE2B-C00B942D814A}"/>
              </a:ext>
            </a:extLst>
          </p:cNvPr>
          <p:cNvGrpSpPr/>
          <p:nvPr/>
        </p:nvGrpSpPr>
        <p:grpSpPr>
          <a:xfrm>
            <a:off x="2885271" y="4574165"/>
            <a:ext cx="3177268" cy="1284800"/>
            <a:chOff x="2885271" y="4574165"/>
            <a:chExt cx="3177268" cy="12848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858804-A778-4AAF-9488-42918664C2CE}"/>
                </a:ext>
              </a:extLst>
            </p:cNvPr>
            <p:cNvSpPr txBox="1"/>
            <p:nvPr/>
          </p:nvSpPr>
          <p:spPr>
            <a:xfrm>
              <a:off x="2885271" y="4658636"/>
              <a:ext cx="31772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Higher concentration /</a:t>
              </a:r>
            </a:p>
            <a:p>
              <a:r>
                <a:rPr lang="en-GB" dirty="0"/>
                <a:t>Larger displacement from the middle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CBEC7D2-0467-417D-9945-2676E536C86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26225" y="4574165"/>
              <a:ext cx="1345775" cy="2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DC47E7-D6CC-4035-BDDC-F61F831CE1F4}"/>
              </a:ext>
            </a:extLst>
          </p:cNvPr>
          <p:cNvGrpSpPr/>
          <p:nvPr/>
        </p:nvGrpSpPr>
        <p:grpSpPr>
          <a:xfrm>
            <a:off x="4926870" y="3290607"/>
            <a:ext cx="3329474" cy="1275808"/>
            <a:chOff x="4926870" y="3290607"/>
            <a:chExt cx="3329474" cy="127580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A1A9EC-7311-4246-92CA-9783858B3EB8}"/>
                </a:ext>
              </a:extLst>
            </p:cNvPr>
            <p:cNvSpPr txBox="1"/>
            <p:nvPr/>
          </p:nvSpPr>
          <p:spPr>
            <a:xfrm>
              <a:off x="5079076" y="3290607"/>
              <a:ext cx="31772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Faster consumption of I / faster acceleration back to the middle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4F285E3-F5E9-4928-A288-99D7671FCEF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926870" y="3467032"/>
              <a:ext cx="0" cy="1099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79976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Neutrally stable:</a:t>
            </a: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172200" cy="1143000"/>
          </a:xfrm>
        </p:spPr>
        <p:txBody>
          <a:bodyPr>
            <a:normAutofit/>
          </a:bodyPr>
          <a:lstStyle/>
          <a:p>
            <a:r>
              <a:rPr lang="en-GB" dirty="0"/>
              <a:t>Zero feedback gives “neutral equilibrium”, e.g. </a:t>
            </a:r>
            <a:r>
              <a:rPr lang="en-GB" i="1" dirty="0"/>
              <a:t>d[I]/dt = k</a:t>
            </a:r>
            <a:r>
              <a:rPr lang="en-GB" i="1" baseline="-25000" dirty="0"/>
              <a:t>1</a:t>
            </a:r>
            <a:r>
              <a:rPr lang="en-GB" i="1" dirty="0"/>
              <a:t>[A] </a:t>
            </a:r>
            <a:r>
              <a:rPr lang="en-GB" i="1" strike="sngStrike" dirty="0"/>
              <a:t>– k</a:t>
            </a:r>
            <a:r>
              <a:rPr lang="en-GB" i="1" strike="sngStrike" baseline="-25000" dirty="0"/>
              <a:t>2</a:t>
            </a:r>
            <a:r>
              <a:rPr lang="en-GB" i="1" strike="sngStrike" dirty="0"/>
              <a:t>[I] </a:t>
            </a:r>
            <a:endParaRPr lang="en-GB" strike="sngStrike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58716" y="3395663"/>
            <a:ext cx="395288" cy="396479"/>
            <a:chOff x="1051" y="3337"/>
            <a:chExt cx="421" cy="421"/>
          </a:xfrm>
        </p:grpSpPr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1051" y="3337"/>
              <a:ext cx="421" cy="4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>
              <a:off x="1223" y="3410"/>
              <a:ext cx="156" cy="156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33826" name="Line 34"/>
          <p:cNvSpPr>
            <a:spLocks noChangeShapeType="1"/>
          </p:cNvSpPr>
          <p:nvPr/>
        </p:nvSpPr>
        <p:spPr bwMode="auto">
          <a:xfrm>
            <a:off x="2514601" y="3798094"/>
            <a:ext cx="15787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973A6-2B41-4038-B7C7-35AD95E29886}"/>
              </a:ext>
            </a:extLst>
          </p:cNvPr>
          <p:cNvSpPr txBox="1"/>
          <p:nvPr/>
        </p:nvSpPr>
        <p:spPr>
          <a:xfrm>
            <a:off x="1865370" y="4305321"/>
            <a:ext cx="317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Higher concentration /</a:t>
            </a:r>
          </a:p>
          <a:p>
            <a:r>
              <a:rPr lang="en-GB" dirty="0"/>
              <a:t>Larger displacement from the origin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B5BE0-07DB-476D-85BD-7AF5C88AE81F}"/>
              </a:ext>
            </a:extLst>
          </p:cNvPr>
          <p:cNvSpPr txBox="1"/>
          <p:nvPr/>
        </p:nvSpPr>
        <p:spPr>
          <a:xfrm>
            <a:off x="4754967" y="3161799"/>
            <a:ext cx="4387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change in consumption / no  acceleration to the left or right</a:t>
            </a:r>
          </a:p>
        </p:txBody>
      </p:sp>
    </p:spTree>
    <p:extLst>
      <p:ext uri="{BB962C8B-B14F-4D97-AF65-F5344CB8AC3E}">
        <p14:creationId xmlns:p14="http://schemas.microsoft.com/office/powerpoint/2010/main" val="15259969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Unstable</a:t>
            </a:r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1"/>
            <a:ext cx="6172200" cy="56435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i="1" dirty="0"/>
              <a:t>Positive </a:t>
            </a:r>
            <a:r>
              <a:rPr lang="en-GB" sz="2100" dirty="0"/>
              <a:t>feedback gives instability (things that make themselves worse) e.g. </a:t>
            </a:r>
            <a:r>
              <a:rPr lang="en-GB" sz="2000" i="1" dirty="0"/>
              <a:t>d[I]/dt = k</a:t>
            </a:r>
            <a:r>
              <a:rPr lang="en-GB" sz="2000" i="1" baseline="-25000" dirty="0"/>
              <a:t>1</a:t>
            </a:r>
            <a:r>
              <a:rPr lang="en-GB" sz="2000" i="1" dirty="0"/>
              <a:t>[A] + k</a:t>
            </a:r>
            <a:r>
              <a:rPr lang="en-GB" sz="2000" i="1" baseline="-25000" dirty="0"/>
              <a:t>2</a:t>
            </a:r>
            <a:r>
              <a:rPr lang="en-GB" sz="2000" i="1" dirty="0"/>
              <a:t>[I] </a:t>
            </a:r>
            <a:endParaRPr lang="en-US" sz="21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897814" y="2996952"/>
            <a:ext cx="395288" cy="396478"/>
            <a:chOff x="1051" y="3337"/>
            <a:chExt cx="421" cy="421"/>
          </a:xfrm>
        </p:grpSpPr>
        <p:sp>
          <p:nvSpPr>
            <p:cNvPr id="34830" name="Oval 14"/>
            <p:cNvSpPr>
              <a:spLocks noChangeArrowheads="1"/>
            </p:cNvSpPr>
            <p:nvPr/>
          </p:nvSpPr>
          <p:spPr bwMode="auto">
            <a:xfrm>
              <a:off x="1051" y="3337"/>
              <a:ext cx="421" cy="4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auto">
            <a:xfrm>
              <a:off x="1223" y="3410"/>
              <a:ext cx="156" cy="156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34832" name="Arc 16"/>
          <p:cNvSpPr>
            <a:spLocks/>
          </p:cNvSpPr>
          <p:nvPr/>
        </p:nvSpPr>
        <p:spPr bwMode="auto">
          <a:xfrm>
            <a:off x="3159752" y="3402956"/>
            <a:ext cx="1589484" cy="109894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3" name="Arc 17"/>
          <p:cNvSpPr>
            <a:spLocks/>
          </p:cNvSpPr>
          <p:nvPr/>
        </p:nvSpPr>
        <p:spPr bwMode="auto">
          <a:xfrm flipH="1">
            <a:off x="1572649" y="3401765"/>
            <a:ext cx="1589485" cy="109894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>
            <a:off x="2514434" y="3260081"/>
            <a:ext cx="130969" cy="3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 flipH="1">
            <a:off x="1861971" y="3432722"/>
            <a:ext cx="241697" cy="1690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>
            <a:off x="3495509" y="3212456"/>
            <a:ext cx="130969" cy="345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3982475" y="3375572"/>
            <a:ext cx="241697" cy="1690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17ABB-FF70-409A-83B9-F2D687ECF661}"/>
              </a:ext>
            </a:extLst>
          </p:cNvPr>
          <p:cNvSpPr txBox="1"/>
          <p:nvPr/>
        </p:nvSpPr>
        <p:spPr>
          <a:xfrm>
            <a:off x="1704468" y="4680555"/>
            <a:ext cx="317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Higher concentration /</a:t>
            </a:r>
          </a:p>
          <a:p>
            <a:r>
              <a:rPr lang="en-GB" dirty="0"/>
              <a:t>Larger displacement from the middle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510853-8FBF-42D8-938E-231E5FA2FB47}"/>
              </a:ext>
            </a:extLst>
          </p:cNvPr>
          <p:cNvGrpSpPr/>
          <p:nvPr/>
        </p:nvGrpSpPr>
        <p:grpSpPr>
          <a:xfrm>
            <a:off x="4999606" y="3290607"/>
            <a:ext cx="3256738" cy="1200329"/>
            <a:chOff x="4999606" y="3290607"/>
            <a:chExt cx="3256738" cy="120032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D13A19-1649-4436-AE25-021AB0FB68E9}"/>
                </a:ext>
              </a:extLst>
            </p:cNvPr>
            <p:cNvSpPr txBox="1"/>
            <p:nvPr/>
          </p:nvSpPr>
          <p:spPr>
            <a:xfrm>
              <a:off x="5079076" y="3290607"/>
              <a:ext cx="31772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Faster production of I / faster acceleration away from the middle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4B4E85F-D05F-4A38-8776-496C7752C1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9606" y="3429000"/>
              <a:ext cx="0" cy="919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8073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19689E-8BFA-423A-96CD-486EC60B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chain reactions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D0CB1-99FC-46D1-AD2C-EBDABDC81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402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Branching chain reactions</a:t>
            </a: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some chain reactions, propagation involves a </a:t>
            </a:r>
            <a:r>
              <a:rPr lang="en-GB" b="1" dirty="0">
                <a:solidFill>
                  <a:srgbClr val="FF0000"/>
                </a:solidFill>
              </a:rPr>
              <a:t>branching step</a:t>
            </a:r>
            <a:r>
              <a:rPr lang="en-GB" dirty="0"/>
              <a:t>.</a:t>
            </a:r>
          </a:p>
          <a:p>
            <a:r>
              <a:rPr lang="en-GB" dirty="0"/>
              <a:t>This means that two chain carriers are produced from one</a:t>
            </a:r>
          </a:p>
          <a:p>
            <a:r>
              <a:rPr lang="en-GB" dirty="0"/>
              <a:t>Now, the more chain carriers there are, the faster they are produced.</a:t>
            </a:r>
          </a:p>
          <a:p>
            <a:r>
              <a:rPr lang="en-GB" dirty="0"/>
              <a:t>Branching propagation steps provide positive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8392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42071"/>
            <a:ext cx="6172200" cy="857250"/>
          </a:xfrm>
        </p:spPr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2999" y="1808821"/>
            <a:ext cx="7304809" cy="375642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dirty="0"/>
              <a:t>Consider a non-branching chain reaction. 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The chain carrier is </a:t>
            </a:r>
            <a:r>
              <a:rPr lang="en-GB" sz="2100" b="1" dirty="0"/>
              <a:t>R</a:t>
            </a:r>
            <a:r>
              <a:rPr lang="en-GB" sz="21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100" dirty="0"/>
              <a:t>M</a:t>
            </a:r>
            <a:r>
              <a:rPr lang="en-GB" sz="2100" dirty="0">
                <a:cs typeface="Arial" charset="0"/>
              </a:rPr>
              <a:t> →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		(initiation)		Rate constant k</a:t>
            </a:r>
            <a:r>
              <a:rPr lang="en-GB" sz="2100" baseline="-25000" dirty="0">
                <a:cs typeface="Arial" charset="0"/>
              </a:rPr>
              <a:t>init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/>
              <a:t>A +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→ </a:t>
            </a:r>
            <a:r>
              <a:rPr lang="en-GB" sz="2100" dirty="0"/>
              <a:t>B +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	(propagation)		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prop</a:t>
            </a:r>
            <a:endParaRPr lang="en-GB" sz="2100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→ disappears   (termination)		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term</a:t>
            </a:r>
            <a:endParaRPr lang="en-GB" sz="2100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1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>
                <a:cs typeface="Arial" charset="0"/>
              </a:rPr>
              <a:t>Ignoring details of the chemistry, find an expression for d[R]/</a:t>
            </a:r>
            <a:r>
              <a:rPr lang="en-GB" sz="2100" dirty="0" err="1">
                <a:cs typeface="Arial" charset="0"/>
              </a:rPr>
              <a:t>dt</a:t>
            </a:r>
            <a:r>
              <a:rPr lang="en-GB" sz="2100" dirty="0">
                <a:cs typeface="Arial" charset="0"/>
              </a:rPr>
              <a:t> </a:t>
            </a:r>
            <a:r>
              <a:rPr lang="en-GB" sz="21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>
                <a:cs typeface="Arial" charset="0"/>
              </a:rPr>
              <a:t>Is this positive or negative feedback?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29041565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42071"/>
            <a:ext cx="6172200" cy="857250"/>
          </a:xfrm>
        </p:spPr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2999" y="1808821"/>
            <a:ext cx="7304809" cy="375642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100" dirty="0"/>
              <a:t>Consider a non-branching chain reaction. 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The chain carrier is </a:t>
            </a:r>
            <a:r>
              <a:rPr lang="en-GB" sz="2100" b="1" dirty="0"/>
              <a:t>R</a:t>
            </a:r>
            <a:r>
              <a:rPr lang="en-GB" sz="21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100" dirty="0"/>
              <a:t>M</a:t>
            </a:r>
            <a:r>
              <a:rPr lang="en-GB" sz="2100" dirty="0">
                <a:cs typeface="Arial" charset="0"/>
              </a:rPr>
              <a:t> →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		(initiation)		Rate constant k</a:t>
            </a:r>
            <a:r>
              <a:rPr lang="en-GB" sz="2100" baseline="-25000" dirty="0">
                <a:cs typeface="Arial" charset="0"/>
              </a:rPr>
              <a:t>init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/>
              <a:t>A +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→ </a:t>
            </a:r>
            <a:r>
              <a:rPr lang="en-GB" sz="2100" dirty="0"/>
              <a:t>B + </a:t>
            </a: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	(propagation)		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prop</a:t>
            </a:r>
            <a:endParaRPr lang="en-GB" sz="2100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b="1" dirty="0"/>
              <a:t>R</a:t>
            </a:r>
            <a:r>
              <a:rPr lang="en-GB" sz="2100" dirty="0">
                <a:cs typeface="Arial" charset="0"/>
              </a:rPr>
              <a:t> → disappears   (termination)		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term</a:t>
            </a:r>
            <a:endParaRPr lang="en-GB" sz="2100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1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cs typeface="Arial" charset="0"/>
              </a:rPr>
              <a:t>Ignoring details of the chemistry, find an expression for d[R]/dt 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= k</a:t>
            </a:r>
            <a:r>
              <a:rPr lang="en-GB" sz="2400" baseline="-25000" dirty="0">
                <a:solidFill>
                  <a:srgbClr val="FF0000"/>
                </a:solidFill>
                <a:cs typeface="Arial" charset="0"/>
              </a:rPr>
              <a:t>init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[M] - 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+ 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 - 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term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[R]</a:t>
            </a:r>
          </a:p>
          <a:p>
            <a:pPr>
              <a:lnSpc>
                <a:spcPct val="90000"/>
              </a:lnSpc>
              <a:buNone/>
            </a:pPr>
            <a:r>
              <a:rPr lang="en-GB" sz="2400" dirty="0">
                <a:solidFill>
                  <a:srgbClr val="FF0000"/>
                </a:solidFill>
                <a:cs typeface="Arial" charset="0"/>
              </a:rPr>
              <a:t>		       = k</a:t>
            </a:r>
            <a:r>
              <a:rPr lang="en-GB" sz="2400" baseline="-25000" dirty="0">
                <a:solidFill>
                  <a:srgbClr val="FF0000"/>
                </a:solidFill>
                <a:cs typeface="Arial" charset="0"/>
              </a:rPr>
              <a:t>init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[M] - 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term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[R]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cs typeface="Arial" charset="0"/>
              </a:rPr>
              <a:t>Is this positive or negative feedback?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cs typeface="Arial" charset="0"/>
              </a:rPr>
              <a:t>			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Negative feedback, since -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term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[R] term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19782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Consider a branching chain reaction. </a:t>
            </a:r>
          </a:p>
          <a:p>
            <a:pPr>
              <a:lnSpc>
                <a:spcPct val="90000"/>
              </a:lnSpc>
            </a:pPr>
            <a:r>
              <a:rPr lang="en-GB" dirty="0"/>
              <a:t>If there’s no termination step: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sz="2400" dirty="0"/>
              <a:t>(Again, the chain carrier is R.)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	A + R</a:t>
            </a:r>
            <a:r>
              <a:rPr lang="en-GB" dirty="0">
                <a:cs typeface="Arial" charset="0"/>
              </a:rPr>
              <a:t> → 2</a:t>
            </a:r>
            <a:r>
              <a:rPr lang="en-GB" dirty="0"/>
              <a:t>R</a:t>
            </a:r>
            <a:r>
              <a:rPr lang="en-GB" dirty="0">
                <a:cs typeface="Arial" charset="0"/>
              </a:rPr>
              <a:t> + B			Rate constant </a:t>
            </a:r>
            <a:r>
              <a:rPr lang="en-GB" dirty="0" err="1">
                <a:cs typeface="Arial" charset="0"/>
              </a:rPr>
              <a:t>k</a:t>
            </a:r>
            <a:r>
              <a:rPr lang="en-GB" baseline="-25000" dirty="0" err="1">
                <a:cs typeface="Arial" charset="0"/>
              </a:rPr>
              <a:t>prop</a:t>
            </a:r>
            <a:endParaRPr lang="en-GB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>
                <a:cs typeface="Arial" charset="0"/>
              </a:rPr>
              <a:t>What is d[R]/</a:t>
            </a:r>
            <a:r>
              <a:rPr lang="en-GB" dirty="0" err="1">
                <a:cs typeface="Arial" charset="0"/>
              </a:rPr>
              <a:t>dt</a:t>
            </a:r>
            <a:r>
              <a:rPr lang="en-GB" dirty="0">
                <a:cs typeface="Arial" charset="0"/>
              </a:rPr>
              <a:t>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>
                <a:cs typeface="Arial" charset="0"/>
              </a:rPr>
              <a:t>Is this positive or negative feedback?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4126536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Consider a branching chain reaction. </a:t>
            </a:r>
          </a:p>
          <a:p>
            <a:pPr>
              <a:lnSpc>
                <a:spcPct val="90000"/>
              </a:lnSpc>
            </a:pPr>
            <a:r>
              <a:rPr lang="en-GB" dirty="0"/>
              <a:t>If there’s no termination step: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sz="2400" dirty="0"/>
              <a:t>(Again, the chain carrier is R.)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	A + R</a:t>
            </a:r>
            <a:r>
              <a:rPr lang="en-GB" dirty="0">
                <a:cs typeface="Arial" charset="0"/>
              </a:rPr>
              <a:t> → 2</a:t>
            </a:r>
            <a:r>
              <a:rPr lang="en-GB" dirty="0"/>
              <a:t>R</a:t>
            </a:r>
            <a:r>
              <a:rPr lang="en-GB" dirty="0">
                <a:cs typeface="Arial" charset="0"/>
              </a:rPr>
              <a:t> + B			Rate constant </a:t>
            </a:r>
            <a:r>
              <a:rPr lang="en-GB" dirty="0" err="1">
                <a:cs typeface="Arial" charset="0"/>
              </a:rPr>
              <a:t>k</a:t>
            </a:r>
            <a:r>
              <a:rPr lang="en-GB" baseline="-25000" dirty="0" err="1">
                <a:cs typeface="Arial" charset="0"/>
              </a:rPr>
              <a:t>prop</a:t>
            </a:r>
            <a:endParaRPr lang="en-GB" baseline="-250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2100" dirty="0">
              <a:cs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cs typeface="Arial" charset="0"/>
              </a:rPr>
              <a:t>What is d[R]/dt?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solidFill>
                  <a:srgbClr val="FF0000"/>
                </a:solidFill>
                <a:cs typeface="Arial" charset="0"/>
              </a:rPr>
              <a:t>d[R]/dt = -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+ 2k</a:t>
            </a:r>
            <a:r>
              <a:rPr lang="en-GB" sz="2400" baseline="-25000" dirty="0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= +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>
                <a:cs typeface="Arial" charset="0"/>
              </a:rPr>
              <a:t>Is this positive or negative feedback?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2400" dirty="0"/>
              <a:t>		</a:t>
            </a:r>
            <a:r>
              <a:rPr lang="en-GB" sz="2400" dirty="0">
                <a:solidFill>
                  <a:srgbClr val="FF0000"/>
                </a:solidFill>
              </a:rPr>
              <a:t>Positive, since 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+</a:t>
            </a:r>
            <a:r>
              <a:rPr lang="en-GB" sz="2400" dirty="0" err="1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  <a:cs typeface="Arial" charset="0"/>
              </a:rPr>
              <a:t>prop</a:t>
            </a:r>
            <a:r>
              <a:rPr lang="en-GB" sz="2400" dirty="0">
                <a:solidFill>
                  <a:srgbClr val="FF0000"/>
                </a:solidFill>
                <a:cs typeface="Arial" charset="0"/>
              </a:rPr>
              <a:t>[A][R] term</a:t>
            </a:r>
            <a:endParaRPr lang="en-GB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sz="21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79343519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/>
              <a:t>Exponential decay vs exponential increase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1143001" y="2238375"/>
            <a:ext cx="301109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d[R</a:t>
            </a:r>
            <a:r>
              <a:rPr lang="en-US" sz="2100" dirty="0">
                <a:solidFill>
                  <a:prstClr val="black"/>
                </a:solidFill>
                <a:cs typeface="Arial" charset="0"/>
              </a:rPr>
              <a:t>]/</a:t>
            </a:r>
            <a:r>
              <a:rPr lang="en-US" sz="2100" dirty="0" err="1">
                <a:solidFill>
                  <a:prstClr val="black"/>
                </a:solidFill>
                <a:cs typeface="Arial" charset="0"/>
              </a:rPr>
              <a:t>dt</a:t>
            </a:r>
            <a:r>
              <a:rPr lang="en-US" sz="21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1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varies with  -</a:t>
            </a:r>
            <a:r>
              <a:rPr lang="en-US" sz="2100" i="1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k</a:t>
            </a:r>
            <a:r>
              <a:rPr lang="en-GB" sz="2100" dirty="0">
                <a:solidFill>
                  <a:prstClr val="black"/>
                </a:solidFill>
              </a:rPr>
              <a:t>[R</a:t>
            </a:r>
            <a:r>
              <a:rPr lang="en-US" sz="2100" dirty="0">
                <a:solidFill>
                  <a:prstClr val="black"/>
                </a:solidFill>
              </a:rPr>
              <a:t>]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1143001" y="2686050"/>
            <a:ext cx="264914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[R</a:t>
            </a:r>
            <a:r>
              <a:rPr lang="en-US" dirty="0">
                <a:solidFill>
                  <a:prstClr val="black"/>
                </a:solidFill>
                <a:cs typeface="Arial" charset="0"/>
              </a:rPr>
              <a:t>] </a:t>
            </a:r>
            <a:r>
              <a:rPr lang="en-US" dirty="0">
                <a:solidFill>
                  <a:prstClr val="black"/>
                </a:solidFill>
                <a:cs typeface="Arial" charset="0"/>
                <a:sym typeface="Symbol"/>
              </a:rPr>
              <a:t></a:t>
            </a:r>
            <a:r>
              <a:rPr lang="en-US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 </a:t>
            </a:r>
            <a:r>
              <a:rPr lang="en-US" dirty="0">
                <a:solidFill>
                  <a:prstClr val="white">
                    <a:lumMod val="75000"/>
                  </a:prstClr>
                </a:solidFill>
                <a:cs typeface="Arial" charset="0"/>
                <a:sym typeface="Mathematica1" pitchFamily="2" charset="2"/>
              </a:rPr>
              <a:t>C + </a:t>
            </a:r>
            <a:r>
              <a:rPr lang="en-US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e</a:t>
            </a:r>
            <a:r>
              <a:rPr lang="en-US" baseline="300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-</a:t>
            </a:r>
            <a:r>
              <a:rPr lang="en-US" i="1" baseline="300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k</a:t>
            </a:r>
            <a:r>
              <a:rPr lang="en-US" baseline="300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t</a:t>
            </a:r>
            <a:r>
              <a:rPr lang="en-US" baseline="300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 </a:t>
            </a:r>
          </a:p>
          <a:p>
            <a:r>
              <a:rPr lang="en-US" sz="21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eg</a:t>
            </a:r>
            <a:r>
              <a:rPr lang="en-US" sz="21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 “multiply by 0.9 every second”</a:t>
            </a:r>
          </a:p>
        </p:txBody>
      </p:sp>
      <p:sp>
        <p:nvSpPr>
          <p:cNvPr id="111627" name="Freeform 11"/>
          <p:cNvSpPr>
            <a:spLocks/>
          </p:cNvSpPr>
          <p:nvPr/>
        </p:nvSpPr>
        <p:spPr bwMode="auto">
          <a:xfrm>
            <a:off x="1494236" y="4146948"/>
            <a:ext cx="2536031" cy="962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55"/>
              </a:cxn>
              <a:cxn ang="0">
                <a:pos x="18" y="100"/>
              </a:cxn>
              <a:cxn ang="0">
                <a:pos x="27" y="137"/>
              </a:cxn>
              <a:cxn ang="0">
                <a:pos x="36" y="167"/>
              </a:cxn>
              <a:cxn ang="0">
                <a:pos x="45" y="192"/>
              </a:cxn>
              <a:cxn ang="0">
                <a:pos x="54" y="212"/>
              </a:cxn>
              <a:cxn ang="0">
                <a:pos x="62" y="229"/>
              </a:cxn>
              <a:cxn ang="0">
                <a:pos x="71" y="243"/>
              </a:cxn>
              <a:cxn ang="0">
                <a:pos x="80" y="254"/>
              </a:cxn>
              <a:cxn ang="0">
                <a:pos x="89" y="263"/>
              </a:cxn>
              <a:cxn ang="0">
                <a:pos x="98" y="270"/>
              </a:cxn>
              <a:cxn ang="0">
                <a:pos x="107" y="276"/>
              </a:cxn>
              <a:cxn ang="0">
                <a:pos x="116" y="281"/>
              </a:cxn>
              <a:cxn ang="0">
                <a:pos x="124" y="286"/>
              </a:cxn>
              <a:cxn ang="0">
                <a:pos x="133" y="289"/>
              </a:cxn>
              <a:cxn ang="0">
                <a:pos x="142" y="292"/>
              </a:cxn>
              <a:cxn ang="0">
                <a:pos x="151" y="294"/>
              </a:cxn>
              <a:cxn ang="0">
                <a:pos x="160" y="296"/>
              </a:cxn>
              <a:cxn ang="0">
                <a:pos x="169" y="297"/>
              </a:cxn>
              <a:cxn ang="0">
                <a:pos x="178" y="298"/>
              </a:cxn>
              <a:cxn ang="0">
                <a:pos x="186" y="299"/>
              </a:cxn>
              <a:cxn ang="0">
                <a:pos x="195" y="300"/>
              </a:cxn>
              <a:cxn ang="0">
                <a:pos x="204" y="301"/>
              </a:cxn>
              <a:cxn ang="0">
                <a:pos x="213" y="301"/>
              </a:cxn>
              <a:cxn ang="0">
                <a:pos x="222" y="302"/>
              </a:cxn>
              <a:cxn ang="0">
                <a:pos x="231" y="302"/>
              </a:cxn>
              <a:cxn ang="0">
                <a:pos x="239" y="303"/>
              </a:cxn>
              <a:cxn ang="0">
                <a:pos x="248" y="303"/>
              </a:cxn>
              <a:cxn ang="0">
                <a:pos x="257" y="303"/>
              </a:cxn>
              <a:cxn ang="0">
                <a:pos x="266" y="303"/>
              </a:cxn>
              <a:cxn ang="0">
                <a:pos x="275" y="303"/>
              </a:cxn>
              <a:cxn ang="0">
                <a:pos x="284" y="303"/>
              </a:cxn>
              <a:cxn ang="0">
                <a:pos x="293" y="304"/>
              </a:cxn>
              <a:cxn ang="0">
                <a:pos x="301" y="304"/>
              </a:cxn>
              <a:cxn ang="0">
                <a:pos x="310" y="304"/>
              </a:cxn>
              <a:cxn ang="0">
                <a:pos x="319" y="304"/>
              </a:cxn>
              <a:cxn ang="0">
                <a:pos x="328" y="304"/>
              </a:cxn>
              <a:cxn ang="0">
                <a:pos x="337" y="304"/>
              </a:cxn>
              <a:cxn ang="0">
                <a:pos x="346" y="304"/>
              </a:cxn>
              <a:cxn ang="0">
                <a:pos x="355" y="304"/>
              </a:cxn>
            </a:cxnLst>
            <a:rect l="0" t="0" r="r" b="b"/>
            <a:pathLst>
              <a:path w="355" h="304">
                <a:moveTo>
                  <a:pt x="0" y="0"/>
                </a:moveTo>
                <a:lnTo>
                  <a:pt x="9" y="55"/>
                </a:lnTo>
                <a:lnTo>
                  <a:pt x="18" y="100"/>
                </a:lnTo>
                <a:lnTo>
                  <a:pt x="27" y="137"/>
                </a:lnTo>
                <a:lnTo>
                  <a:pt x="36" y="167"/>
                </a:lnTo>
                <a:lnTo>
                  <a:pt x="45" y="192"/>
                </a:lnTo>
                <a:lnTo>
                  <a:pt x="54" y="212"/>
                </a:lnTo>
                <a:lnTo>
                  <a:pt x="62" y="229"/>
                </a:lnTo>
                <a:lnTo>
                  <a:pt x="71" y="243"/>
                </a:lnTo>
                <a:lnTo>
                  <a:pt x="80" y="254"/>
                </a:lnTo>
                <a:lnTo>
                  <a:pt x="89" y="263"/>
                </a:lnTo>
                <a:lnTo>
                  <a:pt x="98" y="270"/>
                </a:lnTo>
                <a:lnTo>
                  <a:pt x="107" y="276"/>
                </a:lnTo>
                <a:lnTo>
                  <a:pt x="116" y="281"/>
                </a:lnTo>
                <a:lnTo>
                  <a:pt x="124" y="286"/>
                </a:lnTo>
                <a:lnTo>
                  <a:pt x="133" y="289"/>
                </a:lnTo>
                <a:lnTo>
                  <a:pt x="142" y="292"/>
                </a:lnTo>
                <a:lnTo>
                  <a:pt x="151" y="294"/>
                </a:lnTo>
                <a:lnTo>
                  <a:pt x="160" y="296"/>
                </a:lnTo>
                <a:lnTo>
                  <a:pt x="169" y="297"/>
                </a:lnTo>
                <a:lnTo>
                  <a:pt x="178" y="298"/>
                </a:lnTo>
                <a:lnTo>
                  <a:pt x="186" y="299"/>
                </a:lnTo>
                <a:lnTo>
                  <a:pt x="195" y="300"/>
                </a:lnTo>
                <a:lnTo>
                  <a:pt x="204" y="301"/>
                </a:lnTo>
                <a:lnTo>
                  <a:pt x="213" y="301"/>
                </a:lnTo>
                <a:lnTo>
                  <a:pt x="222" y="302"/>
                </a:lnTo>
                <a:lnTo>
                  <a:pt x="231" y="302"/>
                </a:lnTo>
                <a:lnTo>
                  <a:pt x="239" y="303"/>
                </a:lnTo>
                <a:lnTo>
                  <a:pt x="248" y="303"/>
                </a:lnTo>
                <a:lnTo>
                  <a:pt x="257" y="303"/>
                </a:lnTo>
                <a:lnTo>
                  <a:pt x="266" y="303"/>
                </a:lnTo>
                <a:lnTo>
                  <a:pt x="275" y="303"/>
                </a:lnTo>
                <a:lnTo>
                  <a:pt x="284" y="303"/>
                </a:lnTo>
                <a:lnTo>
                  <a:pt x="293" y="304"/>
                </a:lnTo>
                <a:lnTo>
                  <a:pt x="301" y="304"/>
                </a:lnTo>
                <a:lnTo>
                  <a:pt x="310" y="304"/>
                </a:lnTo>
                <a:lnTo>
                  <a:pt x="319" y="304"/>
                </a:lnTo>
                <a:lnTo>
                  <a:pt x="328" y="304"/>
                </a:lnTo>
                <a:lnTo>
                  <a:pt x="337" y="304"/>
                </a:lnTo>
                <a:lnTo>
                  <a:pt x="346" y="304"/>
                </a:lnTo>
                <a:lnTo>
                  <a:pt x="355" y="304"/>
                </a:lnTo>
              </a:path>
            </a:pathLst>
          </a:custGeom>
          <a:noFill/>
          <a:ln w="9525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32" name="Line 16"/>
          <p:cNvSpPr>
            <a:spLocks noChangeShapeType="1"/>
          </p:cNvSpPr>
          <p:nvPr/>
        </p:nvSpPr>
        <p:spPr bwMode="auto">
          <a:xfrm>
            <a:off x="1428750" y="5114925"/>
            <a:ext cx="2914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33" name="Line 17"/>
          <p:cNvSpPr>
            <a:spLocks noChangeShapeType="1"/>
          </p:cNvSpPr>
          <p:nvPr/>
        </p:nvSpPr>
        <p:spPr bwMode="auto">
          <a:xfrm>
            <a:off x="1485900" y="4010026"/>
            <a:ext cx="0" cy="128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34" name="Text Box 18"/>
          <p:cNvSpPr txBox="1">
            <a:spLocks noChangeArrowheads="1"/>
          </p:cNvSpPr>
          <p:nvPr/>
        </p:nvSpPr>
        <p:spPr bwMode="auto">
          <a:xfrm>
            <a:off x="3759995" y="5142311"/>
            <a:ext cx="7954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</a:p>
        </p:txBody>
      </p:sp>
      <p:sp>
        <p:nvSpPr>
          <p:cNvPr id="111635" name="Rectangle 19"/>
          <p:cNvSpPr>
            <a:spLocks noChangeArrowheads="1"/>
          </p:cNvSpPr>
          <p:nvPr/>
        </p:nvSpPr>
        <p:spPr bwMode="auto">
          <a:xfrm>
            <a:off x="892216" y="4132824"/>
            <a:ext cx="5709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[R</a:t>
            </a:r>
            <a:r>
              <a:rPr lang="en-US" dirty="0">
                <a:solidFill>
                  <a:prstClr val="black"/>
                </a:solidFill>
              </a:rPr>
              <a:t>]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11692" name="Line 76"/>
          <p:cNvSpPr>
            <a:spLocks noChangeShapeType="1"/>
          </p:cNvSpPr>
          <p:nvPr/>
        </p:nvSpPr>
        <p:spPr bwMode="auto">
          <a:xfrm>
            <a:off x="4619625" y="5095875"/>
            <a:ext cx="2914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93" name="Text Box 77"/>
          <p:cNvSpPr txBox="1">
            <a:spLocks noChangeArrowheads="1"/>
          </p:cNvSpPr>
          <p:nvPr/>
        </p:nvSpPr>
        <p:spPr bwMode="auto">
          <a:xfrm>
            <a:off x="7310439" y="5142311"/>
            <a:ext cx="7954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</a:p>
        </p:txBody>
      </p:sp>
      <p:sp>
        <p:nvSpPr>
          <p:cNvPr id="111694" name="Line 78"/>
          <p:cNvSpPr>
            <a:spLocks noChangeShapeType="1"/>
          </p:cNvSpPr>
          <p:nvPr/>
        </p:nvSpPr>
        <p:spPr bwMode="auto">
          <a:xfrm>
            <a:off x="4638675" y="3971926"/>
            <a:ext cx="0" cy="128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95" name="Text Box 79"/>
          <p:cNvSpPr txBox="1">
            <a:spLocks noChangeArrowheads="1"/>
          </p:cNvSpPr>
          <p:nvPr/>
        </p:nvSpPr>
        <p:spPr bwMode="auto">
          <a:xfrm>
            <a:off x="4972051" y="2762251"/>
            <a:ext cx="2649141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[R</a:t>
            </a:r>
            <a:r>
              <a:rPr lang="en-US" dirty="0">
                <a:solidFill>
                  <a:prstClr val="black"/>
                </a:solidFill>
                <a:cs typeface="Arial" charset="0"/>
              </a:rPr>
              <a:t>] </a:t>
            </a:r>
            <a:r>
              <a:rPr lang="en-US" dirty="0">
                <a:solidFill>
                  <a:prstClr val="black"/>
                </a:solidFill>
                <a:cs typeface="Arial" charset="0"/>
                <a:sym typeface="Symbol"/>
              </a:rPr>
              <a:t></a:t>
            </a:r>
            <a:r>
              <a:rPr lang="en-US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e</a:t>
            </a:r>
            <a:r>
              <a:rPr lang="en-US" i="1" baseline="300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k</a:t>
            </a:r>
            <a:r>
              <a:rPr lang="en-US" baseline="300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t</a:t>
            </a:r>
            <a:endParaRPr lang="en-US" baseline="30000" dirty="0">
              <a:solidFill>
                <a:prstClr val="black"/>
              </a:solidFill>
              <a:cs typeface="Arial" charset="0"/>
              <a:sym typeface="Mathematica1" pitchFamily="2" charset="2"/>
            </a:endParaRPr>
          </a:p>
          <a:p>
            <a:r>
              <a:rPr lang="en-US" sz="2100" dirty="0" err="1">
                <a:solidFill>
                  <a:prstClr val="black"/>
                </a:solidFill>
                <a:cs typeface="Arial" charset="0"/>
                <a:sym typeface="Mathematica1" pitchFamily="2" charset="2"/>
              </a:rPr>
              <a:t>eg</a:t>
            </a:r>
            <a:r>
              <a:rPr lang="en-US" sz="21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 “multiply by 1.1 every second”</a:t>
            </a:r>
          </a:p>
          <a:p>
            <a:endParaRPr lang="en-US" baseline="30000" dirty="0">
              <a:solidFill>
                <a:prstClr val="black"/>
              </a:solidFill>
            </a:endParaRPr>
          </a:p>
        </p:txBody>
      </p:sp>
      <p:sp>
        <p:nvSpPr>
          <p:cNvPr id="111696" name="Line 80"/>
          <p:cNvSpPr>
            <a:spLocks noChangeShapeType="1"/>
          </p:cNvSpPr>
          <p:nvPr/>
        </p:nvSpPr>
        <p:spPr bwMode="auto">
          <a:xfrm>
            <a:off x="4524375" y="2066925"/>
            <a:ext cx="0" cy="3714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1697" name="Text Box 81"/>
          <p:cNvSpPr txBox="1">
            <a:spLocks noChangeArrowheads="1"/>
          </p:cNvSpPr>
          <p:nvPr/>
        </p:nvSpPr>
        <p:spPr bwMode="auto">
          <a:xfrm>
            <a:off x="4896037" y="2238375"/>
            <a:ext cx="301109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d[R</a:t>
            </a:r>
            <a:r>
              <a:rPr lang="en-US" sz="2100" dirty="0">
                <a:solidFill>
                  <a:prstClr val="black"/>
                </a:solidFill>
                <a:cs typeface="Arial" charset="0"/>
              </a:rPr>
              <a:t>]/</a:t>
            </a:r>
            <a:r>
              <a:rPr lang="en-US" sz="2100" dirty="0" err="1">
                <a:solidFill>
                  <a:prstClr val="black"/>
                </a:solidFill>
                <a:cs typeface="Arial" charset="0"/>
              </a:rPr>
              <a:t>dt</a:t>
            </a:r>
            <a:r>
              <a:rPr lang="en-US" sz="21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100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varies with  </a:t>
            </a:r>
            <a:r>
              <a:rPr lang="en-US" sz="2100" dirty="0">
                <a:solidFill>
                  <a:srgbClr val="FF0000"/>
                </a:solidFill>
                <a:cs typeface="Arial" charset="0"/>
                <a:sym typeface="Mathematica1" pitchFamily="2" charset="2"/>
              </a:rPr>
              <a:t>+</a:t>
            </a:r>
            <a:r>
              <a:rPr lang="en-US" sz="2100" i="1" dirty="0">
                <a:solidFill>
                  <a:prstClr val="black"/>
                </a:solidFill>
                <a:cs typeface="Arial" charset="0"/>
                <a:sym typeface="Mathematica1" pitchFamily="2" charset="2"/>
              </a:rPr>
              <a:t>k</a:t>
            </a:r>
            <a:r>
              <a:rPr lang="en-GB" sz="2100" dirty="0">
                <a:solidFill>
                  <a:prstClr val="black"/>
                </a:solidFill>
              </a:rPr>
              <a:t>[R</a:t>
            </a:r>
            <a:r>
              <a:rPr lang="en-US" sz="2100" dirty="0">
                <a:solidFill>
                  <a:prstClr val="black"/>
                </a:solidFill>
              </a:rPr>
              <a:t>]</a:t>
            </a:r>
          </a:p>
        </p:txBody>
      </p:sp>
      <p:sp>
        <p:nvSpPr>
          <p:cNvPr id="111698" name="Text Box 82"/>
          <p:cNvSpPr txBox="1">
            <a:spLocks noChangeArrowheads="1"/>
          </p:cNvSpPr>
          <p:nvPr/>
        </p:nvSpPr>
        <p:spPr bwMode="auto">
          <a:xfrm>
            <a:off x="1749011" y="5153890"/>
            <a:ext cx="10053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Stable</a:t>
            </a:r>
          </a:p>
        </p:txBody>
      </p:sp>
      <p:sp>
        <p:nvSpPr>
          <p:cNvPr id="111699" name="Text Box 83"/>
          <p:cNvSpPr txBox="1">
            <a:spLocks noChangeArrowheads="1"/>
          </p:cNvSpPr>
          <p:nvPr/>
        </p:nvSpPr>
        <p:spPr bwMode="auto">
          <a:xfrm>
            <a:off x="5139558" y="5162354"/>
            <a:ext cx="13547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Unstable</a:t>
            </a:r>
          </a:p>
        </p:txBody>
      </p:sp>
      <p:sp>
        <p:nvSpPr>
          <p:cNvPr id="111700" name="Rectangle 84"/>
          <p:cNvSpPr>
            <a:spLocks noChangeArrowheads="1"/>
          </p:cNvSpPr>
          <p:nvPr/>
        </p:nvSpPr>
        <p:spPr bwMode="auto">
          <a:xfrm>
            <a:off x="2600962" y="4007524"/>
            <a:ext cx="17906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sym typeface="Mathematica1" pitchFamily="2" charset="2"/>
              </a:rPr>
              <a:t>Exponential </a:t>
            </a:r>
          </a:p>
          <a:p>
            <a:r>
              <a:rPr lang="en-US" dirty="0">
                <a:solidFill>
                  <a:prstClr val="black"/>
                </a:solidFill>
                <a:sym typeface="Mathematica1" pitchFamily="2" charset="2"/>
              </a:rPr>
              <a:t>decay</a:t>
            </a:r>
            <a:endParaRPr lang="en-GB" dirty="0">
              <a:solidFill>
                <a:prstClr val="black"/>
              </a:solidFill>
              <a:sym typeface="Mathematica1" pitchFamily="2" charset="2"/>
            </a:endParaRPr>
          </a:p>
        </p:txBody>
      </p:sp>
      <p:sp>
        <p:nvSpPr>
          <p:cNvPr id="111701" name="Rectangle 85"/>
          <p:cNvSpPr>
            <a:spLocks noChangeArrowheads="1"/>
          </p:cNvSpPr>
          <p:nvPr/>
        </p:nvSpPr>
        <p:spPr bwMode="auto">
          <a:xfrm>
            <a:off x="4740043" y="4007524"/>
            <a:ext cx="17906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sym typeface="Mathematica1" pitchFamily="2" charset="2"/>
              </a:rPr>
              <a:t>Exponential </a:t>
            </a:r>
          </a:p>
          <a:p>
            <a:r>
              <a:rPr lang="en-US" dirty="0">
                <a:solidFill>
                  <a:prstClr val="black"/>
                </a:solidFill>
                <a:sym typeface="Mathematica1" pitchFamily="2" charset="2"/>
              </a:rPr>
              <a:t>growth</a:t>
            </a:r>
            <a:endParaRPr lang="en-GB" dirty="0">
              <a:solidFill>
                <a:prstClr val="black"/>
              </a:solidFill>
              <a:sym typeface="Mathematica1" pitchFamily="2" charset="2"/>
            </a:endParaRP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131237" y="5658232"/>
            <a:ext cx="64101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The “+C” is if there is an initiation step: see later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0" name="Freeform 11"/>
          <p:cNvSpPr>
            <a:spLocks/>
          </p:cNvSpPr>
          <p:nvPr/>
        </p:nvSpPr>
        <p:spPr bwMode="auto">
          <a:xfrm flipH="1">
            <a:off x="4625743" y="4132824"/>
            <a:ext cx="2536031" cy="962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55"/>
              </a:cxn>
              <a:cxn ang="0">
                <a:pos x="18" y="100"/>
              </a:cxn>
              <a:cxn ang="0">
                <a:pos x="27" y="137"/>
              </a:cxn>
              <a:cxn ang="0">
                <a:pos x="36" y="167"/>
              </a:cxn>
              <a:cxn ang="0">
                <a:pos x="45" y="192"/>
              </a:cxn>
              <a:cxn ang="0">
                <a:pos x="54" y="212"/>
              </a:cxn>
              <a:cxn ang="0">
                <a:pos x="62" y="229"/>
              </a:cxn>
              <a:cxn ang="0">
                <a:pos x="71" y="243"/>
              </a:cxn>
              <a:cxn ang="0">
                <a:pos x="80" y="254"/>
              </a:cxn>
              <a:cxn ang="0">
                <a:pos x="89" y="263"/>
              </a:cxn>
              <a:cxn ang="0">
                <a:pos x="98" y="270"/>
              </a:cxn>
              <a:cxn ang="0">
                <a:pos x="107" y="276"/>
              </a:cxn>
              <a:cxn ang="0">
                <a:pos x="116" y="281"/>
              </a:cxn>
              <a:cxn ang="0">
                <a:pos x="124" y="286"/>
              </a:cxn>
              <a:cxn ang="0">
                <a:pos x="133" y="289"/>
              </a:cxn>
              <a:cxn ang="0">
                <a:pos x="142" y="292"/>
              </a:cxn>
              <a:cxn ang="0">
                <a:pos x="151" y="294"/>
              </a:cxn>
              <a:cxn ang="0">
                <a:pos x="160" y="296"/>
              </a:cxn>
              <a:cxn ang="0">
                <a:pos x="169" y="297"/>
              </a:cxn>
              <a:cxn ang="0">
                <a:pos x="178" y="298"/>
              </a:cxn>
              <a:cxn ang="0">
                <a:pos x="186" y="299"/>
              </a:cxn>
              <a:cxn ang="0">
                <a:pos x="195" y="300"/>
              </a:cxn>
              <a:cxn ang="0">
                <a:pos x="204" y="301"/>
              </a:cxn>
              <a:cxn ang="0">
                <a:pos x="213" y="301"/>
              </a:cxn>
              <a:cxn ang="0">
                <a:pos x="222" y="302"/>
              </a:cxn>
              <a:cxn ang="0">
                <a:pos x="231" y="302"/>
              </a:cxn>
              <a:cxn ang="0">
                <a:pos x="239" y="303"/>
              </a:cxn>
              <a:cxn ang="0">
                <a:pos x="248" y="303"/>
              </a:cxn>
              <a:cxn ang="0">
                <a:pos x="257" y="303"/>
              </a:cxn>
              <a:cxn ang="0">
                <a:pos x="266" y="303"/>
              </a:cxn>
              <a:cxn ang="0">
                <a:pos x="275" y="303"/>
              </a:cxn>
              <a:cxn ang="0">
                <a:pos x="284" y="303"/>
              </a:cxn>
              <a:cxn ang="0">
                <a:pos x="293" y="304"/>
              </a:cxn>
              <a:cxn ang="0">
                <a:pos x="301" y="304"/>
              </a:cxn>
              <a:cxn ang="0">
                <a:pos x="310" y="304"/>
              </a:cxn>
              <a:cxn ang="0">
                <a:pos x="319" y="304"/>
              </a:cxn>
              <a:cxn ang="0">
                <a:pos x="328" y="304"/>
              </a:cxn>
              <a:cxn ang="0">
                <a:pos x="337" y="304"/>
              </a:cxn>
              <a:cxn ang="0">
                <a:pos x="346" y="304"/>
              </a:cxn>
              <a:cxn ang="0">
                <a:pos x="355" y="304"/>
              </a:cxn>
            </a:cxnLst>
            <a:rect l="0" t="0" r="r" b="b"/>
            <a:pathLst>
              <a:path w="355" h="304">
                <a:moveTo>
                  <a:pt x="0" y="0"/>
                </a:moveTo>
                <a:lnTo>
                  <a:pt x="9" y="55"/>
                </a:lnTo>
                <a:lnTo>
                  <a:pt x="18" y="100"/>
                </a:lnTo>
                <a:lnTo>
                  <a:pt x="27" y="137"/>
                </a:lnTo>
                <a:lnTo>
                  <a:pt x="36" y="167"/>
                </a:lnTo>
                <a:lnTo>
                  <a:pt x="45" y="192"/>
                </a:lnTo>
                <a:lnTo>
                  <a:pt x="54" y="212"/>
                </a:lnTo>
                <a:lnTo>
                  <a:pt x="62" y="229"/>
                </a:lnTo>
                <a:lnTo>
                  <a:pt x="71" y="243"/>
                </a:lnTo>
                <a:lnTo>
                  <a:pt x="80" y="254"/>
                </a:lnTo>
                <a:lnTo>
                  <a:pt x="89" y="263"/>
                </a:lnTo>
                <a:lnTo>
                  <a:pt x="98" y="270"/>
                </a:lnTo>
                <a:lnTo>
                  <a:pt x="107" y="276"/>
                </a:lnTo>
                <a:lnTo>
                  <a:pt x="116" y="281"/>
                </a:lnTo>
                <a:lnTo>
                  <a:pt x="124" y="286"/>
                </a:lnTo>
                <a:lnTo>
                  <a:pt x="133" y="289"/>
                </a:lnTo>
                <a:lnTo>
                  <a:pt x="142" y="292"/>
                </a:lnTo>
                <a:lnTo>
                  <a:pt x="151" y="294"/>
                </a:lnTo>
                <a:lnTo>
                  <a:pt x="160" y="296"/>
                </a:lnTo>
                <a:lnTo>
                  <a:pt x="169" y="297"/>
                </a:lnTo>
                <a:lnTo>
                  <a:pt x="178" y="298"/>
                </a:lnTo>
                <a:lnTo>
                  <a:pt x="186" y="299"/>
                </a:lnTo>
                <a:lnTo>
                  <a:pt x="195" y="300"/>
                </a:lnTo>
                <a:lnTo>
                  <a:pt x="204" y="301"/>
                </a:lnTo>
                <a:lnTo>
                  <a:pt x="213" y="301"/>
                </a:lnTo>
                <a:lnTo>
                  <a:pt x="222" y="302"/>
                </a:lnTo>
                <a:lnTo>
                  <a:pt x="231" y="302"/>
                </a:lnTo>
                <a:lnTo>
                  <a:pt x="239" y="303"/>
                </a:lnTo>
                <a:lnTo>
                  <a:pt x="248" y="303"/>
                </a:lnTo>
                <a:lnTo>
                  <a:pt x="257" y="303"/>
                </a:lnTo>
                <a:lnTo>
                  <a:pt x="266" y="303"/>
                </a:lnTo>
                <a:lnTo>
                  <a:pt x="275" y="303"/>
                </a:lnTo>
                <a:lnTo>
                  <a:pt x="284" y="303"/>
                </a:lnTo>
                <a:lnTo>
                  <a:pt x="293" y="304"/>
                </a:lnTo>
                <a:lnTo>
                  <a:pt x="301" y="304"/>
                </a:lnTo>
                <a:lnTo>
                  <a:pt x="310" y="304"/>
                </a:lnTo>
                <a:lnTo>
                  <a:pt x="319" y="304"/>
                </a:lnTo>
                <a:lnTo>
                  <a:pt x="328" y="304"/>
                </a:lnTo>
                <a:lnTo>
                  <a:pt x="337" y="304"/>
                </a:lnTo>
                <a:lnTo>
                  <a:pt x="346" y="304"/>
                </a:lnTo>
                <a:lnTo>
                  <a:pt x="355" y="304"/>
                </a:lnTo>
              </a:path>
            </a:pathLst>
          </a:custGeom>
          <a:noFill/>
          <a:ln w="9525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1212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/>
      <p:bldP spid="111621" grpId="0"/>
      <p:bldP spid="111627" grpId="0" animBg="1"/>
      <p:bldP spid="111632" grpId="0" animBg="1"/>
      <p:bldP spid="111633" grpId="0" animBg="1"/>
      <p:bldP spid="111634" grpId="0"/>
      <p:bldP spid="111635" grpId="0"/>
      <p:bldP spid="111692" grpId="0" animBg="1"/>
      <p:bldP spid="111693" grpId="0"/>
      <p:bldP spid="111694" grpId="0" animBg="1"/>
      <p:bldP spid="111695" grpId="0"/>
      <p:bldP spid="111696" grpId="0" animBg="1"/>
      <p:bldP spid="111697" grpId="0"/>
      <p:bldP spid="111698" grpId="0"/>
      <p:bldP spid="111699" grpId="0"/>
      <p:bldP spid="111700" grpId="0"/>
      <p:bldP spid="111701" grpId="0"/>
      <p:bldP spid="38" grpId="0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063229"/>
            <a:ext cx="6831378" cy="857250"/>
          </a:xfrm>
        </p:spPr>
        <p:txBody>
          <a:bodyPr>
            <a:normAutofit fontScale="90000"/>
          </a:bodyPr>
          <a:lstStyle/>
          <a:p>
            <a:r>
              <a:rPr lang="en-GB" sz="3000" dirty="0"/>
              <a:t>With branching propagation steps </a:t>
            </a:r>
            <a:br>
              <a:rPr lang="en-GB" sz="3000" dirty="0"/>
            </a:br>
            <a:r>
              <a:rPr lang="en-GB" sz="3000" i="1" dirty="0"/>
              <a:t>and </a:t>
            </a:r>
            <a:r>
              <a:rPr lang="en-GB" sz="3000" dirty="0"/>
              <a:t>termination steps</a:t>
            </a:r>
            <a:endParaRPr lang="en-US" sz="3000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57402"/>
            <a:ext cx="6858000" cy="4800598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GB" sz="2100" dirty="0"/>
              <a:t>M </a:t>
            </a:r>
            <a:r>
              <a:rPr lang="en-GB" sz="2100" dirty="0">
                <a:cs typeface="Arial" charset="0"/>
              </a:rPr>
              <a:t>→ R			(initiation)	 Rate constant k</a:t>
            </a:r>
            <a:r>
              <a:rPr lang="en-GB" sz="2100" baseline="-25000" dirty="0">
                <a:cs typeface="Arial" charset="0"/>
              </a:rPr>
              <a:t>init</a:t>
            </a:r>
            <a:r>
              <a:rPr lang="en-GB" sz="2100" dirty="0">
                <a:cs typeface="Arial" charset="0"/>
              </a:rPr>
              <a:t>	</a:t>
            </a:r>
            <a:endParaRPr lang="en-GB" sz="2100" dirty="0"/>
          </a:p>
          <a:p>
            <a:pPr>
              <a:buFontTx/>
              <a:buNone/>
            </a:pPr>
            <a:r>
              <a:rPr lang="en-GB" sz="2100" dirty="0"/>
              <a:t>A + R</a:t>
            </a:r>
            <a:r>
              <a:rPr lang="en-GB" sz="2100" dirty="0">
                <a:cs typeface="Arial" charset="0"/>
              </a:rPr>
              <a:t> → 2</a:t>
            </a:r>
            <a:r>
              <a:rPr lang="en-GB" sz="2100" dirty="0"/>
              <a:t>R + B</a:t>
            </a:r>
            <a:r>
              <a:rPr lang="en-GB" sz="2100" dirty="0">
                <a:cs typeface="Arial" charset="0"/>
              </a:rPr>
              <a:t> 		(propagation)  	 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prop</a:t>
            </a:r>
            <a:endParaRPr lang="en-GB" sz="2100" dirty="0"/>
          </a:p>
          <a:p>
            <a:pPr>
              <a:buFontTx/>
              <a:buNone/>
            </a:pPr>
            <a:r>
              <a:rPr lang="en-GB" sz="2100" dirty="0"/>
              <a:t>R</a:t>
            </a:r>
            <a:r>
              <a:rPr lang="en-GB" sz="2100" dirty="0">
                <a:cs typeface="Arial" charset="0"/>
              </a:rPr>
              <a:t> → disappears   		(termination)  	 Rate constant </a:t>
            </a:r>
            <a:r>
              <a:rPr lang="en-GB" sz="2100" dirty="0" err="1">
                <a:cs typeface="Arial" charset="0"/>
              </a:rPr>
              <a:t>k</a:t>
            </a:r>
            <a:r>
              <a:rPr lang="en-GB" sz="2100" baseline="-25000" dirty="0" err="1">
                <a:cs typeface="Arial" charset="0"/>
              </a:rPr>
              <a:t>term</a:t>
            </a:r>
            <a:endParaRPr lang="en-GB" sz="2100" baseline="-25000" dirty="0">
              <a:cs typeface="Arial" charset="0"/>
            </a:endParaRPr>
          </a:p>
          <a:p>
            <a:pPr>
              <a:buFontTx/>
              <a:buNone/>
            </a:pPr>
            <a:endParaRPr lang="en-GB" sz="2100" dirty="0"/>
          </a:p>
          <a:p>
            <a:pPr>
              <a:buFontTx/>
              <a:buNone/>
            </a:pPr>
            <a:r>
              <a:rPr lang="en-GB" dirty="0"/>
              <a:t>d[R]/dt	 = k</a:t>
            </a:r>
            <a:r>
              <a:rPr lang="en-GB" baseline="-25000" dirty="0"/>
              <a:t>init</a:t>
            </a:r>
            <a:r>
              <a:rPr lang="en-GB" dirty="0"/>
              <a:t>[M] + </a:t>
            </a:r>
            <a:r>
              <a:rPr lang="en-GB" dirty="0" err="1"/>
              <a:t>k</a:t>
            </a:r>
            <a:r>
              <a:rPr lang="en-GB" baseline="-25000" dirty="0" err="1"/>
              <a:t>prop</a:t>
            </a:r>
            <a:r>
              <a:rPr lang="en-GB" dirty="0"/>
              <a:t>[A][R] – </a:t>
            </a:r>
            <a:r>
              <a:rPr lang="en-GB" dirty="0" err="1"/>
              <a:t>k</a:t>
            </a:r>
            <a:r>
              <a:rPr lang="en-GB" baseline="-25000" dirty="0" err="1"/>
              <a:t>term</a:t>
            </a:r>
            <a:r>
              <a:rPr lang="en-GB" dirty="0"/>
              <a:t>[R]</a:t>
            </a:r>
          </a:p>
          <a:p>
            <a:pPr>
              <a:buFontTx/>
              <a:buNone/>
            </a:pPr>
            <a:r>
              <a:rPr lang="en-GB" dirty="0"/>
              <a:t>		 = k</a:t>
            </a:r>
            <a:r>
              <a:rPr lang="en-GB" baseline="-25000" dirty="0"/>
              <a:t>init</a:t>
            </a:r>
            <a:r>
              <a:rPr lang="en-GB" dirty="0"/>
              <a:t>[M]   +   (</a:t>
            </a:r>
            <a:r>
              <a:rPr lang="en-GB" dirty="0" err="1"/>
              <a:t>k</a:t>
            </a:r>
            <a:r>
              <a:rPr lang="en-GB" baseline="-25000" dirty="0" err="1"/>
              <a:t>prop</a:t>
            </a:r>
            <a:r>
              <a:rPr lang="en-GB" dirty="0"/>
              <a:t>[A] – </a:t>
            </a:r>
            <a:r>
              <a:rPr lang="en-GB" dirty="0" err="1"/>
              <a:t>k</a:t>
            </a:r>
            <a:r>
              <a:rPr lang="en-GB" baseline="-25000" dirty="0" err="1"/>
              <a:t>term</a:t>
            </a:r>
            <a:r>
              <a:rPr lang="en-GB" dirty="0"/>
              <a:t>) [R]</a:t>
            </a:r>
          </a:p>
          <a:p>
            <a:pPr>
              <a:buFontTx/>
              <a:buNone/>
            </a:pPr>
            <a:endParaRPr lang="en-GB" dirty="0"/>
          </a:p>
          <a:p>
            <a:pPr>
              <a:buFontTx/>
              <a:buNone/>
            </a:pPr>
            <a:r>
              <a:rPr lang="en-GB" dirty="0"/>
              <a:t>Is </a:t>
            </a:r>
            <a:r>
              <a:rPr lang="en-GB" dirty="0" err="1"/>
              <a:t>k</a:t>
            </a:r>
            <a:r>
              <a:rPr lang="en-GB" baseline="-25000" dirty="0" err="1"/>
              <a:t>prop</a:t>
            </a:r>
            <a:r>
              <a:rPr lang="en-GB" dirty="0"/>
              <a:t>[A] larger or smaller than </a:t>
            </a:r>
            <a:r>
              <a:rPr lang="en-GB" dirty="0" err="1"/>
              <a:t>k</a:t>
            </a:r>
            <a:r>
              <a:rPr lang="en-GB" baseline="-25000" dirty="0" err="1"/>
              <a:t>term</a:t>
            </a:r>
            <a:r>
              <a:rPr lang="en-GB" dirty="0"/>
              <a:t>?</a:t>
            </a:r>
            <a:endParaRPr lang="en-GB" baseline="-25000" dirty="0"/>
          </a:p>
          <a:p>
            <a:pPr>
              <a:buFontTx/>
              <a:buNone/>
            </a:pPr>
            <a:r>
              <a:rPr lang="en-GB" dirty="0"/>
              <a:t>In general, if d[R]/</a:t>
            </a:r>
            <a:r>
              <a:rPr lang="en-GB" dirty="0" err="1"/>
              <a:t>dt</a:t>
            </a:r>
            <a:r>
              <a:rPr lang="en-GB" dirty="0"/>
              <a:t> = …+ f[R] – g[R]</a:t>
            </a:r>
          </a:p>
          <a:p>
            <a:pPr>
              <a:buFontTx/>
              <a:buNone/>
            </a:pPr>
            <a:r>
              <a:rPr lang="en-GB" dirty="0"/>
              <a:t>f-g &gt; 0	Positive feedback		Explosion</a:t>
            </a:r>
          </a:p>
          <a:p>
            <a:pPr>
              <a:buFontTx/>
              <a:buNone/>
            </a:pPr>
            <a:r>
              <a:rPr lang="en-GB" dirty="0"/>
              <a:t>f-g &lt; 0	Negative feedback 	Exponential decay</a:t>
            </a:r>
          </a:p>
        </p:txBody>
      </p:sp>
    </p:spTree>
    <p:extLst>
      <p:ext uri="{BB962C8B-B14F-4D97-AF65-F5344CB8AC3E}">
        <p14:creationId xmlns:p14="http://schemas.microsoft.com/office/powerpoint/2010/main" val="27363160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Initiation steps and [R]</a:t>
            </a:r>
            <a:endParaRPr lang="en-US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952627"/>
            <a:ext cx="6172200" cy="4905373"/>
          </a:xfrm>
        </p:spPr>
        <p:txBody>
          <a:bodyPr/>
          <a:lstStyle/>
          <a:p>
            <a:r>
              <a:rPr lang="en-GB" dirty="0"/>
              <a:t>Initiation steps don’t depend on [R] and so appear as constants (no feedback)</a:t>
            </a:r>
          </a:p>
          <a:p>
            <a:r>
              <a:rPr lang="en-GB" dirty="0"/>
              <a:t>In cases where negative feedback dominates, adding an initiation step means:</a:t>
            </a:r>
          </a:p>
          <a:p>
            <a:pPr lvl="1"/>
            <a:r>
              <a:rPr lang="en-GB" dirty="0"/>
              <a:t>[R] approaches a constant steady-state value</a:t>
            </a:r>
          </a:p>
          <a:p>
            <a:pPr lvl="1"/>
            <a:r>
              <a:rPr lang="en-GB" dirty="0"/>
              <a:t>may initially increase or decrease</a:t>
            </a:r>
          </a:p>
        </p:txBody>
      </p:sp>
      <p:sp>
        <p:nvSpPr>
          <p:cNvPr id="4" name="Freeform 11"/>
          <p:cNvSpPr>
            <a:spLocks/>
          </p:cNvSpPr>
          <p:nvPr/>
        </p:nvSpPr>
        <p:spPr bwMode="auto">
          <a:xfrm>
            <a:off x="1589487" y="5090547"/>
            <a:ext cx="2536031" cy="962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55"/>
              </a:cxn>
              <a:cxn ang="0">
                <a:pos x="18" y="100"/>
              </a:cxn>
              <a:cxn ang="0">
                <a:pos x="27" y="137"/>
              </a:cxn>
              <a:cxn ang="0">
                <a:pos x="36" y="167"/>
              </a:cxn>
              <a:cxn ang="0">
                <a:pos x="45" y="192"/>
              </a:cxn>
              <a:cxn ang="0">
                <a:pos x="54" y="212"/>
              </a:cxn>
              <a:cxn ang="0">
                <a:pos x="62" y="229"/>
              </a:cxn>
              <a:cxn ang="0">
                <a:pos x="71" y="243"/>
              </a:cxn>
              <a:cxn ang="0">
                <a:pos x="80" y="254"/>
              </a:cxn>
              <a:cxn ang="0">
                <a:pos x="89" y="263"/>
              </a:cxn>
              <a:cxn ang="0">
                <a:pos x="98" y="270"/>
              </a:cxn>
              <a:cxn ang="0">
                <a:pos x="107" y="276"/>
              </a:cxn>
              <a:cxn ang="0">
                <a:pos x="116" y="281"/>
              </a:cxn>
              <a:cxn ang="0">
                <a:pos x="124" y="286"/>
              </a:cxn>
              <a:cxn ang="0">
                <a:pos x="133" y="289"/>
              </a:cxn>
              <a:cxn ang="0">
                <a:pos x="142" y="292"/>
              </a:cxn>
              <a:cxn ang="0">
                <a:pos x="151" y="294"/>
              </a:cxn>
              <a:cxn ang="0">
                <a:pos x="160" y="296"/>
              </a:cxn>
              <a:cxn ang="0">
                <a:pos x="169" y="297"/>
              </a:cxn>
              <a:cxn ang="0">
                <a:pos x="178" y="298"/>
              </a:cxn>
              <a:cxn ang="0">
                <a:pos x="186" y="299"/>
              </a:cxn>
              <a:cxn ang="0">
                <a:pos x="195" y="300"/>
              </a:cxn>
              <a:cxn ang="0">
                <a:pos x="204" y="301"/>
              </a:cxn>
              <a:cxn ang="0">
                <a:pos x="213" y="301"/>
              </a:cxn>
              <a:cxn ang="0">
                <a:pos x="222" y="302"/>
              </a:cxn>
              <a:cxn ang="0">
                <a:pos x="231" y="302"/>
              </a:cxn>
              <a:cxn ang="0">
                <a:pos x="239" y="303"/>
              </a:cxn>
              <a:cxn ang="0">
                <a:pos x="248" y="303"/>
              </a:cxn>
              <a:cxn ang="0">
                <a:pos x="257" y="303"/>
              </a:cxn>
              <a:cxn ang="0">
                <a:pos x="266" y="303"/>
              </a:cxn>
              <a:cxn ang="0">
                <a:pos x="275" y="303"/>
              </a:cxn>
              <a:cxn ang="0">
                <a:pos x="284" y="303"/>
              </a:cxn>
              <a:cxn ang="0">
                <a:pos x="293" y="304"/>
              </a:cxn>
              <a:cxn ang="0">
                <a:pos x="301" y="304"/>
              </a:cxn>
              <a:cxn ang="0">
                <a:pos x="310" y="304"/>
              </a:cxn>
              <a:cxn ang="0">
                <a:pos x="319" y="304"/>
              </a:cxn>
              <a:cxn ang="0">
                <a:pos x="328" y="304"/>
              </a:cxn>
              <a:cxn ang="0">
                <a:pos x="337" y="304"/>
              </a:cxn>
              <a:cxn ang="0">
                <a:pos x="346" y="304"/>
              </a:cxn>
              <a:cxn ang="0">
                <a:pos x="355" y="304"/>
              </a:cxn>
            </a:cxnLst>
            <a:rect l="0" t="0" r="r" b="b"/>
            <a:pathLst>
              <a:path w="355" h="304">
                <a:moveTo>
                  <a:pt x="0" y="0"/>
                </a:moveTo>
                <a:lnTo>
                  <a:pt x="9" y="55"/>
                </a:lnTo>
                <a:lnTo>
                  <a:pt x="18" y="100"/>
                </a:lnTo>
                <a:lnTo>
                  <a:pt x="27" y="137"/>
                </a:lnTo>
                <a:lnTo>
                  <a:pt x="36" y="167"/>
                </a:lnTo>
                <a:lnTo>
                  <a:pt x="45" y="192"/>
                </a:lnTo>
                <a:lnTo>
                  <a:pt x="54" y="212"/>
                </a:lnTo>
                <a:lnTo>
                  <a:pt x="62" y="229"/>
                </a:lnTo>
                <a:lnTo>
                  <a:pt x="71" y="243"/>
                </a:lnTo>
                <a:lnTo>
                  <a:pt x="80" y="254"/>
                </a:lnTo>
                <a:lnTo>
                  <a:pt x="89" y="263"/>
                </a:lnTo>
                <a:lnTo>
                  <a:pt x="98" y="270"/>
                </a:lnTo>
                <a:lnTo>
                  <a:pt x="107" y="276"/>
                </a:lnTo>
                <a:lnTo>
                  <a:pt x="116" y="281"/>
                </a:lnTo>
                <a:lnTo>
                  <a:pt x="124" y="286"/>
                </a:lnTo>
                <a:lnTo>
                  <a:pt x="133" y="289"/>
                </a:lnTo>
                <a:lnTo>
                  <a:pt x="142" y="292"/>
                </a:lnTo>
                <a:lnTo>
                  <a:pt x="151" y="294"/>
                </a:lnTo>
                <a:lnTo>
                  <a:pt x="160" y="296"/>
                </a:lnTo>
                <a:lnTo>
                  <a:pt x="169" y="297"/>
                </a:lnTo>
                <a:lnTo>
                  <a:pt x="178" y="298"/>
                </a:lnTo>
                <a:lnTo>
                  <a:pt x="186" y="299"/>
                </a:lnTo>
                <a:lnTo>
                  <a:pt x="195" y="300"/>
                </a:lnTo>
                <a:lnTo>
                  <a:pt x="204" y="301"/>
                </a:lnTo>
                <a:lnTo>
                  <a:pt x="213" y="301"/>
                </a:lnTo>
                <a:lnTo>
                  <a:pt x="222" y="302"/>
                </a:lnTo>
                <a:lnTo>
                  <a:pt x="231" y="302"/>
                </a:lnTo>
                <a:lnTo>
                  <a:pt x="239" y="303"/>
                </a:lnTo>
                <a:lnTo>
                  <a:pt x="248" y="303"/>
                </a:lnTo>
                <a:lnTo>
                  <a:pt x="257" y="303"/>
                </a:lnTo>
                <a:lnTo>
                  <a:pt x="266" y="303"/>
                </a:lnTo>
                <a:lnTo>
                  <a:pt x="275" y="303"/>
                </a:lnTo>
                <a:lnTo>
                  <a:pt x="284" y="303"/>
                </a:lnTo>
                <a:lnTo>
                  <a:pt x="293" y="304"/>
                </a:lnTo>
                <a:lnTo>
                  <a:pt x="301" y="304"/>
                </a:lnTo>
                <a:lnTo>
                  <a:pt x="310" y="304"/>
                </a:lnTo>
                <a:lnTo>
                  <a:pt x="319" y="304"/>
                </a:lnTo>
                <a:lnTo>
                  <a:pt x="328" y="304"/>
                </a:lnTo>
                <a:lnTo>
                  <a:pt x="337" y="304"/>
                </a:lnTo>
                <a:lnTo>
                  <a:pt x="346" y="304"/>
                </a:lnTo>
                <a:lnTo>
                  <a:pt x="355" y="304"/>
                </a:lnTo>
              </a:path>
            </a:pathLst>
          </a:custGeom>
          <a:noFill/>
          <a:ln w="9525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Line 16"/>
          <p:cNvSpPr>
            <a:spLocks noChangeShapeType="1"/>
          </p:cNvSpPr>
          <p:nvPr/>
        </p:nvSpPr>
        <p:spPr bwMode="auto">
          <a:xfrm>
            <a:off x="1524000" y="6170596"/>
            <a:ext cx="2914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Line 17"/>
          <p:cNvSpPr>
            <a:spLocks noChangeShapeType="1"/>
          </p:cNvSpPr>
          <p:nvPr/>
        </p:nvSpPr>
        <p:spPr bwMode="auto">
          <a:xfrm>
            <a:off x="1581150" y="4953625"/>
            <a:ext cx="0" cy="128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3855246" y="6085909"/>
            <a:ext cx="7954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1028755" y="5021644"/>
            <a:ext cx="5709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[R</a:t>
            </a:r>
            <a:r>
              <a:rPr lang="en-US" dirty="0">
                <a:solidFill>
                  <a:prstClr val="black"/>
                </a:solidFill>
              </a:rPr>
              <a:t>]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 flipV="1">
            <a:off x="4782183" y="5196480"/>
            <a:ext cx="2536031" cy="962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55"/>
              </a:cxn>
              <a:cxn ang="0">
                <a:pos x="18" y="100"/>
              </a:cxn>
              <a:cxn ang="0">
                <a:pos x="27" y="137"/>
              </a:cxn>
              <a:cxn ang="0">
                <a:pos x="36" y="167"/>
              </a:cxn>
              <a:cxn ang="0">
                <a:pos x="45" y="192"/>
              </a:cxn>
              <a:cxn ang="0">
                <a:pos x="54" y="212"/>
              </a:cxn>
              <a:cxn ang="0">
                <a:pos x="62" y="229"/>
              </a:cxn>
              <a:cxn ang="0">
                <a:pos x="71" y="243"/>
              </a:cxn>
              <a:cxn ang="0">
                <a:pos x="80" y="254"/>
              </a:cxn>
              <a:cxn ang="0">
                <a:pos x="89" y="263"/>
              </a:cxn>
              <a:cxn ang="0">
                <a:pos x="98" y="270"/>
              </a:cxn>
              <a:cxn ang="0">
                <a:pos x="107" y="276"/>
              </a:cxn>
              <a:cxn ang="0">
                <a:pos x="116" y="281"/>
              </a:cxn>
              <a:cxn ang="0">
                <a:pos x="124" y="286"/>
              </a:cxn>
              <a:cxn ang="0">
                <a:pos x="133" y="289"/>
              </a:cxn>
              <a:cxn ang="0">
                <a:pos x="142" y="292"/>
              </a:cxn>
              <a:cxn ang="0">
                <a:pos x="151" y="294"/>
              </a:cxn>
              <a:cxn ang="0">
                <a:pos x="160" y="296"/>
              </a:cxn>
              <a:cxn ang="0">
                <a:pos x="169" y="297"/>
              </a:cxn>
              <a:cxn ang="0">
                <a:pos x="178" y="298"/>
              </a:cxn>
              <a:cxn ang="0">
                <a:pos x="186" y="299"/>
              </a:cxn>
              <a:cxn ang="0">
                <a:pos x="195" y="300"/>
              </a:cxn>
              <a:cxn ang="0">
                <a:pos x="204" y="301"/>
              </a:cxn>
              <a:cxn ang="0">
                <a:pos x="213" y="301"/>
              </a:cxn>
              <a:cxn ang="0">
                <a:pos x="222" y="302"/>
              </a:cxn>
              <a:cxn ang="0">
                <a:pos x="231" y="302"/>
              </a:cxn>
              <a:cxn ang="0">
                <a:pos x="239" y="303"/>
              </a:cxn>
              <a:cxn ang="0">
                <a:pos x="248" y="303"/>
              </a:cxn>
              <a:cxn ang="0">
                <a:pos x="257" y="303"/>
              </a:cxn>
              <a:cxn ang="0">
                <a:pos x="266" y="303"/>
              </a:cxn>
              <a:cxn ang="0">
                <a:pos x="275" y="303"/>
              </a:cxn>
              <a:cxn ang="0">
                <a:pos x="284" y="303"/>
              </a:cxn>
              <a:cxn ang="0">
                <a:pos x="293" y="304"/>
              </a:cxn>
              <a:cxn ang="0">
                <a:pos x="301" y="304"/>
              </a:cxn>
              <a:cxn ang="0">
                <a:pos x="310" y="304"/>
              </a:cxn>
              <a:cxn ang="0">
                <a:pos x="319" y="304"/>
              </a:cxn>
              <a:cxn ang="0">
                <a:pos x="328" y="304"/>
              </a:cxn>
              <a:cxn ang="0">
                <a:pos x="337" y="304"/>
              </a:cxn>
              <a:cxn ang="0">
                <a:pos x="346" y="304"/>
              </a:cxn>
              <a:cxn ang="0">
                <a:pos x="355" y="304"/>
              </a:cxn>
            </a:cxnLst>
            <a:rect l="0" t="0" r="r" b="b"/>
            <a:pathLst>
              <a:path w="355" h="304">
                <a:moveTo>
                  <a:pt x="0" y="0"/>
                </a:moveTo>
                <a:lnTo>
                  <a:pt x="9" y="55"/>
                </a:lnTo>
                <a:lnTo>
                  <a:pt x="18" y="100"/>
                </a:lnTo>
                <a:lnTo>
                  <a:pt x="27" y="137"/>
                </a:lnTo>
                <a:lnTo>
                  <a:pt x="36" y="167"/>
                </a:lnTo>
                <a:lnTo>
                  <a:pt x="45" y="192"/>
                </a:lnTo>
                <a:lnTo>
                  <a:pt x="54" y="212"/>
                </a:lnTo>
                <a:lnTo>
                  <a:pt x="62" y="229"/>
                </a:lnTo>
                <a:lnTo>
                  <a:pt x="71" y="243"/>
                </a:lnTo>
                <a:lnTo>
                  <a:pt x="80" y="254"/>
                </a:lnTo>
                <a:lnTo>
                  <a:pt x="89" y="263"/>
                </a:lnTo>
                <a:lnTo>
                  <a:pt x="98" y="270"/>
                </a:lnTo>
                <a:lnTo>
                  <a:pt x="107" y="276"/>
                </a:lnTo>
                <a:lnTo>
                  <a:pt x="116" y="281"/>
                </a:lnTo>
                <a:lnTo>
                  <a:pt x="124" y="286"/>
                </a:lnTo>
                <a:lnTo>
                  <a:pt x="133" y="289"/>
                </a:lnTo>
                <a:lnTo>
                  <a:pt x="142" y="292"/>
                </a:lnTo>
                <a:lnTo>
                  <a:pt x="151" y="294"/>
                </a:lnTo>
                <a:lnTo>
                  <a:pt x="160" y="296"/>
                </a:lnTo>
                <a:lnTo>
                  <a:pt x="169" y="297"/>
                </a:lnTo>
                <a:lnTo>
                  <a:pt x="178" y="298"/>
                </a:lnTo>
                <a:lnTo>
                  <a:pt x="186" y="299"/>
                </a:lnTo>
                <a:lnTo>
                  <a:pt x="195" y="300"/>
                </a:lnTo>
                <a:lnTo>
                  <a:pt x="204" y="301"/>
                </a:lnTo>
                <a:lnTo>
                  <a:pt x="213" y="301"/>
                </a:lnTo>
                <a:lnTo>
                  <a:pt x="222" y="302"/>
                </a:lnTo>
                <a:lnTo>
                  <a:pt x="231" y="302"/>
                </a:lnTo>
                <a:lnTo>
                  <a:pt x="239" y="303"/>
                </a:lnTo>
                <a:lnTo>
                  <a:pt x="248" y="303"/>
                </a:lnTo>
                <a:lnTo>
                  <a:pt x="257" y="303"/>
                </a:lnTo>
                <a:lnTo>
                  <a:pt x="266" y="303"/>
                </a:lnTo>
                <a:lnTo>
                  <a:pt x="275" y="303"/>
                </a:lnTo>
                <a:lnTo>
                  <a:pt x="284" y="303"/>
                </a:lnTo>
                <a:lnTo>
                  <a:pt x="293" y="304"/>
                </a:lnTo>
                <a:lnTo>
                  <a:pt x="301" y="304"/>
                </a:lnTo>
                <a:lnTo>
                  <a:pt x="310" y="304"/>
                </a:lnTo>
                <a:lnTo>
                  <a:pt x="319" y="304"/>
                </a:lnTo>
                <a:lnTo>
                  <a:pt x="328" y="304"/>
                </a:lnTo>
                <a:lnTo>
                  <a:pt x="337" y="304"/>
                </a:lnTo>
                <a:lnTo>
                  <a:pt x="346" y="304"/>
                </a:lnTo>
                <a:lnTo>
                  <a:pt x="355" y="304"/>
                </a:lnTo>
              </a:path>
            </a:pathLst>
          </a:custGeom>
          <a:noFill/>
          <a:ln w="9525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>
            <a:off x="4716696" y="6163841"/>
            <a:ext cx="2914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4773846" y="4946869"/>
            <a:ext cx="0" cy="128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7047942" y="6079154"/>
            <a:ext cx="7954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time</a:t>
            </a:r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4199847" y="5046819"/>
            <a:ext cx="5709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[R</a:t>
            </a:r>
            <a:r>
              <a:rPr lang="en-US" dirty="0">
                <a:solidFill>
                  <a:prstClr val="black"/>
                </a:solidFill>
              </a:rPr>
              <a:t>]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55594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5646" y="1679020"/>
            <a:ext cx="646829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A  →  R		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dirty="0">
                <a:solidFill>
                  <a:prstClr val="black"/>
                </a:solidFill>
              </a:rPr>
              <a:t>R + B → 2R  	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2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dirty="0">
                <a:solidFill>
                  <a:prstClr val="black"/>
                </a:solidFill>
              </a:rPr>
              <a:t>R + C → D	 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3</a:t>
            </a:r>
            <a:endParaRPr lang="en-GB" sz="21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85646" y="2859519"/>
            <a:ext cx="56593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The rate constants for this reaction scheme are</a:t>
            </a:r>
          </a:p>
          <a:p>
            <a:r>
              <a:rPr lang="en-GB" sz="2100" dirty="0">
                <a:solidFill>
                  <a:prstClr val="black"/>
                </a:solidFill>
              </a:rPr>
              <a:t>	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1 </a:t>
            </a:r>
            <a:r>
              <a:rPr lang="en-GB" sz="2100" dirty="0">
                <a:solidFill>
                  <a:prstClr val="black"/>
                </a:solidFill>
              </a:rPr>
              <a:t>= 0.5 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i="1" dirty="0">
                <a:solidFill>
                  <a:prstClr val="black"/>
                </a:solidFill>
              </a:rPr>
              <a:t>	k</a:t>
            </a:r>
            <a:r>
              <a:rPr lang="en-GB" sz="2100" i="1" baseline="-25000" dirty="0">
                <a:solidFill>
                  <a:prstClr val="black"/>
                </a:solidFill>
              </a:rPr>
              <a:t>2 </a:t>
            </a:r>
            <a:r>
              <a:rPr lang="en-GB" sz="2100" dirty="0">
                <a:solidFill>
                  <a:prstClr val="black"/>
                </a:solidFill>
              </a:rPr>
              <a:t>= 2 M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r>
              <a:rPr lang="en-GB" sz="2100" dirty="0">
                <a:solidFill>
                  <a:prstClr val="black"/>
                </a:solidFill>
              </a:rPr>
              <a:t>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i="1" dirty="0">
                <a:solidFill>
                  <a:prstClr val="black"/>
                </a:solidFill>
              </a:rPr>
              <a:t>	k</a:t>
            </a:r>
            <a:r>
              <a:rPr lang="en-GB" sz="2100" i="1" baseline="-25000" dirty="0">
                <a:solidFill>
                  <a:prstClr val="black"/>
                </a:solidFill>
              </a:rPr>
              <a:t>3 </a:t>
            </a:r>
            <a:r>
              <a:rPr lang="en-GB" sz="2100" dirty="0">
                <a:solidFill>
                  <a:prstClr val="black"/>
                </a:solidFill>
              </a:rPr>
              <a:t>= 3 M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r>
              <a:rPr lang="en-GB" sz="2100" dirty="0">
                <a:solidFill>
                  <a:prstClr val="black"/>
                </a:solidFill>
              </a:rPr>
              <a:t>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</p:txBody>
      </p:sp>
      <p:graphicFrame>
        <p:nvGraphicFramePr>
          <p:cNvPr id="1067" name="Table 10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65483"/>
              </p:ext>
            </p:extLst>
          </p:nvPr>
        </p:nvGraphicFramePr>
        <p:xfrm>
          <a:off x="5967522" y="4354465"/>
          <a:ext cx="1652478" cy="1099439"/>
        </p:xfrm>
        <a:graphic>
          <a:graphicData uri="http://schemas.openxmlformats.org/drawingml/2006/table">
            <a:tbl>
              <a:tblPr firstRow="1" firstCol="1" bandRow="1"/>
              <a:tblGrid>
                <a:gridCol w="82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[A]</a:t>
                      </a:r>
                      <a:r>
                        <a:rPr lang="en-US" sz="1800" baseline="-25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 M 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[B]</a:t>
                      </a:r>
                      <a:r>
                        <a:rPr lang="en-US" sz="1800" baseline="-250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10 M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[C]</a:t>
                      </a:r>
                      <a:r>
                        <a:rPr lang="en-US" sz="1800" baseline="-250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5 M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79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[R]</a:t>
                      </a:r>
                      <a:r>
                        <a:rPr lang="en-US" sz="1800" baseline="-250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lang="en-US" sz="1800" dirty="0" err="1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mM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8" name="Rectangle 71"/>
          <p:cNvSpPr>
            <a:spLocks noChangeArrowheads="1"/>
          </p:cNvSpPr>
          <p:nvPr/>
        </p:nvSpPr>
        <p:spPr bwMode="auto">
          <a:xfrm>
            <a:off x="4107658" y="3358539"/>
            <a:ext cx="168957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GB" altLang="en-US" sz="1050">
                <a:solidFill>
                  <a:prstClr val="black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en-GB" altLang="en-US" sz="675">
              <a:solidFill>
                <a:prstClr val="black"/>
              </a:solidFill>
            </a:endParaRPr>
          </a:p>
          <a:p>
            <a:pPr eaLnBrk="0" hangingPunct="0"/>
            <a:endParaRPr lang="en-GB" altLang="en-US" sz="1350">
              <a:solidFill>
                <a:prstClr val="black"/>
              </a:solidFill>
            </a:endParaRPr>
          </a:p>
        </p:txBody>
      </p:sp>
      <p:sp>
        <p:nvSpPr>
          <p:cNvPr id="1069" name="Rectangle 1068"/>
          <p:cNvSpPr/>
          <p:nvPr/>
        </p:nvSpPr>
        <p:spPr>
          <a:xfrm>
            <a:off x="1475298" y="4414811"/>
            <a:ext cx="414618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The concentrations of R, A, B and C at a given point in the reaction (t</a:t>
            </a:r>
            <a:r>
              <a:rPr lang="en-GB" sz="2100" baseline="-25000" dirty="0">
                <a:solidFill>
                  <a:prstClr val="black"/>
                </a:solidFill>
              </a:rPr>
              <a:t>0</a:t>
            </a:r>
            <a:r>
              <a:rPr lang="en-GB" sz="2100" dirty="0">
                <a:solidFill>
                  <a:prstClr val="black"/>
                </a:solidFill>
              </a:rPr>
              <a:t>) are as follows:</a:t>
            </a:r>
            <a:r>
              <a:rPr lang="en-GB" sz="135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071" name="Rectangle 1070"/>
          <p:cNvSpPr/>
          <p:nvPr/>
        </p:nvSpPr>
        <p:spPr>
          <a:xfrm>
            <a:off x="1160112" y="5958914"/>
            <a:ext cx="732123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Sketch a graph of how [R] changes with time after t</a:t>
            </a:r>
            <a:r>
              <a:rPr lang="en-GB" sz="2100" baseline="-25000" dirty="0">
                <a:solidFill>
                  <a:prstClr val="black"/>
                </a:solidFill>
              </a:rPr>
              <a:t>0</a:t>
            </a:r>
            <a:endParaRPr lang="en-GB" sz="2100" dirty="0">
              <a:solidFill>
                <a:prstClr val="black"/>
              </a:solidFill>
            </a:endParaRPr>
          </a:p>
        </p:txBody>
      </p:sp>
      <p:sp>
        <p:nvSpPr>
          <p:cNvPr id="8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112" y="857250"/>
            <a:ext cx="6172200" cy="857250"/>
          </a:xfrm>
        </p:spPr>
        <p:txBody>
          <a:bodyPr/>
          <a:lstStyle/>
          <a:p>
            <a:r>
              <a:rPr lang="en-GB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5083669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5646" y="1679020"/>
            <a:ext cx="721880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A  →  R		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dirty="0">
                <a:solidFill>
                  <a:prstClr val="black"/>
                </a:solidFill>
              </a:rPr>
              <a:t>R + B → 2R  	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2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dirty="0">
                <a:solidFill>
                  <a:prstClr val="black"/>
                </a:solidFill>
              </a:rPr>
              <a:t>R + C → D	 		Rate constant 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3</a:t>
            </a:r>
            <a:endParaRPr lang="en-GB" sz="21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85646" y="2835357"/>
            <a:ext cx="55658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The rate constants for this reaction scheme are</a:t>
            </a:r>
          </a:p>
          <a:p>
            <a:r>
              <a:rPr lang="en-GB" sz="2100" dirty="0">
                <a:solidFill>
                  <a:prstClr val="black"/>
                </a:solidFill>
              </a:rPr>
              <a:t>	</a:t>
            </a:r>
            <a:r>
              <a:rPr lang="en-GB" sz="2100" i="1" dirty="0">
                <a:solidFill>
                  <a:prstClr val="black"/>
                </a:solidFill>
              </a:rPr>
              <a:t>k</a:t>
            </a:r>
            <a:r>
              <a:rPr lang="en-GB" sz="2100" i="1" baseline="-25000" dirty="0">
                <a:solidFill>
                  <a:prstClr val="black"/>
                </a:solidFill>
              </a:rPr>
              <a:t>1 </a:t>
            </a:r>
            <a:r>
              <a:rPr lang="en-GB" sz="2100" dirty="0">
                <a:solidFill>
                  <a:prstClr val="black"/>
                </a:solidFill>
              </a:rPr>
              <a:t>= 0.5 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i="1" dirty="0">
                <a:solidFill>
                  <a:prstClr val="black"/>
                </a:solidFill>
              </a:rPr>
              <a:t>	k</a:t>
            </a:r>
            <a:r>
              <a:rPr lang="en-GB" sz="2100" i="1" baseline="-25000" dirty="0">
                <a:solidFill>
                  <a:prstClr val="black"/>
                </a:solidFill>
              </a:rPr>
              <a:t>2 </a:t>
            </a:r>
            <a:r>
              <a:rPr lang="en-GB" sz="2100" dirty="0">
                <a:solidFill>
                  <a:prstClr val="black"/>
                </a:solidFill>
              </a:rPr>
              <a:t>= 2 M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r>
              <a:rPr lang="en-GB" sz="2100" dirty="0">
                <a:solidFill>
                  <a:prstClr val="black"/>
                </a:solidFill>
              </a:rPr>
              <a:t>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  <a:p>
            <a:r>
              <a:rPr lang="en-GB" sz="2100" i="1" dirty="0">
                <a:solidFill>
                  <a:prstClr val="black"/>
                </a:solidFill>
              </a:rPr>
              <a:t>	k</a:t>
            </a:r>
            <a:r>
              <a:rPr lang="en-GB" sz="2100" i="1" baseline="-25000" dirty="0">
                <a:solidFill>
                  <a:prstClr val="black"/>
                </a:solidFill>
              </a:rPr>
              <a:t>3 </a:t>
            </a:r>
            <a:r>
              <a:rPr lang="en-GB" sz="2100" dirty="0">
                <a:solidFill>
                  <a:prstClr val="black"/>
                </a:solidFill>
              </a:rPr>
              <a:t>= 3 M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r>
              <a:rPr lang="en-GB" sz="2100" dirty="0">
                <a:solidFill>
                  <a:prstClr val="black"/>
                </a:solidFill>
              </a:rPr>
              <a:t>s</a:t>
            </a:r>
            <a:r>
              <a:rPr lang="en-GB" sz="2100" baseline="30000" dirty="0">
                <a:solidFill>
                  <a:prstClr val="black"/>
                </a:solidFill>
              </a:rPr>
              <a:t>-1</a:t>
            </a:r>
            <a:endParaRPr lang="en-GB" sz="2100" dirty="0">
              <a:solidFill>
                <a:prstClr val="black"/>
              </a:solidFill>
            </a:endParaRPr>
          </a:p>
        </p:txBody>
      </p:sp>
      <p:graphicFrame>
        <p:nvGraphicFramePr>
          <p:cNvPr id="1067" name="Table 10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532103"/>
              </p:ext>
            </p:extLst>
          </p:nvPr>
        </p:nvGraphicFramePr>
        <p:xfrm>
          <a:off x="6019476" y="4217543"/>
          <a:ext cx="1652478" cy="1099439"/>
        </p:xfrm>
        <a:graphic>
          <a:graphicData uri="http://schemas.openxmlformats.org/drawingml/2006/table">
            <a:tbl>
              <a:tblPr firstRow="1" firstCol="1" bandRow="1"/>
              <a:tblGrid>
                <a:gridCol w="82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[A]</a:t>
                      </a:r>
                      <a:r>
                        <a:rPr lang="en-US" sz="1800" baseline="-25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 M 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[B]</a:t>
                      </a:r>
                      <a:r>
                        <a:rPr lang="en-US" sz="1800" baseline="-250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5 M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[C]</a:t>
                      </a:r>
                      <a:r>
                        <a:rPr lang="en-US" sz="1800" baseline="-2500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10 M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79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[R]</a:t>
                      </a:r>
                      <a:r>
                        <a:rPr lang="en-US" sz="1800" baseline="-25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15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  <a:tabLst>
                          <a:tab pos="450215" algn="l"/>
                          <a:tab pos="6301105" algn="r"/>
                          <a:tab pos="810260" algn="l"/>
                          <a:tab pos="1170305" algn="l"/>
                        </a:tabLst>
                      </a:pPr>
                      <a:r>
                        <a:rPr lang="en-GB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50 mM</a:t>
                      </a: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8" name="Rectangle 71"/>
          <p:cNvSpPr>
            <a:spLocks noChangeArrowheads="1"/>
          </p:cNvSpPr>
          <p:nvPr/>
        </p:nvSpPr>
        <p:spPr bwMode="auto">
          <a:xfrm>
            <a:off x="4107658" y="3358539"/>
            <a:ext cx="168957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0850" algn="l"/>
                <a:tab pos="809625" algn="r"/>
                <a:tab pos="1169988" algn="r"/>
                <a:tab pos="630078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GB" altLang="en-US" sz="1050">
                <a:solidFill>
                  <a:prstClr val="black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en-GB" altLang="en-US" sz="675">
              <a:solidFill>
                <a:prstClr val="black"/>
              </a:solidFill>
            </a:endParaRPr>
          </a:p>
          <a:p>
            <a:pPr eaLnBrk="0" hangingPunct="0"/>
            <a:endParaRPr lang="en-GB" altLang="en-US" sz="1350">
              <a:solidFill>
                <a:prstClr val="black"/>
              </a:solidFill>
            </a:endParaRPr>
          </a:p>
        </p:txBody>
      </p:sp>
      <p:sp>
        <p:nvSpPr>
          <p:cNvPr id="1069" name="Rectangle 1068"/>
          <p:cNvSpPr/>
          <p:nvPr/>
        </p:nvSpPr>
        <p:spPr>
          <a:xfrm>
            <a:off x="1143001" y="4347103"/>
            <a:ext cx="504918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The concentrations of R, A, B and C at a given point in the reaction (t</a:t>
            </a:r>
            <a:r>
              <a:rPr lang="en-GB" sz="2100" baseline="-25000" dirty="0">
                <a:solidFill>
                  <a:prstClr val="black"/>
                </a:solidFill>
              </a:rPr>
              <a:t>0</a:t>
            </a:r>
            <a:r>
              <a:rPr lang="en-GB" sz="2100" dirty="0">
                <a:solidFill>
                  <a:prstClr val="black"/>
                </a:solidFill>
              </a:rPr>
              <a:t>) are as follows:</a:t>
            </a:r>
            <a:r>
              <a:rPr lang="en-GB" sz="135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071" name="Rectangle 1070"/>
          <p:cNvSpPr/>
          <p:nvPr/>
        </p:nvSpPr>
        <p:spPr>
          <a:xfrm>
            <a:off x="1214388" y="5631418"/>
            <a:ext cx="664273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>
                <a:solidFill>
                  <a:prstClr val="black"/>
                </a:solidFill>
              </a:rPr>
              <a:t>Sketch a graph of how [R] changes with time after t</a:t>
            </a:r>
            <a:r>
              <a:rPr lang="en-GB" sz="2100" baseline="-25000" dirty="0">
                <a:solidFill>
                  <a:prstClr val="black"/>
                </a:solidFill>
              </a:rPr>
              <a:t>0</a:t>
            </a:r>
            <a:endParaRPr lang="en-GB" dirty="0">
              <a:solidFill>
                <a:prstClr val="black"/>
              </a:solidFill>
              <a:ea typeface="Times New Roman"/>
              <a:cs typeface="Times New Roman"/>
            </a:endParaRPr>
          </a:p>
        </p:txBody>
      </p:sp>
      <p:sp>
        <p:nvSpPr>
          <p:cNvPr id="8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112" y="857250"/>
            <a:ext cx="6172200" cy="857250"/>
          </a:xfrm>
        </p:spPr>
        <p:txBody>
          <a:bodyPr/>
          <a:lstStyle/>
          <a:p>
            <a:r>
              <a:rPr lang="en-GB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96192312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1" y="98029"/>
            <a:ext cx="6192838" cy="1143000"/>
          </a:xfrm>
        </p:spPr>
        <p:txBody>
          <a:bodyPr/>
          <a:lstStyle/>
          <a:p>
            <a:r>
              <a:rPr lang="en-GB" dirty="0"/>
              <a:t>Scale up – consider the kinetics!</a:t>
            </a: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4267002"/>
            <a:ext cx="7931150" cy="1176337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GB" dirty="0"/>
              <a:t>those explosions and the 2008 </a:t>
            </a:r>
            <a:r>
              <a:rPr lang="en-GB" dirty="0" err="1"/>
              <a:t>Sangji</a:t>
            </a:r>
            <a:r>
              <a:rPr lang="en-GB" dirty="0"/>
              <a:t> case at UCLA were all the result of a failure to scale-up reactions properly.”</a:t>
            </a:r>
          </a:p>
          <a:p>
            <a:r>
              <a:rPr lang="en-GB" dirty="0"/>
              <a:t>(trigger warning) https://www.chemistryworld.com/news/china-grapples-with-lab-safety-following-huge-growth-in-student-numbers/4015486.article</a:t>
            </a:r>
            <a:endParaRPr lang="en-US" dirty="0"/>
          </a:p>
        </p:txBody>
      </p:sp>
      <p:pic>
        <p:nvPicPr>
          <p:cNvPr id="64514" name="Picture 2" descr="Graph">
            <a:extLst>
              <a:ext uri="{FF2B5EF4-FFF2-40B4-BE49-F238E27FC236}">
                <a16:creationId xmlns:a16="http://schemas.microsoft.com/office/drawing/2014/main" id="{3FDB309E-7157-4601-837E-877C1E98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53840"/>
            <a:ext cx="45720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45492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EF68-CAE8-4457-B56B-D6C1F43B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study: Nuclear fission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68BEE-EBF0-4433-AF28-6C0BCC85B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CH2PH2 Chemical Kinetics</a:t>
            </a:r>
          </a:p>
        </p:txBody>
      </p:sp>
    </p:spTree>
    <p:extLst>
      <p:ext uri="{BB962C8B-B14F-4D97-AF65-F5344CB8AC3E}">
        <p14:creationId xmlns:p14="http://schemas.microsoft.com/office/powerpoint/2010/main" val="199682882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(Case study) Nuclear fission</a:t>
            </a: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chain carrier is a neutron (rather than a radical)</a:t>
            </a:r>
          </a:p>
        </p:txBody>
      </p:sp>
      <p:pic>
        <p:nvPicPr>
          <p:cNvPr id="58377" name="Picture 9" descr="about_0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9276" y="2937274"/>
            <a:ext cx="2752725" cy="2174081"/>
          </a:xfrm>
          <a:prstGeom prst="rect">
            <a:avLst/>
          </a:prstGeom>
          <a:noFill/>
        </p:spPr>
      </p:pic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454945" y="4827985"/>
            <a:ext cx="80663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</a:rPr>
              <a:t>Neutron</a:t>
            </a: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 flipV="1">
            <a:off x="1809751" y="4086226"/>
            <a:ext cx="104775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1483520" y="2942036"/>
            <a:ext cx="75533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</a:rPr>
              <a:t>U-235</a:t>
            </a:r>
          </a:p>
          <a:p>
            <a:r>
              <a:rPr lang="en-GB" sz="1350">
                <a:solidFill>
                  <a:prstClr val="black"/>
                </a:solidFill>
              </a:rPr>
              <a:t>nucleus</a:t>
            </a: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2057401" y="3476626"/>
            <a:ext cx="1809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28646" y="4293096"/>
            <a:ext cx="1307744" cy="1386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28646" y="2597946"/>
            <a:ext cx="1307744" cy="1416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162879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Facts about nuclear fission</a:t>
            </a: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581151" y="2085975"/>
            <a:ext cx="7271904" cy="364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 sz="2100" dirty="0">
                <a:solidFill>
                  <a:prstClr val="black"/>
                </a:solidFill>
              </a:rPr>
              <a:t>The reaction only works with a radioactive isotope of Uranium, U-235.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dirty="0">
                <a:solidFill>
                  <a:prstClr val="black"/>
                </a:solidFill>
              </a:rPr>
              <a:t>Naturally-occurring Uranium is a mixture of U-235 and U-238, typically &lt;1% U-235.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i="1" dirty="0">
                <a:solidFill>
                  <a:prstClr val="black"/>
                </a:solidFill>
              </a:rPr>
              <a:t>The reaction requires a higher concentration of U-235 (“enriched”; around 10% for reactors in Europe; &gt;90% for “weapons-grade” (for bombs).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i="1" dirty="0">
                <a:solidFill>
                  <a:prstClr val="black"/>
                </a:solidFill>
              </a:rPr>
              <a:t>The reaction requires a “critical mass” of material.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i="1" dirty="0">
                <a:solidFill>
                  <a:prstClr val="black"/>
                </a:solidFill>
              </a:rPr>
              <a:t>Scientists keep nuclear reactors under control</a:t>
            </a:r>
            <a:endParaRPr lang="en-US" sz="2100" i="1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05964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395536" y="1676402"/>
            <a:ext cx="8748464" cy="380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</a:rPr>
              <a:t>Assume the initiation step is some spontaneous process: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</a:rPr>
              <a:t>X 	</a:t>
            </a:r>
            <a:r>
              <a:rPr lang="en-GB" sz="2100" dirty="0">
                <a:solidFill>
                  <a:prstClr val="black"/>
                </a:solidFill>
                <a:cs typeface="Arial" charset="0"/>
              </a:rPr>
              <a:t>→ 	X’ + n					(0)</a:t>
            </a:r>
            <a:endParaRPr lang="en-GB" sz="2100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</a:rPr>
              <a:t>The single branching propagation step is as follows: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</a:rPr>
              <a:t>n + 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 </a:t>
            </a:r>
            <a:r>
              <a:rPr lang="en-GB" sz="2100" dirty="0">
                <a:solidFill>
                  <a:prstClr val="black"/>
                </a:solidFill>
                <a:cs typeface="Arial" charset="0"/>
              </a:rPr>
              <a:t>→ fission fragments + 2</a:t>
            </a:r>
            <a:r>
              <a:rPr lang="en-US" sz="2100" dirty="0">
                <a:solidFill>
                  <a:prstClr val="black"/>
                </a:solidFill>
                <a:cs typeface="Arial" charset="0"/>
              </a:rPr>
              <a:t>½ n			(1)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  <a:cs typeface="Arial" charset="0"/>
              </a:rPr>
              <a:t>There are various termination steps, including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  <a:cs typeface="Arial" charset="0"/>
              </a:rPr>
              <a:t>n  →  escapes through wall to outside			(2)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  <a:cs typeface="Arial" charset="0"/>
              </a:rPr>
              <a:t>And, if a neutron-absorbing material such as cadmium or boron is added,</a:t>
            </a:r>
          </a:p>
          <a:p>
            <a:pPr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  <a:cs typeface="Arial" charset="0"/>
              </a:rPr>
              <a:t>n  → absorbed						(3)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204413" y="3330192"/>
            <a:ext cx="56297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1350" i="1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endParaRPr lang="en-US" sz="1350" i="1" baseline="-25000" dirty="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575821" y="4293096"/>
            <a:ext cx="57579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1350" i="1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endParaRPr lang="en-US" sz="1350" i="1" baseline="-25000" dirty="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518114" y="5284064"/>
            <a:ext cx="69121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1350" i="1" baseline="-25000" dirty="0" err="1">
                <a:solidFill>
                  <a:prstClr val="black"/>
                </a:solidFill>
                <a:latin typeface="Times" pitchFamily="18" charset="0"/>
              </a:rPr>
              <a:t>absorbed</a:t>
            </a:r>
            <a:endParaRPr lang="en-US" sz="1350" i="1" baseline="-25000" dirty="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title"/>
          </p:nvPr>
        </p:nvSpPr>
        <p:spPr>
          <a:xfrm>
            <a:off x="1485900" y="857250"/>
            <a:ext cx="6172200" cy="857250"/>
          </a:xfrm>
          <a:noFill/>
          <a:ln/>
        </p:spPr>
        <p:txBody>
          <a:bodyPr/>
          <a:lstStyle/>
          <a:p>
            <a:r>
              <a:rPr lang="en-GB" dirty="0"/>
              <a:t>The kinetics of nuclear fission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04413" y="2353256"/>
            <a:ext cx="68480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1350" i="1" baseline="-25000" dirty="0" err="1">
                <a:solidFill>
                  <a:prstClr val="black"/>
                </a:solidFill>
                <a:latin typeface="Times" pitchFamily="18" charset="0"/>
              </a:rPr>
              <a:t>initiation</a:t>
            </a:r>
            <a:endParaRPr lang="en-US" sz="1350" i="1" baseline="-25000" dirty="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37664" y="652095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FD320F-82DA-48B8-9458-270A411CD0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7408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D737-0213-DA88-268C-5BA4C577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products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AD01B2-EEE6-1AF9-3BF6-49D1DDE01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767" y="1583646"/>
            <a:ext cx="6518466" cy="469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97B6D-9485-F707-04F6-ED0FF4EDC1ED}"/>
              </a:ext>
            </a:extLst>
          </p:cNvPr>
          <p:cNvSpPr txBox="1"/>
          <p:nvPr/>
        </p:nvSpPr>
        <p:spPr>
          <a:xfrm>
            <a:off x="407624" y="6447747"/>
            <a:ext cx="204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hyperphysics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9164622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60749"/>
            <a:ext cx="8001000" cy="4291124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Tx/>
              <a:buNone/>
            </a:pPr>
            <a:endParaRPr lang="en-GB" sz="1800" dirty="0"/>
          </a:p>
          <a:p>
            <a:pPr marL="0" indent="0">
              <a:lnSpc>
                <a:spcPct val="80000"/>
              </a:lnSpc>
              <a:buNone/>
            </a:pPr>
            <a:r>
              <a:rPr lang="en-GB" sz="2700" dirty="0"/>
              <a:t>Overall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400" dirty="0"/>
              <a:t>d[n] / </a:t>
            </a:r>
            <a:r>
              <a:rPr lang="en-GB" sz="2400" dirty="0" err="1"/>
              <a:t>dt</a:t>
            </a:r>
            <a:r>
              <a:rPr lang="en-GB" sz="2400" dirty="0"/>
              <a:t>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400" dirty="0"/>
              <a:t>	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400" dirty="0"/>
              <a:t>=Rate</a:t>
            </a:r>
            <a:r>
              <a:rPr lang="en-GB" sz="2400" baseline="-25000" dirty="0"/>
              <a:t>0</a:t>
            </a:r>
            <a:r>
              <a:rPr lang="en-GB" sz="2400" dirty="0"/>
              <a:t> + (2.5 – 1) Rate</a:t>
            </a:r>
            <a:r>
              <a:rPr lang="en-GB" sz="2400" baseline="-25000" dirty="0"/>
              <a:t>1</a:t>
            </a:r>
            <a:r>
              <a:rPr lang="en-GB" sz="2400" dirty="0"/>
              <a:t> – Rate</a:t>
            </a:r>
            <a:r>
              <a:rPr lang="en-GB" sz="2400" baseline="-25000" dirty="0"/>
              <a:t>2 </a:t>
            </a:r>
            <a:r>
              <a:rPr lang="en-GB" sz="2400" dirty="0"/>
              <a:t>– Rate</a:t>
            </a:r>
            <a:r>
              <a:rPr lang="en-GB" sz="2400" baseline="-25000" dirty="0"/>
              <a:t>3</a:t>
            </a:r>
            <a:br>
              <a:rPr lang="en-GB" sz="2400" baseline="-25000" dirty="0"/>
            </a:br>
            <a:endParaRPr lang="en-GB" sz="2400" baseline="-25000" dirty="0"/>
          </a:p>
          <a:p>
            <a:pPr lvl="1">
              <a:lnSpc>
                <a:spcPct val="80000"/>
              </a:lnSpc>
              <a:buFontTx/>
              <a:buNone/>
            </a:pPr>
            <a:endParaRPr lang="en-GB" sz="2400" baseline="-25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400" dirty="0"/>
              <a:t>=</a:t>
            </a:r>
            <a:r>
              <a:rPr lang="en-GB" sz="2400" i="1" dirty="0">
                <a:latin typeface="Times" pitchFamily="18" charset="0"/>
              </a:rPr>
              <a:t>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initiation</a:t>
            </a:r>
            <a:r>
              <a:rPr lang="en-GB" sz="2400" dirty="0"/>
              <a:t>[X] + 1.5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fission</a:t>
            </a:r>
            <a:r>
              <a:rPr lang="en-GB" sz="2400" dirty="0"/>
              <a:t>[n] [</a:t>
            </a:r>
            <a:r>
              <a:rPr lang="en-GB" sz="2400" baseline="30000" dirty="0"/>
              <a:t>235</a:t>
            </a:r>
            <a:r>
              <a:rPr lang="en-GB" sz="2400" dirty="0"/>
              <a:t>U] -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escape</a:t>
            </a:r>
            <a:r>
              <a:rPr lang="en-GB" sz="2400" dirty="0"/>
              <a:t> [n]-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absorb</a:t>
            </a:r>
            <a:r>
              <a:rPr lang="en-GB" sz="2400" dirty="0"/>
              <a:t> [n]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GB" sz="24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400" dirty="0"/>
              <a:t>=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initiation</a:t>
            </a:r>
            <a:r>
              <a:rPr lang="en-GB" sz="2400" dirty="0"/>
              <a:t>[X] +</a:t>
            </a:r>
            <a:r>
              <a:rPr lang="en-GB" sz="4050" dirty="0"/>
              <a:t>(</a:t>
            </a:r>
            <a:r>
              <a:rPr lang="en-GB" sz="2400" dirty="0"/>
              <a:t>1.5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fission</a:t>
            </a:r>
            <a:r>
              <a:rPr lang="en-GB" sz="2400" dirty="0"/>
              <a:t>[</a:t>
            </a:r>
            <a:r>
              <a:rPr lang="en-GB" sz="2400" baseline="30000" dirty="0"/>
              <a:t>235</a:t>
            </a:r>
            <a:r>
              <a:rPr lang="en-GB" sz="2400" dirty="0"/>
              <a:t>U] –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escape</a:t>
            </a:r>
            <a:r>
              <a:rPr lang="en-GB" sz="2400" i="1" baseline="-25000" dirty="0">
                <a:latin typeface="Times" pitchFamily="18" charset="0"/>
              </a:rPr>
              <a:t> </a:t>
            </a:r>
            <a:r>
              <a:rPr lang="en-GB" sz="2400" i="1" dirty="0">
                <a:latin typeface="Times" pitchFamily="18" charset="0"/>
              </a:rPr>
              <a:t>–</a:t>
            </a:r>
            <a:r>
              <a:rPr lang="en-GB" sz="2400" i="1" baseline="-25000" dirty="0">
                <a:latin typeface="Times" pitchFamily="18" charset="0"/>
              </a:rPr>
              <a:t> </a:t>
            </a:r>
            <a:r>
              <a:rPr lang="en-GB" sz="2400" i="1" dirty="0" err="1">
                <a:latin typeface="Times" pitchFamily="18" charset="0"/>
              </a:rPr>
              <a:t>k</a:t>
            </a:r>
            <a:r>
              <a:rPr lang="en-GB" sz="2400" baseline="-25000" dirty="0" err="1">
                <a:latin typeface="Times" pitchFamily="18" charset="0"/>
              </a:rPr>
              <a:t>absorb</a:t>
            </a:r>
            <a:r>
              <a:rPr lang="en-GB" sz="2400" i="1" baseline="-25000" dirty="0">
                <a:latin typeface="Times" pitchFamily="18" charset="0"/>
              </a:rPr>
              <a:t> </a:t>
            </a:r>
            <a:r>
              <a:rPr lang="en-GB" sz="4050" dirty="0"/>
              <a:t>)</a:t>
            </a:r>
            <a:r>
              <a:rPr lang="en-GB" sz="2400" dirty="0"/>
              <a:t>[n]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52797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Write this equation in the form </a:t>
            </a:r>
          </a:p>
          <a:p>
            <a:pPr>
              <a:buFontTx/>
              <a:buNone/>
            </a:pPr>
            <a:r>
              <a:rPr lang="en-GB" dirty="0"/>
              <a:t>d[R]/</a:t>
            </a:r>
            <a:r>
              <a:rPr lang="en-GB" dirty="0" err="1"/>
              <a:t>dt</a:t>
            </a:r>
            <a:r>
              <a:rPr lang="en-GB" dirty="0"/>
              <a:t> = C + f[R] – g[R]</a:t>
            </a:r>
          </a:p>
          <a:p>
            <a:pPr>
              <a:buFontTx/>
              <a:buNone/>
            </a:pPr>
            <a:r>
              <a:rPr lang="en-GB" dirty="0"/>
              <a:t>where the chain carrier R in this case is our neutron, n.</a:t>
            </a:r>
          </a:p>
          <a:p>
            <a:pPr>
              <a:buFontTx/>
              <a:buNone/>
            </a:pPr>
            <a:r>
              <a:rPr lang="en-GB" dirty="0"/>
              <a:t>What are the expressions for f and g? Under what conditions will there be positive  / negative feedback?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022908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example: </a:t>
            </a:r>
            <a:r>
              <a:rPr lang="en-GB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Write this equation in the form </a:t>
            </a:r>
          </a:p>
          <a:p>
            <a:pPr>
              <a:buFontTx/>
              <a:buNone/>
            </a:pPr>
            <a:r>
              <a:rPr lang="en-GB" dirty="0"/>
              <a:t>d[R]/</a:t>
            </a:r>
            <a:r>
              <a:rPr lang="en-GB" dirty="0" err="1"/>
              <a:t>dt</a:t>
            </a:r>
            <a:r>
              <a:rPr lang="en-GB" dirty="0"/>
              <a:t> = C + f[R] – g[R]</a:t>
            </a:r>
          </a:p>
          <a:p>
            <a:pPr>
              <a:buFontTx/>
              <a:buNone/>
            </a:pPr>
            <a:r>
              <a:rPr lang="en-GB" dirty="0"/>
              <a:t>where the chain carrier R in this case is our neutron, n.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d[n]/dt = k</a:t>
            </a:r>
            <a:r>
              <a:rPr lang="en-GB" baseline="-25000" dirty="0">
                <a:solidFill>
                  <a:srgbClr val="FF0000"/>
                </a:solidFill>
              </a:rPr>
              <a:t>init</a:t>
            </a:r>
            <a:r>
              <a:rPr lang="en-GB" dirty="0">
                <a:solidFill>
                  <a:srgbClr val="FF0000"/>
                </a:solidFill>
              </a:rPr>
              <a:t>[X] + 1.5k</a:t>
            </a:r>
            <a:r>
              <a:rPr lang="en-GB" baseline="-25000" dirty="0">
                <a:solidFill>
                  <a:srgbClr val="FF0000"/>
                </a:solidFill>
              </a:rPr>
              <a:t>fiss</a:t>
            </a:r>
            <a:r>
              <a:rPr lang="en-GB" dirty="0">
                <a:solidFill>
                  <a:srgbClr val="FF0000"/>
                </a:solidFill>
              </a:rPr>
              <a:t>[U][n] –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esc</a:t>
            </a:r>
            <a:r>
              <a:rPr lang="en-GB" dirty="0" err="1">
                <a:solidFill>
                  <a:srgbClr val="FF0000"/>
                </a:solidFill>
              </a:rPr>
              <a:t>+k</a:t>
            </a:r>
            <a:r>
              <a:rPr lang="en-GB" baseline="-25000" dirty="0" err="1">
                <a:solidFill>
                  <a:srgbClr val="FF0000"/>
                </a:solidFill>
              </a:rPr>
              <a:t>abs</a:t>
            </a:r>
            <a:r>
              <a:rPr lang="en-GB" dirty="0">
                <a:solidFill>
                  <a:srgbClr val="FF0000"/>
                </a:solidFill>
              </a:rPr>
              <a:t>)[n]</a:t>
            </a:r>
          </a:p>
        </p:txBody>
      </p:sp>
    </p:spTree>
    <p:extLst>
      <p:ext uri="{BB962C8B-B14F-4D97-AF65-F5344CB8AC3E}">
        <p14:creationId xmlns:p14="http://schemas.microsoft.com/office/powerpoint/2010/main" val="56593889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Task: </a:t>
            </a:r>
            <a:r>
              <a:rPr lang="en-GB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What are the expressions for f and g? </a:t>
            </a:r>
          </a:p>
          <a:p>
            <a:pPr>
              <a:buNone/>
            </a:pPr>
            <a:r>
              <a:rPr lang="en-GB" dirty="0">
                <a:solidFill>
                  <a:srgbClr val="FF0000"/>
                </a:solidFill>
              </a:rPr>
              <a:t>d[n]/dt = k</a:t>
            </a:r>
            <a:r>
              <a:rPr lang="en-GB" baseline="-25000" dirty="0">
                <a:solidFill>
                  <a:srgbClr val="FF0000"/>
                </a:solidFill>
              </a:rPr>
              <a:t>init</a:t>
            </a:r>
            <a:r>
              <a:rPr lang="en-GB" dirty="0">
                <a:solidFill>
                  <a:srgbClr val="FF0000"/>
                </a:solidFill>
              </a:rPr>
              <a:t>[X] + 1.5k</a:t>
            </a:r>
            <a:r>
              <a:rPr lang="en-GB" baseline="-25000" dirty="0">
                <a:solidFill>
                  <a:srgbClr val="FF0000"/>
                </a:solidFill>
              </a:rPr>
              <a:t>fiss</a:t>
            </a:r>
            <a:r>
              <a:rPr lang="en-GB" dirty="0">
                <a:solidFill>
                  <a:srgbClr val="FF0000"/>
                </a:solidFill>
              </a:rPr>
              <a:t>[U][n] –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esc</a:t>
            </a:r>
            <a:r>
              <a:rPr lang="en-GB" dirty="0" err="1">
                <a:solidFill>
                  <a:srgbClr val="FF0000"/>
                </a:solidFill>
              </a:rPr>
              <a:t>+k</a:t>
            </a:r>
            <a:r>
              <a:rPr lang="en-GB" baseline="-25000" dirty="0" err="1">
                <a:solidFill>
                  <a:srgbClr val="FF0000"/>
                </a:solidFill>
              </a:rPr>
              <a:t>abs</a:t>
            </a:r>
            <a:r>
              <a:rPr lang="en-GB" dirty="0">
                <a:solidFill>
                  <a:srgbClr val="FF0000"/>
                </a:solidFill>
              </a:rPr>
              <a:t>)[n]</a:t>
            </a:r>
          </a:p>
          <a:p>
            <a:pPr>
              <a:buFontTx/>
              <a:buNone/>
            </a:pPr>
            <a:r>
              <a:rPr lang="en-GB" dirty="0"/>
              <a:t>							</a:t>
            </a:r>
          </a:p>
          <a:p>
            <a:pPr>
              <a:buFontTx/>
              <a:buNone/>
            </a:pPr>
            <a:r>
              <a:rPr lang="en-GB" dirty="0"/>
              <a:t>					</a:t>
            </a:r>
          </a:p>
          <a:p>
            <a:pPr>
              <a:buFontTx/>
              <a:buNone/>
            </a:pPr>
            <a:r>
              <a:rPr lang="en-GB" dirty="0"/>
              <a:t>Under what conditions will there be:</a:t>
            </a:r>
          </a:p>
          <a:p>
            <a:pPr>
              <a:buFontTx/>
              <a:buNone/>
            </a:pPr>
            <a:r>
              <a:rPr lang="en-GB" dirty="0"/>
              <a:t>positive feedback?	</a:t>
            </a:r>
          </a:p>
          <a:p>
            <a:pPr>
              <a:buFontTx/>
              <a:buNone/>
            </a:pPr>
            <a:r>
              <a:rPr lang="en-GB" dirty="0"/>
              <a:t>negative feedback?	</a:t>
            </a:r>
          </a:p>
          <a:p>
            <a:pPr>
              <a:buFontTx/>
              <a:buNone/>
            </a:pP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0C6275-A7B2-40EF-907C-F73A52AB46E2}"/>
              </a:ext>
            </a:extLst>
          </p:cNvPr>
          <p:cNvSpPr/>
          <p:nvPr/>
        </p:nvSpPr>
        <p:spPr>
          <a:xfrm>
            <a:off x="3275857" y="1876182"/>
            <a:ext cx="1584176" cy="9269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4336D7-66F3-4CB0-8AA9-7505EC897FD8}"/>
              </a:ext>
            </a:extLst>
          </p:cNvPr>
          <p:cNvSpPr/>
          <p:nvPr/>
        </p:nvSpPr>
        <p:spPr>
          <a:xfrm>
            <a:off x="5145515" y="1849618"/>
            <a:ext cx="1584176" cy="9269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1AAD0-881E-4D1B-8371-A7916C2D0523}"/>
              </a:ext>
            </a:extLst>
          </p:cNvPr>
          <p:cNvSpPr txBox="1"/>
          <p:nvPr/>
        </p:nvSpPr>
        <p:spPr>
          <a:xfrm>
            <a:off x="4067945" y="280315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4864B-CEC9-429F-9227-1F9518037C69}"/>
              </a:ext>
            </a:extLst>
          </p:cNvPr>
          <p:cNvSpPr txBox="1"/>
          <p:nvPr/>
        </p:nvSpPr>
        <p:spPr>
          <a:xfrm>
            <a:off x="6077046" y="2837647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09945898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8F1D-95AA-9845-D298-567AABA04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A5ACEAF4-68CA-1A16-394F-CC5C8307B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Task: </a:t>
            </a:r>
            <a:r>
              <a:rPr lang="en-GB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88EDC2B8-1A56-BEB9-2A3C-E27BF2584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What are the expressions for f and g? </a:t>
            </a:r>
          </a:p>
          <a:p>
            <a:pPr>
              <a:buNone/>
            </a:pPr>
            <a:r>
              <a:rPr lang="en-GB" dirty="0">
                <a:solidFill>
                  <a:srgbClr val="FF0000"/>
                </a:solidFill>
              </a:rPr>
              <a:t>d[n]/dt = k</a:t>
            </a:r>
            <a:r>
              <a:rPr lang="en-GB" baseline="-25000" dirty="0">
                <a:solidFill>
                  <a:srgbClr val="FF0000"/>
                </a:solidFill>
              </a:rPr>
              <a:t>init</a:t>
            </a:r>
            <a:r>
              <a:rPr lang="en-GB" dirty="0">
                <a:solidFill>
                  <a:srgbClr val="FF0000"/>
                </a:solidFill>
              </a:rPr>
              <a:t>[X] + 1.5k</a:t>
            </a:r>
            <a:r>
              <a:rPr lang="en-GB" baseline="-25000" dirty="0">
                <a:solidFill>
                  <a:srgbClr val="FF0000"/>
                </a:solidFill>
              </a:rPr>
              <a:t>fiss</a:t>
            </a:r>
            <a:r>
              <a:rPr lang="en-GB" dirty="0">
                <a:solidFill>
                  <a:srgbClr val="FF0000"/>
                </a:solidFill>
              </a:rPr>
              <a:t>[U][n] – (</a:t>
            </a:r>
            <a:r>
              <a:rPr lang="en-GB" dirty="0" err="1">
                <a:solidFill>
                  <a:srgbClr val="FF0000"/>
                </a:solidFill>
              </a:rPr>
              <a:t>k</a:t>
            </a:r>
            <a:r>
              <a:rPr lang="en-GB" baseline="-25000" dirty="0" err="1">
                <a:solidFill>
                  <a:srgbClr val="FF0000"/>
                </a:solidFill>
              </a:rPr>
              <a:t>esc</a:t>
            </a:r>
            <a:r>
              <a:rPr lang="en-GB" dirty="0" err="1">
                <a:solidFill>
                  <a:srgbClr val="FF0000"/>
                </a:solidFill>
              </a:rPr>
              <a:t>+k</a:t>
            </a:r>
            <a:r>
              <a:rPr lang="en-GB" baseline="-25000" dirty="0" err="1">
                <a:solidFill>
                  <a:srgbClr val="FF0000"/>
                </a:solidFill>
              </a:rPr>
              <a:t>abs</a:t>
            </a:r>
            <a:r>
              <a:rPr lang="en-GB" dirty="0">
                <a:solidFill>
                  <a:srgbClr val="FF0000"/>
                </a:solidFill>
              </a:rPr>
              <a:t>)[n]</a:t>
            </a:r>
          </a:p>
          <a:p>
            <a:pPr>
              <a:buFontTx/>
              <a:buNone/>
            </a:pPr>
            <a:r>
              <a:rPr lang="en-GB" dirty="0"/>
              <a:t>							</a:t>
            </a:r>
          </a:p>
          <a:p>
            <a:pPr>
              <a:buFontTx/>
              <a:buNone/>
            </a:pPr>
            <a:r>
              <a:rPr lang="en-GB" dirty="0"/>
              <a:t>					</a:t>
            </a:r>
          </a:p>
          <a:p>
            <a:pPr>
              <a:buFontTx/>
              <a:buNone/>
            </a:pPr>
            <a:r>
              <a:rPr lang="en-GB" dirty="0"/>
              <a:t>Under what conditions will there be:</a:t>
            </a:r>
          </a:p>
          <a:p>
            <a:pPr>
              <a:buFontTx/>
              <a:buNone/>
            </a:pPr>
            <a:r>
              <a:rPr lang="en-GB" dirty="0"/>
              <a:t>positive feedback?	</a:t>
            </a:r>
            <a:r>
              <a:rPr lang="en-GB" dirty="0">
                <a:solidFill>
                  <a:srgbClr val="FF0000"/>
                </a:solidFill>
              </a:rPr>
              <a:t>f &gt; g</a:t>
            </a:r>
          </a:p>
          <a:p>
            <a:pPr>
              <a:buNone/>
            </a:pPr>
            <a:r>
              <a:rPr lang="en-GB" dirty="0"/>
              <a:t>negative feedback?	</a:t>
            </a:r>
            <a:r>
              <a:rPr lang="en-GB" dirty="0">
                <a:solidFill>
                  <a:srgbClr val="FF0000"/>
                </a:solidFill>
              </a:rPr>
              <a:t>f &lt; g</a:t>
            </a:r>
          </a:p>
          <a:p>
            <a:pPr>
              <a:buFontTx/>
              <a:buNone/>
            </a:pPr>
            <a:endParaRPr lang="en-GB" dirty="0"/>
          </a:p>
          <a:p>
            <a:pPr>
              <a:buFontTx/>
              <a:buNone/>
            </a:pP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FB62ED-85C9-96CD-B298-D709616B0416}"/>
              </a:ext>
            </a:extLst>
          </p:cNvPr>
          <p:cNvSpPr/>
          <p:nvPr/>
        </p:nvSpPr>
        <p:spPr>
          <a:xfrm>
            <a:off x="3275857" y="1876182"/>
            <a:ext cx="1584176" cy="9269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59F9B9-D707-EF2A-AEB3-DA03A5D9F608}"/>
              </a:ext>
            </a:extLst>
          </p:cNvPr>
          <p:cNvSpPr/>
          <p:nvPr/>
        </p:nvSpPr>
        <p:spPr>
          <a:xfrm>
            <a:off x="5145515" y="1849618"/>
            <a:ext cx="1584176" cy="9269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EA703-CF04-5C8F-61F0-730A4429DBA2}"/>
              </a:ext>
            </a:extLst>
          </p:cNvPr>
          <p:cNvSpPr txBox="1"/>
          <p:nvPr/>
        </p:nvSpPr>
        <p:spPr>
          <a:xfrm>
            <a:off x="4067945" y="280315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9C66E-DC5D-4CE8-4F87-BAD38E9C3FD7}"/>
              </a:ext>
            </a:extLst>
          </p:cNvPr>
          <p:cNvSpPr txBox="1"/>
          <p:nvPr/>
        </p:nvSpPr>
        <p:spPr>
          <a:xfrm>
            <a:off x="6077046" y="2837647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27468042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0" y="857250"/>
            <a:ext cx="9252520" cy="522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sz="2700" dirty="0">
                <a:solidFill>
                  <a:prstClr val="black"/>
                </a:solidFill>
              </a:rPr>
              <a:t>If  </a:t>
            </a:r>
            <a:r>
              <a:rPr lang="en-GB" dirty="0">
                <a:solidFill>
                  <a:prstClr val="black"/>
                </a:solidFill>
              </a:rPr>
              <a:t> (1.5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dirty="0">
                <a:solidFill>
                  <a:prstClr val="black"/>
                </a:solidFill>
              </a:rPr>
              <a:t>[</a:t>
            </a:r>
            <a:r>
              <a:rPr lang="en-GB" baseline="30000" dirty="0">
                <a:solidFill>
                  <a:prstClr val="black"/>
                </a:solidFill>
              </a:rPr>
              <a:t>235</a:t>
            </a:r>
            <a:r>
              <a:rPr lang="en-GB" dirty="0">
                <a:solidFill>
                  <a:prstClr val="black"/>
                </a:solidFill>
              </a:rPr>
              <a:t>U] –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>
                <a:solidFill>
                  <a:prstClr val="black"/>
                </a:solidFill>
                <a:latin typeface="Times" pitchFamily="18" charset="0"/>
              </a:rPr>
              <a:t>–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</a:rPr>
              <a:t>) &gt; 0	      </a:t>
            </a:r>
          </a:p>
          <a:p>
            <a:pPr lvl="4"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			positive feedback;</a:t>
            </a:r>
          </a:p>
          <a:p>
            <a:pPr lvl="4"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			unstable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sz="2700" dirty="0">
                <a:solidFill>
                  <a:prstClr val="black"/>
                </a:solidFill>
              </a:rPr>
              <a:t>If  </a:t>
            </a:r>
            <a:r>
              <a:rPr lang="en-GB" dirty="0">
                <a:solidFill>
                  <a:prstClr val="black"/>
                </a:solidFill>
              </a:rPr>
              <a:t> (1.5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dirty="0">
                <a:solidFill>
                  <a:prstClr val="black"/>
                </a:solidFill>
              </a:rPr>
              <a:t>[</a:t>
            </a:r>
            <a:r>
              <a:rPr lang="en-GB" baseline="30000" dirty="0">
                <a:solidFill>
                  <a:prstClr val="black"/>
                </a:solidFill>
              </a:rPr>
              <a:t>235</a:t>
            </a:r>
            <a:r>
              <a:rPr lang="en-GB" dirty="0">
                <a:solidFill>
                  <a:prstClr val="black"/>
                </a:solidFill>
              </a:rPr>
              <a:t>U] –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>
                <a:solidFill>
                  <a:prstClr val="black"/>
                </a:solidFill>
                <a:latin typeface="Times" pitchFamily="18" charset="0"/>
              </a:rPr>
              <a:t>–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</a:rPr>
              <a:t>) &lt; 0	      </a:t>
            </a:r>
          </a:p>
          <a:p>
            <a:pPr lvl="4"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			negative feedback;</a:t>
            </a:r>
          </a:p>
          <a:p>
            <a:pPr lvl="4"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			Dies away as no further initiation</a:t>
            </a:r>
            <a:endParaRPr lang="en-US" sz="1500" dirty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sz="2700" dirty="0">
                <a:solidFill>
                  <a:prstClr val="black"/>
                </a:solidFill>
              </a:rPr>
              <a:t>If  </a:t>
            </a:r>
            <a:r>
              <a:rPr lang="en-GB" dirty="0">
                <a:solidFill>
                  <a:prstClr val="black"/>
                </a:solidFill>
              </a:rPr>
              <a:t> (1.5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dirty="0">
                <a:solidFill>
                  <a:prstClr val="black"/>
                </a:solidFill>
              </a:rPr>
              <a:t>[</a:t>
            </a:r>
            <a:r>
              <a:rPr lang="en-GB" baseline="30000" dirty="0">
                <a:solidFill>
                  <a:prstClr val="black"/>
                </a:solidFill>
              </a:rPr>
              <a:t>235</a:t>
            </a:r>
            <a:r>
              <a:rPr lang="en-GB" dirty="0">
                <a:solidFill>
                  <a:prstClr val="black"/>
                </a:solidFill>
              </a:rPr>
              <a:t>U] –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>
                <a:solidFill>
                  <a:prstClr val="black"/>
                </a:solidFill>
                <a:latin typeface="Times" pitchFamily="18" charset="0"/>
              </a:rPr>
              <a:t>–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</a:rPr>
              <a:t>) = 0 	      </a:t>
            </a:r>
          </a:p>
          <a:p>
            <a:pPr lvl="4"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			no feedback, but can 				get controlled nuclear reaction.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GB" dirty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GB" dirty="0">
                <a:solidFill>
                  <a:prstClr val="black"/>
                </a:solidFill>
              </a:rPr>
              <a:t>In this last case,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</a:rPr>
              <a:t>and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prstClr val="black"/>
                </a:solidFill>
              </a:rPr>
              <a:t>are effectively using up </a:t>
            </a:r>
            <a:r>
              <a:rPr lang="en-GB" dirty="0">
                <a:solidFill>
                  <a:prstClr val="black"/>
                </a:solidFill>
                <a:cs typeface="Arial" charset="0"/>
              </a:rPr>
              <a:t>1</a:t>
            </a:r>
            <a:r>
              <a:rPr lang="en-US" dirty="0">
                <a:solidFill>
                  <a:prstClr val="black"/>
                </a:solidFill>
                <a:cs typeface="Arial" charset="0"/>
              </a:rPr>
              <a:t>½</a:t>
            </a:r>
            <a:r>
              <a:rPr lang="en-GB" dirty="0">
                <a:solidFill>
                  <a:prstClr val="black"/>
                </a:solidFill>
              </a:rPr>
              <a:t> of the 2½ neutrons produced by the fission, leaving 1. (So overall, no change in numbers of neutrons)</a:t>
            </a:r>
            <a:endParaRPr lang="en-US" sz="15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459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4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4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4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4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142999" y="1543051"/>
            <a:ext cx="7117773" cy="3173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Nuclear bomb: </a:t>
            </a:r>
            <a:r>
              <a:rPr lang="en-GB" sz="2100" dirty="0">
                <a:solidFill>
                  <a:prstClr val="black"/>
                </a:solidFill>
              </a:rPr>
              <a:t> (1.5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&gt;&gt;(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i="1" dirty="0">
                <a:solidFill>
                  <a:prstClr val="black"/>
                </a:solidFill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Nuclear reactor: </a:t>
            </a:r>
            <a:r>
              <a:rPr lang="en-GB" sz="2100" dirty="0">
                <a:solidFill>
                  <a:prstClr val="black"/>
                </a:solidFill>
              </a:rPr>
              <a:t> (1.5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- (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i="1" dirty="0">
                <a:solidFill>
                  <a:prstClr val="black"/>
                </a:solidFill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</a:t>
            </a:r>
            <a:r>
              <a:rPr lang="en-GB" sz="2100" dirty="0">
                <a:solidFill>
                  <a:prstClr val="black"/>
                </a:solidFill>
                <a:sym typeface="Mathematica1" pitchFamily="2" charset="2"/>
              </a:rPr>
              <a:t>≈0</a:t>
            </a:r>
            <a:r>
              <a:rPr lang="en-GB" sz="2100" dirty="0">
                <a:solidFill>
                  <a:prstClr val="black"/>
                </a:solidFill>
              </a:rPr>
              <a:t>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endParaRPr lang="en-GB" sz="21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 is a constant. Whether or not a stable reaction (or explosion) takes place depends on [U</a:t>
            </a:r>
            <a:r>
              <a:rPr lang="en-GB" sz="2100" baseline="-25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],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escape</a:t>
            </a:r>
            <a:r>
              <a:rPr lang="en-GB" sz="2100" dirty="0">
                <a:solidFill>
                  <a:prstClr val="black"/>
                </a:solidFill>
              </a:rPr>
              <a:t> and </a:t>
            </a:r>
            <a:r>
              <a:rPr lang="en-GB" sz="2100" i="1" dirty="0" err="1">
                <a:solidFill>
                  <a:prstClr val="black"/>
                </a:solidFill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</a:rPr>
              <a:t>absorb</a:t>
            </a:r>
            <a:endParaRPr lang="en-GB" sz="21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en-US" sz="13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8046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24845"/>
            <a:ext cx="8395855" cy="3276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GB" sz="2100" dirty="0"/>
              <a:t>	 </a:t>
            </a:r>
            <a:r>
              <a:rPr lang="en-GB" sz="2100" i="1" dirty="0" err="1">
                <a:latin typeface="Times" pitchFamily="18" charset="0"/>
              </a:rPr>
              <a:t>k</a:t>
            </a:r>
            <a:r>
              <a:rPr lang="en-GB" sz="2100" baseline="-25000" dirty="0" err="1">
                <a:latin typeface="Times" pitchFamily="18" charset="0"/>
              </a:rPr>
              <a:t>escape</a:t>
            </a:r>
            <a:r>
              <a:rPr lang="en-GB" sz="2100" i="1" baseline="-25000" dirty="0">
                <a:latin typeface="Times" pitchFamily="18" charset="0"/>
              </a:rPr>
              <a:t> </a:t>
            </a:r>
            <a:r>
              <a:rPr lang="en-GB" sz="2100" dirty="0"/>
              <a:t>depends on surface area / volume ratio.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GB" sz="2100" dirty="0"/>
              <a:t>This increases with smaller volume.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GB" sz="2100" dirty="0"/>
              <a:t>(v </a:t>
            </a:r>
            <a:r>
              <a:rPr lang="en-GB" sz="2100" dirty="0">
                <a:sym typeface="Symbol"/>
              </a:rPr>
              <a:t></a:t>
            </a:r>
            <a:r>
              <a:rPr lang="en-GB" sz="2100" dirty="0">
                <a:sym typeface="Mathematica1" pitchFamily="2" charset="2"/>
              </a:rPr>
              <a:t> r</a:t>
            </a:r>
            <a:r>
              <a:rPr lang="en-GB" sz="2100" baseline="30000" dirty="0">
                <a:sym typeface="Mathematica1" pitchFamily="2" charset="2"/>
              </a:rPr>
              <a:t>3 	</a:t>
            </a:r>
            <a:r>
              <a:rPr lang="en-GB" sz="2100" dirty="0"/>
              <a:t>A </a:t>
            </a:r>
            <a:r>
              <a:rPr lang="en-GB" sz="2100" dirty="0">
                <a:sym typeface="Symbol"/>
              </a:rPr>
              <a:t></a:t>
            </a:r>
            <a:r>
              <a:rPr lang="en-GB" sz="2100" dirty="0">
                <a:sym typeface="Mathematica1" pitchFamily="2" charset="2"/>
              </a:rPr>
              <a:t> r</a:t>
            </a:r>
            <a:r>
              <a:rPr lang="en-GB" sz="2100" baseline="30000" dirty="0">
                <a:sym typeface="Mathematica1" pitchFamily="2" charset="2"/>
              </a:rPr>
              <a:t>2 	 </a:t>
            </a:r>
            <a:r>
              <a:rPr lang="en-GB" sz="2100" dirty="0"/>
              <a:t>A/v </a:t>
            </a:r>
            <a:r>
              <a:rPr lang="en-GB" sz="2100" dirty="0">
                <a:sym typeface="Symbol"/>
              </a:rPr>
              <a:t></a:t>
            </a:r>
            <a:r>
              <a:rPr lang="en-GB" sz="2100" dirty="0">
                <a:sym typeface="Mathematica1" pitchFamily="2" charset="2"/>
              </a:rPr>
              <a:t> 1/r</a:t>
            </a:r>
            <a:r>
              <a:rPr lang="en-GB" sz="2100" dirty="0"/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GB" sz="2100" dirty="0"/>
              <a:t>If the volume is too small, </a:t>
            </a:r>
            <a:r>
              <a:rPr lang="en-GB" sz="2100" i="1" dirty="0" err="1">
                <a:latin typeface="Times" pitchFamily="18" charset="0"/>
              </a:rPr>
              <a:t>k</a:t>
            </a:r>
            <a:r>
              <a:rPr lang="en-GB" sz="2100" baseline="-25000" dirty="0" err="1">
                <a:latin typeface="Times" pitchFamily="18" charset="0"/>
              </a:rPr>
              <a:t>escape</a:t>
            </a:r>
            <a:r>
              <a:rPr lang="en-GB" sz="2100" i="1" baseline="-25000" dirty="0">
                <a:latin typeface="Times" pitchFamily="18" charset="0"/>
              </a:rPr>
              <a:t> </a:t>
            </a:r>
            <a:r>
              <a:rPr lang="en-GB" sz="2100" dirty="0"/>
              <a:t>becomes greater than (1.5 </a:t>
            </a:r>
            <a:r>
              <a:rPr lang="en-GB" sz="2100" i="1" dirty="0" err="1">
                <a:latin typeface="Times" pitchFamily="18" charset="0"/>
              </a:rPr>
              <a:t>k</a:t>
            </a:r>
            <a:r>
              <a:rPr lang="en-GB" sz="2100" baseline="-25000" dirty="0" err="1">
                <a:latin typeface="Times" pitchFamily="18" charset="0"/>
              </a:rPr>
              <a:t>fission</a:t>
            </a:r>
            <a:r>
              <a:rPr lang="en-GB" sz="2100" dirty="0"/>
              <a:t>[</a:t>
            </a:r>
            <a:r>
              <a:rPr lang="en-GB" sz="2100" baseline="30000" dirty="0"/>
              <a:t>235</a:t>
            </a:r>
            <a:r>
              <a:rPr lang="en-GB" sz="2100" dirty="0"/>
              <a:t>U]).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GB" sz="2100" dirty="0"/>
              <a:t>The nuclear reaction cannot be sustained.	</a:t>
            </a:r>
            <a:endParaRPr lang="en-US" sz="2100" dirty="0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1589485" y="1358504"/>
            <a:ext cx="299877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300" dirty="0">
                <a:solidFill>
                  <a:prstClr val="black"/>
                </a:solidFill>
              </a:rPr>
              <a:t>a) Critical mass:</a:t>
            </a:r>
            <a:endParaRPr lang="en-US" sz="3300" dirty="0">
              <a:solidFill>
                <a:prstClr val="black"/>
              </a:solidFill>
            </a:endParaRP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1143000" y="857250"/>
            <a:ext cx="6534150" cy="65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Is </a:t>
            </a:r>
            <a:r>
              <a:rPr lang="en-GB" sz="2100" dirty="0">
                <a:solidFill>
                  <a:prstClr val="black"/>
                </a:solidFill>
              </a:rPr>
              <a:t> (1.5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&lt; or &gt;  (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>
                <a:solidFill>
                  <a:prstClr val="black"/>
                </a:solidFill>
                <a:latin typeface="Times" pitchFamily="18" charset="0"/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 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3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7825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49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1143000" y="857250"/>
            <a:ext cx="6534150" cy="65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Is </a:t>
            </a:r>
            <a:r>
              <a:rPr lang="en-GB" sz="2100" dirty="0">
                <a:solidFill>
                  <a:prstClr val="black"/>
                </a:solidFill>
              </a:rPr>
              <a:t> (1.5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&lt; or &gt;  (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>
                <a:solidFill>
                  <a:prstClr val="black"/>
                </a:solidFill>
                <a:latin typeface="Times" pitchFamily="18" charset="0"/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 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1289821" y="2080189"/>
            <a:ext cx="6235303" cy="2465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2100" dirty="0">
                <a:solidFill>
                  <a:prstClr val="black"/>
                </a:solidFill>
              </a:rPr>
              <a:t>Even with &gt;90% 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 a critical mass of ~15kg is required.</a:t>
            </a:r>
          </a:p>
          <a:p>
            <a:pPr>
              <a:lnSpc>
                <a:spcPct val="150000"/>
              </a:lnSpc>
            </a:pPr>
            <a:r>
              <a:rPr lang="en-GB" sz="2100" dirty="0">
                <a:solidFill>
                  <a:prstClr val="black"/>
                </a:solidFill>
              </a:rPr>
              <a:t>With less enriched Uranium,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 becomes smaller, and a greater critical mass is needed (&gt;1 tonne for a nuclear reactor).</a:t>
            </a:r>
            <a:endParaRPr lang="en-US" sz="21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93658" y="1509291"/>
            <a:ext cx="452281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300" dirty="0">
                <a:solidFill>
                  <a:prstClr val="black"/>
                </a:solidFill>
              </a:rPr>
              <a:t>b) Uranium enrichment</a:t>
            </a:r>
          </a:p>
        </p:txBody>
      </p:sp>
    </p:spTree>
    <p:extLst>
      <p:ext uri="{BB962C8B-B14F-4D97-AF65-F5344CB8AC3E}">
        <p14:creationId xmlns:p14="http://schemas.microsoft.com/office/powerpoint/2010/main" val="871120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1589485" y="1644254"/>
            <a:ext cx="2674002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300" dirty="0">
                <a:solidFill>
                  <a:prstClr val="black"/>
                </a:solidFill>
              </a:rPr>
              <a:t>c</a:t>
            </a:r>
            <a:r>
              <a:rPr lang="en-GB" sz="3300">
                <a:solidFill>
                  <a:prstClr val="black"/>
                </a:solidFill>
              </a:rPr>
              <a:t>) Absorption</a:t>
            </a:r>
            <a:endParaRPr lang="en-US" sz="3300" dirty="0">
              <a:solidFill>
                <a:prstClr val="black"/>
              </a:solidFill>
            </a:endParaRP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1119378" y="857250"/>
            <a:ext cx="6534150" cy="65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GB" dirty="0">
                <a:solidFill>
                  <a:prstClr val="black"/>
                </a:solidFill>
              </a:rPr>
              <a:t>Is </a:t>
            </a:r>
            <a:r>
              <a:rPr lang="en-GB" sz="2100" dirty="0">
                <a:solidFill>
                  <a:prstClr val="black"/>
                </a:solidFill>
              </a:rPr>
              <a:t> (1.5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&lt; or &gt;  (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>
                <a:solidFill>
                  <a:prstClr val="black"/>
                </a:solidFill>
                <a:latin typeface="Times" pitchFamily="18" charset="0"/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 ? (</a:t>
            </a:r>
            <a:r>
              <a:rPr lang="en-GB" sz="2100" dirty="0" err="1">
                <a:solidFill>
                  <a:prstClr val="black"/>
                </a:solidFill>
              </a:rPr>
              <a:t>ctd</a:t>
            </a:r>
            <a:r>
              <a:rPr lang="en-GB" sz="2100" dirty="0">
                <a:solidFill>
                  <a:prstClr val="black"/>
                </a:solidFill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1304926" y="2450791"/>
            <a:ext cx="6359389" cy="380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 sz="2100" dirty="0">
                <a:solidFill>
                  <a:prstClr val="black"/>
                </a:solidFill>
              </a:rPr>
              <a:t>A nuclear reactor is run at around </a:t>
            </a:r>
          </a:p>
          <a:p>
            <a:pPr lvl="1">
              <a:spcBef>
                <a:spcPct val="50000"/>
              </a:spcBef>
            </a:pPr>
            <a:r>
              <a:rPr lang="en-GB" sz="2100" dirty="0">
                <a:solidFill>
                  <a:prstClr val="black"/>
                </a:solidFill>
              </a:rPr>
              <a:t>1.5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fission</a:t>
            </a:r>
            <a:r>
              <a:rPr lang="en-GB" sz="2100" dirty="0">
                <a:solidFill>
                  <a:prstClr val="black"/>
                </a:solidFill>
              </a:rPr>
              <a:t>[</a:t>
            </a:r>
            <a:r>
              <a:rPr lang="en-GB" sz="2100" baseline="30000" dirty="0">
                <a:solidFill>
                  <a:prstClr val="black"/>
                </a:solidFill>
              </a:rPr>
              <a:t>235</a:t>
            </a:r>
            <a:r>
              <a:rPr lang="en-GB" sz="2100" dirty="0">
                <a:solidFill>
                  <a:prstClr val="black"/>
                </a:solidFill>
              </a:rPr>
              <a:t>U]) - (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escape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>
                <a:solidFill>
                  <a:prstClr val="black"/>
                </a:solidFill>
                <a:latin typeface="Times" pitchFamily="18" charset="0"/>
              </a:rPr>
              <a:t>+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</a:t>
            </a:r>
            <a:r>
              <a:rPr lang="en-GB" sz="2100" dirty="0">
                <a:solidFill>
                  <a:prstClr val="black"/>
                </a:solidFill>
                <a:sym typeface="Mathematica1" pitchFamily="2" charset="2"/>
              </a:rPr>
              <a:t>≈0</a:t>
            </a:r>
            <a:r>
              <a:rPr lang="en-GB" sz="1500" dirty="0">
                <a:solidFill>
                  <a:prstClr val="black"/>
                </a:solidFill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dirty="0">
                <a:solidFill>
                  <a:prstClr val="black"/>
                </a:solidFill>
              </a:rPr>
              <a:t>It is kept at this value by controlling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using “control rods” (cadmium or boron) that absorb neutrons, and which may be lowered or raised in or out of the Uranium.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100" dirty="0">
                <a:solidFill>
                  <a:prstClr val="black"/>
                </a:solidFill>
              </a:rPr>
              <a:t>Scientists have built their own automated “negative feedback” system which raises the rods (decreasing </a:t>
            </a:r>
            <a:r>
              <a:rPr lang="en-GB" sz="2100" i="1" dirty="0" err="1">
                <a:solidFill>
                  <a:prstClr val="black"/>
                </a:solidFill>
                <a:latin typeface="Times" pitchFamily="18" charset="0"/>
              </a:rPr>
              <a:t>k</a:t>
            </a:r>
            <a:r>
              <a:rPr lang="en-GB" sz="2100" baseline="-25000" dirty="0" err="1">
                <a:solidFill>
                  <a:prstClr val="black"/>
                </a:solidFill>
                <a:latin typeface="Times" pitchFamily="18" charset="0"/>
              </a:rPr>
              <a:t>absorb</a:t>
            </a:r>
            <a:r>
              <a:rPr lang="en-GB" sz="2100" i="1" baseline="-25000" dirty="0">
                <a:solidFill>
                  <a:prstClr val="black"/>
                </a:solidFill>
                <a:latin typeface="Times" pitchFamily="18" charset="0"/>
              </a:rPr>
              <a:t> </a:t>
            </a:r>
            <a:r>
              <a:rPr lang="en-GB" sz="2100" dirty="0">
                <a:solidFill>
                  <a:prstClr val="black"/>
                </a:solidFill>
              </a:rPr>
              <a:t>) if the reaction begins to die away, and vice versa.</a:t>
            </a:r>
            <a:endParaRPr lang="en-US" sz="2100" dirty="0">
              <a:solidFill>
                <a:prstClr val="black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976157" y="1204913"/>
            <a:ext cx="2176754" cy="2307711"/>
            <a:chOff x="6045200" y="922338"/>
            <a:chExt cx="2902338" cy="3076947"/>
          </a:xfrm>
        </p:grpSpPr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6045200" y="2108200"/>
              <a:ext cx="2552700" cy="18161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6565900" y="1651000"/>
              <a:ext cx="228600" cy="1739900"/>
              <a:chOff x="4136" y="968"/>
              <a:chExt cx="144" cy="1096"/>
            </a:xfrm>
          </p:grpSpPr>
          <p:sp>
            <p:nvSpPr>
              <p:cNvPr id="65547" name="Rectangle 11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10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65548" name="Rectangle 12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792"/>
              </a:xfrm>
              <a:prstGeom prst="rect">
                <a:avLst/>
              </a:prstGeom>
              <a:gradFill rotWithShape="1">
                <a:gsLst>
                  <a:gs pos="0">
                    <a:schemeClr val="bg1">
                      <a:gamma/>
                      <a:shade val="46275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7148513" y="1651000"/>
              <a:ext cx="228600" cy="1739900"/>
              <a:chOff x="4136" y="968"/>
              <a:chExt cx="144" cy="1096"/>
            </a:xfrm>
          </p:grpSpPr>
          <p:sp>
            <p:nvSpPr>
              <p:cNvPr id="65551" name="Rectangle 15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10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65552" name="Rectangle 16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792"/>
              </a:xfrm>
              <a:prstGeom prst="rect">
                <a:avLst/>
              </a:prstGeom>
              <a:gradFill rotWithShape="1">
                <a:gsLst>
                  <a:gs pos="0">
                    <a:schemeClr val="bg1">
                      <a:gamma/>
                      <a:shade val="46275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731125" y="1651000"/>
              <a:ext cx="228600" cy="1739900"/>
              <a:chOff x="4136" y="968"/>
              <a:chExt cx="144" cy="1096"/>
            </a:xfrm>
          </p:grpSpPr>
          <p:sp>
            <p:nvSpPr>
              <p:cNvPr id="65554" name="Rectangle 18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10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65555" name="Rectangle 19"/>
              <p:cNvSpPr>
                <a:spLocks noChangeArrowheads="1"/>
              </p:cNvSpPr>
              <p:nvPr/>
            </p:nvSpPr>
            <p:spPr bwMode="auto">
              <a:xfrm>
                <a:off x="4136" y="968"/>
                <a:ext cx="144" cy="792"/>
              </a:xfrm>
              <a:prstGeom prst="rect">
                <a:avLst/>
              </a:prstGeom>
              <a:gradFill rotWithShape="1">
                <a:gsLst>
                  <a:gs pos="0">
                    <a:schemeClr val="bg1">
                      <a:gamma/>
                      <a:shade val="46275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5556" name="Text Box 20"/>
            <p:cNvSpPr txBox="1">
              <a:spLocks noChangeArrowheads="1"/>
            </p:cNvSpPr>
            <p:nvPr/>
          </p:nvSpPr>
          <p:spPr bwMode="auto">
            <a:xfrm>
              <a:off x="6508751" y="922338"/>
              <a:ext cx="2438787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Control rods</a:t>
              </a:r>
            </a:p>
          </p:txBody>
        </p:sp>
        <p:sp>
          <p:nvSpPr>
            <p:cNvPr id="65557" name="Line 21"/>
            <p:cNvSpPr>
              <a:spLocks noChangeShapeType="1"/>
            </p:cNvSpPr>
            <p:nvPr/>
          </p:nvSpPr>
          <p:spPr bwMode="auto">
            <a:xfrm flipH="1">
              <a:off x="6677025" y="1247775"/>
              <a:ext cx="561975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65558" name="Line 22"/>
            <p:cNvSpPr>
              <a:spLocks noChangeShapeType="1"/>
            </p:cNvSpPr>
            <p:nvPr/>
          </p:nvSpPr>
          <p:spPr bwMode="auto">
            <a:xfrm>
              <a:off x="7239000" y="1257300"/>
              <a:ext cx="9525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65559" name="Line 23"/>
            <p:cNvSpPr>
              <a:spLocks noChangeShapeType="1"/>
            </p:cNvSpPr>
            <p:nvPr/>
          </p:nvSpPr>
          <p:spPr bwMode="auto">
            <a:xfrm>
              <a:off x="7248525" y="1257300"/>
              <a:ext cx="523875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65561" name="Text Box 25"/>
            <p:cNvSpPr txBox="1">
              <a:spLocks noChangeArrowheads="1"/>
            </p:cNvSpPr>
            <p:nvPr/>
          </p:nvSpPr>
          <p:spPr bwMode="auto">
            <a:xfrm>
              <a:off x="6621264" y="3383732"/>
              <a:ext cx="1785104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Uranium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7554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5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9682-4FE0-4D72-8D4B-395B3E7A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Rod Failure</a:t>
            </a:r>
          </a:p>
        </p:txBody>
      </p:sp>
      <p:pic>
        <p:nvPicPr>
          <p:cNvPr id="6" name="Online Media 5" title="The Chernobyl Disaster: How It Happened">
            <a:hlinkClick r:id="" action="ppaction://media"/>
            <a:extLst>
              <a:ext uri="{FF2B5EF4-FFF2-40B4-BE49-F238E27FC236}">
                <a16:creationId xmlns:a16="http://schemas.microsoft.com/office/drawing/2014/main" id="{9CB381A5-A396-4527-9A68-2D6FDDC97CF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75656" y="1946401"/>
            <a:ext cx="6408712" cy="3620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A85869-FC36-4819-9696-70DC270DFE2F}"/>
              </a:ext>
            </a:extLst>
          </p:cNvPr>
          <p:cNvSpPr txBox="1"/>
          <p:nvPr/>
        </p:nvSpPr>
        <p:spPr>
          <a:xfrm>
            <a:off x="108012" y="6022775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https://youtu.be/f5ptI6Pi3GA?t=50</a:t>
            </a:r>
          </a:p>
        </p:txBody>
      </p:sp>
    </p:spTree>
    <p:extLst>
      <p:ext uri="{BB962C8B-B14F-4D97-AF65-F5344CB8AC3E}">
        <p14:creationId xmlns:p14="http://schemas.microsoft.com/office/powerpoint/2010/main" val="10300155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94A4-3989-00D8-A677-A9C5C090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3829-9537-213B-6CC5-67BD19A99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have:</a:t>
            </a:r>
            <a:br>
              <a:rPr lang="en-US" dirty="0"/>
            </a:br>
            <a:r>
              <a:rPr lang="en-US" dirty="0"/>
              <a:t>Described different feedback mechanisms</a:t>
            </a:r>
            <a:br>
              <a:rPr lang="en-US" dirty="0"/>
            </a:br>
            <a:r>
              <a:rPr lang="en-US" dirty="0"/>
              <a:t>Introduced branching chain reactions</a:t>
            </a:r>
            <a:br>
              <a:rPr lang="en-US" dirty="0"/>
            </a:br>
            <a:r>
              <a:rPr lang="en-US" dirty="0"/>
              <a:t>Understood how different feedback mechanisms lead to different outcomes in chain reactions</a:t>
            </a:r>
            <a:br>
              <a:rPr lang="en-US" dirty="0"/>
            </a:br>
            <a:r>
              <a:rPr lang="en-US" dirty="0"/>
              <a:t>Described the archetypal branching chain reaction, and mechanisms to guide the reaction along a desirable path.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3BD86-AE71-C85E-EC44-5D150793F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13242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Custom 1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881222930B44B81C1568F36C77FDA" ma:contentTypeVersion="13" ma:contentTypeDescription="Create a new document." ma:contentTypeScope="" ma:versionID="d4477ea23f4783088fda36cf7f63ac4c">
  <xsd:schema xmlns:xsd="http://www.w3.org/2001/XMLSchema" xmlns:xs="http://www.w3.org/2001/XMLSchema" xmlns:p="http://schemas.microsoft.com/office/2006/metadata/properties" xmlns:ns3="fb559037-4165-4a9e-8f16-1975300428b9" xmlns:ns4="ef4b941a-e2aa-4a0c-b5ee-9460c3e03c49" targetNamespace="http://schemas.microsoft.com/office/2006/metadata/properties" ma:root="true" ma:fieldsID="3e83be21e9964a9da75c45f035671791" ns3:_="" ns4:_="">
    <xsd:import namespace="fb559037-4165-4a9e-8f16-1975300428b9"/>
    <xsd:import namespace="ef4b941a-e2aa-4a0c-b5ee-9460c3e03c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59037-4165-4a9e-8f16-1975300428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4b941a-e2aa-4a0c-b5ee-9460c3e03c4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ECFB1-561F-4050-9DD5-8EE50BCDF076}">
  <ds:schemaRefs>
    <ds:schemaRef ds:uri="http://www.w3.org/XML/1998/namespace"/>
    <ds:schemaRef ds:uri="ef4b941a-e2aa-4a0c-b5ee-9460c3e03c49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b559037-4165-4a9e-8f16-1975300428b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7FB979C-D942-49AF-8F9C-A1A8DBAEF5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355681-7D01-4FE3-A0E4-657FBC8464B7}">
  <ds:schemaRefs>
    <ds:schemaRef ds:uri="ef4b941a-e2aa-4a0c-b5ee-9460c3e03c49"/>
    <ds:schemaRef ds:uri="fb559037-4165-4a9e-8f16-1975300428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0</TotalTime>
  <Words>2433</Words>
  <Application>Microsoft Office PowerPoint</Application>
  <PresentationFormat>On-screen Show (4:3)</PresentationFormat>
  <Paragraphs>310</Paragraphs>
  <Slides>40</Slides>
  <Notes>33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Mathematica1</vt:lpstr>
      <vt:lpstr>Arial</vt:lpstr>
      <vt:lpstr>Times New Roman</vt:lpstr>
      <vt:lpstr>Calibri</vt:lpstr>
      <vt:lpstr>Times</vt:lpstr>
      <vt:lpstr>Symbol</vt:lpstr>
      <vt:lpstr>Rdg Vesta</vt:lpstr>
      <vt:lpstr>Bright colours jl</vt:lpstr>
      <vt:lpstr>CH2PH2:  Chemical Kinetics </vt:lpstr>
      <vt:lpstr>Lecture 4</vt:lpstr>
      <vt:lpstr>feedback loops</vt:lpstr>
      <vt:lpstr>Why do these reach steady-state?</vt:lpstr>
      <vt:lpstr>Neutrally stable:</vt:lpstr>
      <vt:lpstr>Unstable</vt:lpstr>
      <vt:lpstr>Steady-state? Or explosion?</vt:lpstr>
      <vt:lpstr>PowerPoint Presentation</vt:lpstr>
      <vt:lpstr>Why do these systems reach steady-state?</vt:lpstr>
      <vt:lpstr>Neutrally stable:</vt:lpstr>
      <vt:lpstr>Unstable</vt:lpstr>
      <vt:lpstr>branching chain reactions</vt:lpstr>
      <vt:lpstr>Branching chain reactions</vt:lpstr>
      <vt:lpstr>Example 1</vt:lpstr>
      <vt:lpstr>Example 1</vt:lpstr>
      <vt:lpstr>Example 2</vt:lpstr>
      <vt:lpstr>Example 2</vt:lpstr>
      <vt:lpstr>Exponential decay vs exponential increase</vt:lpstr>
      <vt:lpstr>With branching propagation steps  and termination steps</vt:lpstr>
      <vt:lpstr>Initiation steps and [R]</vt:lpstr>
      <vt:lpstr>Example:</vt:lpstr>
      <vt:lpstr>Example:</vt:lpstr>
      <vt:lpstr>Scale up – consider the kinetics!</vt:lpstr>
      <vt:lpstr>Case study: Nuclear fission</vt:lpstr>
      <vt:lpstr>(Case study) Nuclear fission</vt:lpstr>
      <vt:lpstr>Facts about nuclear fission</vt:lpstr>
      <vt:lpstr>The kinetics of nuclear fission</vt:lpstr>
      <vt:lpstr>Decay products</vt:lpstr>
      <vt:lpstr>PowerPoint Presentation</vt:lpstr>
      <vt:lpstr>Worked example</vt:lpstr>
      <vt:lpstr>Worked example: Answer</vt:lpstr>
      <vt:lpstr>Example Task: Answer</vt:lpstr>
      <vt:lpstr>Example Task: Answer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Rod Failure</vt:lpstr>
      <vt:lpstr>Learning Outcomes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2</cp:revision>
  <cp:lastPrinted>2006-09-19T14:59:33Z</cp:lastPrinted>
  <dcterms:created xsi:type="dcterms:W3CDTF">2009-08-10T15:23:00Z</dcterms:created>
  <dcterms:modified xsi:type="dcterms:W3CDTF">2026-03-17T15:30:51Z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0x01010064A881222930B44B81C1568F36C77FDA</vt:lpwstr>
  </property>
</Properties>
</file>