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40"/>
  </p:notesMasterIdLst>
  <p:handoutMasterIdLst>
    <p:handoutMasterId r:id="rId41"/>
  </p:handoutMasterIdLst>
  <p:sldIdLst>
    <p:sldId id="402" r:id="rId2"/>
    <p:sldId id="284" r:id="rId3"/>
    <p:sldId id="403" r:id="rId4"/>
    <p:sldId id="413" r:id="rId5"/>
    <p:sldId id="417" r:id="rId6"/>
    <p:sldId id="411" r:id="rId7"/>
    <p:sldId id="419" r:id="rId8"/>
    <p:sldId id="418" r:id="rId9"/>
    <p:sldId id="410" r:id="rId10"/>
    <p:sldId id="405" r:id="rId11"/>
    <p:sldId id="404" r:id="rId12"/>
    <p:sldId id="408" r:id="rId13"/>
    <p:sldId id="406" r:id="rId14"/>
    <p:sldId id="407" r:id="rId15"/>
    <p:sldId id="412" r:id="rId16"/>
    <p:sldId id="409" r:id="rId17"/>
    <p:sldId id="420" r:id="rId18"/>
    <p:sldId id="414" r:id="rId19"/>
    <p:sldId id="539" r:id="rId20"/>
    <p:sldId id="421" r:id="rId21"/>
    <p:sldId id="415" r:id="rId22"/>
    <p:sldId id="263" r:id="rId23"/>
    <p:sldId id="257" r:id="rId24"/>
    <p:sldId id="422" r:id="rId25"/>
    <p:sldId id="258" r:id="rId26"/>
    <p:sldId id="424" r:id="rId27"/>
    <p:sldId id="259" r:id="rId28"/>
    <p:sldId id="288" r:id="rId29"/>
    <p:sldId id="268" r:id="rId30"/>
    <p:sldId id="260" r:id="rId31"/>
    <p:sldId id="261" r:id="rId32"/>
    <p:sldId id="262" r:id="rId33"/>
    <p:sldId id="264" r:id="rId34"/>
    <p:sldId id="265" r:id="rId35"/>
    <p:sldId id="266" r:id="rId36"/>
    <p:sldId id="423" r:id="rId37"/>
    <p:sldId id="540" r:id="rId38"/>
    <p:sldId id="538" r:id="rId39"/>
  </p:sldIdLst>
  <p:sldSz cx="9144000" cy="6858000" type="screen4x3"/>
  <p:notesSz cx="7099300" cy="10234613"/>
  <p:embeddedFontLst>
    <p:embeddedFont>
      <p:font typeface="Cambria Math" panose="02040503050406030204" pitchFamily="18" charset="0"/>
      <p:regular r:id="rId42"/>
    </p:embeddedFont>
    <p:embeddedFont>
      <p:font typeface="Rdg Vesta" panose="020B0604020202020204" charset="0"/>
      <p:regular r:id="rId43"/>
      <p:bold r:id="rId44"/>
      <p:italic r:id="rId45"/>
      <p:boldItalic r:id="rId46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7EAF35"/>
    <a:srgbClr val="FFFFCC"/>
    <a:srgbClr val="D799A1"/>
    <a:srgbClr val="000000"/>
    <a:srgbClr val="BF0071"/>
    <a:srgbClr val="F3F3F3"/>
    <a:srgbClr val="F0F0F0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0019-4EED-42CE-B603-7A9A2DEFAB01}" v="8" dt="2026-03-17T15:57:51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90" autoAdjust="0"/>
    <p:restoredTop sz="92711" autoAdjust="0"/>
  </p:normalViewPr>
  <p:slideViewPr>
    <p:cSldViewPr>
      <p:cViewPr varScale="1">
        <p:scale>
          <a:sx n="94" d="100"/>
          <a:sy n="94" d="100"/>
        </p:scale>
        <p:origin x="654" y="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Hallett" userId="c714d19a-e50d-439a-876c-0e1be1458f92" providerId="ADAL" clId="{61970166-0281-46AC-89FE-13EE8402E3D7}"/>
    <pc:docChg chg="undo custSel modSld">
      <pc:chgData name="James Hallett" userId="c714d19a-e50d-439a-876c-0e1be1458f92" providerId="ADAL" clId="{61970166-0281-46AC-89FE-13EE8402E3D7}" dt="2026-03-17T15:57:54.472" v="14" actId="1076"/>
      <pc:docMkLst>
        <pc:docMk/>
      </pc:docMkLst>
      <pc:sldChg chg="addSp modSp mod">
        <pc:chgData name="James Hallett" userId="c714d19a-e50d-439a-876c-0e1be1458f92" providerId="ADAL" clId="{61970166-0281-46AC-89FE-13EE8402E3D7}" dt="2026-03-17T15:57:54.472" v="14" actId="1076"/>
        <pc:sldMkLst>
          <pc:docMk/>
          <pc:sldMk cId="3277737669" sldId="262"/>
        </pc:sldMkLst>
        <pc:spChg chg="add mod">
          <ac:chgData name="James Hallett" userId="c714d19a-e50d-439a-876c-0e1be1458f92" providerId="ADAL" clId="{61970166-0281-46AC-89FE-13EE8402E3D7}" dt="2026-03-17T15:57:54.472" v="14" actId="1076"/>
          <ac:spMkLst>
            <pc:docMk/>
            <pc:sldMk cId="3277737669" sldId="262"/>
            <ac:spMk id="3" creationId="{7387A236-C9C3-A1A9-CFA7-73681123DE04}"/>
          </ac:spMkLst>
        </pc:spChg>
      </pc:sldChg>
      <pc:sldChg chg="addSp modSp">
        <pc:chgData name="James Hallett" userId="c714d19a-e50d-439a-876c-0e1be1458f92" providerId="ADAL" clId="{61970166-0281-46AC-89FE-13EE8402E3D7}" dt="2026-03-17T15:56:59.777" v="6"/>
        <pc:sldMkLst>
          <pc:docMk/>
          <pc:sldMk cId="1177226872" sldId="404"/>
        </pc:sldMkLst>
        <pc:spChg chg="add mod">
          <ac:chgData name="James Hallett" userId="c714d19a-e50d-439a-876c-0e1be1458f92" providerId="ADAL" clId="{61970166-0281-46AC-89FE-13EE8402E3D7}" dt="2026-03-17T15:56:59.777" v="6"/>
          <ac:spMkLst>
            <pc:docMk/>
            <pc:sldMk cId="1177226872" sldId="404"/>
            <ac:spMk id="4" creationId="{EDE9B345-3026-8F51-FA3C-A1F74FE4A05E}"/>
          </ac:spMkLst>
        </pc:spChg>
      </pc:sldChg>
      <pc:sldChg chg="addSp modSp mod">
        <pc:chgData name="James Hallett" userId="c714d19a-e50d-439a-876c-0e1be1458f92" providerId="ADAL" clId="{61970166-0281-46AC-89FE-13EE8402E3D7}" dt="2026-03-17T15:56:57.472" v="5" actId="1076"/>
        <pc:sldMkLst>
          <pc:docMk/>
          <pc:sldMk cId="1296584111" sldId="405"/>
        </pc:sldMkLst>
        <pc:spChg chg="add mod">
          <ac:chgData name="James Hallett" userId="c714d19a-e50d-439a-876c-0e1be1458f92" providerId="ADAL" clId="{61970166-0281-46AC-89FE-13EE8402E3D7}" dt="2026-03-17T15:56:57.472" v="5" actId="1076"/>
          <ac:spMkLst>
            <pc:docMk/>
            <pc:sldMk cId="1296584111" sldId="405"/>
            <ac:spMk id="4" creationId="{06FDE82B-476F-1674-3D8B-7A895FAA3D88}"/>
          </ac:spMkLst>
        </pc:spChg>
        <pc:picChg chg="mod">
          <ac:chgData name="James Hallett" userId="c714d19a-e50d-439a-876c-0e1be1458f92" providerId="ADAL" clId="{61970166-0281-46AC-89FE-13EE8402E3D7}" dt="2026-03-17T15:56:54.987" v="4" actId="1076"/>
          <ac:picMkLst>
            <pc:docMk/>
            <pc:sldMk cId="1296584111" sldId="405"/>
            <ac:picMk id="17" creationId="{FF33F859-855D-1F0D-2B44-B85FD817FE62}"/>
          </ac:picMkLst>
        </pc:picChg>
      </pc:sldChg>
      <pc:sldChg chg="addSp modSp">
        <pc:chgData name="James Hallett" userId="c714d19a-e50d-439a-876c-0e1be1458f92" providerId="ADAL" clId="{61970166-0281-46AC-89FE-13EE8402E3D7}" dt="2026-03-17T15:57:02.644" v="7"/>
        <pc:sldMkLst>
          <pc:docMk/>
          <pc:sldMk cId="1987731293" sldId="408"/>
        </pc:sldMkLst>
        <pc:spChg chg="add mod">
          <ac:chgData name="James Hallett" userId="c714d19a-e50d-439a-876c-0e1be1458f92" providerId="ADAL" clId="{61970166-0281-46AC-89FE-13EE8402E3D7}" dt="2026-03-17T15:57:02.644" v="7"/>
          <ac:spMkLst>
            <pc:docMk/>
            <pc:sldMk cId="1987731293" sldId="408"/>
            <ac:spMk id="9" creationId="{173105A0-0971-BA54-2069-2712DD619D4A}"/>
          </ac:spMkLst>
        </pc:spChg>
      </pc:sldChg>
      <pc:sldChg chg="addSp modSp mod">
        <pc:chgData name="James Hallett" userId="c714d19a-e50d-439a-876c-0e1be1458f92" providerId="ADAL" clId="{61970166-0281-46AC-89FE-13EE8402E3D7}" dt="2026-03-17T15:56:31.484" v="1" actId="1076"/>
        <pc:sldMkLst>
          <pc:docMk/>
          <pc:sldMk cId="2767668689" sldId="411"/>
        </pc:sldMkLst>
        <pc:spChg chg="add mod">
          <ac:chgData name="James Hallett" userId="c714d19a-e50d-439a-876c-0e1be1458f92" providerId="ADAL" clId="{61970166-0281-46AC-89FE-13EE8402E3D7}" dt="2026-03-17T15:56:31.484" v="1" actId="1076"/>
          <ac:spMkLst>
            <pc:docMk/>
            <pc:sldMk cId="2767668689" sldId="411"/>
            <ac:spMk id="2" creationId="{06FDE82B-476F-1674-3D8B-7A895FAA3D88}"/>
          </ac:spMkLst>
        </pc:spChg>
      </pc:sldChg>
      <pc:sldChg chg="addSp modSp">
        <pc:chgData name="James Hallett" userId="c714d19a-e50d-439a-876c-0e1be1458f92" providerId="ADAL" clId="{61970166-0281-46AC-89FE-13EE8402E3D7}" dt="2026-03-17T15:57:20.626" v="8"/>
        <pc:sldMkLst>
          <pc:docMk/>
          <pc:sldMk cId="1458511019" sldId="414"/>
        </pc:sldMkLst>
        <pc:spChg chg="add mod">
          <ac:chgData name="James Hallett" userId="c714d19a-e50d-439a-876c-0e1be1458f92" providerId="ADAL" clId="{61970166-0281-46AC-89FE-13EE8402E3D7}" dt="2026-03-17T15:57:20.626" v="8"/>
          <ac:spMkLst>
            <pc:docMk/>
            <pc:sldMk cId="1458511019" sldId="414"/>
            <ac:spMk id="3" creationId="{A2CF4917-D5BD-F92F-045F-CBD7B7B19D86}"/>
          </ac:spMkLst>
        </pc:spChg>
      </pc:sldChg>
      <pc:sldChg chg="addSp modSp mod">
        <pc:chgData name="James Hallett" userId="c714d19a-e50d-439a-876c-0e1be1458f92" providerId="ADAL" clId="{61970166-0281-46AC-89FE-13EE8402E3D7}" dt="2026-03-17T15:57:35.936" v="12" actId="1076"/>
        <pc:sldMkLst>
          <pc:docMk/>
          <pc:sldMk cId="1387781048" sldId="421"/>
        </pc:sldMkLst>
        <pc:spChg chg="add mod">
          <ac:chgData name="James Hallett" userId="c714d19a-e50d-439a-876c-0e1be1458f92" providerId="ADAL" clId="{61970166-0281-46AC-89FE-13EE8402E3D7}" dt="2026-03-17T15:57:28.491" v="11"/>
          <ac:spMkLst>
            <pc:docMk/>
            <pc:sldMk cId="1387781048" sldId="421"/>
            <ac:spMk id="3" creationId="{75853FD8-0E5E-3374-23EC-4735D8358344}"/>
          </ac:spMkLst>
        </pc:spChg>
        <pc:spChg chg="mod">
          <ac:chgData name="James Hallett" userId="c714d19a-e50d-439a-876c-0e1be1458f92" providerId="ADAL" clId="{61970166-0281-46AC-89FE-13EE8402E3D7}" dt="2026-03-17T15:57:35.936" v="12" actId="1076"/>
          <ac:spMkLst>
            <pc:docMk/>
            <pc:sldMk cId="1387781048" sldId="421"/>
            <ac:spMk id="7" creationId="{BA4BB0B4-D19E-F622-7264-D8D6E2DA78BA}"/>
          </ac:spMkLst>
        </pc:spChg>
      </pc:sldChg>
      <pc:sldChg chg="addSp modSp mod">
        <pc:chgData name="James Hallett" userId="c714d19a-e50d-439a-876c-0e1be1458f92" providerId="ADAL" clId="{61970166-0281-46AC-89FE-13EE8402E3D7}" dt="2026-03-17T15:57:27.111" v="10" actId="1076"/>
        <pc:sldMkLst>
          <pc:docMk/>
          <pc:sldMk cId="2156100806" sldId="539"/>
        </pc:sldMkLst>
        <pc:spChg chg="add mod">
          <ac:chgData name="James Hallett" userId="c714d19a-e50d-439a-876c-0e1be1458f92" providerId="ADAL" clId="{61970166-0281-46AC-89FE-13EE8402E3D7}" dt="2026-03-17T15:57:27.111" v="10" actId="1076"/>
          <ac:spMkLst>
            <pc:docMk/>
            <pc:sldMk cId="2156100806" sldId="539"/>
            <ac:spMk id="2" creationId="{D857FB7F-9377-57E6-CFC2-1196C2DB678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14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14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fld id="{DC1C926E-E5D6-49FD-80FB-3D308DC41FF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2984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37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GB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596" y="4862101"/>
            <a:ext cx="5680111" cy="460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37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600D5460-E14D-44CF-821C-69F40963C65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3285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8100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64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868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41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pic>
        <p:nvPicPr>
          <p:cNvPr id="3111" name="Picture 39" descr="Device-bla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755650" y="2987675"/>
            <a:ext cx="7920038" cy="2387600"/>
          </a:xfrm>
        </p:spPr>
        <p:txBody>
          <a:bodyPr wrap="square"/>
          <a:lstStyle>
            <a:lvl1pPr>
              <a:lnSpc>
                <a:spcPct val="90000"/>
              </a:lnSpc>
              <a:tabLst>
                <a:tab pos="4038600" algn="l"/>
              </a:tabLst>
              <a:defRPr sz="8200"/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755650" y="5373688"/>
            <a:ext cx="7920038" cy="925512"/>
          </a:xfrm>
        </p:spPr>
        <p:txBody>
          <a:bodyPr/>
          <a:lstStyle>
            <a:lvl1pPr marL="0" indent="0">
              <a:buFontTx/>
              <a:buNone/>
              <a:defRPr sz="36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5651" y="6519863"/>
            <a:ext cx="1773238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901E09E9-B828-4F07-8691-56061D7C279E}" type="datetime4">
              <a:rPr lang="en-GB"/>
              <a:pPr/>
              <a:t>17 March 2026</a:t>
            </a:fld>
            <a:endParaRPr lang="en-GB"/>
          </a:p>
        </p:txBody>
      </p:sp>
      <p:sp>
        <p:nvSpPr>
          <p:cNvPr id="3090" name="Rectangle 18"/>
          <p:cNvSpPr>
            <a:spLocks noChangeArrowheads="1"/>
          </p:cNvSpPr>
          <p:nvPr/>
        </p:nvSpPr>
        <p:spPr bwMode="auto">
          <a:xfrm>
            <a:off x="2555876" y="6519863"/>
            <a:ext cx="43926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© University of Reading 2008</a:t>
            </a:r>
          </a:p>
        </p:txBody>
      </p:sp>
      <p:sp>
        <p:nvSpPr>
          <p:cNvPr id="3091" name="Text Box 19"/>
          <p:cNvSpPr txBox="1">
            <a:spLocks noChangeArrowheads="1"/>
          </p:cNvSpPr>
          <p:nvPr/>
        </p:nvSpPr>
        <p:spPr bwMode="auto">
          <a:xfrm>
            <a:off x="5292725" y="6519863"/>
            <a:ext cx="3446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400" b="1">
                <a:solidFill>
                  <a:schemeClr val="tx2"/>
                </a:solidFill>
              </a:rPr>
              <a:t>www.reading.ac.uk</a:t>
            </a:r>
          </a:p>
        </p:txBody>
      </p:sp>
      <p:sp>
        <p:nvSpPr>
          <p:cNvPr id="3108" name="Rectangle 36"/>
          <p:cNvSpPr>
            <a:spLocks noChangeArrowheads="1"/>
          </p:cNvSpPr>
          <p:nvPr/>
        </p:nvSpPr>
        <p:spPr bwMode="hidden">
          <a:xfrm>
            <a:off x="6588126" y="2"/>
            <a:ext cx="2555875" cy="1196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3110" name="Text Box 38"/>
          <p:cNvSpPr txBox="1">
            <a:spLocks noChangeArrowheads="1"/>
          </p:cNvSpPr>
          <p:nvPr/>
        </p:nvSpPr>
        <p:spPr bwMode="auto">
          <a:xfrm>
            <a:off x="855664" y="333375"/>
            <a:ext cx="367188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300" b="1"/>
              <a:t>Go to View &gt; Master &gt; Slide Master </a:t>
            </a:r>
            <a:br>
              <a:rPr lang="en-GB" sz="1300" b="1"/>
            </a:br>
            <a:r>
              <a:rPr lang="en-GB" sz="1300" b="1"/>
              <a:t>to put your unit name here</a:t>
            </a:r>
          </a:p>
        </p:txBody>
      </p:sp>
      <p:pic>
        <p:nvPicPr>
          <p:cNvPr id="3107" name="Picture 35" descr="Device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0"/>
            <a:ext cx="1184275" cy="38735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114" name="Picture 42" descr="powerpoint-imag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9" y="981077"/>
            <a:ext cx="5346700" cy="194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41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2400"/>
          </a:p>
        </p:txBody>
      </p:sp>
      <p:pic>
        <p:nvPicPr>
          <p:cNvPr id="14" name="Picture 39" descr="Device-black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</p:spPr>
      </p:pic>
      <p:pic>
        <p:nvPicPr>
          <p:cNvPr id="15" name="Picture 42" descr="powerpoint-images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4089" y="981077"/>
            <a:ext cx="5346700" cy="194627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9D1556-5B33-4675-B4F7-DF410413AB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12036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A0146E-E93F-40FA-95C0-5D26FF87133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42907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7426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953796-1D7D-417A-8CFA-8A437F7CE2F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00308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80D11D-4F9A-40E8-A8A2-19DCF54851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68726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BBB062-E9BC-46FC-A221-AD28C64C617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43751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B36FD51-1015-4304-9645-AC62F2AE25B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3859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398DC1-42D3-4E19-9786-FDC6B5B993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13775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4F427-71DA-42BF-9A23-26EEB255A7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60868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55E386-501C-4B8D-95FE-5F35F50D7F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65532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4014" y="274638"/>
            <a:ext cx="1982787" cy="5668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274638"/>
            <a:ext cx="5795963" cy="5668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5D204FA-AD45-4274-8CB5-C19925E50E4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34144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Picture 53" descr="Device-black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5651" y="274638"/>
            <a:ext cx="61928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600200"/>
            <a:ext cx="793115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16888" y="6281738"/>
            <a:ext cx="6762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2000"/>
            </a:lvl1pPr>
          </a:lstStyle>
          <a:p>
            <a:fld id="{B840E540-F2F8-41E1-849D-65A0688D08A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755651" y="6519863"/>
            <a:ext cx="63373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400" dirty="0"/>
          </a:p>
        </p:txBody>
      </p:sp>
      <p:pic>
        <p:nvPicPr>
          <p:cNvPr id="1074" name="Picture 50" descr="Device-wine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2"/>
            <a:ext cx="1184275" cy="385763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079" name="Picture 55" descr="Device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0"/>
            <a:ext cx="1184275" cy="387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9pPr>
    </p:titleStyle>
    <p:bodyStyle>
      <a:lvl1pPr marL="342900" indent="-3429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EwGeqR4duQ?feature=oembed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AILxVfHse0?feature=oembe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QiSXUfeKaQ?feature=oembe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WGcBtN7axYQ?feature=oembed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tif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tiff"/><Relationship Id="rId5" Type="http://schemas.openxmlformats.org/officeDocument/2006/relationships/image" Target="../media/image31.tiff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tif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tiff"/><Relationship Id="rId5" Type="http://schemas.openxmlformats.org/officeDocument/2006/relationships/image" Target="../media/image31.tiff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CH2PH2: </a:t>
            </a:r>
            <a:br>
              <a:rPr lang="en-US" sz="4800" dirty="0"/>
            </a:br>
            <a:r>
              <a:rPr lang="en-US" sz="4800" dirty="0"/>
              <a:t>Surfaces and Interfaces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534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5576" y="5004175"/>
            <a:ext cx="7920038" cy="925512"/>
          </a:xfrm>
        </p:spPr>
        <p:txBody>
          <a:bodyPr/>
          <a:lstStyle/>
          <a:p>
            <a:r>
              <a:rPr lang="en-US" dirty="0"/>
              <a:t>Dr. James Hallett</a:t>
            </a:r>
          </a:p>
          <a:p>
            <a:r>
              <a:rPr lang="en-US" dirty="0"/>
              <a:t>j.e.hallett@reading.ac.uk</a:t>
            </a:r>
          </a:p>
        </p:txBody>
      </p:sp>
    </p:spTree>
    <p:extLst>
      <p:ext uri="{BB962C8B-B14F-4D97-AF65-F5344CB8AC3E}">
        <p14:creationId xmlns:p14="http://schemas.microsoft.com/office/powerpoint/2010/main" val="1137376584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8AF2FC-1BAA-D606-61D7-6E0CAF2F171F}"/>
              </a:ext>
            </a:extLst>
          </p:cNvPr>
          <p:cNvSpPr txBox="1"/>
          <p:nvPr/>
        </p:nvSpPr>
        <p:spPr>
          <a:xfrm>
            <a:off x="838200" y="838200"/>
            <a:ext cx="8229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/>
              <a:t>CH2PH2</a:t>
            </a:r>
          </a:p>
          <a:p>
            <a:endParaRPr lang="en-GB" sz="5400" dirty="0"/>
          </a:p>
          <a:p>
            <a:r>
              <a:rPr lang="en-GB" sz="5400" dirty="0"/>
              <a:t>Lecture 4: Liquid Crystals</a:t>
            </a:r>
          </a:p>
          <a:p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187617634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48C4C9-5EF5-CA18-F006-232588D1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liquid crystals?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58576B-12F5-A8B8-2DC4-0ACB773EDE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6FD51-1015-4304-9645-AC62F2AE25B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0151B551-C5A3-BB9B-5870-53712656455A}"/>
              </a:ext>
            </a:extLst>
          </p:cNvPr>
          <p:cNvSpPr txBox="1">
            <a:spLocks/>
          </p:cNvSpPr>
          <p:nvPr/>
        </p:nvSpPr>
        <p:spPr bwMode="auto">
          <a:xfrm>
            <a:off x="1736685" y="3447411"/>
            <a:ext cx="61928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9pPr>
          </a:lstStyle>
          <a:p>
            <a:pPr algn="ctr"/>
            <a:r>
              <a:rPr lang="en-US" kern="0" dirty="0"/>
              <a:t>“A state of matter whose properties</a:t>
            </a:r>
            <a:br>
              <a:rPr lang="en-US" kern="0" dirty="0"/>
            </a:br>
            <a:r>
              <a:rPr lang="en-US" kern="0" dirty="0"/>
              <a:t>are between those of a regular</a:t>
            </a:r>
          </a:p>
          <a:p>
            <a:r>
              <a:rPr lang="en-US" kern="0" dirty="0"/>
              <a:t>Liquid and a crystalline solid”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8B3FBAD-DE8A-BBCC-F9C4-109E30098F0E}"/>
              </a:ext>
            </a:extLst>
          </p:cNvPr>
          <p:cNvGrpSpPr/>
          <p:nvPr/>
        </p:nvGrpSpPr>
        <p:grpSpPr>
          <a:xfrm>
            <a:off x="2546775" y="1417638"/>
            <a:ext cx="2430270" cy="2601273"/>
            <a:chOff x="2546775" y="1417638"/>
            <a:chExt cx="2430270" cy="2601273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57A4BC6-1BF5-2632-FA28-BE8BDF810C4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546775" y="1538790"/>
              <a:ext cx="630070" cy="24801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8C7277E-7AB4-563B-C0D7-A313DB4F9B68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301970" y="1417638"/>
              <a:ext cx="675075" cy="26012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Title 2">
            <a:extLst>
              <a:ext uri="{FF2B5EF4-FFF2-40B4-BE49-F238E27FC236}">
                <a16:creationId xmlns:a16="http://schemas.microsoft.com/office/drawing/2014/main" id="{452CAEA7-BC58-82F7-6584-6CB777B259CC}"/>
              </a:ext>
            </a:extLst>
          </p:cNvPr>
          <p:cNvSpPr txBox="1">
            <a:spLocks/>
          </p:cNvSpPr>
          <p:nvPr/>
        </p:nvSpPr>
        <p:spPr bwMode="auto">
          <a:xfrm>
            <a:off x="1016605" y="5182800"/>
            <a:ext cx="61928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9pPr>
          </a:lstStyle>
          <a:p>
            <a:pPr algn="ctr"/>
            <a:r>
              <a:rPr lang="en-US" kern="0" dirty="0"/>
              <a:t>What are some properties of liquids</a:t>
            </a:r>
            <a:br>
              <a:rPr lang="en-US" kern="0" dirty="0"/>
            </a:br>
            <a:r>
              <a:rPr lang="en-US" kern="0" dirty="0"/>
              <a:t>and crystalline solids?</a:t>
            </a:r>
          </a:p>
        </p:txBody>
      </p:sp>
    </p:spTree>
    <p:extLst>
      <p:ext uri="{BB962C8B-B14F-4D97-AF65-F5344CB8AC3E}">
        <p14:creationId xmlns:p14="http://schemas.microsoft.com/office/powerpoint/2010/main" val="31684764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7391A-4BCF-FF83-3B51-FA5864B17B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4</a:t>
            </a:fld>
            <a:endParaRPr lang="en-GB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7551F68-E3BB-F4EF-9592-3C35AF2C1269}"/>
              </a:ext>
            </a:extLst>
          </p:cNvPr>
          <p:cNvGrpSpPr/>
          <p:nvPr/>
        </p:nvGrpSpPr>
        <p:grpSpPr>
          <a:xfrm>
            <a:off x="581595" y="427026"/>
            <a:ext cx="1731600" cy="1704658"/>
            <a:chOff x="514359" y="2933985"/>
            <a:chExt cx="1731600" cy="170465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DB13342-B9BF-34A3-CE0F-28C68BBCA03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885959" y="2933985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11075EF-CE9F-5ED5-AC35-6185EBB7CD9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28759" y="2934544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80E3B43-AC9F-F954-54EE-63A2899A2B6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71559" y="2933985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91F7E3F-BE85-6C6C-7FF0-84BC9D981A5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4359" y="2933985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E0FF22-2BEA-1206-4F4B-F20BB59DF5B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885959" y="3383457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BD03998-6613-9C4D-A1EC-697EB19DA8F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28759" y="3384016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329F7BF-7945-EF66-BDF0-DD098976016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71559" y="3383457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A12ABB4-5630-F12B-D0AC-B800BCA71C3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4359" y="3383457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1D9FEB9-EBD8-E083-AB23-BD7B81278B9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885959" y="3832929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C9DCA91-54BD-8909-9A68-F95A48FCC37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28759" y="3833488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3B3BF0-5ED9-DEAE-C560-03D4B7DFCA2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71559" y="3832929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7BA1674-243D-8A57-E0A1-4AE792367BB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4359" y="3832929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6149B6-A1F4-D04D-6CAD-FEF5393D721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885959" y="4278084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3BA4303-6D69-6172-2AF9-947D049627D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28759" y="4278643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7A2AFB-EC03-4A88-ABA1-EA72FF5DDA0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71559" y="4278084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6CC5FAA-5AD1-93BC-A853-F7E6AAEB474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4359" y="4278084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35F457B-0C65-B05B-E136-5141AA133B76}"/>
              </a:ext>
            </a:extLst>
          </p:cNvPr>
          <p:cNvGrpSpPr/>
          <p:nvPr/>
        </p:nvGrpSpPr>
        <p:grpSpPr>
          <a:xfrm>
            <a:off x="3477215" y="244027"/>
            <a:ext cx="1878569" cy="1984942"/>
            <a:chOff x="553813" y="3945147"/>
            <a:chExt cx="1878569" cy="198494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093EEA5-E5FA-EB19-0A41-BEB69F8D77C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43453" y="4202966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7B96052-6A40-F7E9-E0C1-B576C87A788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48213" y="4007598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B650D26-B76C-0163-AD2C-3D016FC9818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98633" y="4322862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9225018-80E0-D6A8-A4F3-52F52098F51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08213" y="3945147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39C06FA-6DB9-8101-74C9-9FEE999BC0A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31237" y="4530439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344B379-6C40-CD52-1135-DD8C8D5C5D7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33813" y="4232334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214C278-54C7-0037-9D31-223C7F53764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57842" y="4727598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79772E5-0974-9B1D-1B5A-219B5046787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53813" y="4592334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EA49C77-E767-9AA0-EC11-9496CAAE29FF}"/>
                </a:ext>
              </a:extLst>
            </p:cNvPr>
            <p:cNvSpPr>
              <a:spLocks noChangeAspect="1"/>
            </p:cNvSpPr>
            <p:nvPr/>
          </p:nvSpPr>
          <p:spPr bwMode="auto">
            <a:xfrm rot="21358056">
              <a:off x="1769739" y="5096970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AE30C6C-BFDE-6579-4BEA-FD2240155F0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11289" y="4818126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C9EEA40-5DB2-284B-AB20-1F6025079AD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76007" y="5096754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8E65EAF-F021-FAB8-362F-CBDEA6144F7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72382" y="4773215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447B41E-3411-6317-CD47-ADC547F3B42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96007" y="5570089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002605F-6693-6736-4B82-476C14A1136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14182" y="5412018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CA5E274-DBE4-F196-0DB3-96031D6C582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85664" y="5510807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36E47AB-7F17-C2AA-7E42-C42224826F6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82275" y="5082670"/>
              <a:ext cx="360000" cy="36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D80F106-4716-F8AC-34CF-40604190F3E6}"/>
              </a:ext>
            </a:extLst>
          </p:cNvPr>
          <p:cNvGrpSpPr/>
          <p:nvPr/>
        </p:nvGrpSpPr>
        <p:grpSpPr>
          <a:xfrm>
            <a:off x="596999" y="2531544"/>
            <a:ext cx="1731600" cy="3195355"/>
            <a:chOff x="569804" y="3294998"/>
            <a:chExt cx="1731600" cy="3195355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9EE620C-791B-2A0F-9280-D44DA229CAA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41404" y="329499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212AC0E-CB02-8B56-75C0-961C043FB96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84204" y="3295557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4472F6A-B059-2046-3C96-451974E26B4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27004" y="329499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C37C7BC-D0D4-F1FA-7B17-5269322B0BC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804" y="329499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5D6221E-B18A-0514-5475-A44C21EDA96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41404" y="4386270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DDAE3D0-53EA-D850-BE38-DEA5E9C0AA0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84204" y="4386829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65623F0-9A5C-29AF-3FE2-7F936C30CA0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27004" y="4386270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4C607F8-A2B6-D953-CEC1-E79900F551D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804" y="4386270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DE3FE3D-D46D-D0C5-FDD8-CE9BDC834F0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41404" y="546035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AB0DBE9-CEE0-520E-7BD7-C042CF0F02B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84204" y="5460917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F925171-A44A-D2B3-B457-16AC3B5D00F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27004" y="546035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6EA7B25-AD92-FB30-085D-0FED0C0EC13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804" y="546035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D653177-A3E7-7CA1-1D20-87FBAE12FC2A}"/>
              </a:ext>
            </a:extLst>
          </p:cNvPr>
          <p:cNvGrpSpPr/>
          <p:nvPr/>
        </p:nvGrpSpPr>
        <p:grpSpPr>
          <a:xfrm>
            <a:off x="6790289" y="962360"/>
            <a:ext cx="1832750" cy="4007671"/>
            <a:chOff x="6790289" y="962360"/>
            <a:chExt cx="1832750" cy="4007671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5B26CA0-25CF-F463-4968-AAABA59500B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153118" y="1157979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9CEA677-1288-EBB3-6A6B-EE4FF19F6092}"/>
                </a:ext>
              </a:extLst>
            </p:cNvPr>
            <p:cNvSpPr>
              <a:spLocks noChangeAspect="1"/>
            </p:cNvSpPr>
            <p:nvPr/>
          </p:nvSpPr>
          <p:spPr bwMode="auto">
            <a:xfrm rot="21353802">
              <a:off x="7743007" y="1564164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4FD7C91-A749-6D12-1F85-A62BBFD8C2A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332896" y="962360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B07F309-BBDC-BBF2-C4BC-049DDA83565B}"/>
                </a:ext>
              </a:extLst>
            </p:cNvPr>
            <p:cNvSpPr>
              <a:spLocks noChangeAspect="1"/>
            </p:cNvSpPr>
            <p:nvPr/>
          </p:nvSpPr>
          <p:spPr bwMode="auto">
            <a:xfrm rot="20867567">
              <a:off x="6906951" y="1516696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0DE2B8D-4A03-4FB4-97F3-C9A6F03CF0C9}"/>
                </a:ext>
              </a:extLst>
            </p:cNvPr>
            <p:cNvSpPr>
              <a:spLocks noChangeAspect="1"/>
            </p:cNvSpPr>
            <p:nvPr/>
          </p:nvSpPr>
          <p:spPr bwMode="auto">
            <a:xfrm rot="299470">
              <a:off x="8263039" y="2260287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54B2311-CED5-129C-4D24-744BA4966A74}"/>
                </a:ext>
              </a:extLst>
            </p:cNvPr>
            <p:cNvSpPr>
              <a:spLocks noChangeAspect="1"/>
            </p:cNvSpPr>
            <p:nvPr/>
          </p:nvSpPr>
          <p:spPr bwMode="auto">
            <a:xfrm rot="176986">
              <a:off x="7821351" y="2608527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4DC5D9D-128B-C9C8-A601-2354DD5520CF}"/>
                </a:ext>
              </a:extLst>
            </p:cNvPr>
            <p:cNvSpPr>
              <a:spLocks noChangeAspect="1"/>
            </p:cNvSpPr>
            <p:nvPr/>
          </p:nvSpPr>
          <p:spPr bwMode="auto">
            <a:xfrm rot="299251">
              <a:off x="7317720" y="2218663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AF4D70-4E8E-456E-3049-AD77CAE07E9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906951" y="260796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0646569-C6CD-0EB1-1C9B-2B071AE1CB2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192123" y="3440833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0718434E-7BD2-AAFD-33A5-6170923B65D6}"/>
                </a:ext>
              </a:extLst>
            </p:cNvPr>
            <p:cNvSpPr>
              <a:spLocks noChangeAspect="1"/>
            </p:cNvSpPr>
            <p:nvPr/>
          </p:nvSpPr>
          <p:spPr bwMode="auto">
            <a:xfrm rot="21272543">
              <a:off x="7666595" y="3699437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C0C0C98-8F02-04DF-0F47-BA5E3035AB63}"/>
                </a:ext>
              </a:extLst>
            </p:cNvPr>
            <p:cNvSpPr>
              <a:spLocks noChangeAspect="1"/>
            </p:cNvSpPr>
            <p:nvPr/>
          </p:nvSpPr>
          <p:spPr bwMode="auto">
            <a:xfrm rot="21336330">
              <a:off x="6790289" y="3940595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44E62C08-DDF7-3D77-ED70-AFF2F6117D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07152" y="3425877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E34C147-60C5-51F0-F7BF-29FAEC84EFEB}"/>
              </a:ext>
            </a:extLst>
          </p:cNvPr>
          <p:cNvGrpSpPr/>
          <p:nvPr/>
        </p:nvGrpSpPr>
        <p:grpSpPr>
          <a:xfrm>
            <a:off x="2999180" y="2426969"/>
            <a:ext cx="3031022" cy="3194815"/>
            <a:chOff x="2812285" y="3117919"/>
            <a:chExt cx="3031022" cy="3194815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03FB990-37F6-3DF4-2D00-466C522BB82F}"/>
                </a:ext>
              </a:extLst>
            </p:cNvPr>
            <p:cNvSpPr>
              <a:spLocks noChangeAspect="1"/>
            </p:cNvSpPr>
            <p:nvPr/>
          </p:nvSpPr>
          <p:spPr bwMode="auto">
            <a:xfrm rot="1829475">
              <a:off x="5070121" y="3413963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D0A67B7-D885-123D-AE33-AFA359B52E76}"/>
                </a:ext>
              </a:extLst>
            </p:cNvPr>
            <p:cNvSpPr>
              <a:spLocks noChangeAspect="1"/>
            </p:cNvSpPr>
            <p:nvPr/>
          </p:nvSpPr>
          <p:spPr bwMode="auto">
            <a:xfrm rot="19048899">
              <a:off x="4437905" y="3117919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0F4F822-E221-4A90-1E87-F12BF34B137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081102" y="3744970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586103E-C581-F70F-3590-1EFB8298A183}"/>
                </a:ext>
              </a:extLst>
            </p:cNvPr>
            <p:cNvSpPr>
              <a:spLocks noChangeAspect="1"/>
            </p:cNvSpPr>
            <p:nvPr/>
          </p:nvSpPr>
          <p:spPr bwMode="auto">
            <a:xfrm rot="14374183">
              <a:off x="3474905" y="329499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4267494-4D86-3E02-BB9E-983A0B3D1306}"/>
                </a:ext>
              </a:extLst>
            </p:cNvPr>
            <p:cNvSpPr>
              <a:spLocks noChangeAspect="1"/>
            </p:cNvSpPr>
            <p:nvPr/>
          </p:nvSpPr>
          <p:spPr bwMode="auto">
            <a:xfrm rot="16980826">
              <a:off x="3467855" y="5618016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C89A5D7C-5A9C-FB87-7EE1-0DC36F50B515}"/>
                </a:ext>
              </a:extLst>
            </p:cNvPr>
            <p:cNvSpPr>
              <a:spLocks noChangeAspect="1"/>
            </p:cNvSpPr>
            <p:nvPr/>
          </p:nvSpPr>
          <p:spPr bwMode="auto">
            <a:xfrm rot="19013620">
              <a:off x="4715105" y="4463551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1ED9E79D-C542-A1D3-F5D9-F82EA633F038}"/>
                </a:ext>
              </a:extLst>
            </p:cNvPr>
            <p:cNvSpPr>
              <a:spLocks noChangeAspect="1"/>
            </p:cNvSpPr>
            <p:nvPr/>
          </p:nvSpPr>
          <p:spPr bwMode="auto">
            <a:xfrm rot="9613880">
              <a:off x="3647836" y="4326480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882C079-9593-2AA2-CDDD-1FEB366C126D}"/>
                </a:ext>
              </a:extLst>
            </p:cNvPr>
            <p:cNvSpPr>
              <a:spLocks noChangeAspect="1"/>
            </p:cNvSpPr>
            <p:nvPr/>
          </p:nvSpPr>
          <p:spPr bwMode="auto">
            <a:xfrm rot="20964029">
              <a:off x="3054703" y="4171573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CC364A43-BDFC-F16E-B2A5-C2A2E50ABEAF}"/>
                </a:ext>
              </a:extLst>
            </p:cNvPr>
            <p:cNvSpPr>
              <a:spLocks noChangeAspect="1"/>
            </p:cNvSpPr>
            <p:nvPr/>
          </p:nvSpPr>
          <p:spPr bwMode="auto">
            <a:xfrm rot="3242708">
              <a:off x="4471023" y="5354554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54A203E-6150-9655-9259-98466A40AC99}"/>
                </a:ext>
              </a:extLst>
            </p:cNvPr>
            <p:cNvSpPr>
              <a:spLocks noChangeAspect="1"/>
            </p:cNvSpPr>
            <p:nvPr/>
          </p:nvSpPr>
          <p:spPr bwMode="auto">
            <a:xfrm rot="6604514">
              <a:off x="5148589" y="4171573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3017218-FA4F-EADF-CFD9-04E1EB0753C5}"/>
                </a:ext>
              </a:extLst>
            </p:cNvPr>
            <p:cNvSpPr>
              <a:spLocks noChangeAspect="1"/>
            </p:cNvSpPr>
            <p:nvPr/>
          </p:nvSpPr>
          <p:spPr bwMode="auto">
            <a:xfrm rot="1645809">
              <a:off x="4081102" y="4962344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BA5D6CF3-45EC-5574-E4AC-9E2C84A88772}"/>
                </a:ext>
              </a:extLst>
            </p:cNvPr>
            <p:cNvSpPr>
              <a:spLocks noChangeAspect="1"/>
            </p:cNvSpPr>
            <p:nvPr/>
          </p:nvSpPr>
          <p:spPr bwMode="auto">
            <a:xfrm rot="14976029">
              <a:off x="3147003" y="503673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</p:grpSp>
      <p:sp>
        <p:nvSpPr>
          <p:cNvPr id="86" name="Title 2">
            <a:extLst>
              <a:ext uri="{FF2B5EF4-FFF2-40B4-BE49-F238E27FC236}">
                <a16:creationId xmlns:a16="http://schemas.microsoft.com/office/drawing/2014/main" id="{1727D603-3E0E-94A8-E095-F7358BD10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19" y="5520128"/>
            <a:ext cx="1705722" cy="1143000"/>
          </a:xfrm>
        </p:spPr>
        <p:txBody>
          <a:bodyPr/>
          <a:lstStyle/>
          <a:p>
            <a:r>
              <a:rPr lang="en-US" dirty="0"/>
              <a:t>Crystal</a:t>
            </a:r>
          </a:p>
        </p:txBody>
      </p:sp>
      <p:sp>
        <p:nvSpPr>
          <p:cNvPr id="87" name="Title 2">
            <a:extLst>
              <a:ext uri="{FF2B5EF4-FFF2-40B4-BE49-F238E27FC236}">
                <a16:creationId xmlns:a16="http://schemas.microsoft.com/office/drawing/2014/main" id="{825BDB61-949B-95F9-1831-28F3CE7664A7}"/>
              </a:ext>
            </a:extLst>
          </p:cNvPr>
          <p:cNvSpPr txBox="1">
            <a:spLocks/>
          </p:cNvSpPr>
          <p:nvPr/>
        </p:nvSpPr>
        <p:spPr bwMode="auto">
          <a:xfrm>
            <a:off x="6889322" y="5585615"/>
            <a:ext cx="1705722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9pPr>
          </a:lstStyle>
          <a:p>
            <a:pPr algn="ctr"/>
            <a:r>
              <a:rPr lang="en-US" kern="0" dirty="0"/>
              <a:t>(Nematic)</a:t>
            </a:r>
            <a:br>
              <a:rPr lang="en-US" kern="0" dirty="0"/>
            </a:br>
            <a:r>
              <a:rPr lang="en-US" kern="0" dirty="0"/>
              <a:t>Liquid</a:t>
            </a:r>
          </a:p>
          <a:p>
            <a:r>
              <a:rPr lang="en-US" kern="0" dirty="0"/>
              <a:t>Crystal</a:t>
            </a:r>
          </a:p>
        </p:txBody>
      </p:sp>
      <p:sp>
        <p:nvSpPr>
          <p:cNvPr id="88" name="Title 2">
            <a:extLst>
              <a:ext uri="{FF2B5EF4-FFF2-40B4-BE49-F238E27FC236}">
                <a16:creationId xmlns:a16="http://schemas.microsoft.com/office/drawing/2014/main" id="{77B591CD-B8DD-F915-3D5B-7CD667846EEC}"/>
              </a:ext>
            </a:extLst>
          </p:cNvPr>
          <p:cNvSpPr txBox="1">
            <a:spLocks/>
          </p:cNvSpPr>
          <p:nvPr/>
        </p:nvSpPr>
        <p:spPr bwMode="auto">
          <a:xfrm>
            <a:off x="3536807" y="5469861"/>
            <a:ext cx="1705722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9pPr>
          </a:lstStyle>
          <a:p>
            <a:r>
              <a:rPr lang="en-US" kern="0" dirty="0"/>
              <a:t>Liquid</a:t>
            </a:r>
          </a:p>
        </p:txBody>
      </p:sp>
    </p:spTree>
    <p:extLst>
      <p:ext uri="{BB962C8B-B14F-4D97-AF65-F5344CB8AC3E}">
        <p14:creationId xmlns:p14="http://schemas.microsoft.com/office/powerpoint/2010/main" val="37400081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/>
      <p:bldP spid="8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7391A-4BCF-FF83-3B51-FA5864B17B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5</a:t>
            </a:fld>
            <a:endParaRPr lang="en-GB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D80F106-4716-F8AC-34CF-40604190F3E6}"/>
              </a:ext>
            </a:extLst>
          </p:cNvPr>
          <p:cNvGrpSpPr/>
          <p:nvPr/>
        </p:nvGrpSpPr>
        <p:grpSpPr>
          <a:xfrm>
            <a:off x="472574" y="1105183"/>
            <a:ext cx="1731600" cy="3195355"/>
            <a:chOff x="569804" y="3294998"/>
            <a:chExt cx="1731600" cy="3195355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9EE620C-791B-2A0F-9280-D44DA229CAA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41404" y="329499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212AC0E-CB02-8B56-75C0-961C043FB96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84204" y="3295557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4472F6A-B059-2046-3C96-451974E26B4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27004" y="329499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C37C7BC-D0D4-F1FA-7B17-5269322B0BC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804" y="329499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5D6221E-B18A-0514-5475-A44C21EDA96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41404" y="4386270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DDAE3D0-53EA-D850-BE38-DEA5E9C0AA0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84204" y="4386829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65623F0-9A5C-29AF-3FE2-7F936C30CA0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27004" y="4386270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4C607F8-A2B6-D953-CEC1-E79900F551D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804" y="4386270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DE3FE3D-D46D-D0C5-FDD8-CE9BDC834F0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41404" y="546035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AB0DBE9-CEE0-520E-7BD7-C042CF0F02B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84204" y="5460917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F925171-A44A-D2B3-B457-16AC3B5D00F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27004" y="546035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6EA7B25-AD92-FB30-085D-0FED0C0EC13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804" y="546035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D653177-A3E7-7CA1-1D20-87FBAE12FC2A}"/>
              </a:ext>
            </a:extLst>
          </p:cNvPr>
          <p:cNvGrpSpPr/>
          <p:nvPr/>
        </p:nvGrpSpPr>
        <p:grpSpPr>
          <a:xfrm>
            <a:off x="6790289" y="962360"/>
            <a:ext cx="1832750" cy="4007671"/>
            <a:chOff x="6790289" y="962360"/>
            <a:chExt cx="1832750" cy="4007671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5B26CA0-25CF-F463-4968-AAABA59500B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153118" y="1157979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9CEA677-1288-EBB3-6A6B-EE4FF19F6092}"/>
                </a:ext>
              </a:extLst>
            </p:cNvPr>
            <p:cNvSpPr>
              <a:spLocks noChangeAspect="1"/>
            </p:cNvSpPr>
            <p:nvPr/>
          </p:nvSpPr>
          <p:spPr bwMode="auto">
            <a:xfrm rot="21353802">
              <a:off x="7743007" y="1564164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4FD7C91-A749-6D12-1F85-A62BBFD8C2A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332896" y="962360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B07F309-BBDC-BBF2-C4BC-049DDA83565B}"/>
                </a:ext>
              </a:extLst>
            </p:cNvPr>
            <p:cNvSpPr>
              <a:spLocks noChangeAspect="1"/>
            </p:cNvSpPr>
            <p:nvPr/>
          </p:nvSpPr>
          <p:spPr bwMode="auto">
            <a:xfrm rot="20867567">
              <a:off x="6906951" y="1516696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0DE2B8D-4A03-4FB4-97F3-C9A6F03CF0C9}"/>
                </a:ext>
              </a:extLst>
            </p:cNvPr>
            <p:cNvSpPr>
              <a:spLocks noChangeAspect="1"/>
            </p:cNvSpPr>
            <p:nvPr/>
          </p:nvSpPr>
          <p:spPr bwMode="auto">
            <a:xfrm rot="299470">
              <a:off x="8263039" y="2260287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54B2311-CED5-129C-4D24-744BA4966A74}"/>
                </a:ext>
              </a:extLst>
            </p:cNvPr>
            <p:cNvSpPr>
              <a:spLocks noChangeAspect="1"/>
            </p:cNvSpPr>
            <p:nvPr/>
          </p:nvSpPr>
          <p:spPr bwMode="auto">
            <a:xfrm rot="176986">
              <a:off x="7821351" y="2608527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4DC5D9D-128B-C9C8-A601-2354DD5520CF}"/>
                </a:ext>
              </a:extLst>
            </p:cNvPr>
            <p:cNvSpPr>
              <a:spLocks noChangeAspect="1"/>
            </p:cNvSpPr>
            <p:nvPr/>
          </p:nvSpPr>
          <p:spPr bwMode="auto">
            <a:xfrm rot="299251">
              <a:off x="7317720" y="2218663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AF4D70-4E8E-456E-3049-AD77CAE07E9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906951" y="260796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0646569-C6CD-0EB1-1C9B-2B071AE1CB2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192123" y="3440833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0718434E-7BD2-AAFD-33A5-6170923B65D6}"/>
                </a:ext>
              </a:extLst>
            </p:cNvPr>
            <p:cNvSpPr>
              <a:spLocks noChangeAspect="1"/>
            </p:cNvSpPr>
            <p:nvPr/>
          </p:nvSpPr>
          <p:spPr bwMode="auto">
            <a:xfrm rot="21272543">
              <a:off x="7666595" y="3699437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C0C0C98-8F02-04DF-0F47-BA5E3035AB63}"/>
                </a:ext>
              </a:extLst>
            </p:cNvPr>
            <p:cNvSpPr>
              <a:spLocks noChangeAspect="1"/>
            </p:cNvSpPr>
            <p:nvPr/>
          </p:nvSpPr>
          <p:spPr bwMode="auto">
            <a:xfrm rot="21336330">
              <a:off x="6790289" y="3940595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44E62C08-DDF7-3D77-ED70-AFF2F6117D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07152" y="3425877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E34C147-60C5-51F0-F7BF-29FAEC84EFEB}"/>
              </a:ext>
            </a:extLst>
          </p:cNvPr>
          <p:cNvGrpSpPr/>
          <p:nvPr/>
        </p:nvGrpSpPr>
        <p:grpSpPr>
          <a:xfrm>
            <a:off x="2872778" y="832733"/>
            <a:ext cx="3031022" cy="3194815"/>
            <a:chOff x="2812285" y="3117919"/>
            <a:chExt cx="3031022" cy="3194815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03FB990-37F6-3DF4-2D00-466C522BB82F}"/>
                </a:ext>
              </a:extLst>
            </p:cNvPr>
            <p:cNvSpPr>
              <a:spLocks noChangeAspect="1"/>
            </p:cNvSpPr>
            <p:nvPr/>
          </p:nvSpPr>
          <p:spPr bwMode="auto">
            <a:xfrm rot="1829475">
              <a:off x="5070121" y="3413963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D0A67B7-D885-123D-AE33-AFA359B52E76}"/>
                </a:ext>
              </a:extLst>
            </p:cNvPr>
            <p:cNvSpPr>
              <a:spLocks noChangeAspect="1"/>
            </p:cNvSpPr>
            <p:nvPr/>
          </p:nvSpPr>
          <p:spPr bwMode="auto">
            <a:xfrm rot="19048899">
              <a:off x="4437905" y="3117919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0F4F822-E221-4A90-1E87-F12BF34B137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081102" y="3744970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586103E-C581-F70F-3590-1EFB8298A183}"/>
                </a:ext>
              </a:extLst>
            </p:cNvPr>
            <p:cNvSpPr>
              <a:spLocks noChangeAspect="1"/>
            </p:cNvSpPr>
            <p:nvPr/>
          </p:nvSpPr>
          <p:spPr bwMode="auto">
            <a:xfrm rot="14374183">
              <a:off x="3474905" y="329499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4267494-4D86-3E02-BB9E-983A0B3D1306}"/>
                </a:ext>
              </a:extLst>
            </p:cNvPr>
            <p:cNvSpPr>
              <a:spLocks noChangeAspect="1"/>
            </p:cNvSpPr>
            <p:nvPr/>
          </p:nvSpPr>
          <p:spPr bwMode="auto">
            <a:xfrm rot="16980826">
              <a:off x="3467855" y="5618016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C89A5D7C-5A9C-FB87-7EE1-0DC36F50B515}"/>
                </a:ext>
              </a:extLst>
            </p:cNvPr>
            <p:cNvSpPr>
              <a:spLocks noChangeAspect="1"/>
            </p:cNvSpPr>
            <p:nvPr/>
          </p:nvSpPr>
          <p:spPr bwMode="auto">
            <a:xfrm rot="19013620">
              <a:off x="4715105" y="4463551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1ED9E79D-C542-A1D3-F5D9-F82EA633F038}"/>
                </a:ext>
              </a:extLst>
            </p:cNvPr>
            <p:cNvSpPr>
              <a:spLocks noChangeAspect="1"/>
            </p:cNvSpPr>
            <p:nvPr/>
          </p:nvSpPr>
          <p:spPr bwMode="auto">
            <a:xfrm rot="9613880">
              <a:off x="3647836" y="4326480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882C079-9593-2AA2-CDDD-1FEB366C126D}"/>
                </a:ext>
              </a:extLst>
            </p:cNvPr>
            <p:cNvSpPr>
              <a:spLocks noChangeAspect="1"/>
            </p:cNvSpPr>
            <p:nvPr/>
          </p:nvSpPr>
          <p:spPr bwMode="auto">
            <a:xfrm rot="20964029">
              <a:off x="3054703" y="4171573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CC364A43-BDFC-F16E-B2A5-C2A2E50ABEAF}"/>
                </a:ext>
              </a:extLst>
            </p:cNvPr>
            <p:cNvSpPr>
              <a:spLocks noChangeAspect="1"/>
            </p:cNvSpPr>
            <p:nvPr/>
          </p:nvSpPr>
          <p:spPr bwMode="auto">
            <a:xfrm rot="3242708">
              <a:off x="4471023" y="5354554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54A203E-6150-9655-9259-98466A40AC99}"/>
                </a:ext>
              </a:extLst>
            </p:cNvPr>
            <p:cNvSpPr>
              <a:spLocks noChangeAspect="1"/>
            </p:cNvSpPr>
            <p:nvPr/>
          </p:nvSpPr>
          <p:spPr bwMode="auto">
            <a:xfrm rot="6604514">
              <a:off x="5148589" y="4171573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3017218-FA4F-EADF-CFD9-04E1EB0753C5}"/>
                </a:ext>
              </a:extLst>
            </p:cNvPr>
            <p:cNvSpPr>
              <a:spLocks noChangeAspect="1"/>
            </p:cNvSpPr>
            <p:nvPr/>
          </p:nvSpPr>
          <p:spPr bwMode="auto">
            <a:xfrm rot="1645809">
              <a:off x="4081102" y="4962344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BA5D6CF3-45EC-5574-E4AC-9E2C84A88772}"/>
                </a:ext>
              </a:extLst>
            </p:cNvPr>
            <p:cNvSpPr>
              <a:spLocks noChangeAspect="1"/>
            </p:cNvSpPr>
            <p:nvPr/>
          </p:nvSpPr>
          <p:spPr bwMode="auto">
            <a:xfrm rot="14976029">
              <a:off x="3147003" y="5036738"/>
              <a:ext cx="360000" cy="102943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B31B3DC-61B5-873C-DED3-3FE15C202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113" y="4363829"/>
            <a:ext cx="1705722" cy="1143000"/>
          </a:xfrm>
        </p:spPr>
        <p:txBody>
          <a:bodyPr/>
          <a:lstStyle/>
          <a:p>
            <a:r>
              <a:rPr lang="en-US" dirty="0"/>
              <a:t>S= 1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ECD3489-C51A-C5A2-6E2F-D504B55DB352}"/>
              </a:ext>
            </a:extLst>
          </p:cNvPr>
          <p:cNvSpPr txBox="1">
            <a:spLocks/>
          </p:cNvSpPr>
          <p:nvPr/>
        </p:nvSpPr>
        <p:spPr bwMode="auto">
          <a:xfrm>
            <a:off x="3733027" y="4363829"/>
            <a:ext cx="1705722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9pPr>
          </a:lstStyle>
          <a:p>
            <a:r>
              <a:rPr lang="en-US" kern="0" dirty="0"/>
              <a:t>S= 0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DB3AA0B8-A202-DED1-5540-DB1D8C57D8A4}"/>
              </a:ext>
            </a:extLst>
          </p:cNvPr>
          <p:cNvSpPr txBox="1">
            <a:spLocks/>
          </p:cNvSpPr>
          <p:nvPr/>
        </p:nvSpPr>
        <p:spPr bwMode="auto">
          <a:xfrm>
            <a:off x="7147039" y="4398602"/>
            <a:ext cx="1705722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9pPr>
          </a:lstStyle>
          <a:p>
            <a:r>
              <a:rPr lang="en-US" kern="0" dirty="0"/>
              <a:t>S ~ 0.6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001F1B94-D65B-8239-D6C1-398EB7EB0EE2}"/>
              </a:ext>
            </a:extLst>
          </p:cNvPr>
          <p:cNvSpPr txBox="1">
            <a:spLocks/>
          </p:cNvSpPr>
          <p:nvPr/>
        </p:nvSpPr>
        <p:spPr bwMode="auto">
          <a:xfrm>
            <a:off x="776810" y="-226321"/>
            <a:ext cx="61928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9pPr>
          </a:lstStyle>
          <a:p>
            <a:r>
              <a:rPr lang="en-US" kern="0" dirty="0"/>
              <a:t>Order parameter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9DA377F-7652-A069-A621-DACB5E6A9365}"/>
              </a:ext>
            </a:extLst>
          </p:cNvPr>
          <p:cNvCxnSpPr/>
          <p:nvPr/>
        </p:nvCxnSpPr>
        <p:spPr bwMode="auto">
          <a:xfrm flipV="1">
            <a:off x="161510" y="1268760"/>
            <a:ext cx="0" cy="2870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F0E7CAC-7347-6F98-754B-C07F84C99E96}"/>
                  </a:ext>
                </a:extLst>
              </p:cNvPr>
              <p:cNvSpPr txBox="1"/>
              <p:nvPr/>
            </p:nvSpPr>
            <p:spPr>
              <a:xfrm>
                <a:off x="763974" y="6025490"/>
                <a:ext cx="2652073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F0E7CAC-7347-6F98-754B-C07F84C99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74" y="6025490"/>
                <a:ext cx="2652073" cy="691471"/>
              </a:xfrm>
              <a:prstGeom prst="rect">
                <a:avLst/>
              </a:prstGeom>
              <a:blipFill>
                <a:blip r:embed="rId2"/>
                <a:stretch>
                  <a:fillRect l="-2392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F9379EC2-ED81-9DAB-8C4A-4B2BCAF970D0}"/>
              </a:ext>
            </a:extLst>
          </p:cNvPr>
          <p:cNvSpPr txBox="1"/>
          <p:nvPr/>
        </p:nvSpPr>
        <p:spPr>
          <a:xfrm>
            <a:off x="3511245" y="5903336"/>
            <a:ext cx="52113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theta is the angle between the molecular axis and the director 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3E139DC-058C-007A-742C-596D1C33F8FB}"/>
              </a:ext>
            </a:extLst>
          </p:cNvPr>
          <p:cNvSpPr txBox="1"/>
          <p:nvPr/>
        </p:nvSpPr>
        <p:spPr>
          <a:xfrm>
            <a:off x="9100" y="4167769"/>
            <a:ext cx="437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4706445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3DC1C-4B7B-3199-6B05-FA99228DC2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765D1-BB84-5FD1-1926-424F561AA873}"/>
              </a:ext>
            </a:extLst>
          </p:cNvPr>
          <p:cNvSpPr txBox="1"/>
          <p:nvPr/>
        </p:nvSpPr>
        <p:spPr>
          <a:xfrm>
            <a:off x="0" y="635252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/HEwGeqR4duQ</a:t>
            </a:r>
          </a:p>
        </p:txBody>
      </p:sp>
      <p:pic>
        <p:nvPicPr>
          <p:cNvPr id="7" name="Online Media 6" descr="Scientist recreates the nails in the box video">
            <a:hlinkClick r:id="" action="ppaction://media"/>
            <a:extLst>
              <a:ext uri="{FF2B5EF4-FFF2-40B4-BE49-F238E27FC236}">
                <a16:creationId xmlns:a16="http://schemas.microsoft.com/office/drawing/2014/main" id="{E9E78D5D-75A1-182C-9D3D-A788E001994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736685" y="1628800"/>
            <a:ext cx="5355595" cy="4016697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06FDE82B-476F-1674-3D8B-7A895FAA3D88}"/>
              </a:ext>
            </a:extLst>
          </p:cNvPr>
          <p:cNvSpPr txBox="1"/>
          <p:nvPr/>
        </p:nvSpPr>
        <p:spPr>
          <a:xfrm>
            <a:off x="0" y="6013975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9pPr>
          </a:lstStyle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27676686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8E4CE-BBE3-78C7-E10A-EFE0CC80C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law of thermodynamics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BAEF5-963C-F0A1-9519-662EA7884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2182667"/>
            <a:ext cx="7931150" cy="43434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“the total entropy of a system either increases or remains constant in any spontaneous process; it never decreases”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6FD52-8331-8E28-C89D-B15EEA523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1254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AA8EB6B-02A7-AAA5-2BD1-FDA292867809}"/>
              </a:ext>
            </a:extLst>
          </p:cNvPr>
          <p:cNvSpPr/>
          <p:nvPr/>
        </p:nvSpPr>
        <p:spPr bwMode="auto">
          <a:xfrm>
            <a:off x="1155456" y="1358769"/>
            <a:ext cx="1035114" cy="23852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dg Vest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F37A7-9F03-2BF5-0CB7-46B4646D81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8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299417-5CBC-FE62-7BE2-69F51F356980}"/>
              </a:ext>
            </a:extLst>
          </p:cNvPr>
          <p:cNvCxnSpPr>
            <a:cxnSpLocks/>
          </p:cNvCxnSpPr>
          <p:nvPr/>
        </p:nvCxnSpPr>
        <p:spPr bwMode="auto">
          <a:xfrm>
            <a:off x="1151620" y="1358770"/>
            <a:ext cx="0" cy="238526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0EB0B6-8090-98B6-1264-07D7B0BC68B1}"/>
              </a:ext>
            </a:extLst>
          </p:cNvPr>
          <p:cNvCxnSpPr>
            <a:cxnSpLocks/>
          </p:cNvCxnSpPr>
          <p:nvPr/>
        </p:nvCxnSpPr>
        <p:spPr bwMode="auto">
          <a:xfrm>
            <a:off x="1151620" y="2573905"/>
            <a:ext cx="2052845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B8900D-7DB1-8F19-8C1F-8538F8ED1524}"/>
              </a:ext>
            </a:extLst>
          </p:cNvPr>
          <p:cNvCxnSpPr>
            <a:cxnSpLocks/>
          </p:cNvCxnSpPr>
          <p:nvPr/>
        </p:nvCxnSpPr>
        <p:spPr bwMode="auto">
          <a:xfrm>
            <a:off x="5933990" y="1381273"/>
            <a:ext cx="0" cy="238526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046D70F-2C0F-0F72-56DA-A83577F015AF}"/>
              </a:ext>
            </a:extLst>
          </p:cNvPr>
          <p:cNvCxnSpPr>
            <a:cxnSpLocks/>
          </p:cNvCxnSpPr>
          <p:nvPr/>
        </p:nvCxnSpPr>
        <p:spPr bwMode="auto">
          <a:xfrm>
            <a:off x="6969105" y="1381273"/>
            <a:ext cx="0" cy="238526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A97A6F-B5FB-61E6-2602-C4C631D419E6}"/>
              </a:ext>
            </a:extLst>
          </p:cNvPr>
          <p:cNvCxnSpPr>
            <a:cxnSpLocks/>
          </p:cNvCxnSpPr>
          <p:nvPr/>
        </p:nvCxnSpPr>
        <p:spPr bwMode="auto">
          <a:xfrm>
            <a:off x="8004220" y="1381272"/>
            <a:ext cx="0" cy="238526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62D78FE-8A4F-0D32-ED84-185FF95ABFAD}"/>
              </a:ext>
            </a:extLst>
          </p:cNvPr>
          <p:cNvSpPr txBox="1"/>
          <p:nvPr/>
        </p:nvSpPr>
        <p:spPr>
          <a:xfrm>
            <a:off x="519475" y="374403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Excluded volume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0D5D40-5818-59CE-41D9-0C683E7957C8}"/>
              </a:ext>
            </a:extLst>
          </p:cNvPr>
          <p:cNvSpPr txBox="1"/>
          <p:nvPr/>
        </p:nvSpPr>
        <p:spPr>
          <a:xfrm>
            <a:off x="6169025" y="3744034"/>
            <a:ext cx="18351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Free volume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E47BEA-9100-7071-9455-AC4D670290AB}"/>
              </a:ext>
            </a:extLst>
          </p:cNvPr>
          <p:cNvSpPr txBox="1"/>
          <p:nvPr/>
        </p:nvSpPr>
        <p:spPr>
          <a:xfrm>
            <a:off x="2006715" y="4714401"/>
            <a:ext cx="54145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Although </a:t>
            </a:r>
            <a:r>
              <a:rPr lang="en-US" i="1" dirty="0"/>
              <a:t>orientational </a:t>
            </a:r>
            <a:r>
              <a:rPr lang="en-US" dirty="0"/>
              <a:t>entropy goes down (and free energy goes up) when molecules align in a nematic, </a:t>
            </a:r>
          </a:p>
          <a:p>
            <a:pPr algn="ctr"/>
            <a:r>
              <a:rPr lang="en-US" dirty="0"/>
              <a:t>positional entropy increases (so free energy goes down).</a:t>
            </a:r>
          </a:p>
        </p:txBody>
      </p:sp>
    </p:spTree>
    <p:extLst>
      <p:ext uri="{BB962C8B-B14F-4D97-AF65-F5344CB8AC3E}">
        <p14:creationId xmlns:p14="http://schemas.microsoft.com/office/powerpoint/2010/main" val="34137000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18234-3596-7909-1B21-2C5D6A1548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1026" name="Picture 2" descr="Skeletal formula of 4-cyano-4'-pentylbiphenyl">
            <a:extLst>
              <a:ext uri="{FF2B5EF4-FFF2-40B4-BE49-F238E27FC236}">
                <a16:creationId xmlns:a16="http://schemas.microsoft.com/office/drawing/2014/main" id="{F6261381-D74B-354F-733E-20E2027FF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12" y="1417638"/>
            <a:ext cx="33020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B782D1-4FEE-C2CB-8A72-B793A7EDA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1" y="274638"/>
            <a:ext cx="6192838" cy="1143000"/>
          </a:xfrm>
        </p:spPr>
        <p:txBody>
          <a:bodyPr/>
          <a:lstStyle/>
          <a:p>
            <a:r>
              <a:rPr lang="en-US" dirty="0"/>
              <a:t>Typical liquid crystal molecules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20C903-E612-8565-5FEB-EB5A7585C5A7}"/>
              </a:ext>
            </a:extLst>
          </p:cNvPr>
          <p:cNvSpPr txBox="1"/>
          <p:nvPr/>
        </p:nvSpPr>
        <p:spPr>
          <a:xfrm>
            <a:off x="101594" y="2379042"/>
            <a:ext cx="619283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Typical liquid crystal molecules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“rod like”, so they form a nematic phase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have an alkyl tail so they stay liquid at room temperature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have a large dielectric anisotropy (how easy it is to polarise the molecule along the long axis versus the short axis), so they can be reoriented easily by an electric field.</a:t>
            </a:r>
          </a:p>
          <a:p>
            <a:r>
              <a:rPr lang="en-GB" dirty="0"/>
              <a:t>Chemical innovation usually involves improving one of these properties – novel liquid crystal molecules/compositions are closely guarded secrets!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17C860-AFD0-FD17-6984-2B539C977CF7}"/>
              </a:ext>
            </a:extLst>
          </p:cNvPr>
          <p:cNvSpPr txBox="1"/>
          <p:nvPr/>
        </p:nvSpPr>
        <p:spPr>
          <a:xfrm>
            <a:off x="4375047" y="1684096"/>
            <a:ext cx="4747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“5CB” - 4-Cyano-4'-pentylbiphenyl</a:t>
            </a:r>
          </a:p>
          <a:p>
            <a:endParaRPr lang="en-GB" dirty="0"/>
          </a:p>
        </p:txBody>
      </p:sp>
      <p:pic>
        <p:nvPicPr>
          <p:cNvPr id="1028" name="Picture 4" descr="Casio Pocket 8-Digit Calculator SL-300SV">
            <a:extLst>
              <a:ext uri="{FF2B5EF4-FFF2-40B4-BE49-F238E27FC236}">
                <a16:creationId xmlns:a16="http://schemas.microsoft.com/office/drawing/2014/main" id="{1FDAA10F-EEA1-9ACE-9BD3-62CA63E7E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432" y="2515093"/>
            <a:ext cx="2461252" cy="2461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BFA7D27-06DE-DE19-47EA-A0ACF6217871}"/>
              </a:ext>
            </a:extLst>
          </p:cNvPr>
          <p:cNvSpPr/>
          <p:nvPr/>
        </p:nvSpPr>
        <p:spPr bwMode="auto">
          <a:xfrm>
            <a:off x="388316" y="4284095"/>
            <a:ext cx="5803864" cy="647245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dg Vesta" pitchFamily="2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94D1668-C39B-97E5-173D-8B3AE886967A}"/>
              </a:ext>
            </a:extLst>
          </p:cNvPr>
          <p:cNvCxnSpPr/>
          <p:nvPr/>
        </p:nvCxnSpPr>
        <p:spPr bwMode="auto">
          <a:xfrm flipH="1" flipV="1">
            <a:off x="6147175" y="5160097"/>
            <a:ext cx="315035" cy="474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CDEEE60C-8223-246C-E2F1-83DF3FB7E9D2}"/>
              </a:ext>
            </a:extLst>
          </p:cNvPr>
          <p:cNvSpPr txBox="1">
            <a:spLocks/>
          </p:cNvSpPr>
          <p:nvPr/>
        </p:nvSpPr>
        <p:spPr bwMode="auto">
          <a:xfrm>
            <a:off x="6047581" y="5440362"/>
            <a:ext cx="61928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9pPr>
          </a:lstStyle>
          <a:p>
            <a:r>
              <a:rPr lang="en-US" sz="2400" kern="0" dirty="0"/>
              <a:t>Very good for Raman</a:t>
            </a:r>
          </a:p>
          <a:p>
            <a:r>
              <a:rPr lang="en-US" sz="2400" kern="0" dirty="0"/>
              <a:t>Spectroscopy!</a:t>
            </a:r>
          </a:p>
        </p:txBody>
      </p:sp>
    </p:spTree>
    <p:extLst>
      <p:ext uri="{BB962C8B-B14F-4D97-AF65-F5344CB8AC3E}">
        <p14:creationId xmlns:p14="http://schemas.microsoft.com/office/powerpoint/2010/main" val="30382086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/>
      <p:bldP spid="11" grpId="0" animBg="1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48C4C9-5EF5-CA18-F006-232588D1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Liquid crystal displays (LCDs)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58576B-12F5-A8B8-2DC4-0ACB773EDE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6FD51-1015-4304-9645-AC62F2AE25BF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F33F859-855D-1F0D-2B44-B85FD817F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95" y="1497902"/>
            <a:ext cx="6685908" cy="4803280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06FDE82B-476F-1674-3D8B-7A895FAA3D88}"/>
              </a:ext>
            </a:extLst>
          </p:cNvPr>
          <p:cNvSpPr txBox="1"/>
          <p:nvPr/>
        </p:nvSpPr>
        <p:spPr>
          <a:xfrm>
            <a:off x="0" y="6489340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9pPr>
          </a:lstStyle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129658411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48C4C9-5EF5-CA18-F006-232588D1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LCDs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58576B-12F5-A8B8-2DC4-0ACB773EDE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6FD51-1015-4304-9645-AC62F2AE25BF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11" name="Picture 10" descr="Close-up of a sign&#10;&#10;Description automatically generated">
            <a:extLst>
              <a:ext uri="{FF2B5EF4-FFF2-40B4-BE49-F238E27FC236}">
                <a16:creationId xmlns:a16="http://schemas.microsoft.com/office/drawing/2014/main" id="{FB965ECA-CC69-13D4-2165-E5776151B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45" y="2301641"/>
            <a:ext cx="5602087" cy="373472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FF4ED1E-E405-009B-2E10-99294C0A3236}"/>
              </a:ext>
            </a:extLst>
          </p:cNvPr>
          <p:cNvGrpSpPr/>
          <p:nvPr/>
        </p:nvGrpSpPr>
        <p:grpSpPr>
          <a:xfrm>
            <a:off x="1511660" y="3131943"/>
            <a:ext cx="6337088" cy="3156634"/>
            <a:chOff x="1511660" y="3131943"/>
            <a:chExt cx="6337088" cy="315663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2D6EC35-E96B-C09A-7703-6C0FA1773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21950" y="3131943"/>
              <a:ext cx="3726798" cy="3156634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F9BD9A4-D6FA-51CC-7C86-1F8014963FA9}"/>
                </a:ext>
              </a:extLst>
            </p:cNvPr>
            <p:cNvCxnSpPr/>
            <p:nvPr/>
          </p:nvCxnSpPr>
          <p:spPr bwMode="auto">
            <a:xfrm flipH="1" flipV="1">
              <a:off x="1511660" y="4554125"/>
              <a:ext cx="2610290" cy="172761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FFFD30-CB47-6CD6-4CE9-40AE2F1370F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511660" y="3131943"/>
              <a:ext cx="2610290" cy="1408666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TextBox 2">
            <a:extLst>
              <a:ext uri="{FF2B5EF4-FFF2-40B4-BE49-F238E27FC236}">
                <a16:creationId xmlns:a16="http://schemas.microsoft.com/office/drawing/2014/main" id="{EDE9B345-3026-8F51-FA3C-A1F74FE4A05E}"/>
              </a:ext>
            </a:extLst>
          </p:cNvPr>
          <p:cNvSpPr txBox="1"/>
          <p:nvPr/>
        </p:nvSpPr>
        <p:spPr>
          <a:xfrm>
            <a:off x="0" y="6489340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9pPr>
          </a:lstStyle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11772268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48C4C9-5EF5-CA18-F006-232588D1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Pixel size in LCD displays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58576B-12F5-A8B8-2DC4-0ACB773EDE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6FD51-1015-4304-9645-AC62F2AE25BF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55C1F4-3445-7642-00AC-36CDA0328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10" y="1417638"/>
            <a:ext cx="6782290" cy="4525682"/>
          </a:xfrm>
          <a:prstGeom prst="rect">
            <a:avLst/>
          </a:prstGeom>
        </p:spPr>
      </p:pic>
      <p:pic>
        <p:nvPicPr>
          <p:cNvPr id="2050" name="Picture 2" descr="iPhone SE: A powerful new smartphone in a popular design - Apple">
            <a:extLst>
              <a:ext uri="{FF2B5EF4-FFF2-40B4-BE49-F238E27FC236}">
                <a16:creationId xmlns:a16="http://schemas.microsoft.com/office/drawing/2014/main" id="{852788F4-46EB-703F-72BC-C0F028ECE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42" y="4755594"/>
            <a:ext cx="1487727" cy="1700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pple iPod Classic 5th, 6th, 7th Generation Tested All GB 30GB 80GB 120GB  160GB | eBay">
            <a:extLst>
              <a:ext uri="{FF2B5EF4-FFF2-40B4-BE49-F238E27FC236}">
                <a16:creationId xmlns:a16="http://schemas.microsoft.com/office/drawing/2014/main" id="{BBB7E63A-47EA-0178-F37C-348335F88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661" y="4959170"/>
            <a:ext cx="1481162" cy="14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48C3B0-9872-4F8D-4175-ABA09C182B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945" y="1544193"/>
            <a:ext cx="3338738" cy="29171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970CD2-49F6-D36E-4F77-92A7EC5BF1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2080" y="1558182"/>
            <a:ext cx="3056093" cy="29171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CA5855-9186-B633-A58A-372166D77253}"/>
              </a:ext>
            </a:extLst>
          </p:cNvPr>
          <p:cNvSpPr txBox="1"/>
          <p:nvPr/>
        </p:nvSpPr>
        <p:spPr>
          <a:xfrm>
            <a:off x="1870670" y="5963529"/>
            <a:ext cx="2341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~336 </a:t>
            </a:r>
            <a:r>
              <a:rPr lang="en-US" dirty="0" err="1"/>
              <a:t>ppi</a:t>
            </a:r>
            <a:r>
              <a:rPr lang="en-US" dirty="0"/>
              <a:t>,</a:t>
            </a:r>
          </a:p>
          <a:p>
            <a:r>
              <a:rPr lang="en-US" dirty="0"/>
              <a:t>75 μm pixel size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DC48AE-9EF6-26E5-98A4-36C53853F470}"/>
              </a:ext>
            </a:extLst>
          </p:cNvPr>
          <p:cNvSpPr txBox="1"/>
          <p:nvPr/>
        </p:nvSpPr>
        <p:spPr>
          <a:xfrm>
            <a:off x="4481990" y="5958105"/>
            <a:ext cx="25686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~163 </a:t>
            </a:r>
            <a:r>
              <a:rPr lang="en-US" dirty="0" err="1"/>
              <a:t>ppi</a:t>
            </a:r>
            <a:r>
              <a:rPr lang="en-US" dirty="0"/>
              <a:t>,</a:t>
            </a:r>
          </a:p>
          <a:p>
            <a:r>
              <a:rPr lang="en-US" dirty="0"/>
              <a:t>153 μm pixel size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173105A0-0971-BA54-2069-2712DD619D4A}"/>
              </a:ext>
            </a:extLst>
          </p:cNvPr>
          <p:cNvSpPr txBox="1"/>
          <p:nvPr/>
        </p:nvSpPr>
        <p:spPr>
          <a:xfrm>
            <a:off x="0" y="6489340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9pPr>
          </a:lstStyle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19877312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FFD1-D879-6D50-4178-CD9F18ACA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LC display pixel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DF7A1-5242-1475-E71D-8E77B093C5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13</a:t>
            </a:fld>
            <a:endParaRPr lang="en-GB"/>
          </a:p>
        </p:txBody>
      </p:sp>
      <p:pic>
        <p:nvPicPr>
          <p:cNvPr id="1026" name="Picture 2" descr="Twisted Nematic - TN panels explained - PixelStrobist">
            <a:extLst>
              <a:ext uri="{FF2B5EF4-FFF2-40B4-BE49-F238E27FC236}">
                <a16:creationId xmlns:a16="http://schemas.microsoft.com/office/drawing/2014/main" id="{E276EF04-2470-AD89-4E50-2EE39D4F21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82"/>
          <a:stretch/>
        </p:blipFill>
        <p:spPr bwMode="auto">
          <a:xfrm>
            <a:off x="901513" y="2303875"/>
            <a:ext cx="5901113" cy="396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A3247D-448F-AF91-9DDB-94291F512E6E}"/>
              </a:ext>
            </a:extLst>
          </p:cNvPr>
          <p:cNvSpPr txBox="1"/>
          <p:nvPr/>
        </p:nvSpPr>
        <p:spPr>
          <a:xfrm>
            <a:off x="566555" y="6519863"/>
            <a:ext cx="4770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source: </a:t>
            </a:r>
            <a:r>
              <a:rPr lang="en-US" sz="1200" dirty="0" err="1"/>
              <a:t>pixelstrobist</a:t>
            </a:r>
            <a:endParaRPr lang="en-US" sz="1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CEC14F-F329-B758-10F8-742470BBE182}"/>
              </a:ext>
            </a:extLst>
          </p:cNvPr>
          <p:cNvGrpSpPr/>
          <p:nvPr/>
        </p:nvGrpSpPr>
        <p:grpSpPr>
          <a:xfrm>
            <a:off x="7591514" y="4016067"/>
            <a:ext cx="1125125" cy="276999"/>
            <a:chOff x="7554325" y="4464115"/>
            <a:chExt cx="1125125" cy="276999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4F45E80-5478-9476-C4B2-C322B0FB7FAB}"/>
                </a:ext>
              </a:extLst>
            </p:cNvPr>
            <p:cNvSpPr/>
            <p:nvPr/>
          </p:nvSpPr>
          <p:spPr bwMode="auto">
            <a:xfrm>
              <a:off x="7554325" y="4509120"/>
              <a:ext cx="1125125" cy="225025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dg Vest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8F70E58-C60E-6666-E74F-C1042753D896}"/>
                </a:ext>
              </a:extLst>
            </p:cNvPr>
            <p:cNvSpPr txBox="1"/>
            <p:nvPr/>
          </p:nvSpPr>
          <p:spPr>
            <a:xfrm>
              <a:off x="7637182" y="4464115"/>
              <a:ext cx="2505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-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77E564-7E6D-14A7-3321-E2A3015E89C4}"/>
                </a:ext>
              </a:extLst>
            </p:cNvPr>
            <p:cNvSpPr txBox="1"/>
            <p:nvPr/>
          </p:nvSpPr>
          <p:spPr>
            <a:xfrm>
              <a:off x="8242488" y="4464115"/>
              <a:ext cx="396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+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9D0F25EE-E55C-147C-7A52-C2CB80FB474D}"/>
              </a:ext>
            </a:extLst>
          </p:cNvPr>
          <p:cNvSpPr/>
          <p:nvPr/>
        </p:nvSpPr>
        <p:spPr bwMode="auto">
          <a:xfrm>
            <a:off x="7554325" y="2798930"/>
            <a:ext cx="1238838" cy="31503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dg Vesta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5610A8-7366-7564-1B42-A946017A869A}"/>
              </a:ext>
            </a:extLst>
          </p:cNvPr>
          <p:cNvSpPr/>
          <p:nvPr/>
        </p:nvSpPr>
        <p:spPr bwMode="auto">
          <a:xfrm>
            <a:off x="7554325" y="5350424"/>
            <a:ext cx="1238838" cy="31503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dg Vesta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76D35B-5863-4C53-BAFC-6B7009C666E7}"/>
              </a:ext>
            </a:extLst>
          </p:cNvPr>
          <p:cNvSpPr txBox="1"/>
          <p:nvPr/>
        </p:nvSpPr>
        <p:spPr>
          <a:xfrm>
            <a:off x="7674371" y="2758177"/>
            <a:ext cx="1353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-     -     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8E0FB3-B70F-0805-1DB1-96B38511CB9D}"/>
              </a:ext>
            </a:extLst>
          </p:cNvPr>
          <p:cNvSpPr txBox="1"/>
          <p:nvPr/>
        </p:nvSpPr>
        <p:spPr>
          <a:xfrm>
            <a:off x="7674371" y="5296127"/>
            <a:ext cx="123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+    +    +</a:t>
            </a:r>
          </a:p>
        </p:txBody>
      </p:sp>
    </p:spTree>
    <p:extLst>
      <p:ext uri="{BB962C8B-B14F-4D97-AF65-F5344CB8AC3E}">
        <p14:creationId xmlns:p14="http://schemas.microsoft.com/office/powerpoint/2010/main" val="34254906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18234-3596-7909-1B21-2C5D6A1548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89BC22-DB9C-8C4D-6548-D91282AE4279}"/>
              </a:ext>
            </a:extLst>
          </p:cNvPr>
          <p:cNvSpPr txBox="1"/>
          <p:nvPr/>
        </p:nvSpPr>
        <p:spPr>
          <a:xfrm>
            <a:off x="476545" y="629324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/iAILxVfHse0</a:t>
            </a:r>
          </a:p>
        </p:txBody>
      </p:sp>
      <p:pic>
        <p:nvPicPr>
          <p:cNvPr id="7" name="Online Media 6" descr="Crossed polarizers">
            <a:hlinkClick r:id="" action="ppaction://media"/>
            <a:extLst>
              <a:ext uri="{FF2B5EF4-FFF2-40B4-BE49-F238E27FC236}">
                <a16:creationId xmlns:a16="http://schemas.microsoft.com/office/drawing/2014/main" id="{4851A9FC-FC42-5372-1FF2-9388BDDDA3E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67186" y="1718810"/>
            <a:ext cx="6531698" cy="36904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53E77F-0A24-A8BD-94A0-4B1428C2C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1" y="274638"/>
            <a:ext cx="6192838" cy="1143000"/>
          </a:xfrm>
        </p:spPr>
        <p:txBody>
          <a:bodyPr/>
          <a:lstStyle/>
          <a:p>
            <a:r>
              <a:rPr lang="en-US" dirty="0"/>
              <a:t>Crossed polarizers</a:t>
            </a:r>
          </a:p>
        </p:txBody>
      </p:sp>
    </p:spTree>
    <p:extLst>
      <p:ext uri="{BB962C8B-B14F-4D97-AF65-F5344CB8AC3E}">
        <p14:creationId xmlns:p14="http://schemas.microsoft.com/office/powerpoint/2010/main" val="40370211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18234-3596-7909-1B21-2C5D6A1548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53E77F-0A24-A8BD-94A0-4B1428C2C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1" y="274638"/>
            <a:ext cx="6192838" cy="1143000"/>
          </a:xfrm>
        </p:spPr>
        <p:txBody>
          <a:bodyPr/>
          <a:lstStyle/>
          <a:p>
            <a:r>
              <a:rPr lang="en-US" dirty="0"/>
              <a:t>Crossed polarizers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97D48-D8E9-AE53-BA14-5BA7FB0A69E6}"/>
              </a:ext>
            </a:extLst>
          </p:cNvPr>
          <p:cNvSpPr txBox="1"/>
          <p:nvPr/>
        </p:nvSpPr>
        <p:spPr>
          <a:xfrm>
            <a:off x="521550" y="629632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</a:t>
            </a:r>
            <a:r>
              <a:rPr lang="en-US" dirty="0" err="1"/>
              <a:t>OQiSXUfeKaQ</a:t>
            </a:r>
            <a:endParaRPr lang="en-US" dirty="0"/>
          </a:p>
        </p:txBody>
      </p:sp>
      <p:pic>
        <p:nvPicPr>
          <p:cNvPr id="8" name="Online Media 7" descr="Twisted Nematic Visualization">
            <a:hlinkClick r:id="" action="ppaction://media"/>
            <a:extLst>
              <a:ext uri="{FF2B5EF4-FFF2-40B4-BE49-F238E27FC236}">
                <a16:creationId xmlns:a16="http://schemas.microsoft.com/office/drawing/2014/main" id="{A87BD070-8372-1632-AB1C-3298E735E08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13312" y="2168804"/>
            <a:ext cx="6192838" cy="349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4890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48C4C9-5EF5-CA18-F006-232588D1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LCDs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58576B-12F5-A8B8-2DC4-0ACB773EDE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6FD51-1015-4304-9645-AC62F2AE25BF}" type="slidenum">
              <a:rPr lang="en-GB" smtClean="0"/>
              <a:pPr/>
              <a:t>16</a:t>
            </a:fld>
            <a:endParaRPr lang="en-GB"/>
          </a:p>
        </p:txBody>
      </p:sp>
      <p:pic>
        <p:nvPicPr>
          <p:cNvPr id="11" name="Picture 10" descr="Close-up of a sign&#10;&#10;Description automatically generated">
            <a:extLst>
              <a:ext uri="{FF2B5EF4-FFF2-40B4-BE49-F238E27FC236}">
                <a16:creationId xmlns:a16="http://schemas.microsoft.com/office/drawing/2014/main" id="{FB965ECA-CC69-13D4-2165-E5776151B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45" y="2301641"/>
            <a:ext cx="5602087" cy="373472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FF4ED1E-E405-009B-2E10-99294C0A3236}"/>
              </a:ext>
            </a:extLst>
          </p:cNvPr>
          <p:cNvGrpSpPr/>
          <p:nvPr/>
        </p:nvGrpSpPr>
        <p:grpSpPr>
          <a:xfrm>
            <a:off x="1511660" y="3131943"/>
            <a:ext cx="6337088" cy="3156634"/>
            <a:chOff x="1511660" y="3131943"/>
            <a:chExt cx="6337088" cy="315663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2D6EC35-E96B-C09A-7703-6C0FA1773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21950" y="3131943"/>
              <a:ext cx="3726798" cy="3156634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F9BD9A4-D6FA-51CC-7C86-1F8014963FA9}"/>
                </a:ext>
              </a:extLst>
            </p:cNvPr>
            <p:cNvCxnSpPr/>
            <p:nvPr/>
          </p:nvCxnSpPr>
          <p:spPr bwMode="auto">
            <a:xfrm flipH="1" flipV="1">
              <a:off x="1511660" y="4554125"/>
              <a:ext cx="2610290" cy="172761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FFFD30-CB47-6CD6-4CE9-40AE2F1370F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511660" y="3131943"/>
              <a:ext cx="2610290" cy="1408666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492413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CFAFB-C1B5-75D7-FA1E-C2539E81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Frederiks</a:t>
            </a:r>
            <a:r>
              <a:rPr lang="en-US" dirty="0"/>
              <a:t> (</a:t>
            </a:r>
            <a:r>
              <a:rPr lang="en-US" dirty="0" err="1"/>
              <a:t>Fréedericksz</a:t>
            </a:r>
            <a:r>
              <a:rPr lang="en-US" dirty="0"/>
              <a:t>) Transition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BF6DC-B210-A029-1A17-FA75800E3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49" y="1600200"/>
            <a:ext cx="4311406" cy="4343400"/>
          </a:xfrm>
        </p:spPr>
        <p:txBody>
          <a:bodyPr/>
          <a:lstStyle/>
          <a:p>
            <a:r>
              <a:rPr lang="en-US" dirty="0"/>
              <a:t>The voltage required to “switch” the liquid crystal cell from one orientation to another.</a:t>
            </a:r>
          </a:p>
          <a:p>
            <a:r>
              <a:rPr lang="en-US" dirty="0"/>
              <a:t>Sometimes expressed as a critical electric field (V/d)</a:t>
            </a:r>
          </a:p>
          <a:p>
            <a:r>
              <a:rPr lang="en-US" dirty="0"/>
              <a:t>Depends on liquid crystal “elasticity” and “dielectric anisotropy” – how hard it is to bend the director to a new direction versus how sensitive it is to electric field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E2CA4-A559-D9E4-10EF-6C2F385E0E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17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CC15F8-C25B-8FA0-333A-EED7C15DFEFF}"/>
                  </a:ext>
                </a:extLst>
              </p:cNvPr>
              <p:cNvSpPr txBox="1"/>
              <p:nvPr/>
            </p:nvSpPr>
            <p:spPr>
              <a:xfrm>
                <a:off x="5690303" y="1864082"/>
                <a:ext cx="1947777" cy="10911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th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𝜋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CC15F8-C25B-8FA0-333A-EED7C15DF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303" y="1864082"/>
                <a:ext cx="1947777" cy="1091196"/>
              </a:xfrm>
              <a:prstGeom prst="rect">
                <a:avLst/>
              </a:prstGeom>
              <a:blipFill>
                <a:blip r:embed="rId3"/>
                <a:stretch>
                  <a:fillRect l="-2581" r="-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6B7CDFB-87AC-EF4D-820C-505D1C8ACB46}"/>
              </a:ext>
            </a:extLst>
          </p:cNvPr>
          <p:cNvSpPr txBox="1"/>
          <p:nvPr/>
        </p:nvSpPr>
        <p:spPr>
          <a:xfrm>
            <a:off x="5690303" y="3401722"/>
            <a:ext cx="29253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Δ</a:t>
            </a:r>
            <a:r>
              <a:rPr lang="en-US" dirty="0"/>
              <a:t>𝜖 – dielectric anisotropy</a:t>
            </a:r>
          </a:p>
          <a:p>
            <a:r>
              <a:rPr lang="en-US" dirty="0"/>
              <a:t>𝜖</a:t>
            </a:r>
            <a:r>
              <a:rPr lang="en-US" baseline="-25000" dirty="0"/>
              <a:t>0</a:t>
            </a:r>
            <a:r>
              <a:rPr lang="en-US" dirty="0"/>
              <a:t> – permittivity of free space = 8.85 ✕ 10</a:t>
            </a:r>
            <a:r>
              <a:rPr lang="en-US" baseline="30000" dirty="0"/>
              <a:t>-12</a:t>
            </a:r>
            <a:r>
              <a:rPr lang="en-US" dirty="0"/>
              <a:t> C</a:t>
            </a:r>
            <a:r>
              <a:rPr lang="en-US" baseline="30000" dirty="0"/>
              <a:t>2</a:t>
            </a:r>
            <a:r>
              <a:rPr lang="en-US" dirty="0"/>
              <a:t> N</a:t>
            </a:r>
            <a:r>
              <a:rPr lang="en-US" baseline="30000" dirty="0"/>
              <a:t>-1</a:t>
            </a:r>
            <a:r>
              <a:rPr lang="en-US" dirty="0"/>
              <a:t> m</a:t>
            </a:r>
            <a:r>
              <a:rPr lang="en-US" baseline="30000" dirty="0"/>
              <a:t>-2</a:t>
            </a:r>
            <a:endParaRPr lang="en-US" dirty="0"/>
          </a:p>
          <a:p>
            <a:r>
              <a:rPr lang="en-US" i="1" dirty="0" err="1"/>
              <a:t>K</a:t>
            </a:r>
            <a:r>
              <a:rPr lang="en-US" i="1" baseline="-25000" dirty="0" err="1"/>
              <a:t>ii</a:t>
            </a:r>
            <a:r>
              <a:rPr lang="en-US" i="1" dirty="0"/>
              <a:t> – elastic term (varies for different geometries)</a:t>
            </a:r>
          </a:p>
        </p:txBody>
      </p:sp>
    </p:spTree>
    <p:extLst>
      <p:ext uri="{BB962C8B-B14F-4D97-AF65-F5344CB8AC3E}">
        <p14:creationId xmlns:p14="http://schemas.microsoft.com/office/powerpoint/2010/main" val="27996763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C7B77-4C0C-B96A-9257-BB2C183E0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LC technologies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B4241-A380-CA3D-2434-0EB879FD5F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18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F5414-4177-7B59-DF91-FC00F712F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980" y="1815254"/>
            <a:ext cx="4572000" cy="2323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34565D-E947-D1BD-F644-9329B42EFE89}"/>
              </a:ext>
            </a:extLst>
          </p:cNvPr>
          <p:cNvSpPr txBox="1"/>
          <p:nvPr/>
        </p:nvSpPr>
        <p:spPr>
          <a:xfrm>
            <a:off x="4572000" y="4194448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Shukla, R. K., Chaudhary, A., </a:t>
            </a:r>
            <a:r>
              <a:rPr lang="en-GB" sz="12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Bubnov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A., </a:t>
            </a:r>
            <a:r>
              <a:rPr lang="en-GB" sz="12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Hamplova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V., &amp; Raina, K. K. (2020). Electrically switchable birefringent self-assembled nanocomposites: ferroelectric liquid crystal doped with the multiwall carbon nanotubes. </a:t>
            </a:r>
            <a:r>
              <a:rPr lang="en-GB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Liquid Crystals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47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(9), 1379-1389.</a:t>
            </a:r>
            <a:endParaRPr lang="en-US" sz="1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DE0ED76-B659-D304-BD43-21995B042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55" y="1815254"/>
            <a:ext cx="3581890" cy="2554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114758-EDCD-59A5-0978-1F4D60431C43}"/>
              </a:ext>
            </a:extLst>
          </p:cNvPr>
          <p:cNvSpPr txBox="1"/>
          <p:nvPr/>
        </p:nvSpPr>
        <p:spPr>
          <a:xfrm>
            <a:off x="325298" y="4379114"/>
            <a:ext cx="40504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Li, X., Zhang, M., Zhang, C., </a:t>
            </a:r>
            <a:r>
              <a:rPr lang="en-GB" sz="12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Niu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R., Ma, H., &amp; Sun, Y. (2023). A bistable ion-doped cholesteric liquid crystal smart window with a small amount of polymer. </a:t>
            </a:r>
            <a:r>
              <a:rPr lang="en-GB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Optical Materials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138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113659.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13D3A6-90F9-336A-7BCC-910D01C49145}"/>
              </a:ext>
            </a:extLst>
          </p:cNvPr>
          <p:cNvSpPr txBox="1"/>
          <p:nvPr/>
        </p:nvSpPr>
        <p:spPr>
          <a:xfrm>
            <a:off x="308824" y="5688866"/>
            <a:ext cx="40504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222222"/>
                </a:solidFill>
                <a:latin typeface="+mj-lt"/>
              </a:rPr>
              <a:t>“Bistable” – doesn’t use power to display an image</a:t>
            </a:r>
            <a:endParaRPr lang="en-US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72F179-A067-049C-8802-DE3960F25D37}"/>
              </a:ext>
            </a:extLst>
          </p:cNvPr>
          <p:cNvSpPr txBox="1"/>
          <p:nvPr/>
        </p:nvSpPr>
        <p:spPr>
          <a:xfrm>
            <a:off x="4742713" y="5504199"/>
            <a:ext cx="40504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222222"/>
                </a:solidFill>
                <a:latin typeface="+mj-lt"/>
              </a:rPr>
              <a:t>“Electrochromic” change colour with voltage – no need for colour filters</a:t>
            </a:r>
            <a:endParaRPr 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F4917-D5BD-F92F-045F-CBD7B7B19D86}"/>
              </a:ext>
            </a:extLst>
          </p:cNvPr>
          <p:cNvSpPr txBox="1"/>
          <p:nvPr/>
        </p:nvSpPr>
        <p:spPr>
          <a:xfrm>
            <a:off x="0" y="6489340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9pPr>
          </a:lstStyle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14585110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2232A-A7D6-600A-A08C-12DE03D5CD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19</a:t>
            </a:fld>
            <a:endParaRPr lang="en-GB"/>
          </a:p>
        </p:txBody>
      </p:sp>
      <p:pic>
        <p:nvPicPr>
          <p:cNvPr id="5" name="Online Media 4" descr="IRIS Optronics Launches 27.6&quot; Outdoor Infinity Display With Embedded Solar">
            <a:hlinkClick r:id="" action="ppaction://media"/>
            <a:extLst>
              <a:ext uri="{FF2B5EF4-FFF2-40B4-BE49-F238E27FC236}">
                <a16:creationId xmlns:a16="http://schemas.microsoft.com/office/drawing/2014/main" id="{2C5D76A3-C602-2BD8-DF65-8E123EC34B0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46575" y="1494122"/>
            <a:ext cx="6849124" cy="38697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3E9747-F6A8-B09B-FD31-C2573639068C}"/>
              </a:ext>
            </a:extLst>
          </p:cNvPr>
          <p:cNvSpPr txBox="1"/>
          <p:nvPr/>
        </p:nvSpPr>
        <p:spPr>
          <a:xfrm>
            <a:off x="0" y="6027003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=WGcBtN7axYQ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857FB7F-9377-57E6-CFC2-1196C2DB6785}"/>
              </a:ext>
            </a:extLst>
          </p:cNvPr>
          <p:cNvSpPr txBox="1"/>
          <p:nvPr/>
        </p:nvSpPr>
        <p:spPr>
          <a:xfrm>
            <a:off x="0" y="5724255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9pPr>
          </a:lstStyle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21561008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619FF-9D10-35F5-ABBF-DD166AB6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Chemical sensors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19C53-02C4-4E01-F7EA-529664B1F3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20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CB3298-F871-1856-DC20-72F37179E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2" y="1763815"/>
            <a:ext cx="9118478" cy="40000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4BB0B4-D19E-F622-7264-D8D6E2DA78BA}"/>
              </a:ext>
            </a:extLst>
          </p:cNvPr>
          <p:cNvSpPr txBox="1"/>
          <p:nvPr/>
        </p:nvSpPr>
        <p:spPr>
          <a:xfrm>
            <a:off x="25522" y="5733360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Carlton, R. J., Hunter, J. T., Miller, D. S., Abbasi, R., </a:t>
            </a:r>
            <a:r>
              <a:rPr lang="en-GB" sz="12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Mushenheim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P. C., Tan, L. N., &amp; Abbott, N. L. (2013). Chemical and biological sensing using liquid crystals. </a:t>
            </a:r>
            <a:r>
              <a:rPr lang="en-GB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Liquid crystals reviews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29-51.</a:t>
            </a:r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853FD8-0E5E-3374-23EC-4735D8358344}"/>
              </a:ext>
            </a:extLst>
          </p:cNvPr>
          <p:cNvSpPr txBox="1"/>
          <p:nvPr/>
        </p:nvSpPr>
        <p:spPr>
          <a:xfrm>
            <a:off x="0" y="6489340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9pPr>
          </a:lstStyle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138778104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C7B77-4C0C-B96A-9257-BB2C183E0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Families of liquid crystals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B4241-A380-CA3D-2434-0EB879FD5F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13D3A6-90F9-336A-7BCC-910D01C49145}"/>
              </a:ext>
            </a:extLst>
          </p:cNvPr>
          <p:cNvSpPr txBox="1"/>
          <p:nvPr/>
        </p:nvSpPr>
        <p:spPr>
          <a:xfrm>
            <a:off x="522287" y="2161900"/>
            <a:ext cx="40504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222222"/>
                </a:solidFill>
                <a:latin typeface="+mj-lt"/>
              </a:rPr>
              <a:t>Pure molecular liquids – phase behaviour depends on temperature</a:t>
            </a:r>
            <a:endParaRPr lang="en-US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72F179-A067-049C-8802-DE3960F25D37}"/>
              </a:ext>
            </a:extLst>
          </p:cNvPr>
          <p:cNvSpPr txBox="1"/>
          <p:nvPr/>
        </p:nvSpPr>
        <p:spPr>
          <a:xfrm>
            <a:off x="4742713" y="2161899"/>
            <a:ext cx="40504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solidFill>
                  <a:srgbClr val="222222"/>
                </a:solidFill>
                <a:latin typeface="+mj-lt"/>
              </a:rPr>
              <a:t>Solutions </a:t>
            </a:r>
            <a:r>
              <a:rPr lang="en-GB" dirty="0">
                <a:solidFill>
                  <a:srgbClr val="222222"/>
                </a:solidFill>
                <a:latin typeface="+mj-lt"/>
              </a:rPr>
              <a:t>of molecules – phase behaviour also depends on concentration</a:t>
            </a:r>
            <a:endParaRPr lang="en-US" i="1" dirty="0">
              <a:latin typeface="+mj-l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870689B-02D2-E925-3BD5-2018009149D9}"/>
              </a:ext>
            </a:extLst>
          </p:cNvPr>
          <p:cNvSpPr txBox="1">
            <a:spLocks/>
          </p:cNvSpPr>
          <p:nvPr/>
        </p:nvSpPr>
        <p:spPr bwMode="auto">
          <a:xfrm>
            <a:off x="522287" y="1033934"/>
            <a:ext cx="329208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9pPr>
          </a:lstStyle>
          <a:p>
            <a:r>
              <a:rPr lang="en-US" kern="0" dirty="0"/>
              <a:t>Thermotropic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C27EEA8-6521-5C15-8155-71D1D702864D}"/>
              </a:ext>
            </a:extLst>
          </p:cNvPr>
          <p:cNvSpPr txBox="1">
            <a:spLocks/>
          </p:cNvSpPr>
          <p:nvPr/>
        </p:nvSpPr>
        <p:spPr bwMode="auto">
          <a:xfrm>
            <a:off x="5167100" y="1018900"/>
            <a:ext cx="359109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9pPr>
          </a:lstStyle>
          <a:p>
            <a:r>
              <a:rPr lang="en-US" kern="0" dirty="0"/>
              <a:t>Lyotropic</a:t>
            </a:r>
          </a:p>
        </p:txBody>
      </p:sp>
      <p:pic>
        <p:nvPicPr>
          <p:cNvPr id="1026" name="Picture 2" descr="Order parameter in the nematic–isotropic phase transition - ScienceDirect">
            <a:extLst>
              <a:ext uri="{FF2B5EF4-FFF2-40B4-BE49-F238E27FC236}">
                <a16:creationId xmlns:a16="http://schemas.microsoft.com/office/drawing/2014/main" id="{CB50FD64-DE01-FDB3-AAEB-86304F4A1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17" y="3667837"/>
            <a:ext cx="3106853" cy="2506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B101D7-35E1-3312-6C9E-F0319E7AC6AD}"/>
              </a:ext>
            </a:extLst>
          </p:cNvPr>
          <p:cNvSpPr txBox="1"/>
          <p:nvPr/>
        </p:nvSpPr>
        <p:spPr>
          <a:xfrm>
            <a:off x="156555" y="616786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Luders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D. D., Oliveira, D. A., Kimura, N. M., </a:t>
            </a:r>
            <a:r>
              <a:rPr lang="en-GB" sz="12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Simões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&amp; </a:t>
            </a:r>
            <a:r>
              <a:rPr lang="en-GB" sz="12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Palangana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 J. (2015). Order parameter in the nematic–isotropic phase transition. </a:t>
            </a:r>
            <a:r>
              <a:rPr lang="en-GB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J. Molecular Liquids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207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195-199.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8A6F7E-9CAD-E9F2-59FC-79CC0801F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554" y="3518887"/>
            <a:ext cx="3591093" cy="25874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6E54DC-8DEC-AF69-3D2C-D17D0DDADD25}"/>
              </a:ext>
            </a:extLst>
          </p:cNvPr>
          <p:cNvSpPr txBox="1"/>
          <p:nvPr/>
        </p:nvSpPr>
        <p:spPr>
          <a:xfrm>
            <a:off x="4576095" y="6177320"/>
            <a:ext cx="4694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Qiu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H., &amp; Caffrey, M. (2000). The phase diagram of the monoolein/water system: metastability and equilibrium aspects. </a:t>
            </a:r>
            <a:r>
              <a:rPr lang="en-GB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Biomaterials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21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(3), 223-234.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60858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3" grpId="0"/>
      <p:bldP spid="6" grpId="0"/>
      <p:bldP spid="7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B1EF60-E3A5-E5D2-6730-3D39891A9B93}"/>
              </a:ext>
            </a:extLst>
          </p:cNvPr>
          <p:cNvSpPr txBox="1"/>
          <p:nvPr/>
        </p:nvSpPr>
        <p:spPr>
          <a:xfrm>
            <a:off x="635841" y="1283793"/>
            <a:ext cx="838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Some examples of phase diagrams for non-ionic Surfactants.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Here C denotes a methylene group and E an oxyethylene group.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dashed lines are approximate phase boundaries and the dot-dash line is the </a:t>
            </a:r>
            <a:r>
              <a:rPr lang="en-GB" dirty="0" err="1"/>
              <a:t>cmc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9927CC-6E47-63DE-ACDE-7820916D4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92" y="3158970"/>
            <a:ext cx="7739094" cy="2670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C454AF-5765-569A-7CCB-8D49768EFE52}"/>
              </a:ext>
            </a:extLst>
          </p:cNvPr>
          <p:cNvSpPr txBox="1"/>
          <p:nvPr/>
        </p:nvSpPr>
        <p:spPr>
          <a:xfrm>
            <a:off x="631455" y="5994285"/>
            <a:ext cx="74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S=solid phase, W = </a:t>
            </a:r>
            <a:r>
              <a:rPr lang="en-GB" dirty="0" err="1"/>
              <a:t>aqeuous</a:t>
            </a:r>
            <a:r>
              <a:rPr lang="en-GB" dirty="0"/>
              <a:t> phase (containing </a:t>
            </a:r>
            <a:r>
              <a:rPr lang="en-GB" dirty="0" err="1"/>
              <a:t>unassociated</a:t>
            </a:r>
            <a:r>
              <a:rPr lang="en-GB" dirty="0"/>
              <a:t> surfactant)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66E3FE-BF98-DE9E-B7F5-009716789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4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Lyotropic phase diagrams</a:t>
            </a:r>
          </a:p>
        </p:txBody>
      </p:sp>
    </p:spTree>
    <p:extLst>
      <p:ext uri="{BB962C8B-B14F-4D97-AF65-F5344CB8AC3E}">
        <p14:creationId xmlns:p14="http://schemas.microsoft.com/office/powerpoint/2010/main" val="4153674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32E957-296B-F9D9-0BB5-FA63D865C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4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Lyotropic liquid crystals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11189D-EF06-EDC9-F52B-336DD4F50955}"/>
              </a:ext>
            </a:extLst>
          </p:cNvPr>
          <p:cNvSpPr txBox="1"/>
          <p:nvPr/>
        </p:nvSpPr>
        <p:spPr>
          <a:xfrm>
            <a:off x="629785" y="1265626"/>
            <a:ext cx="80570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At concentrations well above the </a:t>
            </a:r>
            <a:r>
              <a:rPr lang="en-GB" dirty="0" err="1"/>
              <a:t>cmc</a:t>
            </a:r>
            <a:r>
              <a:rPr lang="en-GB" dirty="0"/>
              <a:t>, surfactants can form lyotropic liquid crystal phases (and some are even thermotropic liquid crystals).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phase formed depends on the concentration (hence the term lyotropic) and on the molecular structure.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D5F6A5-57CD-DB70-C87B-753E26673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95" y="3241516"/>
            <a:ext cx="6697526" cy="324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961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32E957-296B-F9D9-0BB5-FA63D865C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4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Lyotropic liquid crystals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11189D-EF06-EDC9-F52B-336DD4F50955}"/>
              </a:ext>
            </a:extLst>
          </p:cNvPr>
          <p:cNvSpPr txBox="1"/>
          <p:nvPr/>
        </p:nvSpPr>
        <p:spPr>
          <a:xfrm>
            <a:off x="629785" y="1265626"/>
            <a:ext cx="80570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At concentrations well above the </a:t>
            </a:r>
            <a:r>
              <a:rPr lang="en-GB" dirty="0" err="1"/>
              <a:t>cmc</a:t>
            </a:r>
            <a:r>
              <a:rPr lang="en-GB" dirty="0"/>
              <a:t>, surfactants can form lyotropic liquid crystal phases (and some are even thermotropic liquid crystals).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phase formed depends on the concentration (hence the term lyotropic), temperature and on the molecular structure.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349E0B1-3B4D-8325-A27C-116688E63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284" y="3995990"/>
            <a:ext cx="1280155" cy="1307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DEBE7C65-D201-891D-4FBD-AD707E73C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21139" y="3948082"/>
            <a:ext cx="1503502" cy="1307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E9A810-AA72-E9AC-7C74-2AFC333DEC73}"/>
              </a:ext>
            </a:extLst>
          </p:cNvPr>
          <p:cNvSpPr txBox="1"/>
          <p:nvPr/>
        </p:nvSpPr>
        <p:spPr>
          <a:xfrm>
            <a:off x="263701" y="5322069"/>
            <a:ext cx="725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</a:t>
            </a:r>
            <a:r>
              <a:rPr lang="en-GB" baseline="-25000" dirty="0">
                <a:latin typeface="Symbol" pitchFamily="18" charset="2"/>
              </a:rPr>
              <a:t>a</a:t>
            </a:r>
            <a:endParaRPr lang="en-US" baseline="-25000" dirty="0">
              <a:latin typeface="Symbol" pitchFamily="18" charset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652056-3FF3-5041-2C98-EF906DB4544F}"/>
              </a:ext>
            </a:extLst>
          </p:cNvPr>
          <p:cNvSpPr txBox="1"/>
          <p:nvPr/>
        </p:nvSpPr>
        <p:spPr>
          <a:xfrm>
            <a:off x="2054202" y="5355529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51F363-811D-E7FB-F18F-C39C364DD359}"/>
              </a:ext>
            </a:extLst>
          </p:cNvPr>
          <p:cNvSpPr txBox="1"/>
          <p:nvPr/>
        </p:nvSpPr>
        <p:spPr>
          <a:xfrm>
            <a:off x="3455659" y="5347827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9C89CA-B1A6-DB89-803F-8D8679C81BAE}"/>
              </a:ext>
            </a:extLst>
          </p:cNvPr>
          <p:cNvSpPr txBox="1"/>
          <p:nvPr/>
        </p:nvSpPr>
        <p:spPr>
          <a:xfrm>
            <a:off x="4857116" y="5303382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206067-7B89-63E8-8156-31B8A9230642}"/>
              </a:ext>
            </a:extLst>
          </p:cNvPr>
          <p:cNvSpPr txBox="1"/>
          <p:nvPr/>
        </p:nvSpPr>
        <p:spPr>
          <a:xfrm>
            <a:off x="6364976" y="5322069"/>
            <a:ext cx="706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</a:t>
            </a:r>
            <a:r>
              <a:rPr lang="en-GB" baseline="-25000" dirty="0"/>
              <a:t>II</a:t>
            </a:r>
            <a:endParaRPr lang="en-US" baseline="-25000" dirty="0"/>
          </a:p>
        </p:txBody>
      </p:sp>
      <p:pic>
        <p:nvPicPr>
          <p:cNvPr id="13" name="Picture 5">
            <a:extLst>
              <a:ext uri="{FF2B5EF4-FFF2-40B4-BE49-F238E27FC236}">
                <a16:creationId xmlns:a16="http://schemas.microsoft.com/office/drawing/2014/main" id="{7269ECA0-7EED-EF74-532B-8AE9270B0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71760" y="3969060"/>
            <a:ext cx="1500740" cy="1307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AD16BF-13B3-2C83-D821-2F57DDE246D2}"/>
              </a:ext>
            </a:extLst>
          </p:cNvPr>
          <p:cNvSpPr txBox="1"/>
          <p:nvPr/>
        </p:nvSpPr>
        <p:spPr>
          <a:xfrm>
            <a:off x="8150925" y="5355529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</a:t>
            </a:r>
            <a:r>
              <a:rPr lang="en-GB" baseline="-25000" dirty="0"/>
              <a:t>2</a:t>
            </a:r>
            <a:endParaRPr lang="en-US" baseline="-25000" dirty="0"/>
          </a:p>
        </p:txBody>
      </p:sp>
      <p:pic>
        <p:nvPicPr>
          <p:cNvPr id="15" name="Picture 14" descr="plumbers_blue.tif">
            <a:extLst>
              <a:ext uri="{FF2B5EF4-FFF2-40B4-BE49-F238E27FC236}">
                <a16:creationId xmlns:a16="http://schemas.microsoft.com/office/drawing/2014/main" id="{7578ACEC-EFD4-70AB-3F55-C8B698AFDC0D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627288" y="3990622"/>
            <a:ext cx="1282457" cy="1307393"/>
          </a:xfrm>
          <a:prstGeom prst="rect">
            <a:avLst/>
          </a:prstGeom>
        </p:spPr>
      </p:pic>
      <p:pic>
        <p:nvPicPr>
          <p:cNvPr id="16" name="Picture 15" descr="doublediamond_blue2.tif">
            <a:extLst>
              <a:ext uri="{FF2B5EF4-FFF2-40B4-BE49-F238E27FC236}">
                <a16:creationId xmlns:a16="http://schemas.microsoft.com/office/drawing/2014/main" id="{4162E1AD-9038-18F8-A638-DFBAE3B74794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071166" y="3942312"/>
            <a:ext cx="1340917" cy="1307393"/>
          </a:xfrm>
          <a:prstGeom prst="rect">
            <a:avLst/>
          </a:prstGeom>
        </p:spPr>
      </p:pic>
      <p:pic>
        <p:nvPicPr>
          <p:cNvPr id="17" name="Picture 16" descr="gyroid_blue2.tif">
            <a:extLst>
              <a:ext uri="{FF2B5EF4-FFF2-40B4-BE49-F238E27FC236}">
                <a16:creationId xmlns:a16="http://schemas.microsoft.com/office/drawing/2014/main" id="{725038F6-7816-9D53-9C0D-ECD2AEDFE2F1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18801" y="3966118"/>
            <a:ext cx="1337108" cy="130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368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B4BA10-088D-A982-8A9A-978E4F55B2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377"/>
          <a:stretch/>
        </p:blipFill>
        <p:spPr>
          <a:xfrm>
            <a:off x="708508" y="1163098"/>
            <a:ext cx="7472646" cy="47861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BF7B62-63C3-3E60-01EB-2D059DB96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4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Inverse phases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35BAB9-CB9E-2036-73DB-DF43539B9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950" y="3339957"/>
            <a:ext cx="544435" cy="17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3580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defTabSz="7620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defTabSz="7620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2921000" y="3468688"/>
            <a:ext cx="2921000" cy="77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defTabSz="7620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GB" sz="1800">
                <a:solidFill>
                  <a:srgbClr val="FFFFFF"/>
                </a:solidFill>
                <a:latin typeface="Times New Roman" pitchFamily="18" charset="0"/>
              </a:rPr>
              <a:t>Water channel</a:t>
            </a:r>
          </a:p>
          <a:p>
            <a:pPr defTabSz="7620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GB" sz="180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defTabSz="914400" eaLnBrk="1" hangingPunct="1">
              <a:lnSpc>
                <a:spcPct val="100000"/>
              </a:lnSpc>
              <a:buClrTx/>
              <a:buSzTx/>
              <a:buFontTx/>
              <a:buNone/>
            </a:pPr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9639" name="Rectangle 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</a:pPr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9640" name="Rectangle 8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defTabSz="7620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>
              <a:solidFill>
                <a:srgbClr val="000066"/>
              </a:solidFill>
            </a:endParaRPr>
          </a:p>
        </p:txBody>
      </p:sp>
      <p:sp>
        <p:nvSpPr>
          <p:cNvPr id="69641" name="Rectangle 9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defTabSz="7620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>
              <a:solidFill>
                <a:srgbClr val="000066"/>
              </a:solidFill>
            </a:endParaRPr>
          </a:p>
        </p:txBody>
      </p:sp>
      <p:pic>
        <p:nvPicPr>
          <p:cNvPr id="198666" name="Picture 10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76" y="3643314"/>
            <a:ext cx="1895458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</p:pic>
      <p:sp>
        <p:nvSpPr>
          <p:cNvPr id="69651" name="Rectangle 19"/>
          <p:cNvSpPr>
            <a:spLocks noChangeArrowheads="1"/>
          </p:cNvSpPr>
          <p:nvPr/>
        </p:nvSpPr>
        <p:spPr bwMode="auto">
          <a:xfrm>
            <a:off x="3214678" y="3929066"/>
            <a:ext cx="1143008" cy="305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GB" sz="1400" dirty="0">
                <a:solidFill>
                  <a:srgbClr val="000066"/>
                </a:solidFill>
              </a:rPr>
              <a:t>Lipid </a:t>
            </a:r>
            <a:r>
              <a:rPr lang="en-GB" sz="1400" dirty="0" err="1">
                <a:solidFill>
                  <a:srgbClr val="000066"/>
                </a:solidFill>
              </a:rPr>
              <a:t>bilayer</a:t>
            </a:r>
            <a:endParaRPr lang="en-GB" sz="1400" dirty="0">
              <a:solidFill>
                <a:srgbClr val="000066"/>
              </a:solidFill>
            </a:endParaRPr>
          </a:p>
        </p:txBody>
      </p:sp>
      <p:sp>
        <p:nvSpPr>
          <p:cNvPr id="69652" name="Rectangle 20"/>
          <p:cNvSpPr>
            <a:spLocks noChangeArrowheads="1"/>
          </p:cNvSpPr>
          <p:nvPr/>
        </p:nvSpPr>
        <p:spPr bwMode="auto">
          <a:xfrm>
            <a:off x="3214678" y="4500570"/>
            <a:ext cx="1357322" cy="628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GB" sz="1400" dirty="0">
                <a:solidFill>
                  <a:srgbClr val="000066"/>
                </a:solidFill>
              </a:rPr>
              <a:t>Water channel</a:t>
            </a:r>
          </a:p>
          <a:p>
            <a:pPr defTabSz="7620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GB" sz="1400" dirty="0">
              <a:solidFill>
                <a:srgbClr val="000066"/>
              </a:solidFill>
            </a:endParaRPr>
          </a:p>
        </p:txBody>
      </p:sp>
      <p:sp>
        <p:nvSpPr>
          <p:cNvPr id="69653" name="Rectangle 21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defTabSz="914400" eaLnBrk="1" hangingPunct="1">
              <a:lnSpc>
                <a:spcPct val="100000"/>
              </a:lnSpc>
              <a:buClrTx/>
              <a:buSzTx/>
              <a:buFontTx/>
              <a:buNone/>
            </a:pPr>
            <a:endParaRPr lang="en-US">
              <a:solidFill>
                <a:srgbClr val="000066"/>
              </a:solidFill>
            </a:endParaRPr>
          </a:p>
        </p:txBody>
      </p:sp>
      <p:sp>
        <p:nvSpPr>
          <p:cNvPr id="69655" name="Rectangle 23"/>
          <p:cNvSpPr>
            <a:spLocks noChangeArrowheads="1"/>
          </p:cNvSpPr>
          <p:nvPr/>
        </p:nvSpPr>
        <p:spPr bwMode="auto">
          <a:xfrm>
            <a:off x="4758880" y="1249377"/>
            <a:ext cx="4032250" cy="369331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defTabSz="762000" eaLnBrk="1" hangingPunct="1">
              <a:lnSpc>
                <a:spcPct val="100000"/>
              </a:lnSpc>
              <a:buClrTx/>
              <a:buSzTx/>
              <a:buFontTx/>
              <a:buChar char="•"/>
            </a:pPr>
            <a:r>
              <a:rPr lang="en-GB" sz="1800" dirty="0"/>
              <a:t>The fluid lamellar phase (L</a:t>
            </a:r>
            <a:r>
              <a:rPr lang="en-GB" sz="1800" baseline="-25000" dirty="0">
                <a:sym typeface="Symbol" pitchFamily="18" charset="2"/>
              </a:rPr>
              <a:t></a:t>
            </a:r>
            <a:r>
              <a:rPr lang="en-GB" sz="1800" dirty="0"/>
              <a:t>)- can be thought of as a </a:t>
            </a:r>
            <a:r>
              <a:rPr lang="en-GB" sz="1800" dirty="0">
                <a:sym typeface="Symbol" pitchFamily="18" charset="2"/>
              </a:rPr>
              <a:t>one-dimensional stack of bilayers.  </a:t>
            </a:r>
          </a:p>
          <a:p>
            <a:pPr defTabSz="762000" eaLnBrk="1" hangingPunct="1">
              <a:lnSpc>
                <a:spcPct val="100000"/>
              </a:lnSpc>
              <a:buClrTx/>
              <a:buSzTx/>
              <a:buFontTx/>
              <a:buChar char="•"/>
            </a:pPr>
            <a:endParaRPr lang="en-GB" sz="1800" dirty="0">
              <a:sym typeface="Symbol" pitchFamily="18" charset="2"/>
            </a:endParaRPr>
          </a:p>
          <a:p>
            <a:pPr defTabSz="762000" eaLnBrk="1" hangingPunct="1">
              <a:lnSpc>
                <a:spcPct val="100000"/>
              </a:lnSpc>
              <a:buClrTx/>
              <a:buSzTx/>
              <a:buFontTx/>
              <a:buChar char="•"/>
            </a:pPr>
            <a:r>
              <a:rPr lang="en-GB" sz="1800" dirty="0">
                <a:sym typeface="Symbol" pitchFamily="18" charset="2"/>
              </a:rPr>
              <a:t>Each bilayer, separated by a region of water is made up of molecules placed back to back producing two parallel planar polar interfaces</a:t>
            </a:r>
            <a:r>
              <a:rPr lang="en-GB" sz="1800" i="1" dirty="0">
                <a:sym typeface="Symbol" pitchFamily="18" charset="2"/>
              </a:rPr>
              <a:t>. </a:t>
            </a:r>
          </a:p>
          <a:p>
            <a:pPr defTabSz="762000" eaLnBrk="1" hangingPunct="1">
              <a:lnSpc>
                <a:spcPct val="100000"/>
              </a:lnSpc>
              <a:buClrTx/>
              <a:buSzTx/>
              <a:buFontTx/>
              <a:buChar char="•"/>
            </a:pPr>
            <a:endParaRPr lang="en-GB" sz="1800" i="1" dirty="0">
              <a:sym typeface="Symbol" pitchFamily="18" charset="2"/>
            </a:endParaRPr>
          </a:p>
          <a:p>
            <a:pPr defTabSz="762000" eaLnBrk="1" hangingPunct="1">
              <a:lnSpc>
                <a:spcPct val="100000"/>
              </a:lnSpc>
              <a:buClrTx/>
              <a:buSzTx/>
              <a:buFontTx/>
              <a:buChar char="•"/>
            </a:pPr>
            <a:r>
              <a:rPr lang="en-GB" sz="1800" dirty="0">
                <a:sym typeface="Symbol" pitchFamily="18" charset="2"/>
              </a:rPr>
              <a:t>In the L</a:t>
            </a:r>
            <a:r>
              <a:rPr lang="en-GB" sz="1800" baseline="-25000" dirty="0">
                <a:sym typeface="Symbol" pitchFamily="18" charset="2"/>
              </a:rPr>
              <a:t></a:t>
            </a:r>
            <a:r>
              <a:rPr lang="en-GB" sz="1800" dirty="0"/>
              <a:t> phase movement within the </a:t>
            </a:r>
            <a:r>
              <a:rPr lang="en-GB" sz="1800" dirty="0" err="1"/>
              <a:t>bilayer</a:t>
            </a:r>
            <a:r>
              <a:rPr lang="en-GB" sz="1800" dirty="0"/>
              <a:t> is not restricted as the alkyl chains are melted and fluid-like. </a:t>
            </a:r>
          </a:p>
          <a:p>
            <a:pPr defTabSz="762000" eaLnBrk="1" hangingPunct="1">
              <a:lnSpc>
                <a:spcPct val="100000"/>
              </a:lnSpc>
              <a:buClrTx/>
              <a:buSzTx/>
            </a:pPr>
            <a:endParaRPr lang="en-GB" sz="1800" dirty="0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8794" y="1357298"/>
            <a:ext cx="1643074" cy="1678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4" descr="T-Myelin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642910" y="1285860"/>
            <a:ext cx="3997055" cy="4500594"/>
          </a:xfrm>
          <a:prstGeom prst="rect">
            <a:avLst/>
          </a:prstGeom>
        </p:spPr>
      </p:pic>
      <p:sp>
        <p:nvSpPr>
          <p:cNvPr id="26" name="Title 25"/>
          <p:cNvSpPr>
            <a:spLocks noGrp="1"/>
          </p:cNvSpPr>
          <p:nvPr>
            <p:ph type="title"/>
          </p:nvPr>
        </p:nvSpPr>
        <p:spPr>
          <a:xfrm>
            <a:off x="689763" y="106377"/>
            <a:ext cx="6192838" cy="1143000"/>
          </a:xfrm>
        </p:spPr>
        <p:txBody>
          <a:bodyPr/>
          <a:lstStyle/>
          <a:p>
            <a:r>
              <a:rPr lang="en-GB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The lamellar phase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A4CBFE-5E81-AD82-4697-EB579AAEA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4754" y="5099817"/>
            <a:ext cx="1312540" cy="154004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5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3C586D-F9BB-A161-46A7-46F32AFAE3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315"/>
          <a:stretch/>
        </p:blipFill>
        <p:spPr>
          <a:xfrm>
            <a:off x="971600" y="1021096"/>
            <a:ext cx="6274770" cy="3713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9A03F2-7DF1-1629-A2A0-89FD22D0D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4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Bicontinuous phases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3AD05C-9886-B7B9-DDB7-A02B18D9735C}"/>
              </a:ext>
            </a:extLst>
          </p:cNvPr>
          <p:cNvSpPr txBox="1"/>
          <p:nvPr/>
        </p:nvSpPr>
        <p:spPr>
          <a:xfrm>
            <a:off x="299755" y="5274205"/>
            <a:ext cx="863268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GB" sz="2400" dirty="0"/>
              <a:t>Single continuous bilayer which divides space into two inter-linked but separate aqueous sub-volumes.</a:t>
            </a:r>
          </a:p>
          <a:p>
            <a:pPr defTabSz="9144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GB" sz="2400" dirty="0"/>
              <a:t>Bilayer draped upon IPMSs (Infinite Periodic Minimal Surfaces)</a:t>
            </a:r>
          </a:p>
        </p:txBody>
      </p:sp>
    </p:spTree>
    <p:extLst>
      <p:ext uri="{BB962C8B-B14F-4D97-AF65-F5344CB8AC3E}">
        <p14:creationId xmlns:p14="http://schemas.microsoft.com/office/powerpoint/2010/main" val="2861917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219587" y="1483130"/>
            <a:ext cx="5069351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Times New Roman" pitchFamily="18" charset="0"/>
              <a:buChar char="•"/>
            </a:pPr>
            <a:r>
              <a:rPr lang="en-GB" sz="2000" dirty="0"/>
              <a:t> Evidence suggesting complex lyotropic structures such as the inverse bicontinuous cubic phases form within cells and perform important biological functions </a:t>
            </a:r>
          </a:p>
          <a:p>
            <a:pPr>
              <a:buFont typeface="Times New Roman" pitchFamily="18" charset="0"/>
              <a:buChar char="•"/>
            </a:pPr>
            <a:endParaRPr lang="en-GB" sz="2000" dirty="0"/>
          </a:p>
          <a:p>
            <a:pPr>
              <a:buFont typeface="Times New Roman" pitchFamily="18" charset="0"/>
              <a:buChar char="•"/>
            </a:pPr>
            <a:r>
              <a:rPr lang="en-GB" sz="2000" dirty="0"/>
              <a:t>Membrane fusion and fission must eventually proceed via structural routes that must be closely similar to those which occur during </a:t>
            </a:r>
            <a:r>
              <a:rPr lang="en-GB" sz="2000" dirty="0" err="1"/>
              <a:t>lyotropic</a:t>
            </a:r>
            <a:r>
              <a:rPr lang="en-GB" sz="2000" dirty="0"/>
              <a:t> phase transitions</a:t>
            </a:r>
          </a:p>
          <a:p>
            <a:pPr>
              <a:buFont typeface="Times New Roman" pitchFamily="18" charset="0"/>
              <a:buChar char="•"/>
            </a:pPr>
            <a:endParaRPr lang="en-GB" sz="2000" dirty="0"/>
          </a:p>
          <a:p>
            <a:pPr>
              <a:buFont typeface="Times New Roman" pitchFamily="18" charset="0"/>
              <a:buChar char="•"/>
            </a:pPr>
            <a:r>
              <a:rPr lang="en-GB" sz="2000" dirty="0"/>
              <a:t>This is of central importance to our understanding of </a:t>
            </a:r>
            <a:r>
              <a:rPr lang="en-GB" sz="2000" dirty="0" err="1"/>
              <a:t>endo</a:t>
            </a:r>
            <a:r>
              <a:rPr lang="en-GB" sz="2000" dirty="0"/>
              <a:t>- and </a:t>
            </a:r>
            <a:r>
              <a:rPr lang="en-GB" sz="2000" dirty="0" err="1"/>
              <a:t>exocytosis</a:t>
            </a:r>
            <a:endParaRPr lang="en-GB" sz="2000" dirty="0"/>
          </a:p>
        </p:txBody>
      </p:sp>
      <p:sp>
        <p:nvSpPr>
          <p:cNvPr id="19" name="AutoShape 4" descr="Haloperidol"/>
          <p:cNvSpPr>
            <a:spLocks noChangeAspect="1" noChangeArrowheads="1"/>
          </p:cNvSpPr>
          <p:nvPr/>
        </p:nvSpPr>
        <p:spPr bwMode="auto">
          <a:xfrm>
            <a:off x="4424363" y="4017613"/>
            <a:ext cx="296862" cy="29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5353742" y="990248"/>
            <a:ext cx="3428992" cy="4357718"/>
            <a:chOff x="5715008" y="1928802"/>
            <a:chExt cx="3428992" cy="4357718"/>
          </a:xfrm>
        </p:grpSpPr>
        <p:pic>
          <p:nvPicPr>
            <p:cNvPr id="27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674302" y="2500306"/>
              <a:ext cx="1469698" cy="32959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32" name="Group 31"/>
            <p:cNvGrpSpPr/>
            <p:nvPr/>
          </p:nvGrpSpPr>
          <p:grpSpPr>
            <a:xfrm>
              <a:off x="5715008" y="1928802"/>
              <a:ext cx="3242211" cy="4357718"/>
              <a:chOff x="5715008" y="1928802"/>
              <a:chExt cx="3242211" cy="4357718"/>
            </a:xfrm>
          </p:grpSpPr>
          <p:pic>
            <p:nvPicPr>
              <p:cNvPr id="25" name="Picture 3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763632" y="2393094"/>
                <a:ext cx="1817120" cy="38934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26" name="Rounded Rectangle 25"/>
              <p:cNvSpPr/>
              <p:nvPr/>
            </p:nvSpPr>
            <p:spPr bwMode="auto">
              <a:xfrm>
                <a:off x="5786446" y="2357430"/>
                <a:ext cx="1270378" cy="791569"/>
              </a:xfrm>
              <a:prstGeom prst="roundRect">
                <a:avLst/>
              </a:prstGeom>
              <a:solidFill>
                <a:srgbClr val="FFFF00">
                  <a:alpha val="38000"/>
                </a:srgb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8" name="Rounded Rectangle 27"/>
              <p:cNvSpPr/>
              <p:nvPr/>
            </p:nvSpPr>
            <p:spPr bwMode="auto">
              <a:xfrm>
                <a:off x="7715272" y="4714884"/>
                <a:ext cx="1241947" cy="900753"/>
              </a:xfrm>
              <a:prstGeom prst="roundRect">
                <a:avLst/>
              </a:prstGeom>
              <a:solidFill>
                <a:srgbClr val="FFFF00">
                  <a:alpha val="38000"/>
                </a:srgb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9" name="Text Box 15"/>
              <p:cNvSpPr txBox="1">
                <a:spLocks noChangeArrowheads="1"/>
              </p:cNvSpPr>
              <p:nvPr/>
            </p:nvSpPr>
            <p:spPr bwMode="auto">
              <a:xfrm>
                <a:off x="5715008" y="1928802"/>
                <a:ext cx="1606530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 sz="1800" dirty="0">
                    <a:solidFill>
                      <a:srgbClr val="FF0000"/>
                    </a:solidFill>
                    <a:latin typeface="Calibri" pitchFamily="34" charset="0"/>
                  </a:rPr>
                  <a:t>Lamellar phase</a:t>
                </a:r>
              </a:p>
            </p:txBody>
          </p:sp>
        </p:grpSp>
      </p:grpSp>
      <p:sp>
        <p:nvSpPr>
          <p:cNvPr id="30" name="Text Box 15"/>
          <p:cNvSpPr txBox="1">
            <a:spLocks noChangeArrowheads="1"/>
          </p:cNvSpPr>
          <p:nvPr/>
        </p:nvSpPr>
        <p:spPr bwMode="auto">
          <a:xfrm>
            <a:off x="7014299" y="4701635"/>
            <a:ext cx="1921360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1800" dirty="0">
                <a:solidFill>
                  <a:srgbClr val="FF0000"/>
                </a:solidFill>
                <a:latin typeface="Calibri" pitchFamily="34" charset="0"/>
              </a:rPr>
              <a:t>Bicontinuous cubic</a:t>
            </a:r>
          </a:p>
          <a:p>
            <a:pPr algn="ctr"/>
            <a:r>
              <a:rPr lang="en-GB" sz="1800" dirty="0">
                <a:solidFill>
                  <a:srgbClr val="FF0000"/>
                </a:solidFill>
                <a:latin typeface="Calibri" pitchFamily="34" charset="0"/>
              </a:rPr>
              <a:t> phase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7DCAE7-1BFE-4205-AAA8-66DD798DD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relevance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F5A4BA-DD2D-A25E-1445-1F9157F0C89B}"/>
              </a:ext>
            </a:extLst>
          </p:cNvPr>
          <p:cNvSpPr txBox="1">
            <a:spLocks/>
          </p:cNvSpPr>
          <p:nvPr/>
        </p:nvSpPr>
        <p:spPr bwMode="auto">
          <a:xfrm>
            <a:off x="0" y="5532979"/>
            <a:ext cx="878273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dg Vesta" pitchFamily="2" charset="0"/>
              </a:defRPr>
            </a:lvl9pPr>
          </a:lstStyle>
          <a:p>
            <a:r>
              <a:rPr lang="en-US" kern="0" dirty="0"/>
              <a:t>Studying membrane proteins in bicontinuous</a:t>
            </a:r>
          </a:p>
          <a:p>
            <a:r>
              <a:rPr lang="en-US" kern="0" dirty="0"/>
              <a:t>phases is more “realistic” than in solution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defTabSz="7620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defTabSz="762000" eaLnBrk="1" hangingPunct="1">
              <a:lnSpc>
                <a:spcPct val="100000"/>
              </a:lnSpc>
              <a:buClrTx/>
              <a:buSzTx/>
              <a:buFontTx/>
              <a:buNone/>
            </a:pPr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0270" y="1591583"/>
            <a:ext cx="2729424" cy="197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CAFDA8-1096-95FB-38CF-966D0F21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hexagonal phase</a:t>
            </a:r>
          </a:p>
        </p:txBody>
      </p:sp>
      <p:pic>
        <p:nvPicPr>
          <p:cNvPr id="1026" name="Picture 2" descr="Different phases of lipid: (a) lamellar (L) phase and (b) inverted... |  Download Scientific Diagram">
            <a:extLst>
              <a:ext uri="{FF2B5EF4-FFF2-40B4-BE49-F238E27FC236}">
                <a16:creationId xmlns:a16="http://schemas.microsoft.com/office/drawing/2014/main" id="{CC62382A-46D2-1B92-6537-6BF8D5D86B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67"/>
          <a:stretch/>
        </p:blipFill>
        <p:spPr bwMode="auto">
          <a:xfrm>
            <a:off x="1381900" y="4078167"/>
            <a:ext cx="2417799" cy="23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1EF67C-763D-0130-5ACE-03CA878F3883}"/>
              </a:ext>
            </a:extLst>
          </p:cNvPr>
          <p:cNvSpPr txBox="1"/>
          <p:nvPr/>
        </p:nvSpPr>
        <p:spPr>
          <a:xfrm>
            <a:off x="4109625" y="1417638"/>
            <a:ext cx="502205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62000" eaLnBrk="1" hangingPunct="1">
              <a:lnSpc>
                <a:spcPct val="100000"/>
              </a:lnSpc>
              <a:buClrTx/>
              <a:buSzTx/>
              <a:buFontTx/>
              <a:buChar char="•"/>
            </a:pPr>
            <a:r>
              <a:rPr lang="en-GB" sz="2200" dirty="0">
                <a:sym typeface="Symbol" pitchFamily="18" charset="2"/>
              </a:rPr>
              <a:t>The hexagonal phase can be visualised as a set of cylinders packed onto a 2-D hexagonal lattice. </a:t>
            </a:r>
          </a:p>
          <a:p>
            <a:pPr defTabSz="762000" eaLnBrk="1" hangingPunct="1">
              <a:lnSpc>
                <a:spcPct val="100000"/>
              </a:lnSpc>
              <a:buClrTx/>
              <a:buSzTx/>
              <a:buFontTx/>
              <a:buChar char="•"/>
            </a:pPr>
            <a:endParaRPr lang="en-GB" sz="2200" dirty="0">
              <a:sym typeface="Symbol" pitchFamily="18" charset="2"/>
            </a:endParaRPr>
          </a:p>
          <a:p>
            <a:pPr defTabSz="762000" eaLnBrk="1" hangingPunct="1">
              <a:lnSpc>
                <a:spcPct val="100000"/>
              </a:lnSpc>
              <a:buClrTx/>
              <a:buSzTx/>
              <a:buFontTx/>
              <a:buChar char="•"/>
            </a:pPr>
            <a:r>
              <a:rPr lang="en-GB" sz="2200" dirty="0">
                <a:sym typeface="Symbol" pitchFamily="18" charset="2"/>
              </a:rPr>
              <a:t>This phase is often formed by lipids such as phosphatidylethanolamine (PE) which are present in high concentrations in cellular systems.</a:t>
            </a:r>
          </a:p>
          <a:p>
            <a:pPr defTabSz="762000" eaLnBrk="1" hangingPunct="1">
              <a:lnSpc>
                <a:spcPct val="100000"/>
              </a:lnSpc>
              <a:buClrTx/>
              <a:buSzTx/>
              <a:buFontTx/>
              <a:buNone/>
            </a:pPr>
            <a:endParaRPr lang="en-GB" sz="2200" dirty="0">
              <a:sym typeface="Symbol" pitchFamily="18" charset="2"/>
            </a:endParaRPr>
          </a:p>
          <a:p>
            <a:pPr defTabSz="762000" eaLnBrk="1" hangingPunct="1">
              <a:lnSpc>
                <a:spcPct val="100000"/>
              </a:lnSpc>
              <a:buClrTx/>
              <a:buSzTx/>
              <a:buFontTx/>
              <a:buChar char="•"/>
            </a:pPr>
            <a:r>
              <a:rPr lang="en-GB" sz="2200" dirty="0">
                <a:sym typeface="Symbol" pitchFamily="18" charset="2"/>
              </a:rPr>
              <a:t>In the H</a:t>
            </a:r>
            <a:r>
              <a:rPr lang="en-GB" sz="2200" baseline="-25000" dirty="0">
                <a:sym typeface="Symbol" pitchFamily="18" charset="2"/>
              </a:rPr>
              <a:t>II</a:t>
            </a:r>
            <a:r>
              <a:rPr lang="en-GB" sz="2200" dirty="0">
                <a:sym typeface="Symbol" pitchFamily="18" charset="2"/>
              </a:rPr>
              <a:t> phase cylinders of water (typically 10-20 </a:t>
            </a:r>
            <a:r>
              <a:rPr lang="en-GB" sz="2200" dirty="0" err="1">
                <a:sym typeface="Symbol" pitchFamily="18" charset="2"/>
              </a:rPr>
              <a:t>Å</a:t>
            </a:r>
            <a:r>
              <a:rPr lang="en-GB" sz="2200" dirty="0">
                <a:sym typeface="Symbol" pitchFamily="18" charset="2"/>
              </a:rPr>
              <a:t> in diameter) are surrounded by amphiphiles with lattice dimensions of the order of 50 to 90 </a:t>
            </a:r>
            <a:r>
              <a:rPr lang="en-GB" sz="2200" dirty="0" err="1">
                <a:sym typeface="Symbol" pitchFamily="18" charset="2"/>
              </a:rPr>
              <a:t>Å</a:t>
            </a:r>
            <a:endParaRPr lang="en-GB" sz="2200" dirty="0">
              <a:sym typeface="Symbol" pitchFamily="18" charset="2"/>
            </a:endParaRPr>
          </a:p>
          <a:p>
            <a:pPr defTabSz="762000" eaLnBrk="1" hangingPunct="1">
              <a:lnSpc>
                <a:spcPct val="100000"/>
              </a:lnSpc>
              <a:buClrTx/>
              <a:buSzTx/>
              <a:buFontTx/>
              <a:buChar char="•"/>
            </a:pPr>
            <a:endParaRPr lang="en-GB" sz="2200" dirty="0">
              <a:sym typeface="Symbol" pitchFamily="18" charset="2"/>
            </a:endParaRPr>
          </a:p>
          <a:p>
            <a:pPr defTabSz="762000" eaLnBrk="1" hangingPunct="1">
              <a:lnSpc>
                <a:spcPct val="100000"/>
              </a:lnSpc>
              <a:buClrTx/>
              <a:buSzTx/>
              <a:buFontTx/>
              <a:buChar char="•"/>
            </a:pPr>
            <a:r>
              <a:rPr lang="en-GB" sz="2200" dirty="0">
                <a:sym typeface="Symbol" pitchFamily="18" charset="2"/>
              </a:rPr>
              <a:t>Implicated in membrane fusion 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1382AD-6C8B-0CD9-24DA-DE3899E001B0}"/>
              </a:ext>
            </a:extLst>
          </p:cNvPr>
          <p:cNvSpPr txBox="1"/>
          <p:nvPr/>
        </p:nvSpPr>
        <p:spPr>
          <a:xfrm>
            <a:off x="514223" y="1047029"/>
            <a:ext cx="79631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high-surface-area “mesoporous” material can be used in applications like catalysis and separations – pore size targets specific molecules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CA6EC0-5FD9-9134-D216-E8D24AF76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432" y="2247358"/>
            <a:ext cx="6655136" cy="44849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F24438-62C2-A120-04AE-BA2240E0F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4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Templated lyotropic phases</a:t>
            </a:r>
          </a:p>
        </p:txBody>
      </p:sp>
    </p:spTree>
    <p:extLst>
      <p:ext uri="{BB962C8B-B14F-4D97-AF65-F5344CB8AC3E}">
        <p14:creationId xmlns:p14="http://schemas.microsoft.com/office/powerpoint/2010/main" val="23554724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201556-8DA4-792E-A967-B151B3CD8D4C}"/>
              </a:ext>
            </a:extLst>
          </p:cNvPr>
          <p:cNvSpPr txBox="1"/>
          <p:nvPr/>
        </p:nvSpPr>
        <p:spPr>
          <a:xfrm>
            <a:off x="514223" y="1853825"/>
            <a:ext cx="79631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Mechanisms of formation for “mesoporous” MCM-41 silica. Offers tunable pore size for targeting different molecules and widely used in catalysis, catalyst supports and separations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03BBF5-6DBA-D87A-8966-8BBC07FF8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4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Templated lyotropic phases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6471D2-29A6-950D-9BBA-E4169811E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5" y="3526037"/>
            <a:ext cx="9144000" cy="163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8058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359B77-5B94-9305-174C-40A9C5423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4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Templated lyotropic phases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7F6458-7511-65B8-2568-B403893D8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70" y="1203864"/>
            <a:ext cx="2760845" cy="4803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AA3A65-49D5-1CE1-93BD-68CE8390A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050" y="1246673"/>
            <a:ext cx="3598271" cy="3831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770CB4-4F44-E791-C720-AFDDEFDBA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963" y="5145335"/>
            <a:ext cx="3214752" cy="13444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801008-DC37-E8B9-1CAD-D61537158F3B}"/>
              </a:ext>
            </a:extLst>
          </p:cNvPr>
          <p:cNvSpPr txBox="1"/>
          <p:nvPr/>
        </p:nvSpPr>
        <p:spPr>
          <a:xfrm>
            <a:off x="-826" y="6027003"/>
            <a:ext cx="52205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Wilts, B. D., </a:t>
            </a:r>
            <a:r>
              <a:rPr lang="en-GB" sz="12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Apeleo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2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Zubiri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B., Klatt, M. A., </a:t>
            </a:r>
            <a:r>
              <a:rPr lang="en-GB" sz="12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Butz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B., Fischer, M. G., Kelly, S. T., ... &amp; </a:t>
            </a:r>
            <a:r>
              <a:rPr lang="en-GB" sz="12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Schröder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-Turk, G. E. (2017). Butterfly gyroid nanostructures as a time-frozen glimpse of intracellular membrane development. </a:t>
            </a:r>
            <a:r>
              <a:rPr lang="en-GB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Science advances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2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(4), e1603119.</a:t>
            </a:r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7A236-C9C3-A1A9-CFA7-73681123DE04}"/>
              </a:ext>
            </a:extLst>
          </p:cNvPr>
          <p:cNvSpPr txBox="1"/>
          <p:nvPr/>
        </p:nvSpPr>
        <p:spPr>
          <a:xfrm>
            <a:off x="6732240" y="648433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9pPr>
          </a:lstStyle>
          <a:p>
            <a:r>
              <a:rPr lang="en-GB" sz="1600" dirty="0"/>
              <a:t>Background context</a:t>
            </a:r>
          </a:p>
        </p:txBody>
      </p:sp>
    </p:spTree>
    <p:extLst>
      <p:ext uri="{BB962C8B-B14F-4D97-AF65-F5344CB8AC3E}">
        <p14:creationId xmlns:p14="http://schemas.microsoft.com/office/powerpoint/2010/main" val="3277737669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7EA69F-B9C9-FFFF-28FC-6507699B9B63}"/>
              </a:ext>
            </a:extLst>
          </p:cNvPr>
          <p:cNvSpPr txBox="1"/>
          <p:nvPr/>
        </p:nvSpPr>
        <p:spPr>
          <a:xfrm>
            <a:off x="496562" y="1178750"/>
            <a:ext cx="86474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phase behaviour of amphiphiles can be rationalised on the basis of interfacial curvature.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can be analysed using differential geometry (assuming a continuous surfactant “film” 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on a molecular basis – </a:t>
            </a:r>
            <a:r>
              <a:rPr lang="en-GB" b="1" i="1" dirty="0"/>
              <a:t>molecular packing parameter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C62F76-7472-71D5-AF3B-D0C3C626A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10" y="3113965"/>
            <a:ext cx="3666074" cy="22495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032A21-CEAC-E057-91A0-DD21ABD62A61}"/>
              </a:ext>
            </a:extLst>
          </p:cNvPr>
          <p:cNvSpPr txBox="1"/>
          <p:nvPr/>
        </p:nvSpPr>
        <p:spPr>
          <a:xfrm>
            <a:off x="496562" y="5353069"/>
            <a:ext cx="86474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Structure formed depends on the relative size of the hydrophobic tail and hydrophilic head-group.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area per head group depends on the extent of hydration and therefore we refer to effective area per Headgroup.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5C2FE4-8EA1-F8AE-461F-14CB988FA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4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Lyotropic liquid crystals</a:t>
            </a:r>
          </a:p>
        </p:txBody>
      </p:sp>
    </p:spTree>
    <p:extLst>
      <p:ext uri="{BB962C8B-B14F-4D97-AF65-F5344CB8AC3E}">
        <p14:creationId xmlns:p14="http://schemas.microsoft.com/office/powerpoint/2010/main" val="2397255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1B9764-9E54-1348-B6D2-1A961AA31051}"/>
              </a:ext>
            </a:extLst>
          </p:cNvPr>
          <p:cNvSpPr txBox="1"/>
          <p:nvPr/>
        </p:nvSpPr>
        <p:spPr>
          <a:xfrm>
            <a:off x="557118" y="1259571"/>
            <a:ext cx="85868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now define a packing parameter, N</a:t>
            </a:r>
            <a:r>
              <a:rPr lang="en-GB" baseline="-25000" dirty="0"/>
              <a:t>s</a:t>
            </a:r>
            <a:r>
              <a:rPr lang="en-GB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Consider the micellar association number, 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For a spherical micelle, It can be written as the ratio of the micelle volume to the volume per molecule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4">
                <a:extLst>
                  <a:ext uri="{FF2B5EF4-FFF2-40B4-BE49-F238E27FC236}">
                    <a16:creationId xmlns:a16="http://schemas.microsoft.com/office/drawing/2014/main" id="{68431124-F3E8-2FBF-9A4A-6EF4AF02B36B}"/>
                  </a:ext>
                </a:extLst>
              </p:cNvPr>
              <p:cNvSpPr txBox="1"/>
              <p:nvPr/>
            </p:nvSpPr>
            <p:spPr bwMode="auto">
              <a:xfrm>
                <a:off x="1466655" y="2745358"/>
                <a:ext cx="1589098" cy="1029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𝑚𝑖𝑐</m:t>
                          </m:r>
                        </m:sub>
                      </m:sSub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Object 14">
                <a:extLst>
                  <a:ext uri="{FF2B5EF4-FFF2-40B4-BE49-F238E27FC236}">
                    <a16:creationId xmlns:a16="http://schemas.microsoft.com/office/drawing/2014/main" id="{68431124-F3E8-2FBF-9A4A-6EF4AF02B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6655" y="2745358"/>
                <a:ext cx="1589098" cy="10295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029306-2028-790E-8F1C-C70320B9CBAB}"/>
              </a:ext>
            </a:extLst>
          </p:cNvPr>
          <p:cNvCxnSpPr/>
          <p:nvPr/>
        </p:nvCxnSpPr>
        <p:spPr>
          <a:xfrm>
            <a:off x="3249533" y="3151207"/>
            <a:ext cx="1108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4">
                <a:extLst>
                  <a:ext uri="{FF2B5EF4-FFF2-40B4-BE49-F238E27FC236}">
                    <a16:creationId xmlns:a16="http://schemas.microsoft.com/office/drawing/2014/main" id="{2A76A507-4E39-D166-9037-DABDF34931D9}"/>
                  </a:ext>
                </a:extLst>
              </p:cNvPr>
              <p:cNvSpPr txBox="1"/>
              <p:nvPr/>
            </p:nvSpPr>
            <p:spPr bwMode="auto">
              <a:xfrm>
                <a:off x="4694938" y="2712898"/>
                <a:ext cx="1404938" cy="9159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GB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𝑚𝑜𝑙𝑒𝑐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Object 14">
                <a:extLst>
                  <a:ext uri="{FF2B5EF4-FFF2-40B4-BE49-F238E27FC236}">
                    <a16:creationId xmlns:a16="http://schemas.microsoft.com/office/drawing/2014/main" id="{2A76A507-4E39-D166-9037-DABDF3493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94938" y="2712898"/>
                <a:ext cx="1404938" cy="915988"/>
              </a:xfrm>
              <a:prstGeom prst="rect">
                <a:avLst/>
              </a:prstGeom>
              <a:blipFill>
                <a:blip r:embed="rId3"/>
                <a:stretch>
                  <a:fillRect b="-27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B4A850B-8677-3C19-8BEF-CD03E90D0257}"/>
              </a:ext>
            </a:extLst>
          </p:cNvPr>
          <p:cNvSpPr txBox="1"/>
          <p:nvPr/>
        </p:nvSpPr>
        <p:spPr>
          <a:xfrm>
            <a:off x="557118" y="3565306"/>
            <a:ext cx="7466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association number can similarly be calculated from the ratio of micellar area to the effective area per headgroup, 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4">
                <a:extLst>
                  <a:ext uri="{FF2B5EF4-FFF2-40B4-BE49-F238E27FC236}">
                    <a16:creationId xmlns:a16="http://schemas.microsoft.com/office/drawing/2014/main" id="{FCCB7EB2-AA2F-0257-9D44-15D2C2E3F28B}"/>
                  </a:ext>
                </a:extLst>
              </p:cNvPr>
              <p:cNvSpPr txBox="1"/>
              <p:nvPr/>
            </p:nvSpPr>
            <p:spPr bwMode="auto">
              <a:xfrm>
                <a:off x="3256749" y="4269481"/>
                <a:ext cx="1404938" cy="9159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GB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Object 14">
                <a:extLst>
                  <a:ext uri="{FF2B5EF4-FFF2-40B4-BE49-F238E27FC236}">
                    <a16:creationId xmlns:a16="http://schemas.microsoft.com/office/drawing/2014/main" id="{FCCB7EB2-AA2F-0257-9D44-15D2C2E3F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6749" y="4269481"/>
                <a:ext cx="1404938" cy="915988"/>
              </a:xfrm>
              <a:prstGeom prst="rect">
                <a:avLst/>
              </a:prstGeom>
              <a:blipFill>
                <a:blip r:embed="rId4"/>
                <a:stretch>
                  <a:fillRect l="-8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A0183904-748F-39F6-6D36-BF2FB68361DB}"/>
              </a:ext>
            </a:extLst>
          </p:cNvPr>
          <p:cNvSpPr txBox="1"/>
          <p:nvPr/>
        </p:nvSpPr>
        <p:spPr>
          <a:xfrm>
            <a:off x="5631735" y="4727475"/>
            <a:ext cx="2579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Equating the two expressions for p: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8261C7BB-3C48-E53B-A120-49D0F9EE464E}"/>
                  </a:ext>
                </a:extLst>
              </p:cNvPr>
              <p:cNvSpPr txBox="1"/>
              <p:nvPr/>
            </p:nvSpPr>
            <p:spPr bwMode="auto">
              <a:xfrm>
                <a:off x="3342695" y="5050641"/>
                <a:ext cx="1404938" cy="9159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𝑎𝑟</m:t>
                          </m:r>
                        </m:den>
                      </m:f>
                      <m:r>
                        <a:rPr lang="en-GB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8261C7BB-3C48-E53B-A120-49D0F9EE4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2695" y="5050641"/>
                <a:ext cx="1404938" cy="9159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7E04F8F-D254-C854-B629-EE7883B383CB}"/>
              </a:ext>
            </a:extLst>
          </p:cNvPr>
          <p:cNvSpPr txBox="1"/>
          <p:nvPr/>
        </p:nvSpPr>
        <p:spPr>
          <a:xfrm>
            <a:off x="5631735" y="5689629"/>
            <a:ext cx="3397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Since r cannot exceed the length of a fully extended chain, </a:t>
            </a:r>
            <a:r>
              <a:rPr lang="en-GB" i="1" dirty="0"/>
              <a:t>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4">
                <a:extLst>
                  <a:ext uri="{FF2B5EF4-FFF2-40B4-BE49-F238E27FC236}">
                    <a16:creationId xmlns:a16="http://schemas.microsoft.com/office/drawing/2014/main" id="{F934A2AE-A2E5-CEAD-8FE5-1D00F73132F5}"/>
                  </a:ext>
                </a:extLst>
              </p:cNvPr>
              <p:cNvSpPr txBox="1"/>
              <p:nvPr/>
            </p:nvSpPr>
            <p:spPr bwMode="auto">
              <a:xfrm>
                <a:off x="3342695" y="5966629"/>
                <a:ext cx="1404938" cy="9159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𝑎𝑙</m:t>
                          </m:r>
                        </m:den>
                      </m:f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GB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" name="Object 14">
                <a:extLst>
                  <a:ext uri="{FF2B5EF4-FFF2-40B4-BE49-F238E27FC236}">
                    <a16:creationId xmlns:a16="http://schemas.microsoft.com/office/drawing/2014/main" id="{F934A2AE-A2E5-CEAD-8FE5-1D00F7313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2695" y="5966629"/>
                <a:ext cx="1404938" cy="9159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0982718E-BF5E-ED58-8C61-8DAF57230E50}"/>
              </a:ext>
            </a:extLst>
          </p:cNvPr>
          <p:cNvSpPr txBox="1"/>
          <p:nvPr/>
        </p:nvSpPr>
        <p:spPr>
          <a:xfrm>
            <a:off x="93872" y="5966629"/>
            <a:ext cx="3397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LHS is the surfactant packing parameter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46482C-88C0-1D77-3265-102E6212A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4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Lyotropic liquid crystals</a:t>
            </a:r>
          </a:p>
        </p:txBody>
      </p:sp>
    </p:spTree>
    <p:extLst>
      <p:ext uri="{BB962C8B-B14F-4D97-AF65-F5344CB8AC3E}">
        <p14:creationId xmlns:p14="http://schemas.microsoft.com/office/powerpoint/2010/main" val="34246294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  <p:bldP spid="10" grpId="0"/>
      <p:bldP spid="11" grpId="0"/>
      <p:bldP spid="13" grpId="0"/>
      <p:bldP spid="14" grpId="0"/>
      <p:bldP spid="16" grpId="0"/>
      <p:bldP spid="17" grpId="0"/>
      <p:bldP spid="19" grpId="0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06FC6F-CB9F-9222-3E21-8898343BE862}"/>
              </a:ext>
            </a:extLst>
          </p:cNvPr>
          <p:cNvSpPr txBox="1"/>
          <p:nvPr/>
        </p:nvSpPr>
        <p:spPr>
          <a:xfrm>
            <a:off x="304800" y="1133745"/>
            <a:ext cx="8677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packing parameter depends on concentration, reflecting changes primarily in a, but also in V.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similar calculation to that for spherical micelles, leads to the following sequences of inequalities for different aggregate shapes: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E643F3-0CC9-D461-754B-7FBEC4327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315" y="3021400"/>
            <a:ext cx="7551370" cy="38169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8EA63B-313B-0CF7-DFFB-7F9A495A1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4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Lyotropic liquid crystals</a:t>
            </a:r>
          </a:p>
        </p:txBody>
      </p:sp>
    </p:spTree>
    <p:extLst>
      <p:ext uri="{BB962C8B-B14F-4D97-AF65-F5344CB8AC3E}">
        <p14:creationId xmlns:p14="http://schemas.microsoft.com/office/powerpoint/2010/main" val="8575080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32E957-296B-F9D9-0BB5-FA63D865C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4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Lyotropic liquid crystals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349E0B1-3B4D-8325-A27C-116688E63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11" y="2775304"/>
            <a:ext cx="1280155" cy="1307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DEBE7C65-D201-891D-4FBD-AD707E73C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27766" y="2727396"/>
            <a:ext cx="1503502" cy="1307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E9A810-AA72-E9AC-7C74-2AFC333DEC73}"/>
              </a:ext>
            </a:extLst>
          </p:cNvPr>
          <p:cNvSpPr txBox="1"/>
          <p:nvPr/>
        </p:nvSpPr>
        <p:spPr>
          <a:xfrm>
            <a:off x="170328" y="4101383"/>
            <a:ext cx="725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</a:t>
            </a:r>
            <a:r>
              <a:rPr lang="en-GB" baseline="-25000" dirty="0">
                <a:latin typeface="Symbol" pitchFamily="18" charset="2"/>
              </a:rPr>
              <a:t>a</a:t>
            </a:r>
            <a:endParaRPr lang="en-US" baseline="-25000" dirty="0">
              <a:latin typeface="Symbol" pitchFamily="18" charset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652056-3FF3-5041-2C98-EF906DB4544F}"/>
              </a:ext>
            </a:extLst>
          </p:cNvPr>
          <p:cNvSpPr txBox="1"/>
          <p:nvPr/>
        </p:nvSpPr>
        <p:spPr>
          <a:xfrm>
            <a:off x="1960829" y="4134843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51F363-811D-E7FB-F18F-C39C364DD359}"/>
              </a:ext>
            </a:extLst>
          </p:cNvPr>
          <p:cNvSpPr txBox="1"/>
          <p:nvPr/>
        </p:nvSpPr>
        <p:spPr>
          <a:xfrm>
            <a:off x="3362286" y="4127141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9C89CA-B1A6-DB89-803F-8D8679C81BAE}"/>
              </a:ext>
            </a:extLst>
          </p:cNvPr>
          <p:cNvSpPr txBox="1"/>
          <p:nvPr/>
        </p:nvSpPr>
        <p:spPr>
          <a:xfrm>
            <a:off x="4763743" y="408269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206067-7B89-63E8-8156-31B8A9230642}"/>
              </a:ext>
            </a:extLst>
          </p:cNvPr>
          <p:cNvSpPr txBox="1"/>
          <p:nvPr/>
        </p:nvSpPr>
        <p:spPr>
          <a:xfrm>
            <a:off x="6271603" y="4101383"/>
            <a:ext cx="706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</a:t>
            </a:r>
            <a:r>
              <a:rPr lang="en-GB" baseline="-25000" dirty="0"/>
              <a:t>II</a:t>
            </a:r>
            <a:endParaRPr lang="en-US" baseline="-25000" dirty="0"/>
          </a:p>
        </p:txBody>
      </p:sp>
      <p:pic>
        <p:nvPicPr>
          <p:cNvPr id="13" name="Picture 5">
            <a:extLst>
              <a:ext uri="{FF2B5EF4-FFF2-40B4-BE49-F238E27FC236}">
                <a16:creationId xmlns:a16="http://schemas.microsoft.com/office/drawing/2014/main" id="{7269ECA0-7EED-EF74-532B-8AE9270B0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78387" y="2748374"/>
            <a:ext cx="1500740" cy="1307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AD16BF-13B3-2C83-D821-2F57DDE246D2}"/>
              </a:ext>
            </a:extLst>
          </p:cNvPr>
          <p:cNvSpPr txBox="1"/>
          <p:nvPr/>
        </p:nvSpPr>
        <p:spPr>
          <a:xfrm>
            <a:off x="8057552" y="4134843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</a:t>
            </a:r>
            <a:r>
              <a:rPr lang="en-GB" baseline="-25000" dirty="0"/>
              <a:t>2</a:t>
            </a:r>
            <a:endParaRPr lang="en-US" baseline="-25000" dirty="0"/>
          </a:p>
        </p:txBody>
      </p:sp>
      <p:pic>
        <p:nvPicPr>
          <p:cNvPr id="15" name="Picture 14" descr="plumbers_blue.tif">
            <a:extLst>
              <a:ext uri="{FF2B5EF4-FFF2-40B4-BE49-F238E27FC236}">
                <a16:creationId xmlns:a16="http://schemas.microsoft.com/office/drawing/2014/main" id="{7578ACEC-EFD4-70AB-3F55-C8B698AFDC0D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533915" y="2769936"/>
            <a:ext cx="1282457" cy="1307393"/>
          </a:xfrm>
          <a:prstGeom prst="rect">
            <a:avLst/>
          </a:prstGeom>
        </p:spPr>
      </p:pic>
      <p:pic>
        <p:nvPicPr>
          <p:cNvPr id="16" name="Picture 15" descr="doublediamond_blue2.tif">
            <a:extLst>
              <a:ext uri="{FF2B5EF4-FFF2-40B4-BE49-F238E27FC236}">
                <a16:creationId xmlns:a16="http://schemas.microsoft.com/office/drawing/2014/main" id="{4162E1AD-9038-18F8-A638-DFBAE3B74794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977793" y="2721626"/>
            <a:ext cx="1340917" cy="1307393"/>
          </a:xfrm>
          <a:prstGeom prst="rect">
            <a:avLst/>
          </a:prstGeom>
        </p:spPr>
      </p:pic>
      <p:pic>
        <p:nvPicPr>
          <p:cNvPr id="17" name="Picture 16" descr="gyroid_blue2.tif">
            <a:extLst>
              <a:ext uri="{FF2B5EF4-FFF2-40B4-BE49-F238E27FC236}">
                <a16:creationId xmlns:a16="http://schemas.microsoft.com/office/drawing/2014/main" id="{725038F6-7816-9D53-9C0D-ECD2AEDFE2F1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425428" y="2745432"/>
            <a:ext cx="1337108" cy="1307393"/>
          </a:xfrm>
          <a:prstGeom prst="rect">
            <a:avLst/>
          </a:prstGeom>
        </p:spPr>
      </p:pic>
      <p:sp>
        <p:nvSpPr>
          <p:cNvPr id="2" name="Right Arrow 1">
            <a:extLst>
              <a:ext uri="{FF2B5EF4-FFF2-40B4-BE49-F238E27FC236}">
                <a16:creationId xmlns:a16="http://schemas.microsoft.com/office/drawing/2014/main" id="{51DFD96E-A639-8A2C-348D-B1622B4D20D7}"/>
              </a:ext>
            </a:extLst>
          </p:cNvPr>
          <p:cNvSpPr/>
          <p:nvPr/>
        </p:nvSpPr>
        <p:spPr bwMode="auto">
          <a:xfrm>
            <a:off x="2197894" y="4824155"/>
            <a:ext cx="4737688" cy="360040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dg Vest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9122CD-2B12-EF43-3E53-3FA9B8023751}"/>
              </a:ext>
            </a:extLst>
          </p:cNvPr>
          <p:cNvSpPr txBox="1"/>
          <p:nvPr/>
        </p:nvSpPr>
        <p:spPr>
          <a:xfrm>
            <a:off x="2510432" y="5241394"/>
            <a:ext cx="4103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Increasing negative curvature</a:t>
            </a:r>
          </a:p>
        </p:txBody>
      </p:sp>
    </p:spTree>
    <p:extLst>
      <p:ext uri="{BB962C8B-B14F-4D97-AF65-F5344CB8AC3E}">
        <p14:creationId xmlns:p14="http://schemas.microsoft.com/office/powerpoint/2010/main" val="9757452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478AFD-955B-B87B-B21C-4756AAE83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847FD-5BC7-C8A3-4E43-F61E16AB5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Today we have:</a:t>
            </a:r>
            <a:br>
              <a:rPr lang="en-GB" dirty="0"/>
            </a:br>
            <a:r>
              <a:rPr lang="en-GB" dirty="0"/>
              <a:t>Understood the switching mechanism of liquid crystal displays</a:t>
            </a:r>
            <a:br>
              <a:rPr lang="en-GB" dirty="0"/>
            </a:br>
            <a:r>
              <a:rPr lang="en-GB" dirty="0"/>
              <a:t>Described the different phase behaviour of thermotropic and lyotropic liquid crystals</a:t>
            </a:r>
            <a:br>
              <a:rPr lang="en-GB" dirty="0"/>
            </a:br>
            <a:r>
              <a:rPr lang="en-GB" dirty="0"/>
              <a:t>Related the molecular packing parameter to different </a:t>
            </a:r>
            <a:r>
              <a:rPr lang="en-GB"/>
              <a:t>lyotropic liquid crystal phases.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1A475D-4652-2CDF-44F7-5741AD665D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6FD51-1015-4304-9645-AC62F2AE25BF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926703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338315-65F1-B703-0501-FFBC45DCB4F9}"/>
              </a:ext>
            </a:extLst>
          </p:cNvPr>
          <p:cNvSpPr txBox="1"/>
          <p:nvPr/>
        </p:nvSpPr>
        <p:spPr>
          <a:xfrm>
            <a:off x="476545" y="1481026"/>
            <a:ext cx="7650849" cy="3834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2800" dirty="0"/>
              <a:t>Summary: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altLang="en-US" sz="2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dirty="0"/>
              <a:t>Surface and interfacial tension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dirty="0" err="1"/>
              <a:t>Surfactancy</a:t>
            </a:r>
            <a:endParaRPr lang="en-GB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dirty="0"/>
              <a:t>Gibbs adsorption isotherms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dirty="0"/>
              <a:t>Micellization and surface activity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dirty="0"/>
              <a:t>Critical micelle concentration as equilibrium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dirty="0"/>
              <a:t>Thermodynamics of micellization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dirty="0"/>
              <a:t>Liquid crystal phases</a:t>
            </a:r>
          </a:p>
          <a:p>
            <a:pPr algn="l">
              <a:lnSpc>
                <a:spcPct val="80000"/>
              </a:lnSpc>
            </a:pPr>
            <a:r>
              <a:rPr lang="en-GB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958282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right colours jl">
  <a:themeElements>
    <a:clrScheme name="Bright colours jl 1">
      <a:dk1>
        <a:srgbClr val="000000"/>
      </a:dk1>
      <a:lt1>
        <a:srgbClr val="F8F8F8"/>
      </a:lt1>
      <a:dk2>
        <a:srgbClr val="BF0071"/>
      </a:dk2>
      <a:lt2>
        <a:srgbClr val="1C1C1C"/>
      </a:lt2>
      <a:accent1>
        <a:srgbClr val="BF0071"/>
      </a:accent1>
      <a:accent2>
        <a:srgbClr val="808080"/>
      </a:accent2>
      <a:accent3>
        <a:srgbClr val="FBFBFB"/>
      </a:accent3>
      <a:accent4>
        <a:srgbClr val="000000"/>
      </a:accent4>
      <a:accent5>
        <a:srgbClr val="DCAABB"/>
      </a:accent5>
      <a:accent6>
        <a:srgbClr val="737373"/>
      </a:accent6>
      <a:hlink>
        <a:srgbClr val="BF0071"/>
      </a:hlink>
      <a:folHlink>
        <a:srgbClr val="777777"/>
      </a:folHlink>
    </a:clrScheme>
    <a:fontScheme name="Bright colours jl">
      <a:majorFont>
        <a:latin typeface="Rdg Vesta"/>
        <a:ea typeface=""/>
        <a:cs typeface=""/>
      </a:majorFont>
      <a:minorFont>
        <a:latin typeface="Rdg Ves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>
    <a:extraClrScheme>
      <a:clrScheme name="Bright colours jl 1">
        <a:dk1>
          <a:srgbClr val="000000"/>
        </a:dk1>
        <a:lt1>
          <a:srgbClr val="F8F8F8"/>
        </a:lt1>
        <a:dk2>
          <a:srgbClr val="BF0071"/>
        </a:dk2>
        <a:lt2>
          <a:srgbClr val="1C1C1C"/>
        </a:lt2>
        <a:accent1>
          <a:srgbClr val="BF0071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DCAABB"/>
        </a:accent5>
        <a:accent6>
          <a:srgbClr val="737373"/>
        </a:accent6>
        <a:hlink>
          <a:srgbClr val="BF0071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2">
        <a:dk1>
          <a:srgbClr val="000000"/>
        </a:dk1>
        <a:lt1>
          <a:srgbClr val="F8F8F8"/>
        </a:lt1>
        <a:dk2>
          <a:srgbClr val="642864"/>
        </a:dk2>
        <a:lt2>
          <a:srgbClr val="1C1C1C"/>
        </a:lt2>
        <a:accent1>
          <a:srgbClr val="642864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B8ACB8"/>
        </a:accent5>
        <a:accent6>
          <a:srgbClr val="737373"/>
        </a:accent6>
        <a:hlink>
          <a:srgbClr val="642864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3">
        <a:dk1>
          <a:srgbClr val="000000"/>
        </a:dk1>
        <a:lt1>
          <a:srgbClr val="F8F8F8"/>
        </a:lt1>
        <a:dk2>
          <a:srgbClr val="0F5C9D"/>
        </a:dk2>
        <a:lt2>
          <a:srgbClr val="1C1C1C"/>
        </a:lt2>
        <a:accent1>
          <a:srgbClr val="0F5C9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B5CC"/>
        </a:accent5>
        <a:accent6>
          <a:srgbClr val="737373"/>
        </a:accent6>
        <a:hlink>
          <a:srgbClr val="0F5C9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4">
        <a:dk1>
          <a:srgbClr val="000000"/>
        </a:dk1>
        <a:lt1>
          <a:srgbClr val="F8F8F8"/>
        </a:lt1>
        <a:dk2>
          <a:srgbClr val="FF6600"/>
        </a:dk2>
        <a:lt2>
          <a:srgbClr val="1C1C1C"/>
        </a:lt2>
        <a:accent1>
          <a:srgbClr val="FF6600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FFB8AA"/>
        </a:accent5>
        <a:accent6>
          <a:srgbClr val="737373"/>
        </a:accent6>
        <a:hlink>
          <a:srgbClr val="FF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5">
        <a:dk1>
          <a:srgbClr val="000000"/>
        </a:dk1>
        <a:lt1>
          <a:srgbClr val="F8F8F8"/>
        </a:lt1>
        <a:dk2>
          <a:srgbClr val="12AD2B"/>
        </a:dk2>
        <a:lt2>
          <a:srgbClr val="1C1C1C"/>
        </a:lt2>
        <a:accent1>
          <a:srgbClr val="12AD2B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D3AC"/>
        </a:accent5>
        <a:accent6>
          <a:srgbClr val="737373"/>
        </a:accent6>
        <a:hlink>
          <a:srgbClr val="12AD2B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Rdg_PP_without_R_WHITE_slides</Template>
  <TotalTime>0</TotalTime>
  <Words>1612</Words>
  <Application>Microsoft Office PowerPoint</Application>
  <PresentationFormat>On-screen Show (4:3)</PresentationFormat>
  <Paragraphs>207</Paragraphs>
  <Slides>38</Slides>
  <Notes>2</Notes>
  <HiddenSlides>1</HiddenSlides>
  <MMClips>4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Rdg Vesta</vt:lpstr>
      <vt:lpstr>Arial</vt:lpstr>
      <vt:lpstr>Calibri</vt:lpstr>
      <vt:lpstr>Times New Roman</vt:lpstr>
      <vt:lpstr>Cambria Math</vt:lpstr>
      <vt:lpstr>Symbol</vt:lpstr>
      <vt:lpstr>Bright colours jl</vt:lpstr>
      <vt:lpstr>CH2PH2:  Surfaces and Interfaces </vt:lpstr>
      <vt:lpstr>PowerPoint Presentation</vt:lpstr>
      <vt:lpstr>What are liquid crystals?</vt:lpstr>
      <vt:lpstr>Crystal</vt:lpstr>
      <vt:lpstr>S= 1</vt:lpstr>
      <vt:lpstr>PowerPoint Presentation</vt:lpstr>
      <vt:lpstr>Second law of thermodynamics</vt:lpstr>
      <vt:lpstr>PowerPoint Presentation</vt:lpstr>
      <vt:lpstr>Typical liquid crystal molecules</vt:lpstr>
      <vt:lpstr>Liquid crystal displays (LCDs)</vt:lpstr>
      <vt:lpstr>LCDs</vt:lpstr>
      <vt:lpstr>Pixel size in LCD displays</vt:lpstr>
      <vt:lpstr>A simple LC display pixel</vt:lpstr>
      <vt:lpstr>Crossed polarizers</vt:lpstr>
      <vt:lpstr>Crossed polarizers</vt:lpstr>
      <vt:lpstr>LCDs</vt:lpstr>
      <vt:lpstr>The Frederiks (Fréedericksz) Transition</vt:lpstr>
      <vt:lpstr>New LC technologies</vt:lpstr>
      <vt:lpstr>PowerPoint Presentation</vt:lpstr>
      <vt:lpstr>Chemical sensors</vt:lpstr>
      <vt:lpstr>Families of liquid crystals</vt:lpstr>
      <vt:lpstr>PowerPoint Presentation</vt:lpstr>
      <vt:lpstr>PowerPoint Presentation</vt:lpstr>
      <vt:lpstr>PowerPoint Presentation</vt:lpstr>
      <vt:lpstr>PowerPoint Presentation</vt:lpstr>
      <vt:lpstr>The lamellar phase</vt:lpstr>
      <vt:lpstr>PowerPoint Presentation</vt:lpstr>
      <vt:lpstr>Biological relevance</vt:lpstr>
      <vt:lpstr>The hexagonal phase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Outcomes</vt:lpstr>
      <vt:lpstr>PowerPoint Presentation</vt:lpstr>
    </vt:vector>
  </TitlesOfParts>
  <Company>University of Reading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scs07dn</dc:creator>
  <cp:lastModifiedBy>James Hallett</cp:lastModifiedBy>
  <cp:revision>395</cp:revision>
  <cp:lastPrinted>2006-09-19T14:59:33Z</cp:lastPrinted>
  <dcterms:created xsi:type="dcterms:W3CDTF">2009-08-10T15:23:00Z</dcterms:created>
  <dcterms:modified xsi:type="dcterms:W3CDTF">2026-03-17T15:58:00Z</dcterms:modified>
</cp:coreProperties>
</file>