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402" r:id="rId2"/>
    <p:sldId id="533" r:id="rId3"/>
    <p:sldId id="516" r:id="rId4"/>
    <p:sldId id="535" r:id="rId5"/>
    <p:sldId id="517" r:id="rId6"/>
    <p:sldId id="515" r:id="rId7"/>
    <p:sldId id="514" r:id="rId8"/>
    <p:sldId id="518" r:id="rId9"/>
    <p:sldId id="502" r:id="rId10"/>
    <p:sldId id="511" r:id="rId11"/>
    <p:sldId id="519" r:id="rId12"/>
    <p:sldId id="520" r:id="rId13"/>
    <p:sldId id="521" r:id="rId14"/>
    <p:sldId id="522" r:id="rId15"/>
    <p:sldId id="503" r:id="rId16"/>
    <p:sldId id="523" r:id="rId17"/>
    <p:sldId id="534" r:id="rId18"/>
    <p:sldId id="414" r:id="rId19"/>
    <p:sldId id="504" r:id="rId20"/>
    <p:sldId id="524" r:id="rId21"/>
    <p:sldId id="536" r:id="rId22"/>
    <p:sldId id="510" r:id="rId23"/>
    <p:sldId id="525" r:id="rId24"/>
    <p:sldId id="526" r:id="rId25"/>
    <p:sldId id="527" r:id="rId26"/>
    <p:sldId id="528" r:id="rId27"/>
    <p:sldId id="529" r:id="rId28"/>
    <p:sldId id="530" r:id="rId29"/>
    <p:sldId id="531" r:id="rId30"/>
    <p:sldId id="532" r:id="rId31"/>
    <p:sldId id="537" r:id="rId32"/>
  </p:sldIdLst>
  <p:sldSz cx="9144000" cy="6858000" type="screen4x3"/>
  <p:notesSz cx="7099300" cy="10234613"/>
  <p:embeddedFontLst>
    <p:embeddedFont>
      <p:font typeface="Cambria Math" panose="02040503050406030204" pitchFamily="18" charset="0"/>
      <p:regular r:id="rId35"/>
    </p:embeddedFont>
    <p:embeddedFont>
      <p:font typeface="Rdg Vesta" panose="02000503060000020004" pitchFamily="2" charset="0"/>
      <p:regular r:id="rId36"/>
      <p:bold r:id="rId37"/>
      <p:italic r:id="rId38"/>
      <p:boldItalic r:id="rId39"/>
    </p:embeddedFont>
    <p:embeddedFont>
      <p:font typeface="Times" panose="02020603050405020304" pitchFamily="18" charset="0"/>
      <p:regular r:id="rId40"/>
      <p:bold r:id="rId41"/>
      <p:italic r:id="rId42"/>
      <p:boldItalic r:id="rId43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AF35"/>
    <a:srgbClr val="FFFFCC"/>
    <a:srgbClr val="D799A1"/>
    <a:srgbClr val="000000"/>
    <a:srgbClr val="BF0071"/>
    <a:srgbClr val="F3F3F3"/>
    <a:srgbClr val="F0F0F0"/>
    <a:srgbClr val="EEEEEE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34" autoAdjust="0"/>
    <p:restoredTop sz="92616" autoAdjust="0"/>
  </p:normalViewPr>
  <p:slideViewPr>
    <p:cSldViewPr>
      <p:cViewPr varScale="1">
        <p:scale>
          <a:sx n="114" d="100"/>
          <a:sy n="114" d="100"/>
        </p:scale>
        <p:origin x="146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Hallett" userId="c714d19a-e50d-439a-876c-0e1be1458f92" providerId="ADAL" clId="{9E63729E-F98D-59AE-8FA6-FDDC881E90FE}"/>
    <pc:docChg chg="custSel addSld delSld modSld">
      <pc:chgData name="James Hallett" userId="c714d19a-e50d-439a-876c-0e1be1458f92" providerId="ADAL" clId="{9E63729E-F98D-59AE-8FA6-FDDC881E90FE}" dt="2026-02-10T09:56:11.676" v="561" actId="20577"/>
      <pc:docMkLst>
        <pc:docMk/>
      </pc:docMkLst>
      <pc:sldChg chg="addSp modSp new mod">
        <pc:chgData name="James Hallett" userId="c714d19a-e50d-439a-876c-0e1be1458f92" providerId="ADAL" clId="{9E63729E-F98D-59AE-8FA6-FDDC881E90FE}" dt="2026-02-10T09:48:45.740" v="128" actId="20577"/>
        <pc:sldMkLst>
          <pc:docMk/>
          <pc:sldMk cId="2558055401" sldId="536"/>
        </pc:sldMkLst>
        <pc:spChg chg="mod">
          <ac:chgData name="James Hallett" userId="c714d19a-e50d-439a-876c-0e1be1458f92" providerId="ADAL" clId="{9E63729E-F98D-59AE-8FA6-FDDC881E90FE}" dt="2026-02-10T09:46:16.280" v="86" actId="20577"/>
          <ac:spMkLst>
            <pc:docMk/>
            <pc:sldMk cId="2558055401" sldId="536"/>
            <ac:spMk id="2" creationId="{9EC995AD-F0D4-3C95-EAB7-F3BDEEB718E8}"/>
          </ac:spMkLst>
        </pc:spChg>
        <pc:spChg chg="mod">
          <ac:chgData name="James Hallett" userId="c714d19a-e50d-439a-876c-0e1be1458f92" providerId="ADAL" clId="{9E63729E-F98D-59AE-8FA6-FDDC881E90FE}" dt="2026-02-10T09:48:45.740" v="128" actId="20577"/>
          <ac:spMkLst>
            <pc:docMk/>
            <pc:sldMk cId="2558055401" sldId="536"/>
            <ac:spMk id="3" creationId="{C0101929-2C5B-5FBD-47F4-3AAB460CC714}"/>
          </ac:spMkLst>
        </pc:spChg>
        <pc:spChg chg="add mod">
          <ac:chgData name="James Hallett" userId="c714d19a-e50d-439a-876c-0e1be1458f92" providerId="ADAL" clId="{9E63729E-F98D-59AE-8FA6-FDDC881E90FE}" dt="2026-02-10T09:45:07.740" v="10" actId="1076"/>
          <ac:spMkLst>
            <pc:docMk/>
            <pc:sldMk cId="2558055401" sldId="536"/>
            <ac:spMk id="6" creationId="{F8CB4F4D-E8C3-983D-DAF6-CED671754BB7}"/>
          </ac:spMkLst>
        </pc:spChg>
        <pc:spChg chg="add mod">
          <ac:chgData name="James Hallett" userId="c714d19a-e50d-439a-876c-0e1be1458f92" providerId="ADAL" clId="{9E63729E-F98D-59AE-8FA6-FDDC881E90FE}" dt="2026-02-10T09:45:01.481" v="9" actId="1076"/>
          <ac:spMkLst>
            <pc:docMk/>
            <pc:sldMk cId="2558055401" sldId="536"/>
            <ac:spMk id="8" creationId="{D34A79CF-0FF1-AAE6-4A86-FEE470A2EBFD}"/>
          </ac:spMkLst>
        </pc:spChg>
        <pc:spChg chg="add mod">
          <ac:chgData name="James Hallett" userId="c714d19a-e50d-439a-876c-0e1be1458f92" providerId="ADAL" clId="{9E63729E-F98D-59AE-8FA6-FDDC881E90FE}" dt="2026-02-10T09:45:34.488" v="21" actId="1076"/>
          <ac:spMkLst>
            <pc:docMk/>
            <pc:sldMk cId="2558055401" sldId="536"/>
            <ac:spMk id="9" creationId="{BCFC2F65-8959-28F7-2235-F9CA4CF53AE7}"/>
          </ac:spMkLst>
        </pc:spChg>
      </pc:sldChg>
      <pc:sldChg chg="modSp new mod">
        <pc:chgData name="James Hallett" userId="c714d19a-e50d-439a-876c-0e1be1458f92" providerId="ADAL" clId="{9E63729E-F98D-59AE-8FA6-FDDC881E90FE}" dt="2026-02-10T09:56:11.676" v="561" actId="20577"/>
        <pc:sldMkLst>
          <pc:docMk/>
          <pc:sldMk cId="522686481" sldId="537"/>
        </pc:sldMkLst>
        <pc:spChg chg="mod">
          <ac:chgData name="James Hallett" userId="c714d19a-e50d-439a-876c-0e1be1458f92" providerId="ADAL" clId="{9E63729E-F98D-59AE-8FA6-FDDC881E90FE}" dt="2026-02-10T09:53:18.655" v="150" actId="20577"/>
          <ac:spMkLst>
            <pc:docMk/>
            <pc:sldMk cId="522686481" sldId="537"/>
            <ac:spMk id="2" creationId="{D3C89B48-E3DB-1C08-B39C-1BBDF65617D5}"/>
          </ac:spMkLst>
        </pc:spChg>
        <pc:spChg chg="mod">
          <ac:chgData name="James Hallett" userId="c714d19a-e50d-439a-876c-0e1be1458f92" providerId="ADAL" clId="{9E63729E-F98D-59AE-8FA6-FDDC881E90FE}" dt="2026-02-10T09:56:11.676" v="561" actId="20577"/>
          <ac:spMkLst>
            <pc:docMk/>
            <pc:sldMk cId="522686481" sldId="537"/>
            <ac:spMk id="3" creationId="{BE7E8605-3446-BD40-D114-B36F98EF9962}"/>
          </ac:spMkLst>
        </pc:spChg>
      </pc:sldChg>
      <pc:sldChg chg="add del">
        <pc:chgData name="James Hallett" userId="c714d19a-e50d-439a-876c-0e1be1458f92" providerId="ADAL" clId="{9E63729E-F98D-59AE-8FA6-FDDC881E90FE}" dt="2026-02-10T09:49:37.592" v="130" actId="2696"/>
        <pc:sldMkLst>
          <pc:docMk/>
          <pc:sldMk cId="2074068559" sldId="537"/>
        </pc:sldMkLst>
      </pc:sldChg>
      <pc:sldChg chg="add del">
        <pc:chgData name="James Hallett" userId="c714d19a-e50d-439a-876c-0e1be1458f92" providerId="ADAL" clId="{9E63729E-F98D-59AE-8FA6-FDDC881E90FE}" dt="2026-02-10T09:49:31.741" v="129" actId="2696"/>
        <pc:sldMkLst>
          <pc:docMk/>
          <pc:sldMk cId="883463993" sldId="53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14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14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fld id="{DC1C926E-E5D6-49FD-80FB-3D308DC41FF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98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37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596" y="4862101"/>
            <a:ext cx="5680111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37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00D5460-E14D-44CF-821C-69F40963C65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3285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64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9660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2129B-9E75-4EF0-B085-A41874AE2D06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124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2129B-9E75-4EF0-B085-A41874AE2D06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255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7% of all steel production each year is to replace corroded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D3A694-178D-4CC9-A5AF-34B51CDBC302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192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43FF03-61B9-4409-AB77-F7D050D23B74}" type="slidenum">
              <a:rPr lang="en-US"/>
              <a:pPr/>
              <a:t>8</a:t>
            </a:fld>
            <a:endParaRPr 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5700" y="685800"/>
            <a:ext cx="4562475" cy="3421063"/>
          </a:xfrm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774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D3A694-178D-4CC9-A5AF-34B51CDBC302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842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2129B-9E75-4EF0-B085-A41874AE2D06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123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2129B-9E75-4EF0-B085-A41874AE2D06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774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32129B-9E75-4EF0-B085-A41874AE2D06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844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D3A694-178D-4CC9-A5AF-34B51CDBC302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082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D3A694-178D-4CC9-A5AF-34B51CDBC302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557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97F949-269E-422A-AD12-AEB5C6CFCE95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376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97F949-269E-422A-AD12-AEB5C6CFCE95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259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717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059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688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A581BF-0B96-461D-982D-3060AE79646D}" type="slidenum">
              <a:rPr lang="en-US"/>
              <a:pPr/>
              <a:t>23</a:t>
            </a:fld>
            <a:endParaRPr 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5700" y="685800"/>
            <a:ext cx="4562475" cy="3421063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700" y="4335860"/>
            <a:ext cx="5496476" cy="4107656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706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823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185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808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927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151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206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FEFE46-AE24-4E53-AD6D-4735C2BF900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92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4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3111" name="Picture 39" descr="Device-bl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755650" y="2987675"/>
            <a:ext cx="7920038" cy="2387600"/>
          </a:xfrm>
        </p:spPr>
        <p:txBody>
          <a:bodyPr wrap="square"/>
          <a:lstStyle>
            <a:lvl1pPr>
              <a:lnSpc>
                <a:spcPct val="90000"/>
              </a:lnSpc>
              <a:tabLst>
                <a:tab pos="4038600" algn="l"/>
              </a:tabLst>
              <a:defRPr sz="820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755650" y="5373688"/>
            <a:ext cx="7920038" cy="925512"/>
          </a:xfrm>
        </p:spPr>
        <p:txBody>
          <a:bodyPr/>
          <a:lstStyle>
            <a:lvl1pPr marL="0" indent="0">
              <a:buFontTx/>
              <a:buNone/>
              <a:defRPr sz="3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5651" y="6519863"/>
            <a:ext cx="1773238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901E09E9-B828-4F07-8691-56061D7C279E}" type="datetime4">
              <a:rPr lang="en-GB"/>
              <a:pPr/>
              <a:t>10 February 2026</a:t>
            </a:fld>
            <a:endParaRPr lang="en-GB"/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2555876" y="6519863"/>
            <a:ext cx="43926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© University of Reading 2008</a:t>
            </a:r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5292725" y="6519863"/>
            <a:ext cx="3446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400" b="1">
                <a:solidFill>
                  <a:schemeClr val="tx2"/>
                </a:solidFill>
              </a:rPr>
              <a:t>www.reading.ac.uk</a:t>
            </a:r>
          </a:p>
        </p:txBody>
      </p:sp>
      <p:sp>
        <p:nvSpPr>
          <p:cNvPr id="3108" name="Rectangle 36"/>
          <p:cNvSpPr>
            <a:spLocks noChangeArrowheads="1"/>
          </p:cNvSpPr>
          <p:nvPr/>
        </p:nvSpPr>
        <p:spPr bwMode="hidden">
          <a:xfrm>
            <a:off x="6588126" y="2"/>
            <a:ext cx="2555875" cy="1196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855664" y="333375"/>
            <a:ext cx="36718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300" b="1"/>
              <a:t>Go to View &gt; Master &gt; Slide Master </a:t>
            </a:r>
            <a:br>
              <a:rPr lang="en-GB" sz="1300" b="1"/>
            </a:br>
            <a:r>
              <a:rPr lang="en-GB" sz="1300" b="1"/>
              <a:t>to put your unit name here</a:t>
            </a:r>
          </a:p>
        </p:txBody>
      </p:sp>
      <p:pic>
        <p:nvPicPr>
          <p:cNvPr id="3107" name="Picture 35" descr="Device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114" name="Picture 42" descr="powerpoint-imag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41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14" name="Picture 39" descr="Device-bl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</p:spPr>
      </p:pic>
      <p:pic>
        <p:nvPicPr>
          <p:cNvPr id="15" name="Picture 42" descr="powerpoint-images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9D1556-5B33-4675-B4F7-DF410413AB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12036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A0146E-E93F-40FA-95C0-5D26FF87133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42907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7426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953796-1D7D-417A-8CFA-8A437F7CE2F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00308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80D11D-4F9A-40E8-A8A2-19DCF54851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68726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BBB062-E9BC-46FC-A221-AD28C64C617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4375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36FD51-1015-4304-9645-AC62F2AE25B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59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398DC1-42D3-4E19-9786-FDC6B5B993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13775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4F427-71DA-42BF-9A23-26EEB255A7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60868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55E386-501C-4B8D-95FE-5F35F50D7F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5532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4014" y="274638"/>
            <a:ext cx="1982787" cy="5668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274638"/>
            <a:ext cx="5795963" cy="5668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D204FA-AD45-4274-8CB5-C19925E50E4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34144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Picture 53" descr="Device-black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1" y="274638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600200"/>
            <a:ext cx="793115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16888" y="6281738"/>
            <a:ext cx="6762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/>
            </a:lvl1pPr>
          </a:lstStyle>
          <a:p>
            <a:fld id="{B840E540-F2F8-41E1-849D-65A0688D08A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55651" y="6519863"/>
            <a:ext cx="6337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400" dirty="0"/>
          </a:p>
        </p:txBody>
      </p:sp>
      <p:pic>
        <p:nvPicPr>
          <p:cNvPr id="1074" name="Picture 50" descr="Device-win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2"/>
            <a:ext cx="1184275" cy="385763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079" name="Picture 55" descr="Device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CH2PH2: </a:t>
            </a:r>
            <a:br>
              <a:rPr lang="en-US" sz="4800" dirty="0"/>
            </a:br>
            <a:r>
              <a:rPr lang="en-US" sz="4800" dirty="0"/>
              <a:t>Chemical Kinetics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5004175"/>
            <a:ext cx="7920038" cy="925512"/>
          </a:xfrm>
        </p:spPr>
        <p:txBody>
          <a:bodyPr/>
          <a:lstStyle/>
          <a:p>
            <a:r>
              <a:rPr lang="en-US" dirty="0"/>
              <a:t>Dr. James Hallett</a:t>
            </a:r>
          </a:p>
          <a:p>
            <a:r>
              <a:rPr lang="en-US" dirty="0"/>
              <a:t>j.e.hallett@reading.ac.uk</a:t>
            </a:r>
          </a:p>
        </p:txBody>
      </p:sp>
    </p:spTree>
    <p:extLst>
      <p:ext uri="{BB962C8B-B14F-4D97-AF65-F5344CB8AC3E}">
        <p14:creationId xmlns:p14="http://schemas.microsoft.com/office/powerpoint/2010/main" val="1137376584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CH2PH/OR/IN2: </a:t>
            </a:r>
            <a:br>
              <a:rPr lang="en-US" sz="4800" dirty="0"/>
            </a:br>
            <a:r>
              <a:rPr lang="en-US" sz="4800" dirty="0"/>
              <a:t>Chemical Kinetics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5004175"/>
            <a:ext cx="7920038" cy="925512"/>
          </a:xfrm>
        </p:spPr>
        <p:txBody>
          <a:bodyPr/>
          <a:lstStyle/>
          <a:p>
            <a:r>
              <a:rPr lang="en-US" dirty="0"/>
              <a:t>Dr. James Hallett</a:t>
            </a:r>
          </a:p>
          <a:p>
            <a:r>
              <a:rPr lang="en-US" dirty="0"/>
              <a:t>j.e.hallett@reading.ac.uk</a:t>
            </a:r>
          </a:p>
        </p:txBody>
      </p:sp>
    </p:spTree>
    <p:extLst>
      <p:ext uri="{BB962C8B-B14F-4D97-AF65-F5344CB8AC3E}">
        <p14:creationId xmlns:p14="http://schemas.microsoft.com/office/powerpoint/2010/main" val="1062169470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65E50-8371-4403-86EB-215EEB55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Kinetics in organic chemistry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D719E-188E-4D1C-A487-67466466B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88840"/>
            <a:ext cx="5204444" cy="223224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F32C58-268B-4958-83E0-1AB311389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4344875"/>
            <a:ext cx="6300192" cy="65456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1F2A3B-9B34-40F2-AE17-B33E424EB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5123224"/>
            <a:ext cx="7164288" cy="74772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9CA229-7766-49ED-8146-0406403F2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0235" y="2267559"/>
            <a:ext cx="2117345" cy="27318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207279-697F-CFFB-C8B5-DE60A9958F24}"/>
              </a:ext>
            </a:extLst>
          </p:cNvPr>
          <p:cNvSpPr txBox="1"/>
          <p:nvPr/>
        </p:nvSpPr>
        <p:spPr>
          <a:xfrm>
            <a:off x="180684" y="5949280"/>
            <a:ext cx="8730970" cy="83099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Good yield = optimise reaction to increase the rate of the thing you want, decrease the rates of byproducts</a:t>
            </a:r>
          </a:p>
        </p:txBody>
      </p:sp>
    </p:spTree>
    <p:extLst>
      <p:ext uri="{BB962C8B-B14F-4D97-AF65-F5344CB8AC3E}">
        <p14:creationId xmlns:p14="http://schemas.microsoft.com/office/powerpoint/2010/main" val="1863216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66" name="Rectangle 26"/>
          <p:cNvSpPr>
            <a:spLocks noChangeArrowheads="1"/>
          </p:cNvSpPr>
          <p:nvPr/>
        </p:nvSpPr>
        <p:spPr bwMode="auto">
          <a:xfrm>
            <a:off x="-198276" y="1988840"/>
            <a:ext cx="9234772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 algn="l"/>
            <a:r>
              <a:rPr lang="en-GB" sz="2600"/>
              <a:t>If we understand the kinetics of a chemical reaction, we understand:</a:t>
            </a:r>
          </a:p>
          <a:p>
            <a:pPr lvl="2">
              <a:buFontTx/>
              <a:buChar char="•"/>
            </a:pPr>
            <a:r>
              <a:rPr lang="en-GB" sz="2600"/>
              <a:t>How quickly we convert from reactants to products</a:t>
            </a:r>
          </a:p>
          <a:p>
            <a:pPr lvl="2">
              <a:buFontTx/>
              <a:buChar char="•"/>
            </a:pPr>
            <a:r>
              <a:rPr lang="en-GB" sz="2600"/>
              <a:t>How the rate of reaction changes when we change the reaction conditions</a:t>
            </a:r>
          </a:p>
          <a:p>
            <a:pPr lvl="2">
              <a:buFontTx/>
              <a:buChar char="•"/>
            </a:pPr>
            <a:r>
              <a:rPr lang="en-GB" sz="2600"/>
              <a:t>What reaction pathways can or will occur</a:t>
            </a:r>
            <a:endParaRPr lang="en-GB" sz="2600" b="1"/>
          </a:p>
        </p:txBody>
      </p:sp>
    </p:spTree>
    <p:extLst>
      <p:ext uri="{BB962C8B-B14F-4D97-AF65-F5344CB8AC3E}">
        <p14:creationId xmlns:p14="http://schemas.microsoft.com/office/powerpoint/2010/main" val="25362693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66" name="Rectangle 26"/>
          <p:cNvSpPr>
            <a:spLocks noChangeArrowheads="1"/>
          </p:cNvSpPr>
          <p:nvPr/>
        </p:nvSpPr>
        <p:spPr bwMode="auto">
          <a:xfrm>
            <a:off x="-198276" y="1988840"/>
            <a:ext cx="9234772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 algn="l"/>
            <a:r>
              <a:rPr lang="en-GB" sz="2600" dirty="0"/>
              <a:t>If we understand the kinetics of a chemical reaction, we understand:</a:t>
            </a:r>
          </a:p>
          <a:p>
            <a:pPr lvl="2">
              <a:buFontTx/>
              <a:buChar char="•"/>
            </a:pPr>
            <a:r>
              <a:rPr lang="en-GB" sz="2600" dirty="0"/>
              <a:t>How long to run the experiment</a:t>
            </a:r>
          </a:p>
          <a:p>
            <a:pPr lvl="2">
              <a:buFontTx/>
              <a:buChar char="•"/>
            </a:pPr>
            <a:r>
              <a:rPr lang="en-GB" sz="2600" dirty="0"/>
              <a:t>How much stuff to use</a:t>
            </a:r>
          </a:p>
          <a:p>
            <a:pPr lvl="2">
              <a:buFontTx/>
              <a:buChar char="•"/>
            </a:pPr>
            <a:r>
              <a:rPr lang="en-GB" sz="2600" dirty="0"/>
              <a:t>How to get more of the stuff we want and less of the stuff we don’t</a:t>
            </a:r>
          </a:p>
          <a:p>
            <a:pPr lvl="1" algn="l"/>
            <a:endParaRPr lang="en-GB" sz="2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2B9B7-8EB6-4FE2-908C-BA947893F176}"/>
              </a:ext>
            </a:extLst>
          </p:cNvPr>
          <p:cNvSpPr txBox="1"/>
          <p:nvPr/>
        </p:nvSpPr>
        <p:spPr>
          <a:xfrm>
            <a:off x="323528" y="4869163"/>
            <a:ext cx="3312368" cy="46166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Understand the kinetics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667B9-B7FC-4CC0-9749-0BF3AF5A4A5B}"/>
              </a:ext>
            </a:extLst>
          </p:cNvPr>
          <p:cNvSpPr txBox="1"/>
          <p:nvPr/>
        </p:nvSpPr>
        <p:spPr>
          <a:xfrm>
            <a:off x="5148064" y="4869163"/>
            <a:ext cx="3816424" cy="46166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/>
              <a:t>Do more effective reactions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16CFC95-4958-4299-8B8F-463BCE3A5967}"/>
              </a:ext>
            </a:extLst>
          </p:cNvPr>
          <p:cNvSpPr/>
          <p:nvPr/>
        </p:nvSpPr>
        <p:spPr>
          <a:xfrm>
            <a:off x="3851920" y="5013176"/>
            <a:ext cx="108012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0360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82ECB2B-7536-48E6-EF8F-72FEBA6573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495" y="1063229"/>
            <a:ext cx="8229600" cy="857250"/>
          </a:xfrm>
        </p:spPr>
        <p:txBody>
          <a:bodyPr>
            <a:normAutofit/>
          </a:bodyPr>
          <a:lstStyle/>
          <a:p>
            <a:r>
              <a:rPr lang="en-GB" dirty="0"/>
              <a:t>How can we change the kinetics of a reaction?</a:t>
            </a:r>
          </a:p>
        </p:txBody>
      </p:sp>
      <p:pic>
        <p:nvPicPr>
          <p:cNvPr id="1028" name="Picture 4" descr="Rusty Chain Photograph by Art Block Collections | Pixels">
            <a:extLst>
              <a:ext uri="{FF2B5EF4-FFF2-40B4-BE49-F238E27FC236}">
                <a16:creationId xmlns:a16="http://schemas.microsoft.com/office/drawing/2014/main" id="{A175C07D-AFC5-36A2-20B7-AF390D3CB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216" y="2333442"/>
            <a:ext cx="2679734" cy="2679734"/>
          </a:xfrm>
          <a:prstGeom prst="roundRect">
            <a:avLst/>
          </a:prstGeom>
          <a:noFill/>
          <a:effectLst>
            <a:softEdge rad="121297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6">
            <a:extLst>
              <a:ext uri="{FF2B5EF4-FFF2-40B4-BE49-F238E27FC236}">
                <a16:creationId xmlns:a16="http://schemas.microsoft.com/office/drawing/2014/main" id="{8AF85623-7530-39B9-483E-445AF1928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536" y="2501565"/>
            <a:ext cx="4032448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600" dirty="0"/>
              <a:t>Concentration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600" dirty="0"/>
              <a:t>Temperature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600" dirty="0"/>
              <a:t>Humidity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600" dirty="0"/>
              <a:t>Pressure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600" dirty="0"/>
              <a:t>Acidity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600" dirty="0"/>
              <a:t>Presence of a catalyst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GB" sz="2600" dirty="0"/>
          </a:p>
          <a:p>
            <a:pPr lvl="1" algn="l">
              <a:buFontTx/>
              <a:buChar char="•"/>
            </a:pPr>
            <a:endParaRPr lang="en-GB" sz="2600" b="1" dirty="0"/>
          </a:p>
        </p:txBody>
      </p:sp>
      <p:pic>
        <p:nvPicPr>
          <p:cNvPr id="1026" name="Picture 2" descr="Bulk and Custom Services">
            <a:extLst>
              <a:ext uri="{FF2B5EF4-FFF2-40B4-BE49-F238E27FC236}">
                <a16:creationId xmlns:a16="http://schemas.microsoft.com/office/drawing/2014/main" id="{37DA9D2F-5D7A-1487-6DE9-A7A93835C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0" r="15036"/>
          <a:stretch/>
        </p:blipFill>
        <p:spPr bwMode="auto">
          <a:xfrm>
            <a:off x="3347867" y="2333442"/>
            <a:ext cx="2771007" cy="2783582"/>
          </a:xfrm>
          <a:prstGeom prst="roundRect">
            <a:avLst/>
          </a:prstGeom>
          <a:noFill/>
          <a:effectLst>
            <a:softEdge rad="174033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3B7952-4BA6-0A8F-A21F-0B6B2A9594D4}"/>
              </a:ext>
            </a:extLst>
          </p:cNvPr>
          <p:cNvSpPr txBox="1"/>
          <p:nvPr/>
        </p:nvSpPr>
        <p:spPr>
          <a:xfrm>
            <a:off x="7883860" y="5754532"/>
            <a:ext cx="2520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Sigma Aldrich, pixels</a:t>
            </a:r>
          </a:p>
        </p:txBody>
      </p:sp>
    </p:spTree>
    <p:extLst>
      <p:ext uri="{BB962C8B-B14F-4D97-AF65-F5344CB8AC3E}">
        <p14:creationId xmlns:p14="http://schemas.microsoft.com/office/powerpoint/2010/main" val="38280402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BCC61A-D1EB-788F-39A2-32548FACD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500" y="1066591"/>
            <a:ext cx="4902654" cy="13856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B9C157-3967-FDCB-A242-A1D679570861}"/>
              </a:ext>
            </a:extLst>
          </p:cNvPr>
          <p:cNvSpPr/>
          <p:nvPr/>
        </p:nvSpPr>
        <p:spPr>
          <a:xfrm>
            <a:off x="3856859" y="5693683"/>
            <a:ext cx="52603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>
                <a:solidFill>
                  <a:srgbClr val="222222"/>
                </a:solidFill>
              </a:rPr>
              <a:t>Song, Y., Jiang, G., Chen, Y., Zhao, P., &amp; Tian, Y. (2017). </a:t>
            </a:r>
            <a:r>
              <a:rPr lang="en-GB" sz="1200" i="1">
                <a:solidFill>
                  <a:srgbClr val="222222"/>
                </a:solidFill>
              </a:rPr>
              <a:t>Scientific reports</a:t>
            </a:r>
            <a:r>
              <a:rPr lang="en-GB" sz="1200">
                <a:solidFill>
                  <a:srgbClr val="222222"/>
                </a:solidFill>
              </a:rPr>
              <a:t>, </a:t>
            </a:r>
            <a:r>
              <a:rPr lang="en-GB" sz="1200" i="1">
                <a:solidFill>
                  <a:srgbClr val="222222"/>
                </a:solidFill>
              </a:rPr>
              <a:t>7</a:t>
            </a:r>
            <a:r>
              <a:rPr lang="en-GB" sz="1200">
                <a:solidFill>
                  <a:srgbClr val="222222"/>
                </a:solidFill>
              </a:rPr>
              <a:t>(1), 1-13.</a:t>
            </a:r>
            <a:endParaRPr lang="en-GB" sz="1200"/>
          </a:p>
        </p:txBody>
      </p:sp>
      <p:pic>
        <p:nvPicPr>
          <p:cNvPr id="3074" name="Picture 2" descr="Figure 5">
            <a:extLst>
              <a:ext uri="{FF2B5EF4-FFF2-40B4-BE49-F238E27FC236}">
                <a16:creationId xmlns:a16="http://schemas.microsoft.com/office/drawing/2014/main" id="{E7457887-504C-9327-21E8-090813D22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066233"/>
            <a:ext cx="4768734" cy="201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igure 6">
            <a:extLst>
              <a:ext uri="{FF2B5EF4-FFF2-40B4-BE49-F238E27FC236}">
                <a16:creationId xmlns:a16="http://schemas.microsoft.com/office/drawing/2014/main" id="{00B6308C-3FB2-39C9-03D2-4D121E422F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96"/>
          <a:stretch/>
        </p:blipFill>
        <p:spPr bwMode="auto">
          <a:xfrm>
            <a:off x="467547" y="1161189"/>
            <a:ext cx="3005403" cy="240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he potential of offshore wind energy – Magnus Commodities">
            <a:extLst>
              <a:ext uri="{FF2B5EF4-FFF2-40B4-BE49-F238E27FC236}">
                <a16:creationId xmlns:a16="http://schemas.microsoft.com/office/drawing/2014/main" id="{17604D33-9951-A3BB-D1E9-AF8405B34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11" y="3689651"/>
            <a:ext cx="3234953" cy="214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4447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Outline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/>
              <a:t>Revision: 1-step reactions; </a:t>
            </a:r>
          </a:p>
          <a:p>
            <a:pPr lvl="1"/>
            <a:r>
              <a:rPr lang="en-GB"/>
              <a:t>first order, second order etc; rate equation; unimolecular, bimolecular etc </a:t>
            </a:r>
          </a:p>
          <a:p>
            <a:r>
              <a:rPr lang="en-GB"/>
              <a:t>Two-step reactions; multi-step reactions; steady state</a:t>
            </a:r>
          </a:p>
          <a:p>
            <a:r>
              <a:rPr lang="en-GB"/>
              <a:t>Chain reactions; branching chain reactions; explosions</a:t>
            </a:r>
          </a:p>
          <a:p>
            <a:r>
              <a:rPr lang="en-GB"/>
              <a:t>Experimental techniques</a:t>
            </a:r>
          </a:p>
          <a:p>
            <a:pPr lvl="1"/>
            <a:r>
              <a:rPr lang="en-GB"/>
              <a:t>Flow methods; Flash photolysis; Lasers 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1208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Books</a:t>
            </a:r>
          </a:p>
        </p:txBody>
      </p:sp>
      <p:sp>
        <p:nvSpPr>
          <p:cNvPr id="4" name="Rectangle 26">
            <a:extLst>
              <a:ext uri="{FF2B5EF4-FFF2-40B4-BE49-F238E27FC236}">
                <a16:creationId xmlns:a16="http://schemas.microsoft.com/office/drawing/2014/main" id="{504C940D-E33C-835E-985D-50E988D3E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8276" y="1988840"/>
            <a:ext cx="9234772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GB" sz="2600" dirty="0">
                <a:latin typeface="Rdg Vesta"/>
              </a:rPr>
              <a:t>As always, Atkins Physical Chemistry (12th edition)</a:t>
            </a:r>
          </a:p>
          <a:p>
            <a:pPr lvl="1"/>
            <a:r>
              <a:rPr lang="en-GB" sz="2600" dirty="0">
                <a:latin typeface="Rdg Vesta"/>
              </a:rPr>
              <a:t>Get it out of the library, read it online (via the library), read it in G50.</a:t>
            </a:r>
            <a:endParaRPr lang="en-GB" sz="2600" dirty="0"/>
          </a:p>
        </p:txBody>
      </p:sp>
      <p:pic>
        <p:nvPicPr>
          <p:cNvPr id="5" name="Picture 4" descr="A screenshot of a book&#10;&#10;Description automatically generated">
            <a:extLst>
              <a:ext uri="{FF2B5EF4-FFF2-40B4-BE49-F238E27FC236}">
                <a16:creationId xmlns:a16="http://schemas.microsoft.com/office/drawing/2014/main" id="{5A4364C4-DEEF-AFCD-7069-083C322DA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132" y="3738947"/>
            <a:ext cx="4465443" cy="2682105"/>
          </a:xfrm>
          <a:prstGeom prst="rect">
            <a:avLst/>
          </a:prstGeom>
        </p:spPr>
      </p:pic>
      <p:pic>
        <p:nvPicPr>
          <p:cNvPr id="6" name="Picture 6" descr="A screenshot of a book&#10;&#10;Description automatically generated">
            <a:extLst>
              <a:ext uri="{FF2B5EF4-FFF2-40B4-BE49-F238E27FC236}">
                <a16:creationId xmlns:a16="http://schemas.microsoft.com/office/drawing/2014/main" id="{C18B4748-7576-94F1-C8C9-594BF8A55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2" y="3740909"/>
            <a:ext cx="3591931" cy="269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5871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9CD03-0617-4D8D-95C0-E3655A8B3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68960"/>
            <a:ext cx="7772400" cy="1021556"/>
          </a:xfrm>
        </p:spPr>
        <p:txBody>
          <a:bodyPr/>
          <a:lstStyle/>
          <a:p>
            <a:r>
              <a:rPr lang="en-GB"/>
              <a:t>revision from part 1</a:t>
            </a:r>
          </a:p>
        </p:txBody>
      </p:sp>
    </p:spTree>
    <p:extLst>
      <p:ext uri="{BB962C8B-B14F-4D97-AF65-F5344CB8AC3E}">
        <p14:creationId xmlns:p14="http://schemas.microsoft.com/office/powerpoint/2010/main" val="303111606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Remember: The Rate Equation</a:t>
            </a:r>
          </a:p>
        </p:txBody>
      </p:sp>
      <p:sp>
        <p:nvSpPr>
          <p:cNvPr id="394244" name="Text Box 4"/>
          <p:cNvSpPr txBox="1">
            <a:spLocks noChangeArrowheads="1"/>
          </p:cNvSpPr>
          <p:nvPr/>
        </p:nvSpPr>
        <p:spPr bwMode="auto">
          <a:xfrm>
            <a:off x="2345923" y="1967110"/>
            <a:ext cx="218822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3200"/>
              <a:t>[Reactants]</a:t>
            </a:r>
          </a:p>
        </p:txBody>
      </p:sp>
      <p:sp>
        <p:nvSpPr>
          <p:cNvPr id="394245" name="Text Box 5"/>
          <p:cNvSpPr txBox="1">
            <a:spLocks noChangeArrowheads="1"/>
          </p:cNvSpPr>
          <p:nvPr/>
        </p:nvSpPr>
        <p:spPr bwMode="auto">
          <a:xfrm>
            <a:off x="991628" y="2691894"/>
            <a:ext cx="202350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3200"/>
              <a:t>[Products]</a:t>
            </a:r>
          </a:p>
        </p:txBody>
      </p:sp>
      <p:sp>
        <p:nvSpPr>
          <p:cNvPr id="394248" name="Text Box 8"/>
          <p:cNvSpPr txBox="1">
            <a:spLocks noChangeArrowheads="1"/>
          </p:cNvSpPr>
          <p:nvPr/>
        </p:nvSpPr>
        <p:spPr bwMode="auto">
          <a:xfrm>
            <a:off x="5024070" y="1945382"/>
            <a:ext cx="305831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GB" sz="3200"/>
              <a:t>Stoichiometry</a:t>
            </a:r>
            <a:endParaRPr lang="en-GB" sz="3200" b="1"/>
          </a:p>
        </p:txBody>
      </p:sp>
      <p:sp>
        <p:nvSpPr>
          <p:cNvPr id="394249" name="Text Box 9"/>
          <p:cNvSpPr txBox="1">
            <a:spLocks noChangeArrowheads="1"/>
          </p:cNvSpPr>
          <p:nvPr/>
        </p:nvSpPr>
        <p:spPr bwMode="auto">
          <a:xfrm>
            <a:off x="6176203" y="3241546"/>
            <a:ext cx="97494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3200"/>
              <a:t>Rate</a:t>
            </a:r>
          </a:p>
        </p:txBody>
      </p:sp>
      <p:sp>
        <p:nvSpPr>
          <p:cNvPr id="394253" name="Text Box 13"/>
          <p:cNvSpPr txBox="1">
            <a:spLocks noChangeArrowheads="1"/>
          </p:cNvSpPr>
          <p:nvPr/>
        </p:nvSpPr>
        <p:spPr bwMode="auto">
          <a:xfrm>
            <a:off x="3131840" y="4246038"/>
            <a:ext cx="271081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GB" sz="3200"/>
              <a:t>Rate equation</a:t>
            </a:r>
          </a:p>
        </p:txBody>
      </p:sp>
      <p:sp>
        <p:nvSpPr>
          <p:cNvPr id="394266" name="Rectangle 26"/>
          <p:cNvSpPr>
            <a:spLocks noChangeArrowheads="1"/>
          </p:cNvSpPr>
          <p:nvPr/>
        </p:nvSpPr>
        <p:spPr bwMode="auto">
          <a:xfrm>
            <a:off x="-252534" y="5043417"/>
            <a:ext cx="9177917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 algn="l"/>
            <a:r>
              <a:rPr lang="en-GB" sz="2600" dirty="0"/>
              <a:t>In this course we will learn:</a:t>
            </a:r>
          </a:p>
          <a:p>
            <a:pPr lvl="1" algn="l">
              <a:buFontTx/>
              <a:buChar char="•"/>
            </a:pPr>
            <a:r>
              <a:rPr lang="en-GB" sz="2600" dirty="0"/>
              <a:t>How to determine the rate equation experimentally </a:t>
            </a:r>
          </a:p>
          <a:p>
            <a:pPr lvl="1">
              <a:buFontTx/>
              <a:buChar char="•"/>
            </a:pPr>
            <a:r>
              <a:rPr lang="en-GB" sz="2600" dirty="0"/>
              <a:t>How to predict the rate equation from a mechanism </a:t>
            </a:r>
            <a:endParaRPr lang="en-GB" sz="2600" b="1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647812" y="3276665"/>
            <a:ext cx="674057" cy="96936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>
            <a:off x="3871943" y="2586734"/>
            <a:ext cx="177908" cy="164292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5456119" y="3743535"/>
            <a:ext cx="720080" cy="48611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4846169" y="2530160"/>
            <a:ext cx="177907" cy="169038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3342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6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“Rate” of a chemical reaction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497" name="Text Box 17"/>
              <p:cNvSpPr txBox="1">
                <a:spLocks noChangeArrowheads="1"/>
              </p:cNvSpPr>
              <p:nvPr/>
            </p:nvSpPr>
            <p:spPr bwMode="auto">
              <a:xfrm>
                <a:off x="1009650" y="2204867"/>
                <a:ext cx="7494588" cy="15388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en-GB" sz="2800">
                    <a:cs typeface="Arial" charset="0"/>
                  </a:rPr>
                  <a:t>We can find the </a:t>
                </a:r>
                <a:r>
                  <a:rPr lang="en-GB" sz="2800" b="1">
                    <a:cs typeface="Arial" charset="0"/>
                  </a:rPr>
                  <a:t>rate of change</a:t>
                </a:r>
                <a:r>
                  <a:rPr lang="en-GB" sz="2800">
                    <a:cs typeface="Arial" charset="0"/>
                  </a:rPr>
                  <a:t> of every </a:t>
                </a:r>
                <a:r>
                  <a:rPr lang="en-GB" sz="2800" b="1">
                    <a:cs typeface="Arial" charset="0"/>
                  </a:rPr>
                  <a:t>reactant </a:t>
                </a:r>
                <a:r>
                  <a:rPr lang="en-GB" sz="2800">
                    <a:cs typeface="Arial" charset="0"/>
                  </a:rPr>
                  <a:t>or </a:t>
                </a:r>
                <a:r>
                  <a:rPr lang="en-GB" sz="2800" b="1">
                    <a:cs typeface="Arial" charset="0"/>
                  </a:rPr>
                  <a:t>product </a:t>
                </a:r>
                <a:r>
                  <a:rPr lang="en-GB" sz="2800">
                    <a:cs typeface="Arial" charset="0"/>
                  </a:rPr>
                  <a:t>from the </a:t>
                </a:r>
                <a:r>
                  <a:rPr lang="en-GB" sz="2800" b="1">
                    <a:cs typeface="Arial" charset="0"/>
                  </a:rPr>
                  <a:t>rate (</a:t>
                </a:r>
                <a14:m>
                  <m:oMath xmlns:m="http://schemas.openxmlformats.org/officeDocument/2006/math">
                    <m:r>
                      <a:rPr lang="en-GB" sz="2800" b="1" i="1">
                        <a:latin typeface="Cambria Math" panose="02040503050406030204" pitchFamily="18" charset="0"/>
                        <a:cs typeface="Arial" charset="0"/>
                      </a:rPr>
                      <m:t>𝒗</m:t>
                    </m:r>
                  </m:oMath>
                </a14:m>
                <a:r>
                  <a:rPr lang="en-GB" sz="2800" b="1">
                    <a:cs typeface="Arial" charset="0"/>
                  </a:rPr>
                  <a:t>)</a:t>
                </a:r>
              </a:p>
              <a:p>
                <a:pPr algn="l"/>
                <a:endParaRPr lang="en-GB" sz="1000" b="1">
                  <a:cs typeface="Arial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A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𝑏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        </m:t>
                          </m:r>
                        </m:e>
                      </m:groupCh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𝑐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C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𝑑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D</m:t>
                      </m:r>
                    </m:oMath>
                  </m:oMathPara>
                </a14:m>
                <a:endParaRPr lang="en-GB" sz="2800">
                  <a:cs typeface="Arial" charset="0"/>
                </a:endParaRPr>
              </a:p>
            </p:txBody>
          </p:sp>
        </mc:Choice>
        <mc:Fallback xmlns="">
          <p:sp>
            <p:nvSpPr>
              <p:cNvPr id="404497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9650" y="2204867"/>
                <a:ext cx="7494588" cy="1538883"/>
              </a:xfrm>
              <a:prstGeom prst="rect">
                <a:avLst/>
              </a:prstGeom>
              <a:blipFill>
                <a:blip r:embed="rId3"/>
                <a:stretch>
                  <a:fillRect l="-1709" t="-436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429620" y="3874244"/>
                <a:ext cx="2987485" cy="9137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A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𝑡</m:t>
                          </m:r>
                        </m:den>
                      </m:f>
                      <m: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=−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𝑎</m:t>
                      </m:r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charset="0"/>
                        </a:rPr>
                        <m:t>Rate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20" y="3874244"/>
                <a:ext cx="2987485" cy="913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572000" y="3874244"/>
                <a:ext cx="2975366" cy="9137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B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𝑡</m:t>
                          </m:r>
                        </m:den>
                      </m:f>
                      <m: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=−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𝑏</m:t>
                      </m:r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charset="0"/>
                        </a:rPr>
                        <m:t>Rate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874244"/>
                <a:ext cx="2975366" cy="9137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429618" y="5026372"/>
                <a:ext cx="2664704" cy="9137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C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𝑡</m:t>
                          </m:r>
                        </m:den>
                      </m:f>
                      <m: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=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𝑐</m:t>
                      </m:r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charset="0"/>
                        </a:rPr>
                        <m:t>Rate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18" y="5026372"/>
                <a:ext cx="2664704" cy="9137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572002" y="5026372"/>
                <a:ext cx="2743251" cy="9137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𝑡</m:t>
                          </m:r>
                        </m:den>
                      </m:f>
                      <m: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=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𝑑</m:t>
                      </m:r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charset="0"/>
                        </a:rPr>
                        <m:t>Rate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2" y="5026372"/>
                <a:ext cx="2743251" cy="9137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33571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05508" name="Text Box 4"/>
              <p:cNvSpPr txBox="1">
                <a:spLocks noChangeArrowheads="1"/>
              </p:cNvSpPr>
              <p:nvPr/>
            </p:nvSpPr>
            <p:spPr bwMode="auto">
              <a:xfrm>
                <a:off x="971600" y="1549459"/>
                <a:ext cx="7494588" cy="15388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l"/>
                <a:r>
                  <a:rPr lang="en-GB" sz="2800">
                    <a:cs typeface="Arial" charset="0"/>
                  </a:rPr>
                  <a:t>We can find the </a:t>
                </a:r>
                <a:r>
                  <a:rPr lang="en-GB" sz="2800" b="1">
                    <a:cs typeface="Arial" charset="0"/>
                  </a:rPr>
                  <a:t>rate</a:t>
                </a:r>
                <a:r>
                  <a:rPr lang="en-GB" sz="2800">
                    <a:cs typeface="Arial" charset="0"/>
                  </a:rPr>
                  <a:t> from </a:t>
                </a:r>
                <a:r>
                  <a:rPr lang="en-GB" sz="2800" b="1">
                    <a:cs typeface="Arial" charset="0"/>
                  </a:rPr>
                  <a:t>rate of change</a:t>
                </a:r>
                <a:r>
                  <a:rPr lang="en-GB" sz="2800">
                    <a:cs typeface="Arial" charset="0"/>
                  </a:rPr>
                  <a:t> of ANY reactant or product</a:t>
                </a:r>
                <a14:m>
                  <m:oMath xmlns:m="http://schemas.openxmlformats.org/officeDocument/2006/math">
                    <m:r>
                      <a:rPr lang="en-GB" sz="2800">
                        <a:latin typeface="Cambria Math" panose="02040503050406030204" pitchFamily="18" charset="0"/>
                        <a:cs typeface="Arial" charset="0"/>
                      </a:rPr>
                      <m:t> </m:t>
                    </m:r>
                  </m:oMath>
                </a14:m>
                <a:endParaRPr lang="en-GB" sz="2800">
                  <a:cs typeface="Arial" charset="0"/>
                </a:endParaRPr>
              </a:p>
              <a:p>
                <a:pPr algn="l"/>
                <a:endParaRPr lang="en-GB" sz="1000">
                  <a:cs typeface="Arial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A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𝑏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 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        </m:t>
                          </m:r>
                        </m:e>
                      </m:groupCh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𝑐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C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+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𝑑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D</m:t>
                      </m:r>
                    </m:oMath>
                  </m:oMathPara>
                </a14:m>
                <a:endParaRPr lang="en-GB" sz="2800">
                  <a:cs typeface="Arial" charset="0"/>
                </a:endParaRPr>
              </a:p>
            </p:txBody>
          </p:sp>
        </mc:Choice>
        <mc:Fallback xmlns="">
          <p:sp>
            <p:nvSpPr>
              <p:cNvPr id="40550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600" y="1549459"/>
                <a:ext cx="7494588" cy="1538883"/>
              </a:xfrm>
              <a:prstGeom prst="rect">
                <a:avLst/>
              </a:prstGeom>
              <a:blipFill>
                <a:blip r:embed="rId3"/>
                <a:stretch>
                  <a:fillRect l="-1626" t="-395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17619" y="3422021"/>
                <a:ext cx="2738763" cy="9137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Rate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 = 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−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𝑎</m:t>
                          </m:r>
                        </m:den>
                      </m:f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A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619" y="3422021"/>
                <a:ext cx="2738763" cy="9137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860032" y="3401385"/>
                <a:ext cx="2726644" cy="9137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Rate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 = </m:t>
                      </m:r>
                      <m:r>
                        <a:rPr lang="en-GB" sz="2800" i="1">
                          <a:latin typeface="Cambria Math" panose="02040503050406030204" pitchFamily="18" charset="0"/>
                          <a:cs typeface="Arial" charset="0"/>
                        </a:rPr>
                        <m:t>−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𝑏</m:t>
                          </m:r>
                        </m:den>
                      </m:f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B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3401385"/>
                <a:ext cx="2726644" cy="9137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617618" y="4718165"/>
                <a:ext cx="2338525" cy="9138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Rate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 = 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𝑐</m:t>
                          </m:r>
                        </m:den>
                      </m:f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C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618" y="4718165"/>
                <a:ext cx="2338525" cy="9138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860037" y="4718165"/>
                <a:ext cx="2394823" cy="9137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Rate</m:t>
                      </m:r>
                      <m:r>
                        <m:rPr>
                          <m:nor/>
                        </m:rPr>
                        <a:rPr lang="en-GB" sz="2800">
                          <a:latin typeface="Cambria Math" panose="02040503050406030204" pitchFamily="18" charset="0"/>
                          <a:cs typeface="Arial" charset="0"/>
                        </a:rPr>
                        <m:t> = </m:t>
                      </m:r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𝑑</m:t>
                          </m:r>
                        </m:den>
                      </m:f>
                      <m:f>
                        <m:fPr>
                          <m:ctrlP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]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 sz="2800">
                              <a:latin typeface="Cambria Math" panose="02040503050406030204" pitchFamily="18" charset="0"/>
                              <a:cs typeface="Arial" charset="0"/>
                            </a:rPr>
                            <m:t>d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  <a:cs typeface="Arial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7" y="4718165"/>
                <a:ext cx="2394823" cy="9137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9681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/>
              <a:t>Consider the following reaction:</a:t>
            </a:r>
          </a:p>
          <a:p>
            <a:pPr marL="0" indent="0">
              <a:buNone/>
            </a:pPr>
            <a:r>
              <a:rPr lang="en-GB"/>
              <a:t>Br</a:t>
            </a:r>
            <a:r>
              <a:rPr lang="en-GB" baseline="-25000"/>
              <a:t>2</a:t>
            </a:r>
            <a:r>
              <a:rPr lang="en-GB"/>
              <a:t>(</a:t>
            </a:r>
            <a:r>
              <a:rPr lang="en-GB" err="1"/>
              <a:t>aq</a:t>
            </a:r>
            <a:r>
              <a:rPr lang="en-GB"/>
              <a:t>) + HCOOH(</a:t>
            </a:r>
            <a:r>
              <a:rPr lang="en-GB" err="1"/>
              <a:t>aq</a:t>
            </a:r>
            <a:r>
              <a:rPr lang="en-GB"/>
              <a:t>) </a:t>
            </a:r>
            <a:r>
              <a:rPr lang="en-GB">
                <a:sym typeface="Symbol" pitchFamily="18" charset="2"/>
              </a:rPr>
              <a:t> 2H</a:t>
            </a:r>
            <a:r>
              <a:rPr lang="en-GB" baseline="30000">
                <a:sym typeface="Symbol" pitchFamily="18" charset="2"/>
              </a:rPr>
              <a:t>+</a:t>
            </a:r>
            <a:r>
              <a:rPr lang="en-GB">
                <a:sym typeface="Symbol" pitchFamily="18" charset="2"/>
              </a:rPr>
              <a:t>(</a:t>
            </a:r>
            <a:r>
              <a:rPr lang="en-GB" err="1">
                <a:sym typeface="Symbol" pitchFamily="18" charset="2"/>
              </a:rPr>
              <a:t>aq</a:t>
            </a:r>
            <a:r>
              <a:rPr lang="en-GB">
                <a:sym typeface="Symbol" pitchFamily="18" charset="2"/>
              </a:rPr>
              <a:t>) + 2Br</a:t>
            </a:r>
            <a:r>
              <a:rPr lang="en-GB" baseline="30000">
                <a:sym typeface="Symbol" pitchFamily="18" charset="2"/>
              </a:rPr>
              <a:t>-</a:t>
            </a:r>
            <a:r>
              <a:rPr lang="en-GB">
                <a:sym typeface="Symbol" pitchFamily="18" charset="2"/>
              </a:rPr>
              <a:t> (</a:t>
            </a:r>
            <a:r>
              <a:rPr lang="en-GB" err="1">
                <a:sym typeface="Symbol" pitchFamily="18" charset="2"/>
              </a:rPr>
              <a:t>aq</a:t>
            </a:r>
            <a:r>
              <a:rPr lang="en-GB">
                <a:sym typeface="Symbol" pitchFamily="18" charset="2"/>
              </a:rPr>
              <a:t>)+ CO</a:t>
            </a:r>
            <a:r>
              <a:rPr lang="en-GB" baseline="-25000">
                <a:sym typeface="Symbol" pitchFamily="18" charset="2"/>
              </a:rPr>
              <a:t>2</a:t>
            </a:r>
            <a:r>
              <a:rPr lang="en-GB">
                <a:sym typeface="Symbol" pitchFamily="18" charset="2"/>
              </a:rPr>
              <a:t>(g)</a:t>
            </a:r>
          </a:p>
          <a:p>
            <a:pPr marL="0" indent="0">
              <a:buNone/>
            </a:pPr>
            <a:r>
              <a:rPr lang="en-GB"/>
              <a:t>At a given stage in the reaction, the rate of change in bromide concentration is  </a:t>
            </a:r>
          </a:p>
          <a:p>
            <a:pPr marL="0" indent="0">
              <a:buNone/>
            </a:pPr>
            <a:r>
              <a:rPr lang="en-GB"/>
              <a:t>			d[Br</a:t>
            </a:r>
            <a:r>
              <a:rPr lang="en-GB" baseline="30000"/>
              <a:t>-</a:t>
            </a:r>
            <a:r>
              <a:rPr lang="en-GB"/>
              <a:t>]/</a:t>
            </a:r>
            <a:r>
              <a:rPr lang="en-GB" err="1"/>
              <a:t>dt</a:t>
            </a:r>
            <a:r>
              <a:rPr lang="en-GB"/>
              <a:t> = 1 M s</a:t>
            </a:r>
            <a:r>
              <a:rPr lang="en-GB" baseline="30000"/>
              <a:t>-1</a:t>
            </a:r>
          </a:p>
          <a:p>
            <a:pPr marL="0" indent="0">
              <a:buNone/>
            </a:pPr>
            <a:r>
              <a:rPr lang="en-GB"/>
              <a:t>Write down:</a:t>
            </a:r>
          </a:p>
          <a:p>
            <a:pPr marL="0" indent="0">
              <a:buNone/>
            </a:pPr>
            <a:r>
              <a:rPr lang="en-GB"/>
              <a:t>(</a:t>
            </a:r>
            <a:r>
              <a:rPr lang="en-GB" err="1"/>
              <a:t>i</a:t>
            </a:r>
            <a:r>
              <a:rPr lang="en-GB"/>
              <a:t>) 	Rate</a:t>
            </a:r>
          </a:p>
          <a:p>
            <a:pPr marL="0" indent="0">
              <a:buNone/>
            </a:pPr>
            <a:r>
              <a:rPr lang="en-GB"/>
              <a:t>(ii) 	d[</a:t>
            </a:r>
            <a:r>
              <a:rPr lang="en-GB">
                <a:sym typeface="Symbol" pitchFamily="18" charset="2"/>
              </a:rPr>
              <a:t>CO</a:t>
            </a:r>
            <a:r>
              <a:rPr lang="en-GB" baseline="-25000">
                <a:sym typeface="Symbol" pitchFamily="18" charset="2"/>
              </a:rPr>
              <a:t>2</a:t>
            </a:r>
            <a:r>
              <a:rPr lang="en-GB"/>
              <a:t> ]/</a:t>
            </a:r>
            <a:r>
              <a:rPr lang="en-GB" err="1"/>
              <a:t>dt</a:t>
            </a:r>
            <a:r>
              <a:rPr lang="en-GB"/>
              <a:t> </a:t>
            </a:r>
          </a:p>
          <a:p>
            <a:pPr marL="0" indent="0">
              <a:buNone/>
            </a:pPr>
            <a:r>
              <a:rPr lang="en-GB"/>
              <a:t>(iii) 	d[</a:t>
            </a:r>
            <a:r>
              <a:rPr lang="en-GB">
                <a:sym typeface="Symbol" pitchFamily="18" charset="2"/>
              </a:rPr>
              <a:t>H</a:t>
            </a:r>
            <a:r>
              <a:rPr lang="en-GB" baseline="30000">
                <a:sym typeface="Symbol" pitchFamily="18" charset="2"/>
              </a:rPr>
              <a:t>+</a:t>
            </a:r>
            <a:r>
              <a:rPr lang="en-GB"/>
              <a:t> ]/</a:t>
            </a:r>
            <a:r>
              <a:rPr lang="en-GB" err="1"/>
              <a:t>dt</a:t>
            </a:r>
            <a:r>
              <a:rPr lang="en-GB"/>
              <a:t> </a:t>
            </a:r>
          </a:p>
          <a:p>
            <a:pPr marL="0" indent="0">
              <a:buNone/>
            </a:pPr>
            <a:r>
              <a:rPr lang="en-GB"/>
              <a:t>(iv)	d[</a:t>
            </a:r>
            <a:r>
              <a:rPr lang="en-GB">
                <a:sym typeface="Symbol" pitchFamily="18" charset="2"/>
              </a:rPr>
              <a:t>Br</a:t>
            </a:r>
            <a:r>
              <a:rPr lang="en-GB" baseline="-25000">
                <a:sym typeface="Symbol" pitchFamily="18" charset="2"/>
              </a:rPr>
              <a:t>2</a:t>
            </a:r>
            <a:r>
              <a:rPr lang="en-GB"/>
              <a:t> ]/</a:t>
            </a:r>
            <a:r>
              <a:rPr lang="en-GB" err="1"/>
              <a:t>dt</a:t>
            </a:r>
            <a:r>
              <a:rPr lang="en-GB"/>
              <a:t> </a:t>
            </a:r>
          </a:p>
          <a:p>
            <a:endParaRPr lang="en-GB">
              <a:sym typeface="Symbol" pitchFamily="18" charset="2"/>
            </a:endParaRP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88564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Task: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/>
              <a:t>Consider the following reaction:</a:t>
            </a:r>
          </a:p>
          <a:p>
            <a:pPr marL="0" indent="0">
              <a:buNone/>
            </a:pPr>
            <a:r>
              <a:rPr lang="en-GB"/>
              <a:t>Br</a:t>
            </a:r>
            <a:r>
              <a:rPr lang="en-GB" baseline="-25000"/>
              <a:t>2</a:t>
            </a:r>
            <a:r>
              <a:rPr lang="en-GB"/>
              <a:t>(</a:t>
            </a:r>
            <a:r>
              <a:rPr lang="en-GB" err="1"/>
              <a:t>aq</a:t>
            </a:r>
            <a:r>
              <a:rPr lang="en-GB"/>
              <a:t>) + HCOOH(</a:t>
            </a:r>
            <a:r>
              <a:rPr lang="en-GB" err="1"/>
              <a:t>aq</a:t>
            </a:r>
            <a:r>
              <a:rPr lang="en-GB"/>
              <a:t>) </a:t>
            </a:r>
            <a:r>
              <a:rPr lang="en-GB">
                <a:sym typeface="Symbol" pitchFamily="18" charset="2"/>
              </a:rPr>
              <a:t> 2H</a:t>
            </a:r>
            <a:r>
              <a:rPr lang="en-GB" baseline="30000">
                <a:sym typeface="Symbol" pitchFamily="18" charset="2"/>
              </a:rPr>
              <a:t>+</a:t>
            </a:r>
            <a:r>
              <a:rPr lang="en-GB">
                <a:sym typeface="Symbol" pitchFamily="18" charset="2"/>
              </a:rPr>
              <a:t>(</a:t>
            </a:r>
            <a:r>
              <a:rPr lang="en-GB" err="1">
                <a:sym typeface="Symbol" pitchFamily="18" charset="2"/>
              </a:rPr>
              <a:t>aq</a:t>
            </a:r>
            <a:r>
              <a:rPr lang="en-GB">
                <a:sym typeface="Symbol" pitchFamily="18" charset="2"/>
              </a:rPr>
              <a:t>) + 2Br</a:t>
            </a:r>
            <a:r>
              <a:rPr lang="en-GB" baseline="30000">
                <a:sym typeface="Symbol" pitchFamily="18" charset="2"/>
              </a:rPr>
              <a:t>-</a:t>
            </a:r>
            <a:r>
              <a:rPr lang="en-GB">
                <a:sym typeface="Symbol" pitchFamily="18" charset="2"/>
              </a:rPr>
              <a:t> (</a:t>
            </a:r>
            <a:r>
              <a:rPr lang="en-GB" err="1">
                <a:sym typeface="Symbol" pitchFamily="18" charset="2"/>
              </a:rPr>
              <a:t>aq</a:t>
            </a:r>
            <a:r>
              <a:rPr lang="en-GB">
                <a:sym typeface="Symbol" pitchFamily="18" charset="2"/>
              </a:rPr>
              <a:t>)+ CO</a:t>
            </a:r>
            <a:r>
              <a:rPr lang="en-GB" baseline="-25000">
                <a:sym typeface="Symbol" pitchFamily="18" charset="2"/>
              </a:rPr>
              <a:t>2</a:t>
            </a:r>
            <a:r>
              <a:rPr lang="en-GB">
                <a:sym typeface="Symbol" pitchFamily="18" charset="2"/>
              </a:rPr>
              <a:t>(g)</a:t>
            </a:r>
          </a:p>
          <a:p>
            <a:pPr marL="0" indent="0">
              <a:buNone/>
            </a:pPr>
            <a:r>
              <a:rPr lang="en-GB"/>
              <a:t>At a given stage in the reaction, the rate of change in bromide concentration is  </a:t>
            </a:r>
          </a:p>
          <a:p>
            <a:pPr marL="0" indent="0">
              <a:buNone/>
            </a:pPr>
            <a:r>
              <a:rPr lang="en-GB"/>
              <a:t>			d[Br</a:t>
            </a:r>
            <a:r>
              <a:rPr lang="en-GB" baseline="30000"/>
              <a:t>-</a:t>
            </a:r>
            <a:r>
              <a:rPr lang="en-GB"/>
              <a:t>]/</a:t>
            </a:r>
            <a:r>
              <a:rPr lang="en-GB" err="1"/>
              <a:t>dt</a:t>
            </a:r>
            <a:r>
              <a:rPr lang="en-GB"/>
              <a:t> = 1 M s</a:t>
            </a:r>
            <a:r>
              <a:rPr lang="en-GB" baseline="30000"/>
              <a:t>-1</a:t>
            </a:r>
          </a:p>
          <a:p>
            <a:pPr marL="0" indent="0">
              <a:buNone/>
            </a:pPr>
            <a:r>
              <a:rPr lang="en-GB"/>
              <a:t>Write down:</a:t>
            </a:r>
          </a:p>
          <a:p>
            <a:pPr marL="0" indent="0">
              <a:buNone/>
            </a:pPr>
            <a:r>
              <a:rPr lang="en-GB"/>
              <a:t>(</a:t>
            </a:r>
            <a:r>
              <a:rPr lang="en-GB" err="1"/>
              <a:t>i</a:t>
            </a:r>
            <a:r>
              <a:rPr lang="en-GB"/>
              <a:t>) 	Rate		</a:t>
            </a:r>
            <a:r>
              <a:rPr lang="en-GB">
                <a:solidFill>
                  <a:srgbClr val="FF0000"/>
                </a:solidFill>
              </a:rPr>
              <a:t>= 0.5 M s</a:t>
            </a:r>
            <a:r>
              <a:rPr lang="en-GB" baseline="30000">
                <a:solidFill>
                  <a:srgbClr val="FF0000"/>
                </a:solidFill>
              </a:rPr>
              <a:t>-1</a:t>
            </a:r>
            <a:endParaRPr lang="en-GB" baseline="30000"/>
          </a:p>
          <a:p>
            <a:pPr marL="0" indent="0">
              <a:buNone/>
            </a:pPr>
            <a:r>
              <a:rPr lang="en-GB"/>
              <a:t>(ii) 	d[</a:t>
            </a:r>
            <a:r>
              <a:rPr lang="en-GB">
                <a:sym typeface="Symbol" pitchFamily="18" charset="2"/>
              </a:rPr>
              <a:t>CO</a:t>
            </a:r>
            <a:r>
              <a:rPr lang="en-GB" baseline="-25000">
                <a:sym typeface="Symbol" pitchFamily="18" charset="2"/>
              </a:rPr>
              <a:t>2</a:t>
            </a:r>
            <a:r>
              <a:rPr lang="en-GB"/>
              <a:t> ]/</a:t>
            </a:r>
            <a:r>
              <a:rPr lang="en-GB" err="1"/>
              <a:t>dt</a:t>
            </a:r>
            <a:r>
              <a:rPr lang="en-GB"/>
              <a:t> 	</a:t>
            </a:r>
            <a:r>
              <a:rPr lang="en-GB">
                <a:solidFill>
                  <a:srgbClr val="FF0000"/>
                </a:solidFill>
              </a:rPr>
              <a:t>= 0.5 M s</a:t>
            </a:r>
            <a:r>
              <a:rPr lang="en-GB" baseline="30000">
                <a:solidFill>
                  <a:srgbClr val="FF0000"/>
                </a:solidFill>
              </a:rPr>
              <a:t>-1</a:t>
            </a:r>
            <a:endParaRPr lang="en-GB"/>
          </a:p>
          <a:p>
            <a:pPr marL="0" indent="0">
              <a:buNone/>
            </a:pPr>
            <a:r>
              <a:rPr lang="en-GB"/>
              <a:t>(iii) 	d[</a:t>
            </a:r>
            <a:r>
              <a:rPr lang="en-GB">
                <a:sym typeface="Symbol" pitchFamily="18" charset="2"/>
              </a:rPr>
              <a:t>H</a:t>
            </a:r>
            <a:r>
              <a:rPr lang="en-GB" baseline="30000">
                <a:sym typeface="Symbol" pitchFamily="18" charset="2"/>
              </a:rPr>
              <a:t>+</a:t>
            </a:r>
            <a:r>
              <a:rPr lang="en-GB"/>
              <a:t> ]/</a:t>
            </a:r>
            <a:r>
              <a:rPr lang="en-GB" err="1"/>
              <a:t>dt</a:t>
            </a:r>
            <a:r>
              <a:rPr lang="en-GB"/>
              <a:t> 	</a:t>
            </a:r>
            <a:r>
              <a:rPr lang="en-GB">
                <a:solidFill>
                  <a:srgbClr val="FF0000"/>
                </a:solidFill>
              </a:rPr>
              <a:t>= 1 M s</a:t>
            </a:r>
            <a:r>
              <a:rPr lang="en-GB" baseline="30000">
                <a:solidFill>
                  <a:srgbClr val="FF0000"/>
                </a:solidFill>
              </a:rPr>
              <a:t>-1</a:t>
            </a:r>
            <a:endParaRPr lang="en-GB"/>
          </a:p>
          <a:p>
            <a:pPr marL="0" indent="0">
              <a:buNone/>
            </a:pPr>
            <a:r>
              <a:rPr lang="en-GB"/>
              <a:t>(iv)	d[</a:t>
            </a:r>
            <a:r>
              <a:rPr lang="en-GB">
                <a:sym typeface="Symbol" pitchFamily="18" charset="2"/>
              </a:rPr>
              <a:t>Br</a:t>
            </a:r>
            <a:r>
              <a:rPr lang="en-GB" baseline="-25000">
                <a:sym typeface="Symbol" pitchFamily="18" charset="2"/>
              </a:rPr>
              <a:t>2</a:t>
            </a:r>
            <a:r>
              <a:rPr lang="en-GB"/>
              <a:t> ]/</a:t>
            </a:r>
            <a:r>
              <a:rPr lang="en-GB" err="1"/>
              <a:t>dt</a:t>
            </a:r>
            <a:r>
              <a:rPr lang="en-GB"/>
              <a:t> 	</a:t>
            </a:r>
            <a:r>
              <a:rPr lang="en-GB">
                <a:solidFill>
                  <a:srgbClr val="FF0000"/>
                </a:solidFill>
              </a:rPr>
              <a:t>= −0.5 M s</a:t>
            </a:r>
            <a:r>
              <a:rPr lang="en-GB" baseline="30000">
                <a:solidFill>
                  <a:srgbClr val="FF0000"/>
                </a:solidFill>
              </a:rPr>
              <a:t>-1</a:t>
            </a:r>
            <a:endParaRPr lang="en-GB"/>
          </a:p>
          <a:p>
            <a:endParaRPr lang="en-GB">
              <a:sym typeface="Symbol" pitchFamily="18" charset="2"/>
            </a:endParaRP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66342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Remember: Rate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Rate Law </a:t>
            </a:r>
            <a:r>
              <a:rPr lang="en-GB" dirty="0"/>
              <a:t>is an expression that relates reactant concentration to reaction rate</a:t>
            </a:r>
          </a:p>
          <a:p>
            <a:pPr marL="0" indent="0">
              <a:buNone/>
            </a:pPr>
            <a:r>
              <a:rPr lang="en-GB" dirty="0"/>
              <a:t>For example:   A + B </a:t>
            </a:r>
            <a:r>
              <a:rPr lang="en-GB" dirty="0">
                <a:sym typeface="Symbol" pitchFamily="18" charset="2"/>
              </a:rPr>
              <a:t> products</a:t>
            </a: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sym typeface="Symbol" pitchFamily="18" charset="2"/>
              </a:rPr>
              <a:t>Rate law:    	Rate   [A]</a:t>
            </a:r>
            <a:r>
              <a:rPr lang="en-GB" i="1" baseline="30000" dirty="0">
                <a:solidFill>
                  <a:srgbClr val="FF0000"/>
                </a:solidFill>
                <a:sym typeface="Symbol" pitchFamily="18" charset="2"/>
              </a:rPr>
              <a:t>n</a:t>
            </a:r>
            <a:r>
              <a:rPr lang="en-GB" dirty="0">
                <a:solidFill>
                  <a:srgbClr val="FF0000"/>
                </a:solidFill>
                <a:sym typeface="Symbol" pitchFamily="18" charset="2"/>
              </a:rPr>
              <a:t>[B]</a:t>
            </a:r>
            <a:r>
              <a:rPr lang="en-GB" i="1" baseline="30000" dirty="0">
                <a:solidFill>
                  <a:srgbClr val="FF0000"/>
                </a:solidFill>
                <a:sym typeface="Symbol" pitchFamily="18" charset="2"/>
              </a:rPr>
              <a:t>m</a:t>
            </a:r>
            <a:r>
              <a:rPr lang="en-GB" dirty="0">
                <a:solidFill>
                  <a:srgbClr val="FF0000"/>
                </a:solidFill>
                <a:sym typeface="Symbol" pitchFamily="18" charset="2"/>
              </a:rPr>
              <a:t>	Rate = </a:t>
            </a:r>
            <a:r>
              <a:rPr lang="en-GB" i="1" dirty="0">
                <a:solidFill>
                  <a:srgbClr val="FF0000"/>
                </a:solidFill>
                <a:sym typeface="Symbol" pitchFamily="18" charset="2"/>
              </a:rPr>
              <a:t>k</a:t>
            </a:r>
            <a:r>
              <a:rPr lang="en-GB" dirty="0">
                <a:solidFill>
                  <a:srgbClr val="FF0000"/>
                </a:solidFill>
                <a:sym typeface="Symbol" pitchFamily="18" charset="2"/>
              </a:rPr>
              <a:t>[A]</a:t>
            </a:r>
            <a:r>
              <a:rPr lang="en-GB" i="1" baseline="30000" dirty="0">
                <a:solidFill>
                  <a:srgbClr val="FF0000"/>
                </a:solidFill>
                <a:sym typeface="Symbol" pitchFamily="18" charset="2"/>
              </a:rPr>
              <a:t>n</a:t>
            </a:r>
            <a:r>
              <a:rPr lang="en-GB" dirty="0">
                <a:solidFill>
                  <a:srgbClr val="FF0000"/>
                </a:solidFill>
                <a:sym typeface="Symbol" pitchFamily="18" charset="2"/>
              </a:rPr>
              <a:t>[B]</a:t>
            </a:r>
            <a:r>
              <a:rPr lang="en-GB" i="1" baseline="30000" dirty="0">
                <a:solidFill>
                  <a:srgbClr val="FF0000"/>
                </a:solidFill>
                <a:sym typeface="Symbol" pitchFamily="18" charset="2"/>
              </a:rPr>
              <a:t>m</a:t>
            </a:r>
            <a:endParaRPr lang="en-GB" i="1" baseline="30000" dirty="0">
              <a:solidFill>
                <a:srgbClr val="FF0000"/>
              </a:solidFill>
            </a:endParaRPr>
          </a:p>
          <a:p>
            <a:pPr marL="742315" lvl="1" indent="-285115"/>
            <a:r>
              <a:rPr lang="en-GB" dirty="0">
                <a:sym typeface="Symbol" pitchFamily="18" charset="2"/>
              </a:rPr>
              <a:t> </a:t>
            </a:r>
            <a:r>
              <a:rPr lang="en-GB" i="1" dirty="0">
                <a:sym typeface="Symbol" pitchFamily="18" charset="2"/>
              </a:rPr>
              <a:t>k</a:t>
            </a:r>
            <a:r>
              <a:rPr lang="en-GB" dirty="0">
                <a:sym typeface="Symbol" pitchFamily="18" charset="2"/>
              </a:rPr>
              <a:t> = rate constant (independent of [ ])</a:t>
            </a:r>
            <a:endParaRPr lang="en-GB" dirty="0"/>
          </a:p>
          <a:p>
            <a:pPr marL="742315" lvl="1" indent="-285115"/>
            <a:r>
              <a:rPr lang="en-GB" dirty="0">
                <a:sym typeface="Symbol" pitchFamily="18" charset="2"/>
              </a:rPr>
              <a:t> </a:t>
            </a:r>
            <a:r>
              <a:rPr lang="en-GB" i="1" dirty="0">
                <a:sym typeface="Symbol" pitchFamily="18" charset="2"/>
              </a:rPr>
              <a:t>n</a:t>
            </a:r>
            <a:r>
              <a:rPr lang="en-GB" dirty="0">
                <a:sym typeface="Symbol" pitchFamily="18" charset="2"/>
              </a:rPr>
              <a:t> = </a:t>
            </a:r>
            <a:r>
              <a:rPr lang="en-GB" b="1" dirty="0">
                <a:sym typeface="Symbol" pitchFamily="18" charset="2"/>
              </a:rPr>
              <a:t>order with respect to [A]</a:t>
            </a:r>
            <a:endParaRPr lang="en-GB" b="1" dirty="0"/>
          </a:p>
          <a:p>
            <a:pPr marL="742315" lvl="1" indent="-285115"/>
            <a:r>
              <a:rPr lang="en-GB" dirty="0">
                <a:sym typeface="Symbol" pitchFamily="18" charset="2"/>
              </a:rPr>
              <a:t> </a:t>
            </a:r>
            <a:r>
              <a:rPr lang="en-GB" i="1" dirty="0">
                <a:sym typeface="Symbol" pitchFamily="18" charset="2"/>
              </a:rPr>
              <a:t>m</a:t>
            </a:r>
            <a:r>
              <a:rPr lang="en-GB" dirty="0">
                <a:sym typeface="Symbol" pitchFamily="18" charset="2"/>
              </a:rPr>
              <a:t> = </a:t>
            </a:r>
            <a:r>
              <a:rPr lang="en-GB" b="1" dirty="0">
                <a:sym typeface="Symbol" pitchFamily="18" charset="2"/>
              </a:rPr>
              <a:t>order with respect to [B]</a:t>
            </a:r>
            <a:endParaRPr lang="en-GB" b="1" dirty="0"/>
          </a:p>
          <a:p>
            <a:pPr marL="742315" lvl="1" indent="-285115"/>
            <a:r>
              <a:rPr lang="en-GB" dirty="0">
                <a:sym typeface="Symbol" pitchFamily="18" charset="2"/>
              </a:rPr>
              <a:t> </a:t>
            </a:r>
            <a:r>
              <a:rPr lang="en-GB" i="1" dirty="0">
                <a:sym typeface="Symbol" pitchFamily="18" charset="2"/>
              </a:rPr>
              <a:t>n</a:t>
            </a:r>
            <a:r>
              <a:rPr lang="en-GB" dirty="0">
                <a:sym typeface="Symbol" pitchFamily="18" charset="2"/>
              </a:rPr>
              <a:t> + </a:t>
            </a:r>
            <a:r>
              <a:rPr lang="en-GB" i="1" dirty="0">
                <a:sym typeface="Symbol" pitchFamily="18" charset="2"/>
              </a:rPr>
              <a:t>m</a:t>
            </a:r>
            <a:r>
              <a:rPr lang="en-GB" dirty="0">
                <a:sym typeface="Symbol" pitchFamily="18" charset="2"/>
              </a:rPr>
              <a:t> = overall order of the reaction</a:t>
            </a:r>
            <a:endParaRPr lang="en-GB" dirty="0"/>
          </a:p>
          <a:p>
            <a:pPr marL="456565" lvl="1" indent="0">
              <a:buNone/>
            </a:pPr>
            <a:endParaRPr lang="en-GB" dirty="0"/>
          </a:p>
          <a:p>
            <a:pPr marL="342265" indent="-342265"/>
            <a:r>
              <a:rPr lang="en-GB" i="1" dirty="0">
                <a:sym typeface="Symbol" pitchFamily="18" charset="2"/>
              </a:rPr>
              <a:t>n</a:t>
            </a:r>
            <a:r>
              <a:rPr lang="en-GB" dirty="0">
                <a:sym typeface="Symbol" pitchFamily="18" charset="2"/>
              </a:rPr>
              <a:t> and </a:t>
            </a:r>
            <a:r>
              <a:rPr lang="en-GB" i="1" dirty="0">
                <a:sym typeface="Symbol" pitchFamily="18" charset="2"/>
              </a:rPr>
              <a:t>m</a:t>
            </a:r>
            <a:r>
              <a:rPr lang="en-GB" dirty="0">
                <a:sym typeface="Symbol" pitchFamily="18" charset="2"/>
              </a:rPr>
              <a:t> can </a:t>
            </a:r>
            <a:r>
              <a:rPr lang="en-GB" dirty="0">
                <a:solidFill>
                  <a:srgbClr val="FF0000"/>
                </a:solidFill>
                <a:sym typeface="Symbol" pitchFamily="18" charset="2"/>
              </a:rPr>
              <a:t>NOT</a:t>
            </a:r>
            <a:r>
              <a:rPr lang="en-GB" dirty="0">
                <a:sym typeface="Symbol" pitchFamily="18" charset="2"/>
              </a:rPr>
              <a:t> be deduced from the overall balanced chemical reaction equation</a:t>
            </a:r>
            <a:endParaRPr lang="en-GB" dirty="0"/>
          </a:p>
          <a:p>
            <a:pPr marL="342265" indent="-342265"/>
            <a:r>
              <a:rPr lang="en-GB" dirty="0">
                <a:sym typeface="Symbol" pitchFamily="18" charset="2"/>
              </a:rPr>
              <a:t>The Rate Law must by determined by experiment, or predicted from a mechanism (we will learn how to do this!)</a:t>
            </a:r>
            <a:endParaRPr lang="en-GB" dirty="0"/>
          </a:p>
          <a:p>
            <a:pPr marL="342265" indent="-342265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1212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Remember: Rate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dirty="0"/>
              <a:t>Rate here means “rate of change of concentration as a function of time” – so always has units of concentration/time (e.g. M s</a:t>
            </a:r>
            <a:r>
              <a:rPr lang="en-GB" baseline="30000" dirty="0"/>
              <a:t>-1</a:t>
            </a:r>
            <a:r>
              <a:rPr lang="en-GB" dirty="0"/>
              <a:t>, moles dm</a:t>
            </a:r>
            <a:r>
              <a:rPr lang="en-GB" baseline="30000" dirty="0"/>
              <a:t>-3</a:t>
            </a:r>
            <a:r>
              <a:rPr lang="en-GB" dirty="0"/>
              <a:t>s</a:t>
            </a:r>
            <a:r>
              <a:rPr lang="en-GB" baseline="30000" dirty="0"/>
              <a:t>-1</a:t>
            </a:r>
            <a:r>
              <a:rPr lang="en-GB" dirty="0"/>
              <a:t>)</a:t>
            </a:r>
          </a:p>
          <a:p>
            <a:r>
              <a:rPr lang="en-GB" dirty="0"/>
              <a:t>Rate </a:t>
            </a:r>
            <a:r>
              <a:rPr lang="en-GB" i="1" dirty="0"/>
              <a:t>constants</a:t>
            </a:r>
            <a:r>
              <a:rPr lang="en-GB" dirty="0"/>
              <a:t> allow us to balance units </a:t>
            </a:r>
            <a:r>
              <a:rPr lang="en-GB"/>
              <a:t>to achieve this.</a:t>
            </a:r>
            <a:endParaRPr lang="en-GB" dirty="0"/>
          </a:p>
          <a:p>
            <a:r>
              <a:rPr lang="en-GB" dirty="0">
                <a:solidFill>
                  <a:srgbClr val="FF0000"/>
                </a:solidFill>
                <a:sym typeface="Symbol" pitchFamily="18" charset="2"/>
              </a:rPr>
              <a:t>Rate = </a:t>
            </a:r>
            <a:r>
              <a:rPr lang="en-GB" i="1" dirty="0">
                <a:solidFill>
                  <a:srgbClr val="FF0000"/>
                </a:solidFill>
                <a:sym typeface="Symbol" pitchFamily="18" charset="2"/>
              </a:rPr>
              <a:t>k</a:t>
            </a:r>
            <a:r>
              <a:rPr lang="en-GB" dirty="0">
                <a:solidFill>
                  <a:srgbClr val="FF0000"/>
                </a:solidFill>
                <a:sym typeface="Symbol" pitchFamily="18" charset="2"/>
              </a:rPr>
              <a:t>[A][B]</a:t>
            </a:r>
            <a:endParaRPr lang="en-GB" i="1" baseline="30000" dirty="0">
              <a:solidFill>
                <a:srgbClr val="FF0000"/>
              </a:solidFill>
              <a:sym typeface="Symbol" pitchFamily="18" charset="2"/>
            </a:endParaRPr>
          </a:p>
          <a:p>
            <a:endParaRPr lang="en-GB" i="1" baseline="30000" dirty="0">
              <a:solidFill>
                <a:srgbClr val="FF0000"/>
              </a:solidFill>
              <a:sym typeface="Symbol" pitchFamily="18" charset="2"/>
            </a:endParaRPr>
          </a:p>
          <a:p>
            <a:r>
              <a:rPr lang="en-GB" dirty="0"/>
              <a:t>c t</a:t>
            </a:r>
            <a:r>
              <a:rPr lang="en-GB" baseline="30000" dirty="0"/>
              <a:t>-1</a:t>
            </a:r>
            <a:r>
              <a:rPr lang="en-GB" dirty="0"/>
              <a:t>=</a:t>
            </a:r>
            <a:r>
              <a:rPr lang="en-GB" i="1" dirty="0"/>
              <a:t>k</a:t>
            </a:r>
            <a:r>
              <a:rPr lang="en-GB" dirty="0"/>
              <a:t>  c c</a:t>
            </a:r>
          </a:p>
          <a:p>
            <a:r>
              <a:rPr lang="en-GB" dirty="0"/>
              <a:t>M s</a:t>
            </a:r>
            <a:r>
              <a:rPr lang="en-GB" baseline="30000" dirty="0"/>
              <a:t>-1</a:t>
            </a:r>
            <a:r>
              <a:rPr lang="en-GB" dirty="0"/>
              <a:t>=</a:t>
            </a:r>
            <a:r>
              <a:rPr lang="en-GB" i="1" dirty="0"/>
              <a:t>k</a:t>
            </a:r>
            <a:r>
              <a:rPr lang="en-GB" dirty="0"/>
              <a:t> M M</a:t>
            </a:r>
          </a:p>
          <a:p>
            <a:r>
              <a:rPr lang="en-GB" dirty="0"/>
              <a:t>Units of </a:t>
            </a:r>
            <a:r>
              <a:rPr lang="en-GB" i="1" dirty="0"/>
              <a:t>k</a:t>
            </a:r>
            <a:r>
              <a:rPr lang="en-GB" dirty="0"/>
              <a:t>: M</a:t>
            </a:r>
            <a:r>
              <a:rPr lang="en-GB" baseline="30000" dirty="0"/>
              <a:t>-1</a:t>
            </a:r>
            <a:r>
              <a:rPr lang="en-GB" dirty="0"/>
              <a:t> s</a:t>
            </a:r>
            <a:r>
              <a:rPr lang="en-GB" baseline="30000" dirty="0"/>
              <a:t>-1</a:t>
            </a:r>
            <a:endParaRPr lang="en-GB" dirty="0"/>
          </a:p>
          <a:p>
            <a:endParaRPr lang="en-GB" i="1" baseline="30000" dirty="0">
              <a:solidFill>
                <a:srgbClr val="FF0000"/>
              </a:solidFill>
            </a:endParaRPr>
          </a:p>
          <a:p>
            <a:endParaRPr lang="en-GB" i="1" baseline="30000" dirty="0">
              <a:solidFill>
                <a:srgbClr val="FF0000"/>
              </a:solidFill>
            </a:endParaRPr>
          </a:p>
          <a:p>
            <a:pPr marL="742315" lvl="1" indent="-285115"/>
            <a:endParaRPr lang="en-GB" dirty="0"/>
          </a:p>
          <a:p>
            <a:pPr marL="342265" indent="-342265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25441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Worked example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dirty="0"/>
              <a:t>A + 2B →C + 3D</a:t>
            </a:r>
          </a:p>
          <a:p>
            <a:pPr marL="0" indent="0">
              <a:buNone/>
            </a:pPr>
            <a:r>
              <a:rPr lang="en-GB" dirty="0"/>
              <a:t>Experiments show this to be second order with respect to A, and zeroth order with respect to B, with rate constant </a:t>
            </a:r>
            <a:r>
              <a:rPr lang="en-GB" i="1" dirty="0"/>
              <a:t>k</a:t>
            </a:r>
            <a:r>
              <a:rPr lang="en-GB" baseline="-25000" dirty="0"/>
              <a:t>2</a:t>
            </a:r>
            <a:endParaRPr lang="en-GB" dirty="0"/>
          </a:p>
          <a:p>
            <a:pPr marL="57149" indent="0">
              <a:buNone/>
            </a:pPr>
            <a:r>
              <a:rPr lang="en-GB" dirty="0"/>
              <a:t>Calculate:</a:t>
            </a:r>
          </a:p>
          <a:p>
            <a:pPr marL="514345" indent="-457196"/>
            <a:r>
              <a:rPr lang="en-GB" dirty="0"/>
              <a:t>Rate</a:t>
            </a:r>
          </a:p>
          <a:p>
            <a:pPr marL="514345" indent="-457196"/>
            <a:r>
              <a:rPr lang="en-GB" dirty="0"/>
              <a:t>Rate of change of [D] </a:t>
            </a:r>
          </a:p>
          <a:p>
            <a:pPr marL="514345" indent="-457196"/>
            <a:r>
              <a:rPr lang="en-GB" dirty="0"/>
              <a:t>Rate of change of [B] </a:t>
            </a:r>
          </a:p>
          <a:p>
            <a:pPr marL="514345" indent="-457196"/>
            <a:r>
              <a:rPr lang="en-GB" dirty="0"/>
              <a:t>Rate of change of [A]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3085362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Worked example: Answer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GB" sz="2800" dirty="0"/>
              <a:t>A + 2B →C + 3D</a:t>
            </a:r>
          </a:p>
          <a:p>
            <a:pPr marL="0" indent="0">
              <a:buNone/>
            </a:pPr>
            <a:r>
              <a:rPr lang="en-GB" sz="2800" dirty="0"/>
              <a:t>Experiments show this to be second order with respect to A, and zeroth order with respect to B, with rate constant </a:t>
            </a:r>
            <a:r>
              <a:rPr lang="en-GB" sz="2800" i="1" dirty="0"/>
              <a:t>k</a:t>
            </a:r>
            <a:r>
              <a:rPr lang="en-GB" sz="2800" baseline="-25000" dirty="0"/>
              <a:t>2</a:t>
            </a:r>
            <a:endParaRPr lang="en-GB" sz="2800" dirty="0"/>
          </a:p>
          <a:p>
            <a:pPr marL="57149" indent="0">
              <a:buNone/>
            </a:pPr>
            <a:r>
              <a:rPr lang="en-GB" sz="2900" dirty="0"/>
              <a:t>Calculate:</a:t>
            </a:r>
          </a:p>
          <a:p>
            <a:pPr marL="514345" indent="-457196"/>
            <a:r>
              <a:rPr lang="en-GB" sz="2900" dirty="0"/>
              <a:t>Rate		            </a:t>
            </a:r>
            <a:r>
              <a:rPr lang="en-GB" sz="2900" dirty="0">
                <a:solidFill>
                  <a:srgbClr val="FF0000"/>
                </a:solidFill>
                <a:cs typeface="Arial" charset="0"/>
              </a:rPr>
              <a:t>Rate = </a:t>
            </a:r>
            <a:r>
              <a:rPr lang="en-GB" sz="2900" i="1" dirty="0">
                <a:solidFill>
                  <a:srgbClr val="FF0000"/>
                </a:solidFill>
                <a:cs typeface="Arial" charset="0"/>
              </a:rPr>
              <a:t>k</a:t>
            </a:r>
            <a:r>
              <a:rPr lang="en-GB" sz="2900" baseline="-25000" dirty="0">
                <a:solidFill>
                  <a:srgbClr val="FF0000"/>
                </a:solidFill>
                <a:cs typeface="Arial" charset="0"/>
              </a:rPr>
              <a:t>2</a:t>
            </a:r>
            <a:r>
              <a:rPr lang="en-GB" sz="2900" dirty="0">
                <a:solidFill>
                  <a:srgbClr val="FF0000"/>
                </a:solidFill>
              </a:rPr>
              <a:t>[A]</a:t>
            </a:r>
            <a:r>
              <a:rPr lang="en-GB" sz="2900" baseline="30000" dirty="0">
                <a:solidFill>
                  <a:srgbClr val="FF0000"/>
                </a:solidFill>
              </a:rPr>
              <a:t>2 </a:t>
            </a:r>
            <a:r>
              <a:rPr lang="en-GB" sz="2900" dirty="0">
                <a:solidFill>
                  <a:srgbClr val="FF0000"/>
                </a:solidFill>
                <a:cs typeface="Arial" charset="0"/>
              </a:rPr>
              <a:t>= d[C]/d</a:t>
            </a:r>
            <a:r>
              <a:rPr lang="en-GB" sz="2900" i="1" dirty="0">
                <a:solidFill>
                  <a:srgbClr val="FF0000"/>
                </a:solidFill>
                <a:cs typeface="Arial" charset="0"/>
              </a:rPr>
              <a:t>t</a:t>
            </a:r>
            <a:r>
              <a:rPr lang="en-GB" sz="2900" dirty="0">
                <a:solidFill>
                  <a:srgbClr val="FF0000"/>
                </a:solidFill>
                <a:cs typeface="Arial" charset="0"/>
              </a:rPr>
              <a:t> </a:t>
            </a:r>
            <a:endParaRPr lang="en-GB" sz="2900" dirty="0"/>
          </a:p>
          <a:p>
            <a:pPr marL="514345" indent="-457196"/>
            <a:r>
              <a:rPr lang="en-GB" sz="2900" dirty="0"/>
              <a:t>Rate of change of [D]  </a:t>
            </a:r>
            <a:r>
              <a:rPr lang="en-GB" sz="2900" dirty="0">
                <a:solidFill>
                  <a:srgbClr val="FF0000"/>
                </a:solidFill>
                <a:cs typeface="Arial" charset="0"/>
              </a:rPr>
              <a:t>d[D]/d</a:t>
            </a:r>
            <a:r>
              <a:rPr lang="en-GB" sz="2900" i="1" dirty="0">
                <a:solidFill>
                  <a:srgbClr val="FF0000"/>
                </a:solidFill>
                <a:cs typeface="Arial" charset="0"/>
              </a:rPr>
              <a:t>t</a:t>
            </a:r>
            <a:r>
              <a:rPr lang="en-GB" sz="2900" dirty="0">
                <a:solidFill>
                  <a:srgbClr val="FF0000"/>
                </a:solidFill>
                <a:cs typeface="Arial" charset="0"/>
              </a:rPr>
              <a:t> = 3 × Rate = 3 </a:t>
            </a:r>
            <a:r>
              <a:rPr lang="en-GB" sz="2900" i="1" dirty="0">
                <a:solidFill>
                  <a:srgbClr val="FF0000"/>
                </a:solidFill>
                <a:cs typeface="Arial" charset="0"/>
              </a:rPr>
              <a:t>k</a:t>
            </a:r>
            <a:r>
              <a:rPr lang="en-GB" sz="2900" baseline="-25000" dirty="0">
                <a:solidFill>
                  <a:srgbClr val="FF0000"/>
                </a:solidFill>
                <a:cs typeface="Arial" charset="0"/>
              </a:rPr>
              <a:t>2</a:t>
            </a:r>
            <a:r>
              <a:rPr lang="en-GB" sz="2900" dirty="0">
                <a:solidFill>
                  <a:srgbClr val="FF0000"/>
                </a:solidFill>
              </a:rPr>
              <a:t>[A]</a:t>
            </a:r>
            <a:r>
              <a:rPr lang="en-GB" sz="2900" baseline="30000" dirty="0">
                <a:solidFill>
                  <a:srgbClr val="FF0000"/>
                </a:solidFill>
              </a:rPr>
              <a:t>2</a:t>
            </a:r>
            <a:endParaRPr lang="en-GB" sz="2900" dirty="0"/>
          </a:p>
          <a:p>
            <a:pPr marL="514345" indent="-457196"/>
            <a:r>
              <a:rPr lang="en-GB" sz="2900" dirty="0"/>
              <a:t>Rate of change of [B]  </a:t>
            </a:r>
            <a:r>
              <a:rPr lang="en-GB" sz="2900" dirty="0">
                <a:solidFill>
                  <a:srgbClr val="FF0000"/>
                </a:solidFill>
                <a:cs typeface="Arial" charset="0"/>
              </a:rPr>
              <a:t>d[B]/d</a:t>
            </a:r>
            <a:r>
              <a:rPr lang="en-GB" sz="2900" i="1" dirty="0">
                <a:solidFill>
                  <a:srgbClr val="FF0000"/>
                </a:solidFill>
                <a:cs typeface="Arial" charset="0"/>
              </a:rPr>
              <a:t>t</a:t>
            </a:r>
            <a:r>
              <a:rPr lang="en-GB" sz="2900" dirty="0">
                <a:solidFill>
                  <a:srgbClr val="FF0000"/>
                </a:solidFill>
                <a:cs typeface="Arial" charset="0"/>
              </a:rPr>
              <a:t> = </a:t>
            </a:r>
            <a:r>
              <a:rPr lang="en-GB" sz="2900" dirty="0">
                <a:solidFill>
                  <a:srgbClr val="FF0000"/>
                </a:solidFill>
              </a:rPr>
              <a:t>−</a:t>
            </a:r>
            <a:r>
              <a:rPr lang="en-GB" sz="2900" dirty="0">
                <a:solidFill>
                  <a:srgbClr val="FF0000"/>
                </a:solidFill>
                <a:cs typeface="Arial" charset="0"/>
              </a:rPr>
              <a:t>2 × Rate = </a:t>
            </a:r>
            <a:r>
              <a:rPr lang="en-GB" sz="2900" dirty="0">
                <a:solidFill>
                  <a:srgbClr val="FF0000"/>
                </a:solidFill>
              </a:rPr>
              <a:t>−</a:t>
            </a:r>
            <a:r>
              <a:rPr lang="en-GB" sz="2900" dirty="0">
                <a:solidFill>
                  <a:srgbClr val="FF0000"/>
                </a:solidFill>
                <a:cs typeface="Arial" charset="0"/>
              </a:rPr>
              <a:t>2 </a:t>
            </a:r>
            <a:r>
              <a:rPr lang="en-GB" sz="2900" i="1" dirty="0">
                <a:solidFill>
                  <a:srgbClr val="FF0000"/>
                </a:solidFill>
                <a:cs typeface="Arial" charset="0"/>
              </a:rPr>
              <a:t>k</a:t>
            </a:r>
            <a:r>
              <a:rPr lang="en-GB" sz="2900" baseline="-25000" dirty="0">
                <a:solidFill>
                  <a:srgbClr val="FF0000"/>
                </a:solidFill>
                <a:cs typeface="Arial" charset="0"/>
              </a:rPr>
              <a:t>2</a:t>
            </a:r>
            <a:r>
              <a:rPr lang="en-GB" sz="2900" dirty="0">
                <a:solidFill>
                  <a:srgbClr val="FF0000"/>
                </a:solidFill>
              </a:rPr>
              <a:t>[A]</a:t>
            </a:r>
            <a:r>
              <a:rPr lang="en-GB" sz="2900" baseline="30000" dirty="0">
                <a:solidFill>
                  <a:srgbClr val="FF0000"/>
                </a:solidFill>
              </a:rPr>
              <a:t>2</a:t>
            </a:r>
            <a:endParaRPr lang="en-GB" sz="2900" dirty="0"/>
          </a:p>
          <a:p>
            <a:pPr marL="514345" indent="-457196"/>
            <a:r>
              <a:rPr lang="en-GB" sz="2900" dirty="0"/>
              <a:t>Rate of change of [A]  </a:t>
            </a:r>
            <a:r>
              <a:rPr lang="en-GB" sz="2900" dirty="0">
                <a:solidFill>
                  <a:srgbClr val="FF0000"/>
                </a:solidFill>
                <a:cs typeface="Arial" charset="0"/>
              </a:rPr>
              <a:t>d[A]/d</a:t>
            </a:r>
            <a:r>
              <a:rPr lang="en-GB" sz="2900" i="1" dirty="0">
                <a:solidFill>
                  <a:srgbClr val="FF0000"/>
                </a:solidFill>
                <a:cs typeface="Arial" charset="0"/>
              </a:rPr>
              <a:t>t</a:t>
            </a:r>
            <a:r>
              <a:rPr lang="en-GB" sz="2900" dirty="0">
                <a:solidFill>
                  <a:srgbClr val="FF0000"/>
                </a:solidFill>
                <a:cs typeface="Arial" charset="0"/>
              </a:rPr>
              <a:t> = </a:t>
            </a:r>
            <a:r>
              <a:rPr lang="en-GB" sz="2900" dirty="0">
                <a:solidFill>
                  <a:srgbClr val="FF0000"/>
                </a:solidFill>
              </a:rPr>
              <a:t>−</a:t>
            </a:r>
            <a:r>
              <a:rPr lang="en-GB" sz="2900" dirty="0">
                <a:solidFill>
                  <a:srgbClr val="FF0000"/>
                </a:solidFill>
                <a:cs typeface="Arial" charset="0"/>
              </a:rPr>
              <a:t>Rate = </a:t>
            </a:r>
            <a:r>
              <a:rPr lang="en-GB" sz="2900" dirty="0">
                <a:solidFill>
                  <a:srgbClr val="FF0000"/>
                </a:solidFill>
              </a:rPr>
              <a:t>−</a:t>
            </a:r>
            <a:r>
              <a:rPr lang="en-GB" sz="2900" i="1" dirty="0">
                <a:solidFill>
                  <a:srgbClr val="FF0000"/>
                </a:solidFill>
                <a:cs typeface="Arial" charset="0"/>
              </a:rPr>
              <a:t>k</a:t>
            </a:r>
            <a:r>
              <a:rPr lang="en-GB" sz="2900" baseline="-25000" dirty="0">
                <a:solidFill>
                  <a:srgbClr val="FF0000"/>
                </a:solidFill>
                <a:cs typeface="Arial" charset="0"/>
              </a:rPr>
              <a:t>2</a:t>
            </a:r>
            <a:r>
              <a:rPr lang="en-GB" sz="2900" dirty="0">
                <a:solidFill>
                  <a:srgbClr val="FF0000"/>
                </a:solidFill>
              </a:rPr>
              <a:t>[A]</a:t>
            </a:r>
            <a:r>
              <a:rPr lang="en-GB" sz="2900" baseline="30000" dirty="0">
                <a:solidFill>
                  <a:srgbClr val="FF0000"/>
                </a:solidFill>
              </a:rPr>
              <a:t>2</a:t>
            </a:r>
            <a:endParaRPr lang="en-GB" sz="2900" dirty="0">
              <a:cs typeface="Arial" charset="0"/>
            </a:endParaRPr>
          </a:p>
          <a:p>
            <a:pPr marL="514345" indent="-457196"/>
            <a:endParaRPr lang="en-GB" sz="2800" dirty="0"/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1346785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By the end of this lecture course…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53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2057403"/>
                <a:ext cx="8579296" cy="488198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000" dirty="0"/>
                  <a:t>…you will be able to explain:</a:t>
                </a:r>
              </a:p>
              <a:p>
                <a:r>
                  <a:rPr lang="en-GB" sz="2000" dirty="0"/>
                  <a:t>Where the rate law comes from</a:t>
                </a:r>
              </a:p>
              <a:p>
                <a:r>
                  <a:rPr lang="en-GB" sz="2000" dirty="0"/>
                  <a:t>Rate laws that are complicated, e.g., A(g) → P</a:t>
                </a:r>
              </a:p>
              <a:p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smtClean="0"/>
                        <m:t>Rate</m:t>
                      </m:r>
                      <m:r>
                        <m:rPr>
                          <m:nor/>
                        </m:rPr>
                        <a:rPr lang="en-GB" sz="2000" smtClean="0"/>
                        <m:t> =</m:t>
                      </m:r>
                      <m:f>
                        <m:f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00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200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2000" dirty="0"/>
              </a:p>
              <a:p>
                <a:r>
                  <a:rPr lang="en-GB" sz="2000" dirty="0"/>
                  <a:t>Powers that aren’t integers </a:t>
                </a:r>
              </a:p>
              <a:p>
                <a:pPr marL="0" indent="0">
                  <a:buNone/>
                </a:pPr>
                <a:r>
                  <a:rPr lang="en-GB" sz="2000" dirty="0"/>
                  <a:t>		e.g. H</a:t>
                </a:r>
                <a:r>
                  <a:rPr lang="en-GB" sz="2000" baseline="-25000" dirty="0"/>
                  <a:t>2</a:t>
                </a:r>
                <a:r>
                  <a:rPr lang="en-GB" sz="2000" dirty="0"/>
                  <a:t>(g)+Br</a:t>
                </a:r>
                <a:r>
                  <a:rPr lang="en-GB" sz="2000" baseline="-25000" dirty="0"/>
                  <a:t>2</a:t>
                </a:r>
                <a:r>
                  <a:rPr lang="en-GB" sz="2000" dirty="0"/>
                  <a:t>(g) →2HBr(g)</a:t>
                </a:r>
              </a:p>
              <a:p>
                <a:pPr marL="0" indent="0">
                  <a:buNone/>
                </a:pPr>
                <a:endParaRPr lang="en-GB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000" smtClean="0"/>
                        <m:t>Rate</m:t>
                      </m:r>
                      <m:r>
                        <m:rPr>
                          <m:nor/>
                        </m:rPr>
                        <a:rPr lang="en-GB" sz="2000" smtClean="0"/>
                        <m:t> =</m:t>
                      </m:r>
                      <m:f>
                        <m:fPr>
                          <m:ctrlPr>
                            <a:rPr lang="en-GB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GB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GB" sz="200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000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GB" sz="2000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 sz="2000" smtClean="0"/>
                                        <m:t>Br</m:t>
                                      </m:r>
                                    </m:e>
                                    <m:sub>
                                      <m:r>
                                        <a:rPr lang="en-GB" sz="200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3/2</m:t>
                              </m:r>
                            </m:sup>
                          </m:s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GB" sz="2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sz="2000" b="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GB" sz="2000" smtClean="0"/>
                                    <m:t>Br</m:t>
                                  </m:r>
                                </m:e>
                                <m:sub>
                                  <m:r>
                                    <a:rPr lang="en-GB" sz="200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200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00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GB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GB" sz="2000" smtClean="0"/>
                                <m:t>HBr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2000" dirty="0"/>
              </a:p>
              <a:p>
                <a:pPr marL="0" indent="0">
                  <a:buNone/>
                </a:pPr>
                <a:r>
                  <a:rPr lang="en-GB" sz="2000" dirty="0"/>
                  <a:t>	</a:t>
                </a:r>
              </a:p>
            </p:txBody>
          </p:sp>
        </mc:Choice>
        <mc:Fallback xmlns="">
          <p:sp>
            <p:nvSpPr>
              <p:cNvPr id="655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057403"/>
                <a:ext cx="8579296" cy="4881987"/>
              </a:xfrm>
              <a:blipFill>
                <a:blip r:embed="rId3"/>
                <a:stretch>
                  <a:fillRect l="-711" t="-6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760631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95AD-F0D4-3C95-EAB7-F3BDEEB71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constant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01929-2C5B-5FBD-47F4-3AAB460CC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592" y="1782762"/>
            <a:ext cx="4170408" cy="4343400"/>
          </a:xfrm>
        </p:spPr>
        <p:txBody>
          <a:bodyPr/>
          <a:lstStyle/>
          <a:p>
            <a:r>
              <a:rPr lang="en-GB" dirty="0"/>
              <a:t>Rate normally expressed as concentration/ time, e.g. mM/s, </a:t>
            </a:r>
            <a:r>
              <a:rPr lang="en-GB" dirty="0" err="1"/>
              <a:t>nM</a:t>
            </a:r>
            <a:r>
              <a:rPr lang="en-GB" dirty="0"/>
              <a:t>/nanosecond…</a:t>
            </a:r>
          </a:p>
          <a:p>
            <a:r>
              <a:rPr lang="en-GB" dirty="0"/>
              <a:t>Rate = </a:t>
            </a:r>
            <a:r>
              <a:rPr lang="en-GB" i="1" dirty="0"/>
              <a:t>k</a:t>
            </a:r>
            <a:r>
              <a:rPr lang="en-GB" dirty="0"/>
              <a:t> [A] =(???)(concentration)</a:t>
            </a:r>
          </a:p>
          <a:p>
            <a:r>
              <a:rPr lang="en-GB" dirty="0"/>
              <a:t>To compare </a:t>
            </a:r>
            <a:r>
              <a:rPr lang="en-GB" dirty="0">
                <a:solidFill>
                  <a:srgbClr val="FF0000"/>
                </a:solidFill>
              </a:rPr>
              <a:t>two rate constants, </a:t>
            </a:r>
            <a:r>
              <a:rPr lang="en-GB" dirty="0"/>
              <a:t>they must </a:t>
            </a:r>
            <a:r>
              <a:rPr lang="en-GB" dirty="0">
                <a:solidFill>
                  <a:srgbClr val="FF0000"/>
                </a:solidFill>
              </a:rPr>
              <a:t>have the same units</a:t>
            </a:r>
          </a:p>
          <a:p>
            <a:pPr marL="0" indent="0">
              <a:buNone/>
            </a:pP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6111A-0C58-7B5E-0E92-EA0906DED7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21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CB4F4D-E8C3-983D-DAF6-CED671754BB7}"/>
                  </a:ext>
                </a:extLst>
              </p:cNvPr>
              <p:cNvSpPr txBox="1"/>
              <p:nvPr/>
            </p:nvSpPr>
            <p:spPr>
              <a:xfrm>
                <a:off x="4170408" y="3456382"/>
                <a:ext cx="4572000" cy="895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smtClean="0"/>
                        <m:t>Rate</m:t>
                      </m:r>
                      <m:r>
                        <m:rPr>
                          <m:nor/>
                        </m:rPr>
                        <a:rPr lang="en-GB" sz="2400" smtClean="0"/>
                        <m:t> =</m:t>
                      </m:r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240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CB4F4D-E8C3-983D-DAF6-CED671754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408" y="3456382"/>
                <a:ext cx="4572000" cy="895758"/>
              </a:xfrm>
              <a:prstGeom prst="rect">
                <a:avLst/>
              </a:prstGeom>
              <a:blipFill>
                <a:blip r:embed="rId2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4A79CF-0FF1-AAE6-4A86-FEE470A2EBFD}"/>
                  </a:ext>
                </a:extLst>
              </p:cNvPr>
              <p:cNvSpPr txBox="1"/>
              <p:nvPr/>
            </p:nvSpPr>
            <p:spPr>
              <a:xfrm>
                <a:off x="3693228" y="4877807"/>
                <a:ext cx="5526360" cy="12483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smtClean="0"/>
                        <m:t>Rate</m:t>
                      </m:r>
                      <m:r>
                        <m:rPr>
                          <m:nor/>
                        </m:rPr>
                        <a:rPr lang="en-GB" sz="2400" smtClean="0"/>
                        <m:t> =</m:t>
                      </m:r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GB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GB" sz="240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GB" sz="2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2400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GB" sz="2400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GB" sz="2400" smtClean="0"/>
                                        <m:t>Br</m:t>
                                      </m:r>
                                    </m:e>
                                    <m:sub>
                                      <m:r>
                                        <a:rPr lang="en-GB" sz="240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3/2</m:t>
                              </m:r>
                            </m:sup>
                          </m:s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sz="2400" b="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GB" sz="2400" smtClean="0"/>
                                    <m:t>Br</m:t>
                                  </m:r>
                                </m:e>
                                <m:sub>
                                  <m:r>
                                    <a:rPr lang="en-GB" sz="240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240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2400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GB" sz="2400" smtClean="0"/>
                                <m:t>HBr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34A79CF-0FF1-AAE6-4A86-FEE470A2E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228" y="4877807"/>
                <a:ext cx="5526360" cy="1248355"/>
              </a:xfrm>
              <a:prstGeom prst="rect">
                <a:avLst/>
              </a:prstGeom>
              <a:blipFill>
                <a:blip r:embed="rId3"/>
                <a:stretch>
                  <a:fillRect b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FC2F65-8959-28F7-2235-F9CA4CF53AE7}"/>
                  </a:ext>
                </a:extLst>
              </p:cNvPr>
              <p:cNvSpPr txBox="1"/>
              <p:nvPr/>
            </p:nvSpPr>
            <p:spPr>
              <a:xfrm>
                <a:off x="4294759" y="2441247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400" smtClean="0"/>
                        <m:t>Rate</m:t>
                      </m:r>
                      <m:r>
                        <m:rPr>
                          <m:nor/>
                        </m:rPr>
                        <a:rPr lang="en-GB" sz="2400" smtClean="0"/>
                        <m:t> 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FC2F65-8959-28F7-2235-F9CA4CF53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759" y="2441247"/>
                <a:ext cx="4572000" cy="461665"/>
              </a:xfrm>
              <a:prstGeom prst="rect">
                <a:avLst/>
              </a:prstGeom>
              <a:blipFill>
                <a:blip r:embed="rId4"/>
                <a:stretch>
                  <a:fillRect t="-5405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805540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ECADA0-E86A-46BF-A17E-DDE7552F0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664" y="3320989"/>
            <a:ext cx="5829300" cy="1021556"/>
          </a:xfrm>
        </p:spPr>
        <p:txBody>
          <a:bodyPr/>
          <a:lstStyle/>
          <a:p>
            <a:r>
              <a:rPr lang="en-GB" dirty="0"/>
              <a:t>Multistep reactions</a:t>
            </a:r>
          </a:p>
        </p:txBody>
      </p:sp>
    </p:spTree>
    <p:extLst>
      <p:ext uri="{BB962C8B-B14F-4D97-AF65-F5344CB8AC3E}">
        <p14:creationId xmlns:p14="http://schemas.microsoft.com/office/powerpoint/2010/main" val="269607399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96525" y="274638"/>
            <a:ext cx="6192838" cy="1143000"/>
          </a:xfrm>
        </p:spPr>
        <p:txBody>
          <a:bodyPr>
            <a:normAutofit/>
          </a:bodyPr>
          <a:lstStyle/>
          <a:p>
            <a:r>
              <a:rPr lang="en-GB"/>
              <a:t>Most real reactions are multi-step reactions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515" y="1600200"/>
            <a:ext cx="8480285" cy="4343400"/>
          </a:xfrm>
        </p:spPr>
        <p:txBody>
          <a:bodyPr>
            <a:normAutofit fontScale="92500" lnSpcReduction="10000"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This example contains two steps. Each single step has a simple rate law.</a:t>
            </a:r>
          </a:p>
          <a:p>
            <a:r>
              <a:rPr lang="en-GB" dirty="0"/>
              <a:t>How do we calculate “Rate” (of formation of Products) for the overall reaction? </a:t>
            </a:r>
          </a:p>
          <a:p>
            <a:r>
              <a:rPr lang="en-GB" dirty="0"/>
              <a:t>We want a rate law only involving measurable reactant (and product) concentrations – no intermediates.</a:t>
            </a:r>
          </a:p>
          <a:p>
            <a:endParaRPr lang="en-GB" dirty="0"/>
          </a:p>
        </p:txBody>
      </p:sp>
      <p:grpSp>
        <p:nvGrpSpPr>
          <p:cNvPr id="4" name="Group 3"/>
          <p:cNvGrpSpPr/>
          <p:nvPr/>
        </p:nvGrpSpPr>
        <p:grpSpPr>
          <a:xfrm>
            <a:off x="1639246" y="1958922"/>
            <a:ext cx="2510624" cy="717228"/>
            <a:chOff x="616773" y="1567350"/>
            <a:chExt cx="3347499" cy="956304"/>
          </a:xfrm>
        </p:grpSpPr>
        <p:sp>
          <p:nvSpPr>
            <p:cNvPr id="70660" name="Rectangle 4"/>
            <p:cNvSpPr>
              <a:spLocks noChangeArrowheads="1"/>
            </p:cNvSpPr>
            <p:nvPr/>
          </p:nvSpPr>
          <p:spPr bwMode="auto">
            <a:xfrm>
              <a:off x="616773" y="1908101"/>
              <a:ext cx="3347499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dirty="0">
                  <a:latin typeface="Times New Roman" pitchFamily="18" charset="0"/>
                </a:rPr>
                <a:t>A</a:t>
              </a:r>
              <a:r>
                <a:rPr lang="en-GB" i="1" dirty="0">
                  <a:latin typeface="Times New Roman" pitchFamily="18" charset="0"/>
                </a:rPr>
                <a:t> → </a:t>
              </a:r>
              <a:r>
                <a:rPr lang="en-GB" dirty="0">
                  <a:latin typeface="Times New Roman" pitchFamily="18" charset="0"/>
                </a:rPr>
                <a:t>I</a:t>
              </a:r>
              <a:r>
                <a:rPr lang="en-GB" i="1" dirty="0">
                  <a:latin typeface="Times New Roman" pitchFamily="18" charset="0"/>
                </a:rPr>
                <a:t> → </a:t>
              </a:r>
              <a:r>
                <a:rPr lang="en-GB" dirty="0">
                  <a:latin typeface="Times New Roman" pitchFamily="18" charset="0"/>
                </a:rPr>
                <a:t>Products</a:t>
              </a:r>
              <a:endParaRPr lang="en-US" i="1" dirty="0">
                <a:latin typeface="Times New Roman" pitchFamily="18" charset="0"/>
              </a:endParaRPr>
            </a:p>
          </p:txBody>
        </p:sp>
        <p:sp>
          <p:nvSpPr>
            <p:cNvPr id="70661" name="Text Box 5"/>
            <p:cNvSpPr txBox="1">
              <a:spLocks noChangeArrowheads="1"/>
            </p:cNvSpPr>
            <p:nvPr/>
          </p:nvSpPr>
          <p:spPr bwMode="auto">
            <a:xfrm>
              <a:off x="1077760" y="1576742"/>
              <a:ext cx="564685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 dirty="0">
                  <a:latin typeface="Times" pitchFamily="18" charset="0"/>
                </a:rPr>
                <a:t>k</a:t>
              </a:r>
              <a:r>
                <a:rPr lang="en-GB" i="1" baseline="-25000" dirty="0">
                  <a:latin typeface="Times" pitchFamily="18" charset="0"/>
                </a:rPr>
                <a:t>1</a:t>
              </a:r>
              <a:endParaRPr lang="en-US" i="1" baseline="-25000" dirty="0">
                <a:latin typeface="Times" pitchFamily="18" charset="0"/>
              </a:endParaRPr>
            </a:p>
          </p:txBody>
        </p:sp>
        <p:sp>
          <p:nvSpPr>
            <p:cNvPr id="70662" name="Text Box 6"/>
            <p:cNvSpPr txBox="1">
              <a:spLocks noChangeArrowheads="1"/>
            </p:cNvSpPr>
            <p:nvPr/>
          </p:nvSpPr>
          <p:spPr bwMode="auto">
            <a:xfrm>
              <a:off x="1760197" y="1567350"/>
              <a:ext cx="564685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latin typeface="Times" pitchFamily="18" charset="0"/>
                </a:rPr>
                <a:t>k</a:t>
              </a:r>
              <a:r>
                <a:rPr lang="en-GB" i="1" baseline="-25000">
                  <a:latin typeface="Times" pitchFamily="18" charset="0"/>
                </a:rPr>
                <a:t>2</a:t>
              </a:r>
              <a:endParaRPr lang="en-US" i="1" baseline="-25000">
                <a:latin typeface="Times" pitchFamily="18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174057" y="1927073"/>
            <a:ext cx="3916941" cy="1520049"/>
            <a:chOff x="3974083" y="1089567"/>
            <a:chExt cx="5222587" cy="2026732"/>
          </a:xfrm>
        </p:grpSpPr>
        <p:sp>
          <p:nvSpPr>
            <p:cNvPr id="70664" name="Freeform 8"/>
            <p:cNvSpPr>
              <a:spLocks/>
            </p:cNvSpPr>
            <p:nvPr/>
          </p:nvSpPr>
          <p:spPr bwMode="auto">
            <a:xfrm>
              <a:off x="4528772" y="1092741"/>
              <a:ext cx="3465634" cy="15160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55"/>
                </a:cxn>
                <a:cxn ang="0">
                  <a:pos x="2183" y="955"/>
                </a:cxn>
              </a:cxnLst>
              <a:rect l="0" t="0" r="r" b="b"/>
              <a:pathLst>
                <a:path w="2183" h="955">
                  <a:moveTo>
                    <a:pt x="0" y="0"/>
                  </a:moveTo>
                  <a:lnTo>
                    <a:pt x="0" y="955"/>
                  </a:lnTo>
                  <a:lnTo>
                    <a:pt x="2183" y="9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70665" name="Freeform 9"/>
            <p:cNvSpPr>
              <a:spLocks/>
            </p:cNvSpPr>
            <p:nvPr/>
          </p:nvSpPr>
          <p:spPr bwMode="auto">
            <a:xfrm>
              <a:off x="4890721" y="1089567"/>
              <a:ext cx="2754923" cy="1316037"/>
            </a:xfrm>
            <a:custGeom>
              <a:avLst/>
              <a:gdLst/>
              <a:ahLst/>
              <a:cxnLst>
                <a:cxn ang="0">
                  <a:pos x="0" y="260"/>
                </a:cxn>
                <a:cxn ang="0">
                  <a:pos x="159" y="344"/>
                </a:cxn>
                <a:cxn ang="0">
                  <a:pos x="303" y="275"/>
                </a:cxn>
                <a:cxn ang="0">
                  <a:pos x="470" y="10"/>
                </a:cxn>
                <a:cxn ang="0">
                  <a:pos x="621" y="215"/>
                </a:cxn>
                <a:cxn ang="0">
                  <a:pos x="765" y="63"/>
                </a:cxn>
                <a:cxn ang="0">
                  <a:pos x="977" y="442"/>
                </a:cxn>
                <a:cxn ang="0">
                  <a:pos x="1182" y="389"/>
                </a:cxn>
              </a:cxnLst>
              <a:rect l="0" t="0" r="r" b="b"/>
              <a:pathLst>
                <a:path w="1182" h="496">
                  <a:moveTo>
                    <a:pt x="0" y="260"/>
                  </a:moveTo>
                  <a:cubicBezTo>
                    <a:pt x="27" y="273"/>
                    <a:pt x="109" y="342"/>
                    <a:pt x="159" y="344"/>
                  </a:cubicBezTo>
                  <a:cubicBezTo>
                    <a:pt x="209" y="346"/>
                    <a:pt x="251" y="331"/>
                    <a:pt x="303" y="275"/>
                  </a:cubicBezTo>
                  <a:cubicBezTo>
                    <a:pt x="355" y="219"/>
                    <a:pt x="417" y="20"/>
                    <a:pt x="470" y="10"/>
                  </a:cubicBezTo>
                  <a:cubicBezTo>
                    <a:pt x="523" y="0"/>
                    <a:pt x="572" y="206"/>
                    <a:pt x="621" y="215"/>
                  </a:cubicBezTo>
                  <a:cubicBezTo>
                    <a:pt x="670" y="224"/>
                    <a:pt x="706" y="25"/>
                    <a:pt x="765" y="63"/>
                  </a:cubicBezTo>
                  <a:cubicBezTo>
                    <a:pt x="824" y="101"/>
                    <a:pt x="907" y="388"/>
                    <a:pt x="977" y="442"/>
                  </a:cubicBezTo>
                  <a:cubicBezTo>
                    <a:pt x="1047" y="496"/>
                    <a:pt x="1114" y="442"/>
                    <a:pt x="1182" y="38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GB" sz="1350"/>
            </a:p>
          </p:txBody>
        </p:sp>
        <p:sp>
          <p:nvSpPr>
            <p:cNvPr id="70666" name="Rectangle 10"/>
            <p:cNvSpPr>
              <a:spLocks noChangeArrowheads="1"/>
            </p:cNvSpPr>
            <p:nvPr/>
          </p:nvSpPr>
          <p:spPr bwMode="auto">
            <a:xfrm>
              <a:off x="6183191" y="1624554"/>
              <a:ext cx="365912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 dirty="0">
                  <a:latin typeface="Times New Roman" pitchFamily="18" charset="0"/>
                </a:rPr>
                <a:t>I</a:t>
              </a:r>
              <a:endParaRPr lang="en-US" sz="2100" dirty="0">
                <a:latin typeface="Times New Roman" pitchFamily="18" charset="0"/>
              </a:endParaRPr>
            </a:p>
          </p:txBody>
        </p:sp>
        <p:sp>
          <p:nvSpPr>
            <p:cNvPr id="70667" name="Rectangle 11"/>
            <p:cNvSpPr>
              <a:spLocks noChangeArrowheads="1"/>
            </p:cNvSpPr>
            <p:nvPr/>
          </p:nvSpPr>
          <p:spPr bwMode="auto">
            <a:xfrm>
              <a:off x="5100273" y="1938879"/>
              <a:ext cx="504840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 dirty="0">
                  <a:latin typeface="Times New Roman" pitchFamily="18" charset="0"/>
                </a:rPr>
                <a:t>A</a:t>
              </a:r>
              <a:endParaRPr lang="en-US" sz="2100" dirty="0">
                <a:latin typeface="Times New Roman" pitchFamily="18" charset="0"/>
              </a:endParaRPr>
            </a:p>
          </p:txBody>
        </p:sp>
        <p:sp>
          <p:nvSpPr>
            <p:cNvPr id="70668" name="Rectangle 12"/>
            <p:cNvSpPr>
              <a:spLocks noChangeArrowheads="1"/>
            </p:cNvSpPr>
            <p:nvPr/>
          </p:nvSpPr>
          <p:spPr bwMode="auto">
            <a:xfrm>
              <a:off x="7378490" y="1419470"/>
              <a:ext cx="1818180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Times New Roman" pitchFamily="18" charset="0"/>
                </a:rPr>
                <a:t>Products</a:t>
              </a:r>
              <a:endParaRPr lang="en-US" dirty="0">
                <a:latin typeface="Times New Roman" pitchFamily="18" charset="0"/>
              </a:endParaRPr>
            </a:p>
          </p:txBody>
        </p:sp>
        <p:sp>
          <p:nvSpPr>
            <p:cNvPr id="70669" name="Text Box 13"/>
            <p:cNvSpPr txBox="1">
              <a:spLocks noChangeArrowheads="1"/>
            </p:cNvSpPr>
            <p:nvPr/>
          </p:nvSpPr>
          <p:spPr bwMode="auto">
            <a:xfrm rot="16200000">
              <a:off x="3612488" y="1499955"/>
              <a:ext cx="1277188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 dirty="0"/>
                <a:t>Energy</a:t>
              </a:r>
              <a:endParaRPr lang="en-US" sz="2100" dirty="0"/>
            </a:p>
          </p:txBody>
        </p:sp>
        <p:sp>
          <p:nvSpPr>
            <p:cNvPr id="70670" name="Text Box 14"/>
            <p:cNvSpPr txBox="1">
              <a:spLocks noChangeArrowheads="1"/>
            </p:cNvSpPr>
            <p:nvPr/>
          </p:nvSpPr>
          <p:spPr bwMode="auto">
            <a:xfrm>
              <a:off x="4890721" y="2562302"/>
              <a:ext cx="3810001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GB" sz="2100" dirty="0"/>
                <a:t>Reaction Coordinate</a:t>
              </a:r>
              <a:endParaRPr lang="en-US" sz="2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0242107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Rules for determining rate equation </a:t>
            </a:r>
            <a:br>
              <a:rPr lang="en-GB" dirty="0"/>
            </a:br>
            <a:r>
              <a:rPr lang="en-GB" dirty="0"/>
              <a:t>for multi-step reactions (1)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Suggested reaction is a series of one-step reactions.</a:t>
            </a:r>
          </a:p>
          <a:p>
            <a:r>
              <a:rPr lang="en-GB" dirty="0"/>
              <a:t>Each single step, an “</a:t>
            </a:r>
            <a:r>
              <a:rPr lang="en-GB" dirty="0">
                <a:solidFill>
                  <a:srgbClr val="FF0000"/>
                </a:solidFill>
              </a:rPr>
              <a:t>elementary reaction</a:t>
            </a:r>
            <a:r>
              <a:rPr lang="en-GB" dirty="0"/>
              <a:t>”, follows simple kinetics. </a:t>
            </a:r>
          </a:p>
          <a:p>
            <a:r>
              <a:rPr lang="en-GB" dirty="0"/>
              <a:t>For each elementary reaction, we can write the rate equation just from the chemical equation.</a:t>
            </a:r>
          </a:p>
          <a:p>
            <a:r>
              <a:rPr lang="en-GB" dirty="0"/>
              <a:t>The order of the reaction is the same as the </a:t>
            </a:r>
            <a:r>
              <a:rPr lang="en-GB" dirty="0">
                <a:solidFill>
                  <a:srgbClr val="FF0000"/>
                </a:solidFill>
              </a:rPr>
              <a:t>molecularity</a:t>
            </a:r>
            <a:r>
              <a:rPr lang="en-GB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8659865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Order and molecularity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70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The “</a:t>
                </a:r>
                <a:r>
                  <a:rPr lang="en-GB" dirty="0" err="1"/>
                  <a:t>molecularity</a:t>
                </a:r>
                <a:r>
                  <a:rPr lang="en-GB" dirty="0"/>
                  <a:t>” of an elementary reaction is the number of molecules that take part in the reaction.</a:t>
                </a:r>
              </a:p>
              <a:p>
                <a:r>
                  <a:rPr lang="en-GB" dirty="0"/>
                  <a:t>For example:</a:t>
                </a:r>
              </a:p>
              <a:p>
                <a:pPr marL="342900" lvl="1" indent="0">
                  <a:buNone/>
                </a:pPr>
                <a:r>
                  <a:rPr lang="en-GB" dirty="0"/>
                  <a:t>A   →  B		</a:t>
                </a:r>
                <a:r>
                  <a:rPr lang="en-GB" dirty="0" err="1"/>
                  <a:t>Unimolecular</a:t>
                </a:r>
                <a:r>
                  <a:rPr lang="en-GB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mtClean="0"/>
                      <m:t>Rate</m:t>
                    </m:r>
                    <m:r>
                      <a:rPr lang="en-GB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GB" i="0" smtClean="0"/>
                      <m:t>A</m:t>
                    </m:r>
                    <m:r>
                      <a:rPr lang="en-GB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dirty="0"/>
              </a:p>
              <a:p>
                <a:pPr marL="342900" lvl="1" indent="0">
                  <a:buNone/>
                </a:pPr>
                <a:r>
                  <a:rPr lang="en-GB" dirty="0"/>
                  <a:t>A + B →  C		Bimolecular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/>
                      <m:t>Rate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GB" i="0" smtClean="0"/>
                          <m:t>A</m:t>
                        </m:r>
                      </m:e>
                    </m:d>
                    <m:r>
                      <a:rPr lang="en-GB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GB" i="0" smtClean="0"/>
                      <m:t>B</m:t>
                    </m:r>
                    <m:r>
                      <a:rPr lang="en-GB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dirty="0"/>
              </a:p>
              <a:p>
                <a:pPr marL="342900" lvl="1" indent="0">
                  <a:buNone/>
                </a:pPr>
                <a:r>
                  <a:rPr lang="en-GB" dirty="0"/>
                  <a:t>2A  →   B		Bimolecular   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/>
                      <m:t>Rate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GB" i="0" smtClean="0"/>
                          <m:t>A</m:t>
                        </m:r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27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153" t="-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7904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Rules for determining rate equation </a:t>
            </a:r>
            <a:br>
              <a:rPr lang="en-GB" dirty="0"/>
            </a:br>
            <a:r>
              <a:rPr lang="en-GB" dirty="0"/>
              <a:t>for multi-step reactions (2)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idx="1"/>
          </p:nvPr>
        </p:nvSpPr>
        <p:spPr>
          <a:xfrm>
            <a:off x="755650" y="1600200"/>
            <a:ext cx="7931150" cy="4983162"/>
          </a:xfrm>
        </p:spPr>
        <p:txBody>
          <a:bodyPr>
            <a:normAutofit/>
          </a:bodyPr>
          <a:lstStyle/>
          <a:p>
            <a:r>
              <a:rPr lang="en-GB" dirty="0"/>
              <a:t>Many components will have elementary reactions that make them, and other elementary reactions that remove them.</a:t>
            </a:r>
          </a:p>
          <a:p>
            <a:r>
              <a:rPr lang="en-GB" dirty="0"/>
              <a:t>Calculate the (overall) rate of change of each component:</a:t>
            </a:r>
          </a:p>
          <a:p>
            <a:pPr lvl="1"/>
            <a:r>
              <a:rPr lang="en-GB" dirty="0"/>
              <a:t>For each elementary reaction, add the rate if it makes that component. Subtract the rate if it removes that component.</a:t>
            </a:r>
          </a:p>
          <a:p>
            <a:pPr lvl="1"/>
            <a:r>
              <a:rPr lang="en-GB" dirty="0"/>
              <a:t>Don’t forget to multiply by the number of molecules of that component that the elementary reaction makes or removes.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941186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857250"/>
            <a:ext cx="6172200" cy="857250"/>
          </a:xfrm>
        </p:spPr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495554"/>
            <a:ext cx="6172200" cy="565547"/>
          </a:xfrm>
        </p:spPr>
        <p:txBody>
          <a:bodyPr>
            <a:normAutofit/>
          </a:bodyPr>
          <a:lstStyle/>
          <a:p>
            <a:r>
              <a:rPr lang="en-GB" dirty="0"/>
              <a:t>Two elementary steps</a:t>
            </a:r>
          </a:p>
          <a:p>
            <a:endParaRPr lang="en-GB" dirty="0"/>
          </a:p>
        </p:txBody>
      </p:sp>
      <p:sp>
        <p:nvSpPr>
          <p:cNvPr id="77837" name="Text Box 13"/>
          <p:cNvSpPr txBox="1">
            <a:spLocks noChangeArrowheads="1"/>
          </p:cNvSpPr>
          <p:nvPr/>
        </p:nvSpPr>
        <p:spPr bwMode="auto">
          <a:xfrm>
            <a:off x="4427690" y="3178969"/>
            <a:ext cx="349326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 dirty="0">
                <a:latin typeface="+mj-lt"/>
              </a:rPr>
              <a:t>Unimolecular	</a:t>
            </a:r>
            <a:r>
              <a:rPr lang="en-GB" sz="2100" dirty="0"/>
              <a:t>Rate</a:t>
            </a:r>
            <a:r>
              <a:rPr lang="en-GB" sz="2100" baseline="-25000" dirty="0"/>
              <a:t>1</a:t>
            </a:r>
            <a:r>
              <a:rPr lang="en-GB" sz="2100" dirty="0"/>
              <a:t> = </a:t>
            </a:r>
            <a:r>
              <a:rPr lang="en-GB" sz="2100" i="1" dirty="0"/>
              <a:t>k</a:t>
            </a:r>
            <a:r>
              <a:rPr lang="en-GB" sz="2100" i="1" baseline="-25000" dirty="0"/>
              <a:t>1</a:t>
            </a:r>
            <a:r>
              <a:rPr lang="en-GB" sz="2100" dirty="0"/>
              <a:t>[A]</a:t>
            </a:r>
          </a:p>
        </p:txBody>
      </p:sp>
      <p:sp>
        <p:nvSpPr>
          <p:cNvPr id="77838" name="Text Box 14"/>
          <p:cNvSpPr txBox="1">
            <a:spLocks noChangeArrowheads="1"/>
          </p:cNvSpPr>
          <p:nvPr/>
        </p:nvSpPr>
        <p:spPr bwMode="auto">
          <a:xfrm>
            <a:off x="4427690" y="3755236"/>
            <a:ext cx="340029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 dirty="0" err="1">
                <a:latin typeface="+mj-lt"/>
              </a:rPr>
              <a:t>Unimolecular</a:t>
            </a:r>
            <a:r>
              <a:rPr lang="en-GB" sz="2100" dirty="0">
                <a:latin typeface="+mj-lt"/>
              </a:rPr>
              <a:t>	</a:t>
            </a:r>
            <a:r>
              <a:rPr lang="en-GB" sz="2100" dirty="0"/>
              <a:t>Rate</a:t>
            </a:r>
            <a:r>
              <a:rPr lang="en-GB" sz="2100" baseline="-25000" dirty="0"/>
              <a:t>2</a:t>
            </a:r>
            <a:r>
              <a:rPr lang="en-GB" sz="2100" dirty="0"/>
              <a:t> = </a:t>
            </a:r>
            <a:r>
              <a:rPr lang="en-GB" sz="2100" i="1" dirty="0"/>
              <a:t>k</a:t>
            </a:r>
            <a:r>
              <a:rPr lang="en-GB" sz="2100" i="1" baseline="-25000" dirty="0"/>
              <a:t>2</a:t>
            </a:r>
            <a:r>
              <a:rPr lang="en-GB" sz="2100" dirty="0"/>
              <a:t>[I]</a:t>
            </a:r>
          </a:p>
          <a:p>
            <a:endParaRPr lang="en-GB" sz="2100" dirty="0">
              <a:latin typeface="+mj-lt"/>
            </a:endParaRPr>
          </a:p>
        </p:txBody>
      </p:sp>
      <p:sp>
        <p:nvSpPr>
          <p:cNvPr id="77839" name="Rectangle 15"/>
          <p:cNvSpPr>
            <a:spLocks noChangeArrowheads="1"/>
          </p:cNvSpPr>
          <p:nvPr/>
        </p:nvSpPr>
        <p:spPr bwMode="auto">
          <a:xfrm>
            <a:off x="1331643" y="4493903"/>
            <a:ext cx="7324585" cy="1619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>
                <a:latin typeface="+mj-lt"/>
              </a:rPr>
              <a:t>Rate of change of [A] = −Rate</a:t>
            </a:r>
            <a:r>
              <a:rPr lang="en-GB" baseline="-25000" dirty="0">
                <a:latin typeface="+mj-lt"/>
              </a:rPr>
              <a:t>1   </a:t>
            </a:r>
            <a:r>
              <a:rPr lang="en-GB" dirty="0">
                <a:latin typeface="+mj-lt"/>
              </a:rPr>
              <a:t>= </a:t>
            </a:r>
            <a:r>
              <a:rPr lang="en-GB" dirty="0"/>
              <a:t>−</a:t>
            </a:r>
            <a:r>
              <a:rPr lang="en-GB" i="1" dirty="0">
                <a:latin typeface="+mj-lt"/>
              </a:rPr>
              <a:t>k</a:t>
            </a:r>
            <a:r>
              <a:rPr lang="en-GB" i="1" baseline="-25000" dirty="0">
                <a:latin typeface="+mj-lt"/>
              </a:rPr>
              <a:t>1</a:t>
            </a:r>
            <a:r>
              <a:rPr lang="en-GB" dirty="0">
                <a:latin typeface="+mj-lt"/>
              </a:rPr>
              <a:t>[A]</a:t>
            </a:r>
          </a:p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>
                <a:latin typeface="+mj-lt"/>
              </a:rPr>
              <a:t>Rate of change of [P] =   Rate</a:t>
            </a:r>
            <a:r>
              <a:rPr lang="en-GB" baseline="-25000" dirty="0">
                <a:latin typeface="+mj-lt"/>
              </a:rPr>
              <a:t>2   </a:t>
            </a:r>
            <a:r>
              <a:rPr lang="en-GB" dirty="0">
                <a:latin typeface="+mj-lt"/>
              </a:rPr>
              <a:t>= </a:t>
            </a:r>
            <a:r>
              <a:rPr lang="en-GB" i="1" dirty="0">
                <a:latin typeface="+mj-lt"/>
              </a:rPr>
              <a:t>k</a:t>
            </a:r>
            <a:r>
              <a:rPr lang="en-GB" i="1" baseline="-25000" dirty="0">
                <a:latin typeface="+mj-lt"/>
              </a:rPr>
              <a:t>2</a:t>
            </a:r>
            <a:r>
              <a:rPr lang="en-GB" dirty="0">
                <a:latin typeface="+mj-lt"/>
              </a:rPr>
              <a:t>[I]</a:t>
            </a:r>
            <a:endParaRPr lang="en-GB" baseline="30000" dirty="0">
              <a:latin typeface="+mj-lt"/>
            </a:endParaRPr>
          </a:p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>
                <a:latin typeface="+mj-lt"/>
              </a:rPr>
              <a:t>Rate of change of [I] = +Rate</a:t>
            </a:r>
            <a:r>
              <a:rPr lang="en-GB" baseline="-25000" dirty="0">
                <a:latin typeface="+mj-lt"/>
              </a:rPr>
              <a:t>1 </a:t>
            </a:r>
            <a:r>
              <a:rPr lang="en-GB" dirty="0"/>
              <a:t>−</a:t>
            </a:r>
            <a:r>
              <a:rPr lang="en-GB" dirty="0">
                <a:latin typeface="+mj-lt"/>
              </a:rPr>
              <a:t>Rate</a:t>
            </a:r>
            <a:r>
              <a:rPr lang="en-GB" baseline="-25000" dirty="0">
                <a:latin typeface="+mj-lt"/>
              </a:rPr>
              <a:t>2 </a:t>
            </a:r>
            <a:r>
              <a:rPr lang="en-GB" i="1" dirty="0">
                <a:latin typeface="+mj-lt"/>
              </a:rPr>
              <a:t>=k</a:t>
            </a:r>
            <a:r>
              <a:rPr lang="en-GB" i="1" baseline="-25000" dirty="0">
                <a:latin typeface="+mj-lt"/>
              </a:rPr>
              <a:t>1</a:t>
            </a:r>
            <a:r>
              <a:rPr lang="en-GB" dirty="0">
                <a:latin typeface="+mj-lt"/>
              </a:rPr>
              <a:t>[A]</a:t>
            </a:r>
            <a:r>
              <a:rPr lang="en-GB" dirty="0"/>
              <a:t>−</a:t>
            </a:r>
            <a:r>
              <a:rPr lang="en-GB" i="1" dirty="0">
                <a:latin typeface="+mj-lt"/>
              </a:rPr>
              <a:t>k</a:t>
            </a:r>
            <a:r>
              <a:rPr lang="en-GB" i="1" baseline="-25000" dirty="0">
                <a:latin typeface="+mj-lt"/>
              </a:rPr>
              <a:t>2</a:t>
            </a:r>
            <a:r>
              <a:rPr lang="en-GB" dirty="0">
                <a:latin typeface="+mj-lt"/>
              </a:rPr>
              <a:t>[I]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77708" y="1820545"/>
                <a:ext cx="1313501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708" y="1820545"/>
                <a:ext cx="1313501" cy="5035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195736" y="3097674"/>
                <a:ext cx="754758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3097674"/>
                <a:ext cx="754758" cy="5035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208893" y="3637846"/>
                <a:ext cx="754437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893" y="3637846"/>
                <a:ext cx="754437" cy="5035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19857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857250"/>
            <a:ext cx="6172200" cy="857250"/>
          </a:xfrm>
        </p:spPr>
        <p:txBody>
          <a:bodyPr/>
          <a:lstStyle/>
          <a:p>
            <a:r>
              <a:rPr lang="en-GB"/>
              <a:t>Example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186866"/>
            <a:ext cx="6172200" cy="565547"/>
          </a:xfrm>
        </p:spPr>
        <p:txBody>
          <a:bodyPr>
            <a:normAutofit/>
          </a:bodyPr>
          <a:lstStyle/>
          <a:p>
            <a:r>
              <a:rPr lang="en-GB" dirty="0"/>
              <a:t>Two elementary steps</a:t>
            </a:r>
          </a:p>
          <a:p>
            <a:endParaRPr lang="en-GB" dirty="0"/>
          </a:p>
        </p:txBody>
      </p:sp>
      <p:sp>
        <p:nvSpPr>
          <p:cNvPr id="73746" name="Text Box 18"/>
          <p:cNvSpPr txBox="1">
            <a:spLocks noChangeArrowheads="1"/>
          </p:cNvSpPr>
          <p:nvPr/>
        </p:nvSpPr>
        <p:spPr bwMode="auto">
          <a:xfrm>
            <a:off x="4139952" y="2870280"/>
            <a:ext cx="349326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 dirty="0" err="1">
                <a:latin typeface="+mj-lt"/>
              </a:rPr>
              <a:t>Unimolecular</a:t>
            </a:r>
            <a:r>
              <a:rPr lang="en-GB" sz="2100" dirty="0">
                <a:latin typeface="+mj-lt"/>
              </a:rPr>
              <a:t>	Rate</a:t>
            </a:r>
            <a:r>
              <a:rPr lang="en-GB" sz="2100" baseline="-25000" dirty="0">
                <a:latin typeface="+mj-lt"/>
              </a:rPr>
              <a:t>1</a:t>
            </a:r>
            <a:r>
              <a:rPr lang="en-GB" sz="2100" dirty="0">
                <a:latin typeface="+mj-lt"/>
              </a:rPr>
              <a:t> = </a:t>
            </a:r>
            <a:r>
              <a:rPr lang="en-GB" sz="2100" i="1" dirty="0">
                <a:latin typeface="+mj-lt"/>
              </a:rPr>
              <a:t>k</a:t>
            </a:r>
            <a:r>
              <a:rPr lang="en-GB" sz="2100" i="1" baseline="-25000" dirty="0">
                <a:latin typeface="+mj-lt"/>
              </a:rPr>
              <a:t>1</a:t>
            </a:r>
            <a:r>
              <a:rPr lang="en-GB" sz="2100" dirty="0">
                <a:latin typeface="+mj-lt"/>
              </a:rPr>
              <a:t>[A]</a:t>
            </a:r>
          </a:p>
        </p:txBody>
      </p:sp>
      <p:sp>
        <p:nvSpPr>
          <p:cNvPr id="73747" name="Text Box 19"/>
          <p:cNvSpPr txBox="1">
            <a:spLocks noChangeArrowheads="1"/>
          </p:cNvSpPr>
          <p:nvPr/>
        </p:nvSpPr>
        <p:spPr bwMode="auto">
          <a:xfrm>
            <a:off x="4139952" y="3596352"/>
            <a:ext cx="451850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100" dirty="0">
                <a:latin typeface="+mj-lt"/>
              </a:rPr>
              <a:t>Bimolecular	Rate</a:t>
            </a:r>
            <a:r>
              <a:rPr lang="en-GB" sz="2100" baseline="-25000" dirty="0">
                <a:latin typeface="+mj-lt"/>
              </a:rPr>
              <a:t>2</a:t>
            </a:r>
            <a:r>
              <a:rPr lang="en-GB" sz="2100" dirty="0">
                <a:latin typeface="+mj-lt"/>
              </a:rPr>
              <a:t> = </a:t>
            </a:r>
            <a:r>
              <a:rPr lang="en-GB" sz="2100" i="1" dirty="0">
                <a:latin typeface="+mj-lt"/>
              </a:rPr>
              <a:t>k</a:t>
            </a:r>
            <a:r>
              <a:rPr lang="en-GB" sz="2100" i="1" baseline="-25000" dirty="0">
                <a:latin typeface="+mj-lt"/>
              </a:rPr>
              <a:t>2</a:t>
            </a:r>
            <a:r>
              <a:rPr lang="en-GB" sz="2100" dirty="0">
                <a:latin typeface="+mj-lt"/>
              </a:rPr>
              <a:t>[I]</a:t>
            </a:r>
            <a:r>
              <a:rPr lang="en-GB" sz="2100" baseline="30000" dirty="0">
                <a:latin typeface="+mj-lt"/>
              </a:rPr>
              <a:t>2</a:t>
            </a:r>
            <a:endParaRPr lang="en-GB" sz="2100" dirty="0">
              <a:latin typeface="+mj-lt"/>
            </a:endParaRPr>
          </a:p>
        </p:txBody>
      </p:sp>
      <p:sp>
        <p:nvSpPr>
          <p:cNvPr id="73748" name="Rectangle 20"/>
          <p:cNvSpPr>
            <a:spLocks noChangeArrowheads="1"/>
          </p:cNvSpPr>
          <p:nvPr/>
        </p:nvSpPr>
        <p:spPr bwMode="auto">
          <a:xfrm>
            <a:off x="1428750" y="4381504"/>
            <a:ext cx="6172200" cy="1619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>
                <a:latin typeface="+mj-lt"/>
              </a:rPr>
              <a:t>d[A]/dt = 	</a:t>
            </a:r>
            <a:r>
              <a:rPr lang="en-GB" dirty="0"/>
              <a:t>−</a:t>
            </a:r>
            <a:r>
              <a:rPr lang="en-GB" dirty="0">
                <a:latin typeface="+mj-lt"/>
              </a:rPr>
              <a:t>Rate</a:t>
            </a:r>
            <a:r>
              <a:rPr lang="en-GB" baseline="-25000" dirty="0">
                <a:latin typeface="+mj-lt"/>
              </a:rPr>
              <a:t>1</a:t>
            </a:r>
            <a:r>
              <a:rPr lang="en-GB" dirty="0">
                <a:latin typeface="+mj-lt"/>
              </a:rPr>
              <a:t> =  −</a:t>
            </a:r>
            <a:r>
              <a:rPr lang="en-GB" i="1" dirty="0">
                <a:latin typeface="+mj-lt"/>
              </a:rPr>
              <a:t>k</a:t>
            </a:r>
            <a:r>
              <a:rPr lang="en-GB" i="1" baseline="-25000" dirty="0">
                <a:latin typeface="+mj-lt"/>
              </a:rPr>
              <a:t>1</a:t>
            </a:r>
            <a:r>
              <a:rPr lang="en-GB" dirty="0">
                <a:latin typeface="+mj-lt"/>
              </a:rPr>
              <a:t>[A]</a:t>
            </a:r>
          </a:p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>
                <a:latin typeface="+mj-lt"/>
              </a:rPr>
              <a:t>d[P]/</a:t>
            </a:r>
            <a:r>
              <a:rPr lang="en-GB" dirty="0" err="1">
                <a:latin typeface="+mj-lt"/>
              </a:rPr>
              <a:t>dt</a:t>
            </a:r>
            <a:r>
              <a:rPr lang="en-GB" dirty="0">
                <a:latin typeface="+mj-lt"/>
              </a:rPr>
              <a:t> = 	Rate</a:t>
            </a:r>
            <a:r>
              <a:rPr lang="en-GB" baseline="-25000" dirty="0">
                <a:latin typeface="+mj-lt"/>
              </a:rPr>
              <a:t>2</a:t>
            </a:r>
            <a:r>
              <a:rPr lang="en-GB" dirty="0">
                <a:latin typeface="+mj-lt"/>
              </a:rPr>
              <a:t> 	=   </a:t>
            </a:r>
            <a:r>
              <a:rPr lang="en-GB" i="1" dirty="0">
                <a:latin typeface="+mj-lt"/>
              </a:rPr>
              <a:t>k</a:t>
            </a:r>
            <a:r>
              <a:rPr lang="en-GB" i="1" baseline="-25000" dirty="0">
                <a:latin typeface="+mj-lt"/>
              </a:rPr>
              <a:t>2</a:t>
            </a:r>
            <a:r>
              <a:rPr lang="en-GB" dirty="0">
                <a:latin typeface="+mj-lt"/>
              </a:rPr>
              <a:t>[I]</a:t>
            </a:r>
            <a:r>
              <a:rPr lang="en-GB" baseline="30000" dirty="0">
                <a:latin typeface="+mj-lt"/>
              </a:rPr>
              <a:t>2</a:t>
            </a:r>
          </a:p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>
                <a:latin typeface="+mj-lt"/>
              </a:rPr>
              <a:t>d[I]/dt =      	Rate</a:t>
            </a:r>
            <a:r>
              <a:rPr lang="en-GB" baseline="-25000" dirty="0">
                <a:latin typeface="+mj-lt"/>
              </a:rPr>
              <a:t>1 </a:t>
            </a:r>
            <a:r>
              <a:rPr lang="en-GB" dirty="0">
                <a:latin typeface="+mj-lt"/>
              </a:rPr>
              <a:t>– 2Rate</a:t>
            </a:r>
            <a:r>
              <a:rPr lang="en-GB" baseline="-25000" dirty="0">
                <a:latin typeface="+mj-lt"/>
              </a:rPr>
              <a:t>2 </a:t>
            </a:r>
            <a:r>
              <a:rPr lang="en-GB" dirty="0">
                <a:latin typeface="+mj-lt"/>
              </a:rPr>
              <a:t>= </a:t>
            </a:r>
            <a:r>
              <a:rPr lang="en-GB" i="1" dirty="0">
                <a:latin typeface="+mj-lt"/>
              </a:rPr>
              <a:t>k</a:t>
            </a:r>
            <a:r>
              <a:rPr lang="en-GB" i="1" baseline="-25000" dirty="0">
                <a:latin typeface="+mj-lt"/>
              </a:rPr>
              <a:t>1</a:t>
            </a:r>
            <a:r>
              <a:rPr lang="en-GB" dirty="0">
                <a:latin typeface="+mj-lt"/>
              </a:rPr>
              <a:t>[A]</a:t>
            </a:r>
            <a:r>
              <a:rPr lang="en-GB" dirty="0"/>
              <a:t> − </a:t>
            </a:r>
            <a:r>
              <a:rPr lang="en-GB" dirty="0">
                <a:latin typeface="+mj-lt"/>
              </a:rPr>
              <a:t>2</a:t>
            </a:r>
            <a:r>
              <a:rPr lang="en-GB" i="1" dirty="0">
                <a:latin typeface="+mj-lt"/>
              </a:rPr>
              <a:t>k</a:t>
            </a:r>
            <a:r>
              <a:rPr lang="en-GB" i="1" baseline="-25000" dirty="0">
                <a:latin typeface="+mj-lt"/>
              </a:rPr>
              <a:t>2</a:t>
            </a:r>
            <a:r>
              <a:rPr lang="en-GB" dirty="0">
                <a:latin typeface="+mj-lt"/>
              </a:rPr>
              <a:t>[I]</a:t>
            </a:r>
            <a:r>
              <a:rPr lang="en-GB" baseline="30000" dirty="0">
                <a:latin typeface="+mj-lt"/>
              </a:rPr>
              <a:t>2</a:t>
            </a:r>
            <a:endParaRPr lang="en-GB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51972" y="1727223"/>
                <a:ext cx="1879489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   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972" y="1727223"/>
                <a:ext cx="1879489" cy="5035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141730" y="2826214"/>
                <a:ext cx="754758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730" y="2826214"/>
                <a:ext cx="754758" cy="5035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141730" y="3508251"/>
                <a:ext cx="924356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730" y="3508251"/>
                <a:ext cx="924356" cy="5035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83309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Worked Example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Two elementary steps</a:t>
            </a:r>
          </a:p>
          <a:p>
            <a:endParaRPr lang="en-GB" dirty="0"/>
          </a:p>
        </p:txBody>
      </p:sp>
      <p:sp>
        <p:nvSpPr>
          <p:cNvPr id="74768" name="Rectangle 16"/>
          <p:cNvSpPr>
            <a:spLocks noChangeArrowheads="1"/>
          </p:cNvSpPr>
          <p:nvPr/>
        </p:nvSpPr>
        <p:spPr bwMode="auto">
          <a:xfrm>
            <a:off x="1428750" y="4381504"/>
            <a:ext cx="6172200" cy="565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/>
              <a:t>d[A]/</a:t>
            </a:r>
            <a:r>
              <a:rPr lang="en-GB" dirty="0" err="1"/>
              <a:t>dt</a:t>
            </a:r>
            <a:r>
              <a:rPr lang="en-GB" dirty="0"/>
              <a:t> = </a:t>
            </a:r>
          </a:p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/>
              <a:t>d[P]/</a:t>
            </a:r>
            <a:r>
              <a:rPr lang="en-GB" dirty="0" err="1"/>
              <a:t>dt</a:t>
            </a:r>
            <a:r>
              <a:rPr lang="en-GB" dirty="0"/>
              <a:t> = </a:t>
            </a:r>
          </a:p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/>
              <a:t>d[</a:t>
            </a:r>
            <a:r>
              <a:rPr lang="en-GB" dirty="0">
                <a:latin typeface="Times" pitchFamily="18" charset="0"/>
              </a:rPr>
              <a:t>I</a:t>
            </a:r>
            <a:r>
              <a:rPr lang="en-GB" dirty="0"/>
              <a:t>]/</a:t>
            </a:r>
            <a:r>
              <a:rPr lang="en-GB" dirty="0" err="1"/>
              <a:t>dt</a:t>
            </a:r>
            <a:r>
              <a:rPr lang="en-GB" dirty="0"/>
              <a:t>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745331" y="1510701"/>
                <a:ext cx="1653338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5331" y="1510701"/>
                <a:ext cx="1653338" cy="5035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736685" y="2694303"/>
                <a:ext cx="924677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685" y="2694303"/>
                <a:ext cx="924677" cy="5035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752445" y="3520100"/>
                <a:ext cx="924356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445" y="3520100"/>
                <a:ext cx="924356" cy="5035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5642842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rgbClr val="FF0000"/>
                </a:solidFill>
              </a:rPr>
              <a:t>Worked Example: </a:t>
            </a:r>
            <a:r>
              <a:rPr lang="en-GB" dirty="0">
                <a:solidFill>
                  <a:srgbClr val="FF0000"/>
                </a:solidFill>
              </a:rPr>
              <a:t>Answer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Two elementary steps</a:t>
            </a:r>
          </a:p>
          <a:p>
            <a:endParaRPr lang="en-GB" dirty="0"/>
          </a:p>
        </p:txBody>
      </p:sp>
      <p:sp>
        <p:nvSpPr>
          <p:cNvPr id="74768" name="Rectangle 16"/>
          <p:cNvSpPr>
            <a:spLocks noChangeArrowheads="1"/>
          </p:cNvSpPr>
          <p:nvPr/>
        </p:nvSpPr>
        <p:spPr bwMode="auto">
          <a:xfrm>
            <a:off x="1428750" y="4381504"/>
            <a:ext cx="6172200" cy="565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/>
              <a:t>d[A]/</a:t>
            </a:r>
            <a:r>
              <a:rPr lang="en-GB" dirty="0" err="1"/>
              <a:t>dt</a:t>
            </a:r>
            <a:r>
              <a:rPr lang="en-GB" dirty="0"/>
              <a:t> = </a:t>
            </a:r>
          </a:p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/>
              <a:t>d[P]/</a:t>
            </a:r>
            <a:r>
              <a:rPr lang="en-GB" dirty="0" err="1"/>
              <a:t>dt</a:t>
            </a:r>
            <a:r>
              <a:rPr lang="en-GB" dirty="0"/>
              <a:t> = </a:t>
            </a:r>
          </a:p>
          <a:p>
            <a:pPr marL="257175" indent="-257175">
              <a:spcBef>
                <a:spcPct val="20000"/>
              </a:spcBef>
              <a:buFontTx/>
              <a:buChar char="•"/>
            </a:pPr>
            <a:r>
              <a:rPr lang="en-GB" dirty="0"/>
              <a:t>d[</a:t>
            </a:r>
            <a:r>
              <a:rPr lang="en-GB" dirty="0">
                <a:latin typeface="Times" pitchFamily="18" charset="0"/>
              </a:rPr>
              <a:t>I</a:t>
            </a:r>
            <a:r>
              <a:rPr lang="en-GB" dirty="0"/>
              <a:t>]/</a:t>
            </a:r>
            <a:r>
              <a:rPr lang="en-GB" dirty="0" err="1"/>
              <a:t>dt</a:t>
            </a:r>
            <a:r>
              <a:rPr lang="en-GB" dirty="0"/>
              <a:t> =</a:t>
            </a:r>
          </a:p>
        </p:txBody>
      </p:sp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3626895" y="2781614"/>
            <a:ext cx="359265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 dirty="0">
                <a:solidFill>
                  <a:srgbClr val="FF0000"/>
                </a:solidFill>
                <a:latin typeface="+mj-lt"/>
              </a:rPr>
              <a:t>Bimolecular	Rate</a:t>
            </a:r>
            <a:r>
              <a:rPr lang="en-GB" sz="2100" baseline="-25000" dirty="0">
                <a:solidFill>
                  <a:srgbClr val="FF0000"/>
                </a:solidFill>
                <a:latin typeface="+mj-lt"/>
              </a:rPr>
              <a:t>1</a:t>
            </a:r>
            <a:r>
              <a:rPr lang="en-GB" sz="2100" dirty="0">
                <a:solidFill>
                  <a:srgbClr val="FF0000"/>
                </a:solidFill>
                <a:latin typeface="+mj-lt"/>
              </a:rPr>
              <a:t> = </a:t>
            </a:r>
            <a:r>
              <a:rPr lang="en-GB" sz="2100" i="1" dirty="0">
                <a:solidFill>
                  <a:srgbClr val="FF0000"/>
                </a:solidFill>
                <a:latin typeface="+mj-lt"/>
              </a:rPr>
              <a:t>k</a:t>
            </a:r>
            <a:r>
              <a:rPr lang="en-GB" sz="2100" i="1" baseline="-25000" dirty="0">
                <a:solidFill>
                  <a:srgbClr val="FF0000"/>
                </a:solidFill>
                <a:latin typeface="+mj-lt"/>
              </a:rPr>
              <a:t>1</a:t>
            </a:r>
            <a:r>
              <a:rPr lang="en-GB" sz="2100" dirty="0">
                <a:solidFill>
                  <a:srgbClr val="FF0000"/>
                </a:solidFill>
                <a:latin typeface="+mj-lt"/>
              </a:rPr>
              <a:t>[A]</a:t>
            </a:r>
            <a:r>
              <a:rPr lang="en-GB" sz="2100" baseline="30000" dirty="0">
                <a:solidFill>
                  <a:srgbClr val="FF0000"/>
                </a:solidFill>
                <a:latin typeface="+mj-lt"/>
              </a:rPr>
              <a:t>2</a:t>
            </a:r>
          </a:p>
        </p:txBody>
      </p: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3626895" y="3553131"/>
            <a:ext cx="340029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 dirty="0" err="1">
                <a:solidFill>
                  <a:srgbClr val="FF0000"/>
                </a:solidFill>
                <a:latin typeface="+mj-lt"/>
              </a:rPr>
              <a:t>Unimolecular</a:t>
            </a:r>
            <a:r>
              <a:rPr lang="en-GB" sz="2100" dirty="0">
                <a:solidFill>
                  <a:srgbClr val="FF0000"/>
                </a:solidFill>
                <a:latin typeface="+mj-lt"/>
              </a:rPr>
              <a:t>	Rate</a:t>
            </a:r>
            <a:r>
              <a:rPr lang="en-GB" sz="2100" baseline="-25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GB" sz="2100" dirty="0">
                <a:solidFill>
                  <a:srgbClr val="FF0000"/>
                </a:solidFill>
                <a:latin typeface="+mj-lt"/>
              </a:rPr>
              <a:t> = </a:t>
            </a:r>
            <a:r>
              <a:rPr lang="en-GB" sz="2100" i="1" dirty="0">
                <a:solidFill>
                  <a:srgbClr val="FF0000"/>
                </a:solidFill>
                <a:latin typeface="+mj-lt"/>
              </a:rPr>
              <a:t>k</a:t>
            </a:r>
            <a:r>
              <a:rPr lang="en-GB" sz="2100" i="1" baseline="-25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GB" sz="2100" dirty="0">
                <a:solidFill>
                  <a:srgbClr val="FF0000"/>
                </a:solidFill>
                <a:latin typeface="+mj-lt"/>
              </a:rPr>
              <a:t>[I]</a:t>
            </a:r>
            <a:endParaRPr lang="en-GB" sz="2100" baseline="30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3707904" y="4381504"/>
            <a:ext cx="1350150" cy="565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57175" indent="-257175"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</a:rPr>
              <a:t>− 2Rate</a:t>
            </a:r>
            <a:r>
              <a:rPr lang="en-GB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3707904" y="4796353"/>
            <a:ext cx="1350150" cy="565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57175" indent="-257175"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</a:rPr>
              <a:t>2Rate</a:t>
            </a:r>
            <a:r>
              <a:rPr lang="en-GB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3005826" y="5265208"/>
            <a:ext cx="2430270" cy="565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57175" indent="-257175"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</a:rPr>
              <a:t>+Rate</a:t>
            </a:r>
            <a:r>
              <a:rPr lang="en-GB" baseline="-25000" dirty="0">
                <a:solidFill>
                  <a:srgbClr val="FF0000"/>
                </a:solidFill>
              </a:rPr>
              <a:t>1 </a:t>
            </a:r>
            <a:r>
              <a:rPr lang="en-GB" dirty="0">
                <a:solidFill>
                  <a:srgbClr val="FF0000"/>
                </a:solidFill>
              </a:rPr>
              <a:t>− Rate</a:t>
            </a:r>
            <a:r>
              <a:rPr lang="en-GB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5274078" y="4381504"/>
            <a:ext cx="1998222" cy="565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57175" indent="-257175"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  <a:latin typeface="+mj-lt"/>
              </a:rPr>
              <a:t>= </a:t>
            </a:r>
            <a:r>
              <a:rPr lang="en-GB" dirty="0">
                <a:solidFill>
                  <a:srgbClr val="FF0000"/>
                </a:solidFill>
              </a:rPr>
              <a:t>− </a:t>
            </a:r>
            <a:r>
              <a:rPr lang="en-GB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GB" i="1" dirty="0">
                <a:solidFill>
                  <a:srgbClr val="FF0000"/>
                </a:solidFill>
                <a:latin typeface="+mj-lt"/>
              </a:rPr>
              <a:t>k</a:t>
            </a:r>
            <a:r>
              <a:rPr lang="en-GB" i="1" baseline="-25000" dirty="0">
                <a:solidFill>
                  <a:srgbClr val="FF0000"/>
                </a:solidFill>
                <a:latin typeface="+mj-lt"/>
              </a:rPr>
              <a:t>1</a:t>
            </a:r>
            <a:r>
              <a:rPr lang="en-GB" dirty="0">
                <a:solidFill>
                  <a:srgbClr val="FF0000"/>
                </a:solidFill>
                <a:latin typeface="+mj-lt"/>
              </a:rPr>
              <a:t>[A]</a:t>
            </a:r>
            <a:r>
              <a:rPr lang="en-GB" baseline="30000" dirty="0">
                <a:solidFill>
                  <a:srgbClr val="FF0000"/>
                </a:solidFill>
                <a:latin typeface="+mj-lt"/>
              </a:rPr>
              <a:t>2</a:t>
            </a:r>
          </a:p>
          <a:p>
            <a:pPr marL="257175" indent="-257175">
              <a:spcBef>
                <a:spcPct val="20000"/>
              </a:spcBef>
            </a:pPr>
            <a:endParaRPr lang="en-GB" baseline="-25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5328084" y="4796353"/>
            <a:ext cx="1350150" cy="565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57175" indent="-257175"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  <a:latin typeface="+mj-lt"/>
              </a:rPr>
              <a:t>= 2</a:t>
            </a:r>
            <a:r>
              <a:rPr lang="en-GB" i="1" dirty="0">
                <a:solidFill>
                  <a:srgbClr val="FF0000"/>
                </a:solidFill>
                <a:latin typeface="+mj-lt"/>
              </a:rPr>
              <a:t>k</a:t>
            </a:r>
            <a:r>
              <a:rPr lang="en-GB" i="1" baseline="-25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GB" dirty="0">
                <a:solidFill>
                  <a:srgbClr val="FF0000"/>
                </a:solidFill>
                <a:latin typeface="+mj-lt"/>
              </a:rPr>
              <a:t>[I]</a:t>
            </a:r>
            <a:endParaRPr lang="en-GB" baseline="30000" dirty="0">
              <a:solidFill>
                <a:srgbClr val="FF0000"/>
              </a:solidFill>
              <a:latin typeface="+mj-lt"/>
            </a:endParaRPr>
          </a:p>
          <a:p>
            <a:pPr marL="257175" indent="-257175">
              <a:spcBef>
                <a:spcPct val="20000"/>
              </a:spcBef>
            </a:pPr>
            <a:endParaRPr lang="en-GB" baseline="-250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5328084" y="5211202"/>
            <a:ext cx="2330016" cy="565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57175" indent="-257175"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  <a:latin typeface="+mj-lt"/>
              </a:rPr>
              <a:t>= </a:t>
            </a:r>
            <a:r>
              <a:rPr lang="en-GB" i="1" dirty="0">
                <a:solidFill>
                  <a:srgbClr val="FF0000"/>
                </a:solidFill>
                <a:latin typeface="+mj-lt"/>
              </a:rPr>
              <a:t>k</a:t>
            </a:r>
            <a:r>
              <a:rPr lang="en-GB" i="1" baseline="-25000" dirty="0">
                <a:solidFill>
                  <a:srgbClr val="FF0000"/>
                </a:solidFill>
                <a:latin typeface="+mj-lt"/>
              </a:rPr>
              <a:t>1</a:t>
            </a:r>
            <a:r>
              <a:rPr lang="en-GB" dirty="0">
                <a:solidFill>
                  <a:srgbClr val="FF0000"/>
                </a:solidFill>
                <a:latin typeface="+mj-lt"/>
              </a:rPr>
              <a:t>[A]</a:t>
            </a:r>
            <a:r>
              <a:rPr lang="en-GB" baseline="30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GB" dirty="0">
                <a:solidFill>
                  <a:srgbClr val="FF0000"/>
                </a:solidFill>
              </a:rPr>
              <a:t> −</a:t>
            </a:r>
            <a:r>
              <a:rPr lang="en-GB" i="1" dirty="0">
                <a:solidFill>
                  <a:srgbClr val="FF0000"/>
                </a:solidFill>
                <a:latin typeface="+mj-lt"/>
              </a:rPr>
              <a:t> k</a:t>
            </a:r>
            <a:r>
              <a:rPr lang="en-GB" i="1" baseline="-25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en-GB" dirty="0">
                <a:solidFill>
                  <a:srgbClr val="FF0000"/>
                </a:solidFill>
                <a:latin typeface="+mj-lt"/>
              </a:rPr>
              <a:t>[I]</a:t>
            </a:r>
            <a:endParaRPr lang="en-GB" baseline="30000" dirty="0">
              <a:solidFill>
                <a:srgbClr val="FF0000"/>
              </a:solidFill>
              <a:latin typeface="+mj-lt"/>
            </a:endParaRPr>
          </a:p>
          <a:p>
            <a:pPr marL="257175" indent="-257175">
              <a:spcBef>
                <a:spcPct val="20000"/>
              </a:spcBef>
            </a:pPr>
            <a:endParaRPr lang="en-GB" baseline="-25000" dirty="0">
              <a:solidFill>
                <a:srgbClr val="FF000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EE3542-39B8-4543-936E-6C24BF447703}"/>
                  </a:ext>
                </a:extLst>
              </p:cNvPr>
              <p:cNvSpPr txBox="1"/>
              <p:nvPr/>
            </p:nvSpPr>
            <p:spPr>
              <a:xfrm>
                <a:off x="3745331" y="1510701"/>
                <a:ext cx="1653338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EE3542-39B8-4543-936E-6C24BF44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5331" y="1510701"/>
                <a:ext cx="1653338" cy="5035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EF4D9E-98F3-4CB7-9B84-642ED44DF330}"/>
                  </a:ext>
                </a:extLst>
              </p:cNvPr>
              <p:cNvSpPr txBox="1"/>
              <p:nvPr/>
            </p:nvSpPr>
            <p:spPr>
              <a:xfrm>
                <a:off x="1736685" y="2694303"/>
                <a:ext cx="924677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𝐴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EF4D9E-98F3-4CB7-9B84-642ED44DF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685" y="2694303"/>
                <a:ext cx="924677" cy="5035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CABC939-EB40-4148-8B69-420ABFA46F90}"/>
                  </a:ext>
                </a:extLst>
              </p:cNvPr>
              <p:cNvSpPr txBox="1"/>
              <p:nvPr/>
            </p:nvSpPr>
            <p:spPr>
              <a:xfrm>
                <a:off x="1752445" y="3520100"/>
                <a:ext cx="924356" cy="503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𝐼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27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CABC939-EB40-4148-8B69-420ABFA46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445" y="3520100"/>
                <a:ext cx="924356" cy="5035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079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  <p:bldP spid="13" grpId="0" build="allAtOnce"/>
      <p:bldP spid="14" grpId="0" build="allAtOnce"/>
      <p:bldP spid="15" grpId="0" build="allAtOnce"/>
      <p:bldP spid="16" grpId="0" build="allAtOnce"/>
      <p:bldP spid="17" grpId="0" build="allAtOnce"/>
      <p:bldP spid="18" grpId="0" build="allAtOnce"/>
      <p:bldP spid="19" grpId="0" build="allAtOnce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89B48-E3DB-1C08-B39C-1BBDF6561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E8605-3446-BD40-D114-B36F98EF9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have:</a:t>
            </a:r>
            <a:br>
              <a:rPr lang="en-US" dirty="0"/>
            </a:br>
            <a:r>
              <a:rPr lang="en-US" dirty="0"/>
              <a:t>Revised part 1 kinetics</a:t>
            </a:r>
            <a:br>
              <a:rPr lang="en-US" dirty="0"/>
            </a:br>
            <a:r>
              <a:rPr lang="en-US" dirty="0"/>
              <a:t>Used reactions to work out relative rates of change</a:t>
            </a:r>
            <a:br>
              <a:rPr lang="en-US" dirty="0"/>
            </a:br>
            <a:r>
              <a:rPr lang="en-US" dirty="0"/>
              <a:t>Defined the difference between rate and rate constants</a:t>
            </a:r>
            <a:br>
              <a:rPr lang="en-US" dirty="0"/>
            </a:br>
            <a:r>
              <a:rPr lang="en-US" dirty="0"/>
              <a:t>Distinguished between order and molecularity</a:t>
            </a:r>
            <a:br>
              <a:rPr lang="en-US" dirty="0"/>
            </a:br>
            <a:r>
              <a:rPr lang="en-US" dirty="0"/>
              <a:t>Solved our first multi-step reactions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8CAF7-9BA7-F273-655C-ADB0712F59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68648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right colours jl">
  <a:themeElements>
    <a:clrScheme name="Bright colours jl 1">
      <a:dk1>
        <a:srgbClr val="000000"/>
      </a:dk1>
      <a:lt1>
        <a:srgbClr val="F8F8F8"/>
      </a:lt1>
      <a:dk2>
        <a:srgbClr val="BF0071"/>
      </a:dk2>
      <a:lt2>
        <a:srgbClr val="1C1C1C"/>
      </a:lt2>
      <a:accent1>
        <a:srgbClr val="BF0071"/>
      </a:accent1>
      <a:accent2>
        <a:srgbClr val="808080"/>
      </a:accent2>
      <a:accent3>
        <a:srgbClr val="FBFBFB"/>
      </a:accent3>
      <a:accent4>
        <a:srgbClr val="000000"/>
      </a:accent4>
      <a:accent5>
        <a:srgbClr val="DCAABB"/>
      </a:accent5>
      <a:accent6>
        <a:srgbClr val="737373"/>
      </a:accent6>
      <a:hlink>
        <a:srgbClr val="BF0071"/>
      </a:hlink>
      <a:folHlink>
        <a:srgbClr val="777777"/>
      </a:folHlink>
    </a:clrScheme>
    <a:fontScheme name="Bright colours jl">
      <a:majorFont>
        <a:latin typeface="Rdg Vesta"/>
        <a:ea typeface=""/>
        <a:cs typeface=""/>
      </a:majorFont>
      <a:minorFont>
        <a:latin typeface="Rdg Ves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>
    <a:extraClrScheme>
      <a:clrScheme name="Bright colours jl 1">
        <a:dk1>
          <a:srgbClr val="000000"/>
        </a:dk1>
        <a:lt1>
          <a:srgbClr val="F8F8F8"/>
        </a:lt1>
        <a:dk2>
          <a:srgbClr val="BF0071"/>
        </a:dk2>
        <a:lt2>
          <a:srgbClr val="1C1C1C"/>
        </a:lt2>
        <a:accent1>
          <a:srgbClr val="BF0071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DCAABB"/>
        </a:accent5>
        <a:accent6>
          <a:srgbClr val="737373"/>
        </a:accent6>
        <a:hlink>
          <a:srgbClr val="BF0071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2">
        <a:dk1>
          <a:srgbClr val="000000"/>
        </a:dk1>
        <a:lt1>
          <a:srgbClr val="F8F8F8"/>
        </a:lt1>
        <a:dk2>
          <a:srgbClr val="642864"/>
        </a:dk2>
        <a:lt2>
          <a:srgbClr val="1C1C1C"/>
        </a:lt2>
        <a:accent1>
          <a:srgbClr val="642864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B8ACB8"/>
        </a:accent5>
        <a:accent6>
          <a:srgbClr val="737373"/>
        </a:accent6>
        <a:hlink>
          <a:srgbClr val="642864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3">
        <a:dk1>
          <a:srgbClr val="000000"/>
        </a:dk1>
        <a:lt1>
          <a:srgbClr val="F8F8F8"/>
        </a:lt1>
        <a:dk2>
          <a:srgbClr val="0F5C9D"/>
        </a:dk2>
        <a:lt2>
          <a:srgbClr val="1C1C1C"/>
        </a:lt2>
        <a:accent1>
          <a:srgbClr val="0F5C9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B5CC"/>
        </a:accent5>
        <a:accent6>
          <a:srgbClr val="737373"/>
        </a:accent6>
        <a:hlink>
          <a:srgbClr val="0F5C9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4">
        <a:dk1>
          <a:srgbClr val="000000"/>
        </a:dk1>
        <a:lt1>
          <a:srgbClr val="F8F8F8"/>
        </a:lt1>
        <a:dk2>
          <a:srgbClr val="FF6600"/>
        </a:dk2>
        <a:lt2>
          <a:srgbClr val="1C1C1C"/>
        </a:lt2>
        <a:accent1>
          <a:srgbClr val="FF6600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FFB8AA"/>
        </a:accent5>
        <a:accent6>
          <a:srgbClr val="737373"/>
        </a:accent6>
        <a:hlink>
          <a:srgbClr val="FF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5">
        <a:dk1>
          <a:srgbClr val="000000"/>
        </a:dk1>
        <a:lt1>
          <a:srgbClr val="F8F8F8"/>
        </a:lt1>
        <a:dk2>
          <a:srgbClr val="12AD2B"/>
        </a:dk2>
        <a:lt2>
          <a:srgbClr val="1C1C1C"/>
        </a:lt2>
        <a:accent1>
          <a:srgbClr val="12AD2B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D3AC"/>
        </a:accent5>
        <a:accent6>
          <a:srgbClr val="737373"/>
        </a:accent6>
        <a:hlink>
          <a:srgbClr val="12AD2B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Rdg_PP_without_R_WHITE_slides</Template>
  <TotalTime>25</TotalTime>
  <Words>1815</Words>
  <Application>Microsoft Macintosh PowerPoint</Application>
  <PresentationFormat>On-screen Show (4:3)</PresentationFormat>
  <Paragraphs>247</Paragraphs>
  <Slides>31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Times</vt:lpstr>
      <vt:lpstr>Symbol</vt:lpstr>
      <vt:lpstr>Cambria Math</vt:lpstr>
      <vt:lpstr>Rdg Vesta</vt:lpstr>
      <vt:lpstr>Times New Roman</vt:lpstr>
      <vt:lpstr>Bright colours jl</vt:lpstr>
      <vt:lpstr>CH2PH2:  Chemical Kinetics </vt:lpstr>
      <vt:lpstr>CH2PH/OR/IN2:  Chemical Kinetics </vt:lpstr>
      <vt:lpstr>Kinetics in organic chemistry </vt:lpstr>
      <vt:lpstr>PowerPoint Presentation</vt:lpstr>
      <vt:lpstr>PowerPoint Presentation</vt:lpstr>
      <vt:lpstr>How can we change the kinetics of a reaction?</vt:lpstr>
      <vt:lpstr>PowerPoint Presentation</vt:lpstr>
      <vt:lpstr>Outline</vt:lpstr>
      <vt:lpstr>Books</vt:lpstr>
      <vt:lpstr>revision from part 1</vt:lpstr>
      <vt:lpstr>Remember: The Rate Equation</vt:lpstr>
      <vt:lpstr>The “Rate” of a chemical reaction</vt:lpstr>
      <vt:lpstr>PowerPoint Presentation</vt:lpstr>
      <vt:lpstr>Task</vt:lpstr>
      <vt:lpstr>Task: Answer</vt:lpstr>
      <vt:lpstr>Remember: Rate Law</vt:lpstr>
      <vt:lpstr>Remember: Rate Law</vt:lpstr>
      <vt:lpstr>Worked example</vt:lpstr>
      <vt:lpstr>Worked example: Answer</vt:lpstr>
      <vt:lpstr>By the end of this lecture course…</vt:lpstr>
      <vt:lpstr>Rate constant units</vt:lpstr>
      <vt:lpstr>Multistep reactions</vt:lpstr>
      <vt:lpstr>Most real reactions are multi-step reactions</vt:lpstr>
      <vt:lpstr>Rules for determining rate equation  for multi-step reactions (1)</vt:lpstr>
      <vt:lpstr>Order and molecularity</vt:lpstr>
      <vt:lpstr>Rules for determining rate equation  for multi-step reactions (2)</vt:lpstr>
      <vt:lpstr>Example</vt:lpstr>
      <vt:lpstr>Example</vt:lpstr>
      <vt:lpstr>Worked Example</vt:lpstr>
      <vt:lpstr>Worked Example: Answer</vt:lpstr>
      <vt:lpstr>Learning Outcomes</vt:lpstr>
    </vt:vector>
  </TitlesOfParts>
  <Company>University of Reading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scs07dn</dc:creator>
  <cp:lastModifiedBy>James Hallett</cp:lastModifiedBy>
  <cp:revision>375</cp:revision>
  <cp:lastPrinted>2006-09-19T14:59:33Z</cp:lastPrinted>
  <dcterms:created xsi:type="dcterms:W3CDTF">2009-08-10T15:23:00Z</dcterms:created>
  <dcterms:modified xsi:type="dcterms:W3CDTF">2026-02-10T09:56:56Z</dcterms:modified>
</cp:coreProperties>
</file>