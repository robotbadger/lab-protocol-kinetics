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6" r:id="rId3"/>
    <p:sldId id="258" r:id="rId4"/>
    <p:sldId id="263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08"/>
    <p:restoredTop sz="95144"/>
  </p:normalViewPr>
  <p:slideViewPr>
    <p:cSldViewPr snapToGrid="0" snapToObjects="1">
      <p:cViewPr varScale="1">
        <p:scale>
          <a:sx n="96" d="100"/>
          <a:sy n="96" d="100"/>
        </p:scale>
        <p:origin x="60" y="1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54EBB3-F983-3640-9A46-D14CA5557E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D9D43F-E9A8-7F4A-989A-17A900DF8A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5C1794-6E00-374B-AE4F-A2A3547D2C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6D4D2-AAF9-A148-9033-1281F439EA6A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13906A-888F-4F4D-A88E-CF97FC0A03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535CA7-E930-6843-BABE-AFC84C46D7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06672-3742-9B4C-92F9-8C615B4A4F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2122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E0B8FC-5C1D-F24E-8FCB-5B673E93BE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EBFDB3-D0F7-3443-AC0F-AB2B801F33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1B9EF2-C39D-3A4B-B23C-88CEA1F5E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6D4D2-AAF9-A148-9033-1281F439EA6A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9B3266-1E55-1E42-B4EB-6612F0F50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1DE098-A7B1-2C46-9CDA-EFB70DB3D1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06672-3742-9B4C-92F9-8C615B4A4F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5192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83B0E-C1BE-A644-8D75-02B3D2A08D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2D6D19-936B-4D4E-A06A-DF5F23F92C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40F33A-F563-6648-A726-C01FDDA903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6D4D2-AAF9-A148-9033-1281F439EA6A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D72A15-E7BF-CB4C-8ED9-995B0988CC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20CECC-7604-9E4C-A48E-42621B75C3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06672-3742-9B4C-92F9-8C615B4A4F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15401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C949B4-0362-A942-97E3-FE49E2D09C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28A9D7-A851-404B-B1DA-096E4BB546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467F93-CC98-A44F-B8F2-1CCA3932EE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F2A78C-C512-374E-B6FC-131DDD6120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6D4D2-AAF9-A148-9033-1281F439EA6A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613BAA-6814-2D43-B705-E9E4A3BE30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82BCE7-BCDD-8C49-85AF-8AD930AD5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06672-3742-9B4C-92F9-8C615B4A4F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93825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E857B-C4D5-A447-91A6-68EFC9E2E6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33DF4E-58D1-D745-9492-8CDD45346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9479C6-A73B-8B4E-B369-CB7E074B74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B11A533-99D6-D744-93C5-C62F0CA600C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7AF28F0-583D-E24D-9225-C5A47F92AED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03288DC-FC10-4547-8C76-2852571DC9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6D4D2-AAF9-A148-9033-1281F439EA6A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3D0B93E-7507-FE49-A262-225BBB67A8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4CA3AA6-430D-8D41-B322-AAFA00715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06672-3742-9B4C-92F9-8C615B4A4F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772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E93F70-E933-F644-BC2A-1443CF59AA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9576B9-3E51-934D-9CDE-8178DC5FC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6D4D2-AAF9-A148-9033-1281F439EA6A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4C2F0E9-F563-004D-BF2A-B90ABF594C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91C55F6-DD69-1244-98DB-AF6DB77B47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06672-3742-9B4C-92F9-8C615B4A4F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351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0DDC0A-45A9-894A-B7E6-5C75F210F5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6D4D2-AAF9-A148-9033-1281F439EA6A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0C2B93A-B474-3648-9D7E-97659AFB25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82D43C-46B9-9D42-BE8D-159B02933C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06672-3742-9B4C-92F9-8C615B4A4F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5620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AD36B-B5BF-584B-96A3-49FB152F04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BCFB2D-BC1F-1846-90E8-E245796025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98566F-A271-8A40-9543-42E9E93CDC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8EDE34-AB91-E645-9ADB-07D73C8486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6D4D2-AAF9-A148-9033-1281F439EA6A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C2E33C-2546-D049-8FC2-BED72A15CC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C80AA1-169F-6F40-9041-F3B124C87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06672-3742-9B4C-92F9-8C615B4A4F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96125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25F6A8-E6DF-EB4F-8075-39DB30F551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7E587FE-608C-9343-884C-CEA43DA6309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FFE025-C600-9A4C-BC64-B03BB93B99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DAE4D1-01C9-E141-A3B1-06D42A36A6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6D4D2-AAF9-A148-9033-1281F439EA6A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10B8D8-337B-364B-8A75-FED6032153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EADFB2-EF58-C84A-BBA7-1FD2B7AD4F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06672-3742-9B4C-92F9-8C615B4A4F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98545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0FE806-4751-0841-91FA-B128BD35EA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E6D20D-509D-C844-B0CD-64FD851DAC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06C84B-B23E-224C-89C4-19AE5EF894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6D4D2-AAF9-A148-9033-1281F439EA6A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246973-4E8E-DA42-A1CF-7D8021619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0C2AD6-813B-604B-A86C-8064713BF1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06672-3742-9B4C-92F9-8C615B4A4F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0312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0E17966-CFA8-5146-BF64-E1009F647C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95ED21-445D-5846-9BF9-EEAB3B32A6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0AC915-984D-314B-84CD-EC36C537E1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6D4D2-AAF9-A148-9033-1281F439EA6A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0BA202-BBB2-954A-B956-A37D4BFAAE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9646E0-38B4-8E41-A5D2-A0EAEE2CC5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06672-3742-9B4C-92F9-8C615B4A4F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4923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C72A4A8-8E75-8842-BD73-D48936781A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C3859C-DB89-AA4A-BDDE-475495B879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E890E7-1509-164B-9F85-07CD740088B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D6D4D2-AAF9-A148-9033-1281F439EA6A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A794C0-D7DA-4F47-96EB-75F5D3170F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2A1D56-0623-5E41-A603-D290DEC002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06672-3742-9B4C-92F9-8C615B4A4F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93014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27DE5C-BFA5-3647-8648-F5B5090FE5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Workshop 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677FAD4-7FB7-3545-B276-20EB9E0209E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Recap question:</a:t>
                </a:r>
              </a:p>
              <a:p>
                <a:r>
                  <a:rPr lang="en-GB" dirty="0"/>
                  <a:t>In the gas phase the reaction H</a:t>
                </a:r>
                <a:r>
                  <a:rPr lang="en-GB" baseline="-25000" dirty="0"/>
                  <a:t>2</a:t>
                </a:r>
                <a:r>
                  <a:rPr lang="en-GB" dirty="0"/>
                  <a:t> + Br</a:t>
                </a:r>
                <a:r>
                  <a:rPr lang="en-GB" baseline="-25000" dirty="0"/>
                  <a:t>2</a:t>
                </a:r>
                <a:r>
                  <a:rPr lang="en-GB" dirty="0"/>
                  <a:t> → 2 HBr has the rate law: 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𝜈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nor/>
                                        </m:rPr>
                                        <a:rPr lang="en-GB"/>
                                        <m:t>Br</m:t>
                                      </m:r>
                                    </m:e>
                                    <m:sub>
                                      <m: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3/2</m:t>
                              </m:r>
                            </m:sup>
                          </m:sSup>
                          <m:d>
                            <m:dPr>
                              <m:begChr m:val="["/>
                              <m:endChr m:val="]"/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nor/>
                                    </m:rPr>
                                    <a:rPr lang="en-GB"/>
                                    <m:t>H</m:t>
                                  </m:r>
                                </m:e>
                                <m:sub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d>
                            <m:dPr>
                              <m:begChr m:val="["/>
                              <m:endChr m:val="]"/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nor/>
                                </m:rPr>
                                <a:rPr lang="en-GB"/>
                                <m:t>B</m:t>
                              </m:r>
                              <m:sSub>
                                <m:sSub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nor/>
                                    </m:rPr>
                                    <a:rPr lang="en-GB"/>
                                    <m:t>r</m:t>
                                  </m:r>
                                </m:e>
                                <m:sub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b>
                          </m:sSub>
                          <m:d>
                            <m:dPr>
                              <m:begChr m:val="["/>
                              <m:endChr m:val="]"/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nor/>
                                </m:rPr>
                                <a:rPr lang="en-GB"/>
                                <m:t>HBr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GB" dirty="0"/>
              </a:p>
              <a:p>
                <a:endParaRPr lang="en-US" dirty="0"/>
              </a:p>
              <a:p>
                <a:pPr marL="0" indent="0">
                  <a:buNone/>
                </a:pPr>
                <a:r>
                  <a:rPr lang="en-GB" dirty="0"/>
                  <a:t>If the concentrations are measured in mol dm</a:t>
                </a:r>
                <a:r>
                  <a:rPr lang="en-GB" baseline="30000" dirty="0"/>
                  <a:t>−3</a:t>
                </a:r>
                <a:r>
                  <a:rPr lang="en-GB" dirty="0"/>
                  <a:t> and time in seconds, what are the units of k</a:t>
                </a:r>
                <a:r>
                  <a:rPr lang="en-GB" baseline="-25000" dirty="0"/>
                  <a:t>a</a:t>
                </a:r>
                <a:r>
                  <a:rPr lang="en-GB" dirty="0"/>
                  <a:t> and k</a:t>
                </a:r>
                <a:r>
                  <a:rPr lang="en-GB" baseline="-25000" dirty="0"/>
                  <a:t>b</a:t>
                </a:r>
                <a:r>
                  <a:rPr lang="en-GB" dirty="0"/>
                  <a:t>? </a:t>
                </a:r>
                <a:endParaRPr lang="en-GB" dirty="0">
                  <a:effectLst/>
                </a:endParaRP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677FAD4-7FB7-3545-B276-20EB9E0209E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345807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CFB6BDA-65E2-594B-83D7-0E68351B8333}"/>
              </a:ext>
            </a:extLst>
          </p:cNvPr>
          <p:cNvSpPr txBox="1"/>
          <p:nvPr/>
        </p:nvSpPr>
        <p:spPr>
          <a:xfrm>
            <a:off x="1216404" y="805342"/>
            <a:ext cx="6486648" cy="52629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Derive the rate law for the decomposition of N</a:t>
            </a:r>
            <a:r>
              <a:rPr lang="en-GB" sz="2400" baseline="-25000" dirty="0"/>
              <a:t>2</a:t>
            </a:r>
            <a:r>
              <a:rPr lang="en-GB" sz="2400" dirty="0"/>
              <a:t>O</a:t>
            </a:r>
            <a:r>
              <a:rPr lang="en-GB" sz="2400" baseline="-25000" dirty="0"/>
              <a:t>5</a:t>
            </a:r>
            <a:r>
              <a:rPr lang="en-GB" sz="2400" dirty="0"/>
              <a:t>:</a:t>
            </a:r>
          </a:p>
          <a:p>
            <a:endParaRPr lang="en-GB" sz="2400" dirty="0"/>
          </a:p>
          <a:p>
            <a:r>
              <a:rPr lang="en-GB" sz="2400" dirty="0"/>
              <a:t>2N</a:t>
            </a:r>
            <a:r>
              <a:rPr lang="en-GB" sz="2400" baseline="-25000" dirty="0"/>
              <a:t>2</a:t>
            </a:r>
            <a:r>
              <a:rPr lang="en-GB" sz="2400" dirty="0"/>
              <a:t>O</a:t>
            </a:r>
            <a:r>
              <a:rPr lang="en-GB" sz="2400" baseline="-25000" dirty="0"/>
              <a:t>5</a:t>
            </a:r>
            <a:r>
              <a:rPr lang="en-GB" sz="2400" dirty="0"/>
              <a:t>(g) </a:t>
            </a:r>
            <a:r>
              <a:rPr lang="en-GB" sz="2400" dirty="0">
                <a:latin typeface="Calibri" panose="020F0502020204030204" pitchFamily="34" charset="0"/>
                <a:cs typeface="Calibri" panose="020F0502020204030204" pitchFamily="34" charset="0"/>
              </a:rPr>
              <a:t>→</a:t>
            </a:r>
            <a:r>
              <a:rPr lang="en-GB" sz="2400" dirty="0"/>
              <a:t> 4NO</a:t>
            </a:r>
            <a:r>
              <a:rPr lang="en-GB" sz="2400" baseline="-25000" dirty="0"/>
              <a:t>2</a:t>
            </a:r>
            <a:r>
              <a:rPr lang="en-GB" sz="2400" dirty="0"/>
              <a:t>(g) + O</a:t>
            </a:r>
            <a:r>
              <a:rPr lang="en-GB" sz="2400" baseline="-25000" dirty="0"/>
              <a:t>2</a:t>
            </a:r>
            <a:r>
              <a:rPr lang="en-GB" sz="2400" dirty="0"/>
              <a:t>(g) </a:t>
            </a:r>
          </a:p>
          <a:p>
            <a:endParaRPr lang="en-GB" sz="2400" dirty="0"/>
          </a:p>
          <a:p>
            <a:r>
              <a:rPr lang="en-GB" sz="2400" dirty="0"/>
              <a:t>on the basis of the following mechanism:</a:t>
            </a:r>
          </a:p>
          <a:p>
            <a:endParaRPr lang="en-GB" sz="2400" dirty="0"/>
          </a:p>
          <a:p>
            <a:endParaRPr lang="en-GB" sz="2400" dirty="0"/>
          </a:p>
          <a:p>
            <a:r>
              <a:rPr lang="en-GB" sz="2400" dirty="0"/>
              <a:t>N</a:t>
            </a:r>
            <a:r>
              <a:rPr lang="en-GB" sz="2400" baseline="-25000" dirty="0"/>
              <a:t>2</a:t>
            </a:r>
            <a:r>
              <a:rPr lang="en-GB" sz="2400" dirty="0"/>
              <a:t>O</a:t>
            </a:r>
            <a:r>
              <a:rPr lang="en-GB" sz="2400" baseline="-25000" dirty="0"/>
              <a:t>5</a:t>
            </a:r>
            <a:r>
              <a:rPr lang="en-GB" sz="2400" dirty="0"/>
              <a:t> ⇌  NO</a:t>
            </a:r>
            <a:r>
              <a:rPr lang="en-GB" sz="2400" baseline="-25000" dirty="0"/>
              <a:t>2</a:t>
            </a:r>
            <a:r>
              <a:rPr lang="en-GB" sz="2400" dirty="0"/>
              <a:t> + NO</a:t>
            </a:r>
            <a:r>
              <a:rPr lang="en-GB" sz="2400" baseline="-25000" dirty="0"/>
              <a:t>3</a:t>
            </a:r>
          </a:p>
          <a:p>
            <a:endParaRPr lang="en-GB" sz="2400" dirty="0"/>
          </a:p>
          <a:p>
            <a:endParaRPr lang="en-GB" sz="2400" dirty="0"/>
          </a:p>
          <a:p>
            <a:r>
              <a:rPr lang="en-GB" sz="2400" dirty="0"/>
              <a:t>NO</a:t>
            </a:r>
            <a:r>
              <a:rPr lang="en-GB" sz="2400" baseline="-25000" dirty="0"/>
              <a:t>2</a:t>
            </a:r>
            <a:r>
              <a:rPr lang="en-GB" sz="2400" dirty="0"/>
              <a:t> + NO</a:t>
            </a:r>
            <a:r>
              <a:rPr lang="en-GB" sz="2400" baseline="-25000" dirty="0"/>
              <a:t>3</a:t>
            </a:r>
            <a:r>
              <a:rPr lang="en-GB" sz="2400" dirty="0"/>
              <a:t> </a:t>
            </a:r>
            <a:r>
              <a:rPr lang="en-GB" sz="2400" dirty="0">
                <a:latin typeface="Calibri" panose="020F0502020204030204" pitchFamily="34" charset="0"/>
                <a:cs typeface="Calibri" panose="020F0502020204030204" pitchFamily="34" charset="0"/>
              </a:rPr>
              <a:t>→ </a:t>
            </a:r>
            <a:r>
              <a:rPr lang="en-GB" sz="2400" dirty="0"/>
              <a:t>NO</a:t>
            </a:r>
            <a:r>
              <a:rPr lang="en-GB" sz="2400" baseline="-25000" dirty="0"/>
              <a:t>2</a:t>
            </a:r>
            <a:r>
              <a:rPr lang="en-GB" sz="2400" dirty="0"/>
              <a:t> + O</a:t>
            </a:r>
            <a:r>
              <a:rPr lang="en-GB" sz="2400" baseline="-25000" dirty="0"/>
              <a:t>2</a:t>
            </a:r>
            <a:r>
              <a:rPr lang="en-GB" sz="2400" dirty="0"/>
              <a:t> + NO</a:t>
            </a:r>
          </a:p>
          <a:p>
            <a:endParaRPr lang="en-GB" sz="2400" dirty="0"/>
          </a:p>
          <a:p>
            <a:endParaRPr lang="en-GB" sz="2400" dirty="0"/>
          </a:p>
          <a:p>
            <a:r>
              <a:rPr lang="en-GB" sz="2400" dirty="0"/>
              <a:t>NO + N</a:t>
            </a:r>
            <a:r>
              <a:rPr lang="en-GB" sz="2400" baseline="-25000" dirty="0"/>
              <a:t>2</a:t>
            </a:r>
            <a:r>
              <a:rPr lang="en-GB" sz="2400" dirty="0"/>
              <a:t>O</a:t>
            </a:r>
            <a:r>
              <a:rPr lang="en-GB" sz="2400" baseline="-25000" dirty="0"/>
              <a:t>5</a:t>
            </a:r>
            <a:r>
              <a:rPr lang="en-GB" sz="2400" dirty="0"/>
              <a:t> </a:t>
            </a:r>
            <a:r>
              <a:rPr lang="en-GB" sz="2400" dirty="0">
                <a:latin typeface="Calibri" panose="020F0502020204030204" pitchFamily="34" charset="0"/>
                <a:cs typeface="Calibri" panose="020F0502020204030204" pitchFamily="34" charset="0"/>
              </a:rPr>
              <a:t>→</a:t>
            </a:r>
            <a:r>
              <a:rPr lang="en-GB" sz="2400" dirty="0"/>
              <a:t> 3NO</a:t>
            </a:r>
            <a:r>
              <a:rPr lang="en-GB" sz="2400" baseline="-25000" dirty="0"/>
              <a:t>2</a:t>
            </a:r>
            <a:endParaRPr lang="en-GB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D0BC932-2DB2-6C4E-987F-6C7D602DE4E3}"/>
              </a:ext>
            </a:extLst>
          </p:cNvPr>
          <p:cNvSpPr txBox="1"/>
          <p:nvPr/>
        </p:nvSpPr>
        <p:spPr>
          <a:xfrm>
            <a:off x="1937858" y="3137483"/>
            <a:ext cx="3626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i="1" dirty="0"/>
              <a:t>k</a:t>
            </a:r>
            <a:r>
              <a:rPr lang="en-GB" baseline="-25000" dirty="0"/>
              <a:t>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1228A0A-BB43-0845-A0C0-2DEC785F63B6}"/>
              </a:ext>
            </a:extLst>
          </p:cNvPr>
          <p:cNvSpPr txBox="1"/>
          <p:nvPr/>
        </p:nvSpPr>
        <p:spPr>
          <a:xfrm>
            <a:off x="2610376" y="4179116"/>
            <a:ext cx="3690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i="1" dirty="0"/>
              <a:t>k</a:t>
            </a:r>
            <a:r>
              <a:rPr lang="en-GB" baseline="-25000" dirty="0"/>
              <a:t>b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63FDBE7-9483-4F40-9CB1-C58FE7373A31}"/>
              </a:ext>
            </a:extLst>
          </p:cNvPr>
          <p:cNvSpPr txBox="1"/>
          <p:nvPr/>
        </p:nvSpPr>
        <p:spPr>
          <a:xfrm>
            <a:off x="2610376" y="5271083"/>
            <a:ext cx="3545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i="1" dirty="0"/>
              <a:t>k</a:t>
            </a:r>
            <a:r>
              <a:rPr lang="en-GB" baseline="-25000" dirty="0"/>
              <a:t>c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51B318B-5A33-3049-8259-F87F96494CA4}"/>
              </a:ext>
            </a:extLst>
          </p:cNvPr>
          <p:cNvSpPr txBox="1"/>
          <p:nvPr/>
        </p:nvSpPr>
        <p:spPr>
          <a:xfrm>
            <a:off x="1937858" y="3667388"/>
            <a:ext cx="4035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i="1" dirty="0" err="1"/>
              <a:t>k</a:t>
            </a:r>
            <a:r>
              <a:rPr lang="en-GB" dirty="0" err="1"/>
              <a:t>’</a:t>
            </a:r>
            <a:r>
              <a:rPr lang="en-GB" baseline="-25000" dirty="0" err="1"/>
              <a:t>a</a:t>
            </a:r>
            <a:endParaRPr lang="en-GB" baseline="-25000" dirty="0"/>
          </a:p>
        </p:txBody>
      </p:sp>
    </p:spTree>
    <p:extLst>
      <p:ext uri="{BB962C8B-B14F-4D97-AF65-F5344CB8AC3E}">
        <p14:creationId xmlns:p14="http://schemas.microsoft.com/office/powerpoint/2010/main" val="25636324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56F4BAD-2466-3546-8260-0B49C01C5798}"/>
              </a:ext>
            </a:extLst>
          </p:cNvPr>
          <p:cNvSpPr txBox="1"/>
          <p:nvPr/>
        </p:nvSpPr>
        <p:spPr>
          <a:xfrm>
            <a:off x="1216404" y="805342"/>
            <a:ext cx="5897577" cy="52629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Derive the rate law for the production of NO</a:t>
            </a:r>
            <a:r>
              <a:rPr lang="en-GB" sz="2400" baseline="-25000" dirty="0"/>
              <a:t>2</a:t>
            </a:r>
            <a:r>
              <a:rPr lang="en-GB" sz="2400" dirty="0"/>
              <a:t>:</a:t>
            </a:r>
          </a:p>
          <a:p>
            <a:endParaRPr lang="en-GB" sz="2400" dirty="0"/>
          </a:p>
          <a:p>
            <a:r>
              <a:rPr lang="en-GB" sz="2400" dirty="0"/>
              <a:t>2N</a:t>
            </a:r>
            <a:r>
              <a:rPr lang="en-GB" sz="2400" baseline="-25000" dirty="0"/>
              <a:t>2</a:t>
            </a:r>
            <a:r>
              <a:rPr lang="en-GB" sz="2400" dirty="0"/>
              <a:t>O</a:t>
            </a:r>
            <a:r>
              <a:rPr lang="en-GB" sz="2400" baseline="-25000" dirty="0"/>
              <a:t>5</a:t>
            </a:r>
            <a:r>
              <a:rPr lang="en-GB" sz="2400" dirty="0"/>
              <a:t>(g) </a:t>
            </a:r>
            <a:r>
              <a:rPr lang="en-GB" sz="2400" dirty="0">
                <a:latin typeface="Calibri" panose="020F0502020204030204" pitchFamily="34" charset="0"/>
                <a:cs typeface="Calibri" panose="020F0502020204030204" pitchFamily="34" charset="0"/>
              </a:rPr>
              <a:t>→</a:t>
            </a:r>
            <a:r>
              <a:rPr lang="en-GB" sz="2400" dirty="0"/>
              <a:t> 4NO</a:t>
            </a:r>
            <a:r>
              <a:rPr lang="en-GB" sz="2400" baseline="-25000" dirty="0"/>
              <a:t>2</a:t>
            </a:r>
            <a:r>
              <a:rPr lang="en-GB" sz="2400" dirty="0"/>
              <a:t>(g) + O</a:t>
            </a:r>
            <a:r>
              <a:rPr lang="en-GB" sz="2400" baseline="-25000" dirty="0"/>
              <a:t>2</a:t>
            </a:r>
            <a:r>
              <a:rPr lang="en-GB" sz="2400" dirty="0"/>
              <a:t>(g) </a:t>
            </a:r>
          </a:p>
          <a:p>
            <a:endParaRPr lang="en-GB" sz="2400" dirty="0"/>
          </a:p>
          <a:p>
            <a:r>
              <a:rPr lang="en-GB" sz="2400" dirty="0"/>
              <a:t>on the basis of the following mechanism:</a:t>
            </a:r>
          </a:p>
          <a:p>
            <a:endParaRPr lang="en-GB" sz="2400" dirty="0"/>
          </a:p>
          <a:p>
            <a:endParaRPr lang="en-GB" sz="2400" dirty="0"/>
          </a:p>
          <a:p>
            <a:r>
              <a:rPr lang="en-GB" sz="2400" dirty="0"/>
              <a:t>N</a:t>
            </a:r>
            <a:r>
              <a:rPr lang="en-GB" sz="2400" baseline="-25000" dirty="0"/>
              <a:t>2</a:t>
            </a:r>
            <a:r>
              <a:rPr lang="en-GB" sz="2400" dirty="0"/>
              <a:t>O</a:t>
            </a:r>
            <a:r>
              <a:rPr lang="en-GB" sz="2400" baseline="-25000" dirty="0"/>
              <a:t>5</a:t>
            </a:r>
            <a:r>
              <a:rPr lang="en-GB" sz="2400" dirty="0"/>
              <a:t> ⇌  NO</a:t>
            </a:r>
            <a:r>
              <a:rPr lang="en-GB" sz="2400" baseline="-25000" dirty="0"/>
              <a:t>2</a:t>
            </a:r>
            <a:r>
              <a:rPr lang="en-GB" sz="2400" dirty="0"/>
              <a:t> + NO</a:t>
            </a:r>
            <a:r>
              <a:rPr lang="en-GB" sz="2400" baseline="-25000" dirty="0"/>
              <a:t>3</a:t>
            </a:r>
          </a:p>
          <a:p>
            <a:endParaRPr lang="en-GB" sz="2400" dirty="0"/>
          </a:p>
          <a:p>
            <a:endParaRPr lang="en-GB" sz="2400" dirty="0"/>
          </a:p>
          <a:p>
            <a:r>
              <a:rPr lang="en-GB" sz="2400" dirty="0"/>
              <a:t>NO</a:t>
            </a:r>
            <a:r>
              <a:rPr lang="en-GB" sz="2400" baseline="-25000" dirty="0"/>
              <a:t>2</a:t>
            </a:r>
            <a:r>
              <a:rPr lang="en-GB" sz="2400" dirty="0"/>
              <a:t> + NO</a:t>
            </a:r>
            <a:r>
              <a:rPr lang="en-GB" sz="2400" baseline="-25000" dirty="0"/>
              <a:t>3</a:t>
            </a:r>
            <a:r>
              <a:rPr lang="en-GB" sz="2400" dirty="0"/>
              <a:t> </a:t>
            </a:r>
            <a:r>
              <a:rPr lang="en-GB" sz="2400" dirty="0">
                <a:latin typeface="Calibri" panose="020F0502020204030204" pitchFamily="34" charset="0"/>
                <a:cs typeface="Calibri" panose="020F0502020204030204" pitchFamily="34" charset="0"/>
              </a:rPr>
              <a:t>→ </a:t>
            </a:r>
            <a:r>
              <a:rPr lang="en-GB" sz="2400" dirty="0"/>
              <a:t>NO</a:t>
            </a:r>
            <a:r>
              <a:rPr lang="en-GB" sz="2400" baseline="-25000" dirty="0"/>
              <a:t>2</a:t>
            </a:r>
            <a:r>
              <a:rPr lang="en-GB" sz="2400" dirty="0"/>
              <a:t> + O</a:t>
            </a:r>
            <a:r>
              <a:rPr lang="en-GB" sz="2400" baseline="-25000" dirty="0"/>
              <a:t>2</a:t>
            </a:r>
            <a:r>
              <a:rPr lang="en-GB" sz="2400" dirty="0"/>
              <a:t> + NO</a:t>
            </a:r>
          </a:p>
          <a:p>
            <a:endParaRPr lang="en-GB" sz="2400" dirty="0"/>
          </a:p>
          <a:p>
            <a:endParaRPr lang="en-GB" sz="2400" dirty="0"/>
          </a:p>
          <a:p>
            <a:r>
              <a:rPr lang="en-GB" sz="2400" dirty="0"/>
              <a:t>NO + N</a:t>
            </a:r>
            <a:r>
              <a:rPr lang="en-GB" sz="2400" baseline="-25000" dirty="0"/>
              <a:t>2</a:t>
            </a:r>
            <a:r>
              <a:rPr lang="en-GB" sz="2400" dirty="0"/>
              <a:t>O</a:t>
            </a:r>
            <a:r>
              <a:rPr lang="en-GB" sz="2400" baseline="-25000" dirty="0"/>
              <a:t>5</a:t>
            </a:r>
            <a:r>
              <a:rPr lang="en-GB" sz="2400" dirty="0"/>
              <a:t> </a:t>
            </a:r>
            <a:r>
              <a:rPr lang="en-GB" sz="2400" dirty="0">
                <a:latin typeface="Calibri" panose="020F0502020204030204" pitchFamily="34" charset="0"/>
                <a:cs typeface="Calibri" panose="020F0502020204030204" pitchFamily="34" charset="0"/>
              </a:rPr>
              <a:t>→</a:t>
            </a:r>
            <a:r>
              <a:rPr lang="en-GB" sz="2400" dirty="0"/>
              <a:t> 3NO</a:t>
            </a:r>
            <a:r>
              <a:rPr lang="en-GB" sz="2400" baseline="-25000" dirty="0"/>
              <a:t>2</a:t>
            </a:r>
            <a:endParaRPr lang="en-GB"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D23661E-31E9-4343-A628-30F8A702B454}"/>
              </a:ext>
            </a:extLst>
          </p:cNvPr>
          <p:cNvSpPr txBox="1"/>
          <p:nvPr/>
        </p:nvSpPr>
        <p:spPr>
          <a:xfrm>
            <a:off x="1937858" y="3137483"/>
            <a:ext cx="3626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i="1" dirty="0"/>
              <a:t>k</a:t>
            </a:r>
            <a:r>
              <a:rPr lang="en-GB" baseline="-25000" dirty="0"/>
              <a:t>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8731715-4B28-2A4D-95DD-BE1E6EB54F6C}"/>
              </a:ext>
            </a:extLst>
          </p:cNvPr>
          <p:cNvSpPr txBox="1"/>
          <p:nvPr/>
        </p:nvSpPr>
        <p:spPr>
          <a:xfrm>
            <a:off x="2610376" y="4179116"/>
            <a:ext cx="3690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i="1" dirty="0"/>
              <a:t>k</a:t>
            </a:r>
            <a:r>
              <a:rPr lang="en-GB" baseline="-25000" dirty="0"/>
              <a:t>b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C16A8EB-FD59-5B48-9586-11E270004D91}"/>
              </a:ext>
            </a:extLst>
          </p:cNvPr>
          <p:cNvSpPr txBox="1"/>
          <p:nvPr/>
        </p:nvSpPr>
        <p:spPr>
          <a:xfrm>
            <a:off x="2610376" y="5271083"/>
            <a:ext cx="3545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i="1" dirty="0"/>
              <a:t>k</a:t>
            </a:r>
            <a:r>
              <a:rPr lang="en-GB" baseline="-25000" dirty="0"/>
              <a:t>c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84C41E8-7212-7244-8B1A-B1929D7FC6A4}"/>
              </a:ext>
            </a:extLst>
          </p:cNvPr>
          <p:cNvSpPr txBox="1"/>
          <p:nvPr/>
        </p:nvSpPr>
        <p:spPr>
          <a:xfrm>
            <a:off x="1937858" y="3667388"/>
            <a:ext cx="4035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i="1" dirty="0" err="1"/>
              <a:t>k</a:t>
            </a:r>
            <a:r>
              <a:rPr lang="en-GB" dirty="0" err="1"/>
              <a:t>’</a:t>
            </a:r>
            <a:r>
              <a:rPr lang="en-GB" baseline="-25000" dirty="0" err="1"/>
              <a:t>a</a:t>
            </a:r>
            <a:endParaRPr lang="en-GB" baseline="-25000" dirty="0"/>
          </a:p>
        </p:txBody>
      </p:sp>
    </p:spTree>
    <p:extLst>
      <p:ext uri="{BB962C8B-B14F-4D97-AF65-F5344CB8AC3E}">
        <p14:creationId xmlns:p14="http://schemas.microsoft.com/office/powerpoint/2010/main" val="18121372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6A54799-60C1-44EF-87F0-B949AE9F2D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7212497" cy="424732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400"/>
              <a:t>The rate of an enzyme catalysed reaction is given by: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8B995FC-4397-4061-951E-54F681BE1694}"/>
                  </a:ext>
                </a:extLst>
              </p:cNvPr>
              <p:cNvSpPr txBox="1"/>
              <p:nvPr/>
            </p:nvSpPr>
            <p:spPr>
              <a:xfrm>
                <a:off x="6099314" y="1463090"/>
                <a:ext cx="6092686" cy="1119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]</m:t>
                          </m:r>
                        </m:num>
                        <m:den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]+</m:t>
                          </m:r>
                          <m:sSub>
                            <m:sSubPr>
                              <m:ctrlPr>
                                <a:rPr lang="en-GB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GB" sz="320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8B995FC-4397-4061-951E-54F681BE16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9314" y="1463090"/>
                <a:ext cx="6092686" cy="1119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B8545D22-5108-4C62-8050-ED054D605A01}"/>
              </a:ext>
            </a:extLst>
          </p:cNvPr>
          <p:cNvSpPr txBox="1">
            <a:spLocks/>
          </p:cNvSpPr>
          <p:nvPr/>
        </p:nvSpPr>
        <p:spPr>
          <a:xfrm>
            <a:off x="838199" y="3001755"/>
            <a:ext cx="10515601" cy="757130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defPPr>
              <a:defRPr lang="en-US"/>
            </a:defPPr>
            <a:lvl1pPr marL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400"/>
              <a:t>For the following data of rate constant </a:t>
            </a:r>
            <a:r>
              <a:rPr lang="en-GB" sz="2400" i="1"/>
              <a:t>k</a:t>
            </a:r>
            <a:r>
              <a:rPr lang="en-GB" sz="2400"/>
              <a:t> versus substrate concentration, determine values for the Michaelis constant and </a:t>
            </a:r>
            <a:r>
              <a:rPr lang="en-GB" sz="2400" i="1"/>
              <a:t>k</a:t>
            </a:r>
            <a:r>
              <a:rPr lang="en-GB" sz="2400" i="1" baseline="-25000"/>
              <a:t>2</a:t>
            </a:r>
            <a:r>
              <a:rPr lang="en-GB" sz="2400"/>
              <a:t> by drawing an appropriate plot</a:t>
            </a:r>
          </a:p>
        </p:txBody>
      </p:sp>
      <p:graphicFrame>
        <p:nvGraphicFramePr>
          <p:cNvPr id="8" name="Table 8">
            <a:extLst>
              <a:ext uri="{FF2B5EF4-FFF2-40B4-BE49-F238E27FC236}">
                <a16:creationId xmlns:a16="http://schemas.microsoft.com/office/drawing/2014/main" id="{0172F1E7-A0AF-42BF-A592-7A620EFCA656}"/>
              </a:ext>
            </a:extLst>
          </p:cNvPr>
          <p:cNvGraphicFramePr>
            <a:graphicFrameLocks noGrp="1"/>
          </p:cNvGraphicFramePr>
          <p:nvPr/>
        </p:nvGraphicFramePr>
        <p:xfrm>
          <a:off x="1017657" y="4177885"/>
          <a:ext cx="81280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3125633888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2732741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sz="2400"/>
                        <a:t>[S] / 10</a:t>
                      </a:r>
                      <a:r>
                        <a:rPr lang="en-GB" sz="2400" baseline="30000"/>
                        <a:t>-6</a:t>
                      </a:r>
                      <a:r>
                        <a:rPr lang="en-GB" sz="2400" baseline="0"/>
                        <a:t> M</a:t>
                      </a:r>
                      <a:endParaRPr lang="en-GB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400" i="1"/>
                        <a:t>k</a:t>
                      </a:r>
                      <a:r>
                        <a:rPr lang="en-GB" sz="2400"/>
                        <a:t> / s</a:t>
                      </a:r>
                      <a:r>
                        <a:rPr lang="en-GB" sz="2400" baseline="30000"/>
                        <a:t>-1</a:t>
                      </a:r>
                      <a:endParaRPr lang="en-GB" sz="2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6828041"/>
                  </a:ext>
                </a:extLst>
              </a:tr>
              <a:tr h="281692">
                <a:tc>
                  <a:txBody>
                    <a:bodyPr/>
                    <a:lstStyle/>
                    <a:p>
                      <a:r>
                        <a:rPr lang="en-GB" sz="2400"/>
                        <a:t>1.1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40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8620306"/>
                  </a:ext>
                </a:extLst>
              </a:tr>
              <a:tr h="427687">
                <a:tc>
                  <a:txBody>
                    <a:bodyPr/>
                    <a:lstStyle/>
                    <a:p>
                      <a:r>
                        <a:rPr lang="en-GB" sz="240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400"/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07860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40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400"/>
                        <a:t>8.2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72524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400"/>
                        <a:t>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400"/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10091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058541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215</Words>
  <Application>Microsoft Office PowerPoint</Application>
  <PresentationFormat>Widescreen</PresentationFormat>
  <Paragraphs>56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Cambria Math</vt:lpstr>
      <vt:lpstr>Office Theme</vt:lpstr>
      <vt:lpstr>Workshop 2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Workshop 2</dc:title>
  <dc:creator>James Hallett</dc:creator>
  <cp:lastModifiedBy>James Hallett</cp:lastModifiedBy>
  <cp:revision>5</cp:revision>
  <dcterms:created xsi:type="dcterms:W3CDTF">2021-11-29T09:30:20Z</dcterms:created>
  <dcterms:modified xsi:type="dcterms:W3CDTF">2025-03-25T10:32:35Z</dcterms:modified>
</cp:coreProperties>
</file>