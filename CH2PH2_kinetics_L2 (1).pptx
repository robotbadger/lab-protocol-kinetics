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402" r:id="rId2"/>
    <p:sldId id="300" r:id="rId3"/>
    <p:sldId id="533" r:id="rId4"/>
    <p:sldId id="301" r:id="rId5"/>
    <p:sldId id="302" r:id="rId6"/>
    <p:sldId id="305" r:id="rId7"/>
    <p:sldId id="306" r:id="rId8"/>
    <p:sldId id="535" r:id="rId9"/>
    <p:sldId id="536" r:id="rId10"/>
    <p:sldId id="534" r:id="rId11"/>
    <p:sldId id="307" r:id="rId12"/>
    <p:sldId id="308" r:id="rId13"/>
    <p:sldId id="309" r:id="rId14"/>
    <p:sldId id="310" r:id="rId15"/>
    <p:sldId id="426" r:id="rId16"/>
    <p:sldId id="311" r:id="rId17"/>
    <p:sldId id="427" r:id="rId18"/>
    <p:sldId id="312" r:id="rId19"/>
    <p:sldId id="514" r:id="rId20"/>
    <p:sldId id="313" r:id="rId21"/>
    <p:sldId id="314" r:id="rId22"/>
    <p:sldId id="315" r:id="rId23"/>
    <p:sldId id="317" r:id="rId24"/>
    <p:sldId id="318" r:id="rId25"/>
    <p:sldId id="321" r:id="rId26"/>
    <p:sldId id="322" r:id="rId27"/>
    <p:sldId id="323" r:id="rId28"/>
    <p:sldId id="537" r:id="rId29"/>
  </p:sldIdLst>
  <p:sldSz cx="9144000" cy="6858000" type="screen4x3"/>
  <p:notesSz cx="7099300" cy="10234613"/>
  <p:embeddedFontLst>
    <p:embeddedFont>
      <p:font typeface="Cambria Math" panose="02040503050406030204" pitchFamily="18" charset="0"/>
      <p:regular r:id="rId32"/>
    </p:embeddedFont>
    <p:embeddedFont>
      <p:font typeface="Rdg Vesta" panose="02000503060000020004" pitchFamily="2" charset="0"/>
      <p:regular r:id="rId33"/>
      <p:bold r:id="rId34"/>
      <p:italic r:id="rId35"/>
      <p:boldItalic r:id="rId36"/>
    </p:embeddedFont>
    <p:embeddedFont>
      <p:font typeface="Times" panose="02020603050405020304" pitchFamily="18" charset="0"/>
      <p:regular r:id="rId37"/>
      <p:bold r:id="rId38"/>
      <p:italic r:id="rId39"/>
      <p:boldItalic r:id="rId40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AF35"/>
    <a:srgbClr val="FFFFCC"/>
    <a:srgbClr val="D799A1"/>
    <a:srgbClr val="000000"/>
    <a:srgbClr val="BF0071"/>
    <a:srgbClr val="F3F3F3"/>
    <a:srgbClr val="F0F0F0"/>
    <a:srgbClr val="EEEEEE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835"/>
  </p:normalViewPr>
  <p:slideViewPr>
    <p:cSldViewPr snapToGrid="0">
      <p:cViewPr varScale="1">
        <p:scale>
          <a:sx n="115" d="100"/>
          <a:sy n="115" d="100"/>
        </p:scale>
        <p:origin x="175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Hallett" userId="c714d19a-e50d-439a-876c-0e1be1458f92" providerId="ADAL" clId="{9E63729E-F98D-59AE-8FA6-FDDC881E90FE}"/>
    <pc:docChg chg="addSld modSld">
      <pc:chgData name="James Hallett" userId="c714d19a-e50d-439a-876c-0e1be1458f92" providerId="ADAL" clId="{9E63729E-F98D-59AE-8FA6-FDDC881E90FE}" dt="2026-02-10T09:58:49.174" v="327" actId="20577"/>
      <pc:docMkLst>
        <pc:docMk/>
      </pc:docMkLst>
      <pc:sldChg chg="modSp new mod">
        <pc:chgData name="James Hallett" userId="c714d19a-e50d-439a-876c-0e1be1458f92" providerId="ADAL" clId="{9E63729E-F98D-59AE-8FA6-FDDC881E90FE}" dt="2026-02-10T09:58:49.174" v="327" actId="20577"/>
        <pc:sldMkLst>
          <pc:docMk/>
          <pc:sldMk cId="1613651707" sldId="537"/>
        </pc:sldMkLst>
        <pc:spChg chg="mod">
          <ac:chgData name="James Hallett" userId="c714d19a-e50d-439a-876c-0e1be1458f92" providerId="ADAL" clId="{9E63729E-F98D-59AE-8FA6-FDDC881E90FE}" dt="2026-02-10T09:57:13.092" v="19" actId="20577"/>
          <ac:spMkLst>
            <pc:docMk/>
            <pc:sldMk cId="1613651707" sldId="537"/>
            <ac:spMk id="2" creationId="{AFA82168-C226-85A6-C0F1-E0C43BFE0727}"/>
          </ac:spMkLst>
        </pc:spChg>
        <pc:spChg chg="mod">
          <ac:chgData name="James Hallett" userId="c714d19a-e50d-439a-876c-0e1be1458f92" providerId="ADAL" clId="{9E63729E-F98D-59AE-8FA6-FDDC881E90FE}" dt="2026-02-10T09:58:49.174" v="327" actId="20577"/>
          <ac:spMkLst>
            <pc:docMk/>
            <pc:sldMk cId="1613651707" sldId="537"/>
            <ac:spMk id="3" creationId="{4FF08414-76EF-6AC8-9B00-959B4DE9D7F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14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14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fld id="{DC1C926E-E5D6-49FD-80FB-3D308DC41F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9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37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6" y="4862101"/>
            <a:ext cx="568011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37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00D5460-E14D-44CF-821C-69F40963C65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328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64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037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137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070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621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05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728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937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40819-9F63-493E-A23A-1966B39CAA04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489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40819-9F63-493E-A23A-1966B39CAA04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109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40819-9F63-493E-A23A-1966B39CAA04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6354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40819-9F63-493E-A23A-1966B39CAA04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215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40819-9F63-493E-A23A-1966B39CAA04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849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40819-9F63-493E-A23A-1966B39CAA04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317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5665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188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3414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937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228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896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203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450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3111" name="Picture 39" descr="Device-bl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755650" y="2987675"/>
            <a:ext cx="7920038" cy="2387600"/>
          </a:xfrm>
        </p:spPr>
        <p:txBody>
          <a:bodyPr wrap="square"/>
          <a:lstStyle>
            <a:lvl1pPr>
              <a:lnSpc>
                <a:spcPct val="90000"/>
              </a:lnSpc>
              <a:tabLst>
                <a:tab pos="4038600" algn="l"/>
              </a:tabLst>
              <a:defRPr sz="820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755650" y="5373688"/>
            <a:ext cx="7920038" cy="925512"/>
          </a:xfrm>
        </p:spPr>
        <p:txBody>
          <a:bodyPr/>
          <a:lstStyle>
            <a:lvl1pPr marL="0" indent="0">
              <a:buFontTx/>
              <a:buNone/>
              <a:defRPr sz="3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1" y="6519863"/>
            <a:ext cx="1773238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901E09E9-B828-4F07-8691-56061D7C279E}" type="datetime4">
              <a:rPr lang="en-GB"/>
              <a:pPr/>
              <a:t>10 February 2026</a:t>
            </a:fld>
            <a:endParaRPr lang="en-GB"/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2555876" y="6519863"/>
            <a:ext cx="43926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© University of Reading 2008</a:t>
            </a:r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5292725" y="6519863"/>
            <a:ext cx="3446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400" b="1">
                <a:solidFill>
                  <a:schemeClr val="tx2"/>
                </a:solidFill>
              </a:rPr>
              <a:t>www.reading.ac.uk</a:t>
            </a:r>
          </a:p>
        </p:txBody>
      </p:sp>
      <p:sp>
        <p:nvSpPr>
          <p:cNvPr id="3108" name="Rectangle 36"/>
          <p:cNvSpPr>
            <a:spLocks noChangeArrowheads="1"/>
          </p:cNvSpPr>
          <p:nvPr/>
        </p:nvSpPr>
        <p:spPr bwMode="hidden">
          <a:xfrm>
            <a:off x="6588126" y="2"/>
            <a:ext cx="2555875" cy="1196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855664" y="333375"/>
            <a:ext cx="36718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300" b="1"/>
              <a:t>Go to View &gt; Master &gt; Slide Master </a:t>
            </a:r>
            <a:br>
              <a:rPr lang="en-GB" sz="1300" b="1"/>
            </a:br>
            <a:r>
              <a:rPr lang="en-GB" sz="1300" b="1"/>
              <a:t>to put your unit name here</a:t>
            </a:r>
          </a:p>
        </p:txBody>
      </p:sp>
      <p:pic>
        <p:nvPicPr>
          <p:cNvPr id="3107" name="Picture 35" descr="Device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114" name="Picture 42" descr="powerpoint-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1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14" name="Picture 39" descr="Device-bl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</p:spPr>
      </p:pic>
      <p:pic>
        <p:nvPicPr>
          <p:cNvPr id="15" name="Picture 42" descr="powerpoint-images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9D1556-5B33-4675-B4F7-DF410413AB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2036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A0146E-E93F-40FA-95C0-5D26FF87133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42907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7426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953796-1D7D-417A-8CFA-8A437F7CE2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00308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80D11D-4F9A-40E8-A8A2-19DCF54851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68726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BBB062-E9BC-46FC-A221-AD28C64C61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375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36FD51-1015-4304-9645-AC62F2AE25B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5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98DC1-42D3-4E19-9786-FDC6B5B993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13775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4F427-71DA-42BF-9A23-26EEB255A7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6086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55E386-501C-4B8D-95FE-5F35F50D7F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5532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4014" y="274638"/>
            <a:ext cx="1982787" cy="5668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274638"/>
            <a:ext cx="5795963" cy="5668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D204FA-AD45-4274-8CB5-C19925E50E4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4144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Picture 53" descr="Device-blac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1" y="274638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00200"/>
            <a:ext cx="79311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16888" y="6281738"/>
            <a:ext cx="6762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/>
            </a:lvl1pPr>
          </a:lstStyle>
          <a:p>
            <a:fld id="{B840E540-F2F8-41E1-849D-65A0688D08A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55651" y="6519863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400"/>
          </a:p>
        </p:txBody>
      </p:sp>
      <p:pic>
        <p:nvPicPr>
          <p:cNvPr id="1074" name="Picture 50" descr="Device-win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2"/>
            <a:ext cx="1184275" cy="385763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079" name="Picture 55" descr="Device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5g6P8-GmBg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UzgVZk7Yxk?feature=oembe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24.wmf"/><Relationship Id="rId3" Type="http://schemas.openxmlformats.org/officeDocument/2006/relationships/image" Target="../media/image20.png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6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2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CH2PH2: </a:t>
            </a:r>
            <a:br>
              <a:rPr lang="en-US" sz="4800" dirty="0"/>
            </a:br>
            <a:r>
              <a:rPr lang="en-US" sz="4800" dirty="0"/>
              <a:t>Chemical Kinetics</a:t>
            </a:r>
            <a:br>
              <a:rPr lang="en-US" sz="4800" dirty="0"/>
            </a:br>
            <a:endParaRPr lang="en-US" sz="4800"/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004175"/>
            <a:ext cx="7920038" cy="925512"/>
          </a:xfrm>
        </p:spPr>
        <p:txBody>
          <a:bodyPr/>
          <a:lstStyle/>
          <a:p>
            <a:r>
              <a:rPr lang="en-US"/>
              <a:t>Dr. James Hallett</a:t>
            </a:r>
          </a:p>
          <a:p>
            <a:r>
              <a:rPr lang="en-US"/>
              <a:t>j.e.hallett@reading.ac.uk</a:t>
            </a:r>
          </a:p>
        </p:txBody>
      </p:sp>
    </p:spTree>
    <p:extLst>
      <p:ext uri="{BB962C8B-B14F-4D97-AF65-F5344CB8AC3E}">
        <p14:creationId xmlns:p14="http://schemas.microsoft.com/office/powerpoint/2010/main" val="113737658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Lecture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</a:rPr>
              <a:t>CH2PH2 Chemical Kinetics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5803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0061A-397E-42B3-8C11-BBA80303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400"/>
              <a:t>the steady state approximation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8D1DA-FE02-45C8-80E0-C55B230CB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00038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Rules for determining the rate </a:t>
            </a:r>
            <a:br>
              <a:rPr lang="en-GB"/>
            </a:br>
            <a:r>
              <a:rPr lang="en-GB"/>
              <a:t>equation for a multi-step reaction (1)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/>
              <a:t>We can break any reaction down to a series of one-step reactions.</a:t>
            </a:r>
          </a:p>
          <a:p>
            <a:r>
              <a:rPr lang="en-GB"/>
              <a:t>Each single step – “elementary reaction” - follows simple kinetics. </a:t>
            </a:r>
          </a:p>
          <a:p>
            <a:r>
              <a:rPr lang="en-GB"/>
              <a:t>For each elementary reaction, we can write the rate equation just from the chemical equation.</a:t>
            </a:r>
          </a:p>
          <a:p>
            <a:r>
              <a:rPr lang="en-GB"/>
              <a:t>The order of the reaction is the same as the molecularity…</a:t>
            </a:r>
          </a:p>
        </p:txBody>
      </p:sp>
    </p:spTree>
    <p:extLst>
      <p:ext uri="{BB962C8B-B14F-4D97-AF65-F5344CB8AC3E}">
        <p14:creationId xmlns:p14="http://schemas.microsoft.com/office/powerpoint/2010/main" val="345348675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Rules for determining the rate</a:t>
            </a:r>
            <a:br>
              <a:rPr lang="en-GB">
                <a:latin typeface="+mn-lt"/>
              </a:rPr>
            </a:br>
            <a:r>
              <a:rPr lang="en-GB">
                <a:latin typeface="+mn-lt"/>
              </a:rPr>
              <a:t>equation for a multi-step reaction (2)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55650" y="1600200"/>
            <a:ext cx="7931150" cy="5069160"/>
          </a:xfrm>
        </p:spPr>
        <p:txBody>
          <a:bodyPr>
            <a:normAutofit/>
          </a:bodyPr>
          <a:lstStyle/>
          <a:p>
            <a:r>
              <a:rPr lang="en-GB"/>
              <a:t>Many components will have elementary reactions that make them, and other elementary reactions that remove them.</a:t>
            </a:r>
          </a:p>
          <a:p>
            <a:r>
              <a:rPr lang="en-GB"/>
              <a:t>Calculate the (overall) rate of change of each component:</a:t>
            </a:r>
          </a:p>
          <a:p>
            <a:pPr lvl="1"/>
            <a:r>
              <a:rPr lang="en-GB"/>
              <a:t>For each elementary reaction, add the rate if it makes that component. Subtract the rate if it removes that component.</a:t>
            </a:r>
          </a:p>
          <a:p>
            <a:pPr lvl="1"/>
            <a:r>
              <a:rPr lang="en-GB"/>
              <a:t>Don’t forget to multiply by the number of molecules of that component that the elementary reaction makes or removes. 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33927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Rules for determining the rate</a:t>
            </a:r>
            <a:br>
              <a:rPr lang="en-GB">
                <a:latin typeface="+mn-lt"/>
              </a:rPr>
            </a:br>
            <a:r>
              <a:rPr lang="en-GB">
                <a:latin typeface="+mn-lt"/>
              </a:rPr>
              <a:t>equation for a multi-step reaction (3)</a:t>
            </a:r>
            <a:endParaRPr lang="en-US">
              <a:latin typeface="+mn-lt"/>
            </a:endParaRP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2045312" y="3365898"/>
            <a:ext cx="5025902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>
                <a:solidFill>
                  <a:prstClr val="black"/>
                </a:solidFill>
                <a:latin typeface="+mn-lt"/>
              </a:rPr>
              <a:t>After a short initial period while the levels of intermediate I build up…</a:t>
            </a:r>
          </a:p>
          <a:p>
            <a:pPr algn="ctr">
              <a:spcBef>
                <a:spcPct val="50000"/>
              </a:spcBef>
            </a:pPr>
            <a:r>
              <a:rPr lang="en-GB">
                <a:solidFill>
                  <a:prstClr val="black"/>
                </a:solidFill>
                <a:latin typeface="+mn-lt"/>
              </a:rPr>
              <a:t>the rate of change of I is almost zero for most of the reaction.</a:t>
            </a:r>
            <a:endParaRPr lang="en-US">
              <a:solidFill>
                <a:prstClr val="black"/>
              </a:solidFill>
              <a:latin typeface="+mn-lt"/>
            </a:endParaRPr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2366780" y="2077939"/>
            <a:ext cx="473591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3000">
                <a:solidFill>
                  <a:srgbClr val="FF0000"/>
                </a:solidFill>
                <a:latin typeface="+mn-lt"/>
              </a:rPr>
              <a:t>Steady-state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703622" y="2753292"/>
                <a:ext cx="1308692" cy="510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622" y="2753292"/>
                <a:ext cx="1308692" cy="5107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6">
            <a:extLst>
              <a:ext uri="{FF2B5EF4-FFF2-40B4-BE49-F238E27FC236}">
                <a16:creationId xmlns:a16="http://schemas.microsoft.com/office/drawing/2014/main" id="{3798EAFE-CACA-D841-C7F0-7EB8F1F63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96" y="5420905"/>
            <a:ext cx="826059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3000">
                <a:solidFill>
                  <a:srgbClr val="FF0000"/>
                </a:solidFill>
                <a:latin typeface="+mn-lt"/>
              </a:rPr>
              <a:t>Rate of formation of I = Rate of disappearance of I</a:t>
            </a:r>
          </a:p>
        </p:txBody>
      </p:sp>
    </p:spTree>
    <p:extLst>
      <p:ext uri="{BB962C8B-B14F-4D97-AF65-F5344CB8AC3E}">
        <p14:creationId xmlns:p14="http://schemas.microsoft.com/office/powerpoint/2010/main" val="42947693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allAtOnce"/>
      <p:bldP spid="76806" grpId="0" build="allAtOnce"/>
      <p:bldP spid="10" grpId="0"/>
      <p:bldP spid="8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87" name="Rectangle 39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GB" sz="3000">
                <a:latin typeface="+mn-lt"/>
              </a:rPr>
              <a:t>The “bucket” analogy </a:t>
            </a:r>
            <a:br>
              <a:rPr lang="en-GB" sz="3000">
                <a:latin typeface="+mn-lt"/>
              </a:rPr>
            </a:br>
            <a:r>
              <a:rPr lang="en-GB" sz="3000">
                <a:latin typeface="+mn-lt"/>
              </a:rPr>
              <a:t>(simple two-step reaction) </a:t>
            </a:r>
            <a:endParaRPr lang="en-US" sz="300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2374EB-4718-166F-3BA4-D5B151A34245}"/>
              </a:ext>
            </a:extLst>
          </p:cNvPr>
          <p:cNvGrpSpPr/>
          <p:nvPr/>
        </p:nvGrpSpPr>
        <p:grpSpPr>
          <a:xfrm>
            <a:off x="1916706" y="2123854"/>
            <a:ext cx="6219371" cy="4317474"/>
            <a:chOff x="2936938" y="1491630"/>
            <a:chExt cx="4417781" cy="2901553"/>
          </a:xfrm>
        </p:grpSpPr>
        <p:sp>
          <p:nvSpPr>
            <p:cNvPr id="78850" name="Freeform 2"/>
            <p:cNvSpPr>
              <a:spLocks/>
            </p:cNvSpPr>
            <p:nvPr/>
          </p:nvSpPr>
          <p:spPr bwMode="auto">
            <a:xfrm>
              <a:off x="5639473" y="4153868"/>
              <a:ext cx="1446334" cy="239315"/>
            </a:xfrm>
            <a:custGeom>
              <a:avLst/>
              <a:gdLst/>
              <a:ahLst/>
              <a:cxnLst>
                <a:cxn ang="0">
                  <a:pos x="859" y="26"/>
                </a:cxn>
                <a:cxn ang="0">
                  <a:pos x="802" y="10"/>
                </a:cxn>
                <a:cxn ang="0">
                  <a:pos x="765" y="2"/>
                </a:cxn>
                <a:cxn ang="0">
                  <a:pos x="722" y="0"/>
                </a:cxn>
                <a:cxn ang="0">
                  <a:pos x="682" y="5"/>
                </a:cxn>
                <a:cxn ang="0">
                  <a:pos x="639" y="15"/>
                </a:cxn>
                <a:cxn ang="0">
                  <a:pos x="620" y="19"/>
                </a:cxn>
                <a:cxn ang="0">
                  <a:pos x="589" y="24"/>
                </a:cxn>
                <a:cxn ang="0">
                  <a:pos x="568" y="25"/>
                </a:cxn>
                <a:cxn ang="0">
                  <a:pos x="522" y="28"/>
                </a:cxn>
                <a:cxn ang="0">
                  <a:pos x="490" y="29"/>
                </a:cxn>
                <a:cxn ang="0">
                  <a:pos x="445" y="30"/>
                </a:cxn>
                <a:cxn ang="0">
                  <a:pos x="414" y="28"/>
                </a:cxn>
                <a:cxn ang="0">
                  <a:pos x="346" y="20"/>
                </a:cxn>
                <a:cxn ang="0">
                  <a:pos x="273" y="14"/>
                </a:cxn>
                <a:cxn ang="0">
                  <a:pos x="209" y="11"/>
                </a:cxn>
                <a:cxn ang="0">
                  <a:pos x="153" y="10"/>
                </a:cxn>
                <a:cxn ang="0">
                  <a:pos x="106" y="13"/>
                </a:cxn>
                <a:cxn ang="0">
                  <a:pos x="68" y="18"/>
                </a:cxn>
                <a:cxn ang="0">
                  <a:pos x="38" y="27"/>
                </a:cxn>
                <a:cxn ang="0">
                  <a:pos x="17" y="38"/>
                </a:cxn>
                <a:cxn ang="0">
                  <a:pos x="5" y="52"/>
                </a:cxn>
                <a:cxn ang="0">
                  <a:pos x="0" y="71"/>
                </a:cxn>
                <a:cxn ang="0">
                  <a:pos x="1" y="93"/>
                </a:cxn>
                <a:cxn ang="0">
                  <a:pos x="7" y="110"/>
                </a:cxn>
                <a:cxn ang="0">
                  <a:pos x="19" y="125"/>
                </a:cxn>
                <a:cxn ang="0">
                  <a:pos x="43" y="140"/>
                </a:cxn>
                <a:cxn ang="0">
                  <a:pos x="76" y="150"/>
                </a:cxn>
                <a:cxn ang="0">
                  <a:pos x="132" y="158"/>
                </a:cxn>
                <a:cxn ang="0">
                  <a:pos x="166" y="161"/>
                </a:cxn>
                <a:cxn ang="0">
                  <a:pos x="218" y="166"/>
                </a:cxn>
                <a:cxn ang="0">
                  <a:pos x="271" y="170"/>
                </a:cxn>
                <a:cxn ang="0">
                  <a:pos x="304" y="172"/>
                </a:cxn>
                <a:cxn ang="0">
                  <a:pos x="345" y="173"/>
                </a:cxn>
                <a:cxn ang="0">
                  <a:pos x="396" y="169"/>
                </a:cxn>
                <a:cxn ang="0">
                  <a:pos x="441" y="160"/>
                </a:cxn>
                <a:cxn ang="0">
                  <a:pos x="477" y="151"/>
                </a:cxn>
                <a:cxn ang="0">
                  <a:pos x="509" y="146"/>
                </a:cxn>
                <a:cxn ang="0">
                  <a:pos x="552" y="142"/>
                </a:cxn>
                <a:cxn ang="0">
                  <a:pos x="604" y="139"/>
                </a:cxn>
                <a:cxn ang="0">
                  <a:pos x="665" y="138"/>
                </a:cxn>
                <a:cxn ang="0">
                  <a:pos x="742" y="146"/>
                </a:cxn>
                <a:cxn ang="0">
                  <a:pos x="791" y="151"/>
                </a:cxn>
                <a:cxn ang="0">
                  <a:pos x="835" y="155"/>
                </a:cxn>
                <a:cxn ang="0">
                  <a:pos x="880" y="158"/>
                </a:cxn>
                <a:cxn ang="0">
                  <a:pos x="915" y="160"/>
                </a:cxn>
                <a:cxn ang="0">
                  <a:pos x="947" y="161"/>
                </a:cxn>
                <a:cxn ang="0">
                  <a:pos x="974" y="161"/>
                </a:cxn>
                <a:cxn ang="0">
                  <a:pos x="997" y="160"/>
                </a:cxn>
                <a:cxn ang="0">
                  <a:pos x="1016" y="158"/>
                </a:cxn>
                <a:cxn ang="0">
                  <a:pos x="1031" y="155"/>
                </a:cxn>
                <a:cxn ang="0">
                  <a:pos x="1042" y="151"/>
                </a:cxn>
                <a:cxn ang="0">
                  <a:pos x="1048" y="146"/>
                </a:cxn>
                <a:cxn ang="0">
                  <a:pos x="1049" y="140"/>
                </a:cxn>
                <a:cxn ang="0">
                  <a:pos x="1047" y="134"/>
                </a:cxn>
                <a:cxn ang="0">
                  <a:pos x="1030" y="114"/>
                </a:cxn>
                <a:cxn ang="0">
                  <a:pos x="994" y="84"/>
                </a:cxn>
                <a:cxn ang="0">
                  <a:pos x="961" y="64"/>
                </a:cxn>
                <a:cxn ang="0">
                  <a:pos x="924" y="48"/>
                </a:cxn>
              </a:cxnLst>
              <a:rect l="0" t="0" r="r" b="b"/>
              <a:pathLst>
                <a:path w="1049" h="173">
                  <a:moveTo>
                    <a:pt x="915" y="44"/>
                  </a:moveTo>
                  <a:lnTo>
                    <a:pt x="905" y="41"/>
                  </a:lnTo>
                  <a:lnTo>
                    <a:pt x="896" y="38"/>
                  </a:lnTo>
                  <a:lnTo>
                    <a:pt x="886" y="35"/>
                  </a:lnTo>
                  <a:lnTo>
                    <a:pt x="877" y="32"/>
                  </a:lnTo>
                  <a:lnTo>
                    <a:pt x="868" y="29"/>
                  </a:lnTo>
                  <a:lnTo>
                    <a:pt x="859" y="26"/>
                  </a:lnTo>
                  <a:lnTo>
                    <a:pt x="850" y="24"/>
                  </a:lnTo>
                  <a:lnTo>
                    <a:pt x="842" y="21"/>
                  </a:lnTo>
                  <a:lnTo>
                    <a:pt x="834" y="19"/>
                  </a:lnTo>
                  <a:lnTo>
                    <a:pt x="825" y="17"/>
                  </a:lnTo>
                  <a:lnTo>
                    <a:pt x="817" y="14"/>
                  </a:lnTo>
                  <a:lnTo>
                    <a:pt x="810" y="12"/>
                  </a:lnTo>
                  <a:lnTo>
                    <a:pt x="802" y="10"/>
                  </a:lnTo>
                  <a:lnTo>
                    <a:pt x="794" y="8"/>
                  </a:lnTo>
                  <a:lnTo>
                    <a:pt x="787" y="7"/>
                  </a:lnTo>
                  <a:lnTo>
                    <a:pt x="780" y="5"/>
                  </a:lnTo>
                  <a:lnTo>
                    <a:pt x="776" y="4"/>
                  </a:lnTo>
                  <a:lnTo>
                    <a:pt x="773" y="3"/>
                  </a:lnTo>
                  <a:lnTo>
                    <a:pt x="769" y="3"/>
                  </a:lnTo>
                  <a:lnTo>
                    <a:pt x="765" y="2"/>
                  </a:lnTo>
                  <a:lnTo>
                    <a:pt x="761" y="2"/>
                  </a:lnTo>
                  <a:lnTo>
                    <a:pt x="758" y="1"/>
                  </a:lnTo>
                  <a:lnTo>
                    <a:pt x="750" y="1"/>
                  </a:lnTo>
                  <a:lnTo>
                    <a:pt x="742" y="0"/>
                  </a:lnTo>
                  <a:lnTo>
                    <a:pt x="734" y="0"/>
                  </a:lnTo>
                  <a:lnTo>
                    <a:pt x="726" y="0"/>
                  </a:lnTo>
                  <a:lnTo>
                    <a:pt x="722" y="0"/>
                  </a:lnTo>
                  <a:lnTo>
                    <a:pt x="718" y="1"/>
                  </a:lnTo>
                  <a:lnTo>
                    <a:pt x="709" y="1"/>
                  </a:lnTo>
                  <a:lnTo>
                    <a:pt x="700" y="2"/>
                  </a:lnTo>
                  <a:lnTo>
                    <a:pt x="696" y="3"/>
                  </a:lnTo>
                  <a:lnTo>
                    <a:pt x="691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8" y="6"/>
                  </a:lnTo>
                  <a:lnTo>
                    <a:pt x="673" y="7"/>
                  </a:lnTo>
                  <a:lnTo>
                    <a:pt x="664" y="9"/>
                  </a:lnTo>
                  <a:lnTo>
                    <a:pt x="654" y="11"/>
                  </a:lnTo>
                  <a:lnTo>
                    <a:pt x="645" y="14"/>
                  </a:lnTo>
                  <a:lnTo>
                    <a:pt x="641" y="15"/>
                  </a:lnTo>
                  <a:lnTo>
                    <a:pt x="639" y="15"/>
                  </a:lnTo>
                  <a:lnTo>
                    <a:pt x="637" y="16"/>
                  </a:lnTo>
                  <a:lnTo>
                    <a:pt x="633" y="17"/>
                  </a:lnTo>
                  <a:lnTo>
                    <a:pt x="629" y="18"/>
                  </a:lnTo>
                  <a:lnTo>
                    <a:pt x="627" y="18"/>
                  </a:lnTo>
                  <a:lnTo>
                    <a:pt x="626" y="18"/>
                  </a:lnTo>
                  <a:lnTo>
                    <a:pt x="625" y="18"/>
                  </a:lnTo>
                  <a:lnTo>
                    <a:pt x="620" y="19"/>
                  </a:lnTo>
                  <a:lnTo>
                    <a:pt x="616" y="20"/>
                  </a:lnTo>
                  <a:lnTo>
                    <a:pt x="611" y="21"/>
                  </a:lnTo>
                  <a:lnTo>
                    <a:pt x="606" y="22"/>
                  </a:lnTo>
                  <a:lnTo>
                    <a:pt x="601" y="22"/>
                  </a:lnTo>
                  <a:lnTo>
                    <a:pt x="598" y="22"/>
                  </a:lnTo>
                  <a:lnTo>
                    <a:pt x="595" y="23"/>
                  </a:lnTo>
                  <a:lnTo>
                    <a:pt x="589" y="24"/>
                  </a:lnTo>
                  <a:lnTo>
                    <a:pt x="584" y="24"/>
                  </a:lnTo>
                  <a:lnTo>
                    <a:pt x="582" y="24"/>
                  </a:lnTo>
                  <a:lnTo>
                    <a:pt x="580" y="24"/>
                  </a:lnTo>
                  <a:lnTo>
                    <a:pt x="578" y="25"/>
                  </a:lnTo>
                  <a:lnTo>
                    <a:pt x="571" y="25"/>
                  </a:lnTo>
                  <a:lnTo>
                    <a:pt x="570" y="25"/>
                  </a:lnTo>
                  <a:lnTo>
                    <a:pt x="568" y="25"/>
                  </a:lnTo>
                  <a:lnTo>
                    <a:pt x="565" y="26"/>
                  </a:lnTo>
                  <a:lnTo>
                    <a:pt x="558" y="26"/>
                  </a:lnTo>
                  <a:lnTo>
                    <a:pt x="551" y="27"/>
                  </a:lnTo>
                  <a:lnTo>
                    <a:pt x="544" y="27"/>
                  </a:lnTo>
                  <a:lnTo>
                    <a:pt x="537" y="27"/>
                  </a:lnTo>
                  <a:lnTo>
                    <a:pt x="530" y="28"/>
                  </a:lnTo>
                  <a:lnTo>
                    <a:pt x="522" y="28"/>
                  </a:lnTo>
                  <a:lnTo>
                    <a:pt x="520" y="28"/>
                  </a:lnTo>
                  <a:lnTo>
                    <a:pt x="518" y="28"/>
                  </a:lnTo>
                  <a:lnTo>
                    <a:pt x="514" y="28"/>
                  </a:lnTo>
                  <a:lnTo>
                    <a:pt x="506" y="29"/>
                  </a:lnTo>
                  <a:lnTo>
                    <a:pt x="498" y="29"/>
                  </a:lnTo>
                  <a:lnTo>
                    <a:pt x="494" y="29"/>
                  </a:lnTo>
                  <a:lnTo>
                    <a:pt x="490" y="29"/>
                  </a:lnTo>
                  <a:lnTo>
                    <a:pt x="481" y="29"/>
                  </a:lnTo>
                  <a:lnTo>
                    <a:pt x="477" y="29"/>
                  </a:lnTo>
                  <a:lnTo>
                    <a:pt x="473" y="30"/>
                  </a:lnTo>
                  <a:lnTo>
                    <a:pt x="468" y="30"/>
                  </a:lnTo>
                  <a:lnTo>
                    <a:pt x="464" y="30"/>
                  </a:lnTo>
                  <a:lnTo>
                    <a:pt x="454" y="30"/>
                  </a:lnTo>
                  <a:lnTo>
                    <a:pt x="445" y="30"/>
                  </a:lnTo>
                  <a:lnTo>
                    <a:pt x="436" y="30"/>
                  </a:lnTo>
                  <a:lnTo>
                    <a:pt x="430" y="29"/>
                  </a:lnTo>
                  <a:lnTo>
                    <a:pt x="427" y="29"/>
                  </a:lnTo>
                  <a:lnTo>
                    <a:pt x="426" y="29"/>
                  </a:lnTo>
                  <a:lnTo>
                    <a:pt x="425" y="29"/>
                  </a:lnTo>
                  <a:lnTo>
                    <a:pt x="425" y="29"/>
                  </a:lnTo>
                  <a:lnTo>
                    <a:pt x="414" y="28"/>
                  </a:lnTo>
                  <a:lnTo>
                    <a:pt x="408" y="27"/>
                  </a:lnTo>
                  <a:lnTo>
                    <a:pt x="402" y="26"/>
                  </a:lnTo>
                  <a:lnTo>
                    <a:pt x="391" y="25"/>
                  </a:lnTo>
                  <a:lnTo>
                    <a:pt x="379" y="24"/>
                  </a:lnTo>
                  <a:lnTo>
                    <a:pt x="368" y="22"/>
                  </a:lnTo>
                  <a:lnTo>
                    <a:pt x="357" y="21"/>
                  </a:lnTo>
                  <a:lnTo>
                    <a:pt x="346" y="20"/>
                  </a:lnTo>
                  <a:lnTo>
                    <a:pt x="335" y="19"/>
                  </a:lnTo>
                  <a:lnTo>
                    <a:pt x="324" y="18"/>
                  </a:lnTo>
                  <a:lnTo>
                    <a:pt x="313" y="17"/>
                  </a:lnTo>
                  <a:lnTo>
                    <a:pt x="303" y="16"/>
                  </a:lnTo>
                  <a:lnTo>
                    <a:pt x="293" y="15"/>
                  </a:lnTo>
                  <a:lnTo>
                    <a:pt x="283" y="15"/>
                  </a:lnTo>
                  <a:lnTo>
                    <a:pt x="273" y="14"/>
                  </a:lnTo>
                  <a:lnTo>
                    <a:pt x="263" y="13"/>
                  </a:lnTo>
                  <a:lnTo>
                    <a:pt x="254" y="13"/>
                  </a:lnTo>
                  <a:lnTo>
                    <a:pt x="244" y="12"/>
                  </a:lnTo>
                  <a:lnTo>
                    <a:pt x="235" y="12"/>
                  </a:lnTo>
                  <a:lnTo>
                    <a:pt x="226" y="11"/>
                  </a:lnTo>
                  <a:lnTo>
                    <a:pt x="217" y="11"/>
                  </a:lnTo>
                  <a:lnTo>
                    <a:pt x="209" y="11"/>
                  </a:lnTo>
                  <a:lnTo>
                    <a:pt x="200" y="10"/>
                  </a:lnTo>
                  <a:lnTo>
                    <a:pt x="192" y="10"/>
                  </a:lnTo>
                  <a:lnTo>
                    <a:pt x="184" y="10"/>
                  </a:lnTo>
                  <a:lnTo>
                    <a:pt x="176" y="10"/>
                  </a:lnTo>
                  <a:lnTo>
                    <a:pt x="168" y="10"/>
                  </a:lnTo>
                  <a:lnTo>
                    <a:pt x="161" y="10"/>
                  </a:lnTo>
                  <a:lnTo>
                    <a:pt x="153" y="10"/>
                  </a:lnTo>
                  <a:lnTo>
                    <a:pt x="146" y="10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25" y="11"/>
                  </a:lnTo>
                  <a:lnTo>
                    <a:pt x="119" y="12"/>
                  </a:lnTo>
                  <a:lnTo>
                    <a:pt x="113" y="12"/>
                  </a:lnTo>
                  <a:lnTo>
                    <a:pt x="106" y="13"/>
                  </a:lnTo>
                  <a:lnTo>
                    <a:pt x="100" y="13"/>
                  </a:lnTo>
                  <a:lnTo>
                    <a:pt x="94" y="14"/>
                  </a:lnTo>
                  <a:lnTo>
                    <a:pt x="89" y="15"/>
                  </a:lnTo>
                  <a:lnTo>
                    <a:pt x="83" y="16"/>
                  </a:lnTo>
                  <a:lnTo>
                    <a:pt x="78" y="16"/>
                  </a:lnTo>
                  <a:lnTo>
                    <a:pt x="73" y="17"/>
                  </a:lnTo>
                  <a:lnTo>
                    <a:pt x="68" y="18"/>
                  </a:lnTo>
                  <a:lnTo>
                    <a:pt x="63" y="19"/>
                  </a:lnTo>
                  <a:lnTo>
                    <a:pt x="59" y="20"/>
                  </a:lnTo>
                  <a:lnTo>
                    <a:pt x="54" y="21"/>
                  </a:lnTo>
                  <a:lnTo>
                    <a:pt x="50" y="23"/>
                  </a:lnTo>
                  <a:lnTo>
                    <a:pt x="46" y="24"/>
                  </a:lnTo>
                  <a:lnTo>
                    <a:pt x="42" y="25"/>
                  </a:lnTo>
                  <a:lnTo>
                    <a:pt x="38" y="27"/>
                  </a:lnTo>
                  <a:lnTo>
                    <a:pt x="35" y="28"/>
                  </a:lnTo>
                  <a:lnTo>
                    <a:pt x="31" y="30"/>
                  </a:lnTo>
                  <a:lnTo>
                    <a:pt x="28" y="31"/>
                  </a:lnTo>
                  <a:lnTo>
                    <a:pt x="25" y="33"/>
                  </a:lnTo>
                  <a:lnTo>
                    <a:pt x="22" y="34"/>
                  </a:lnTo>
                  <a:lnTo>
                    <a:pt x="20" y="36"/>
                  </a:lnTo>
                  <a:lnTo>
                    <a:pt x="17" y="38"/>
                  </a:lnTo>
                  <a:lnTo>
                    <a:pt x="15" y="40"/>
                  </a:lnTo>
                  <a:lnTo>
                    <a:pt x="13" y="42"/>
                  </a:lnTo>
                  <a:lnTo>
                    <a:pt x="11" y="44"/>
                  </a:lnTo>
                  <a:lnTo>
                    <a:pt x="9" y="46"/>
                  </a:lnTo>
                  <a:lnTo>
                    <a:pt x="7" y="48"/>
                  </a:lnTo>
                  <a:lnTo>
                    <a:pt x="6" y="50"/>
                  </a:lnTo>
                  <a:lnTo>
                    <a:pt x="5" y="52"/>
                  </a:lnTo>
                  <a:lnTo>
                    <a:pt x="4" y="54"/>
                  </a:lnTo>
                  <a:lnTo>
                    <a:pt x="3" y="57"/>
                  </a:lnTo>
                  <a:lnTo>
                    <a:pt x="2" y="59"/>
                  </a:lnTo>
                  <a:lnTo>
                    <a:pt x="1" y="62"/>
                  </a:lnTo>
                  <a:lnTo>
                    <a:pt x="1" y="67"/>
                  </a:lnTo>
                  <a:lnTo>
                    <a:pt x="0" y="69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0" y="87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2" y="95"/>
                  </a:lnTo>
                  <a:lnTo>
                    <a:pt x="2" y="97"/>
                  </a:lnTo>
                  <a:lnTo>
                    <a:pt x="3" y="101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7" y="108"/>
                  </a:lnTo>
                  <a:lnTo>
                    <a:pt x="7" y="110"/>
                  </a:lnTo>
                  <a:lnTo>
                    <a:pt x="9" y="112"/>
                  </a:lnTo>
                  <a:lnTo>
                    <a:pt x="11" y="115"/>
                  </a:lnTo>
                  <a:lnTo>
                    <a:pt x="12" y="117"/>
                  </a:lnTo>
                  <a:lnTo>
                    <a:pt x="13" y="118"/>
                  </a:lnTo>
                  <a:lnTo>
                    <a:pt x="16" y="122"/>
                  </a:lnTo>
                  <a:lnTo>
                    <a:pt x="18" y="123"/>
                  </a:lnTo>
                  <a:lnTo>
                    <a:pt x="19" y="125"/>
                  </a:lnTo>
                  <a:lnTo>
                    <a:pt x="23" y="127"/>
                  </a:lnTo>
                  <a:lnTo>
                    <a:pt x="26" y="130"/>
                  </a:lnTo>
                  <a:lnTo>
                    <a:pt x="30" y="133"/>
                  </a:lnTo>
                  <a:lnTo>
                    <a:pt x="32" y="134"/>
                  </a:lnTo>
                  <a:lnTo>
                    <a:pt x="34" y="135"/>
                  </a:lnTo>
                  <a:lnTo>
                    <a:pt x="39" y="137"/>
                  </a:lnTo>
                  <a:lnTo>
                    <a:pt x="43" y="140"/>
                  </a:lnTo>
                  <a:lnTo>
                    <a:pt x="48" y="142"/>
                  </a:lnTo>
                  <a:lnTo>
                    <a:pt x="50" y="143"/>
                  </a:lnTo>
                  <a:lnTo>
                    <a:pt x="53" y="144"/>
                  </a:lnTo>
                  <a:lnTo>
                    <a:pt x="58" y="145"/>
                  </a:lnTo>
                  <a:lnTo>
                    <a:pt x="64" y="147"/>
                  </a:lnTo>
                  <a:lnTo>
                    <a:pt x="70" y="149"/>
                  </a:lnTo>
                  <a:lnTo>
                    <a:pt x="76" y="150"/>
                  </a:lnTo>
                  <a:lnTo>
                    <a:pt x="83" y="151"/>
                  </a:lnTo>
                  <a:lnTo>
                    <a:pt x="89" y="153"/>
                  </a:lnTo>
                  <a:lnTo>
                    <a:pt x="96" y="154"/>
                  </a:lnTo>
                  <a:lnTo>
                    <a:pt x="100" y="154"/>
                  </a:lnTo>
                  <a:lnTo>
                    <a:pt x="103" y="155"/>
                  </a:lnTo>
                  <a:lnTo>
                    <a:pt x="118" y="156"/>
                  </a:lnTo>
                  <a:lnTo>
                    <a:pt x="132" y="158"/>
                  </a:lnTo>
                  <a:lnTo>
                    <a:pt x="139" y="158"/>
                  </a:lnTo>
                  <a:lnTo>
                    <a:pt x="146" y="159"/>
                  </a:lnTo>
                  <a:lnTo>
                    <a:pt x="153" y="160"/>
                  </a:lnTo>
                  <a:lnTo>
                    <a:pt x="156" y="160"/>
                  </a:lnTo>
                  <a:lnTo>
                    <a:pt x="160" y="161"/>
                  </a:lnTo>
                  <a:lnTo>
                    <a:pt x="163" y="161"/>
                  </a:lnTo>
                  <a:lnTo>
                    <a:pt x="166" y="161"/>
                  </a:lnTo>
                  <a:lnTo>
                    <a:pt x="173" y="162"/>
                  </a:lnTo>
                  <a:lnTo>
                    <a:pt x="180" y="163"/>
                  </a:lnTo>
                  <a:lnTo>
                    <a:pt x="186" y="163"/>
                  </a:lnTo>
                  <a:lnTo>
                    <a:pt x="199" y="165"/>
                  </a:lnTo>
                  <a:lnTo>
                    <a:pt x="212" y="166"/>
                  </a:lnTo>
                  <a:lnTo>
                    <a:pt x="215" y="166"/>
                  </a:lnTo>
                  <a:lnTo>
                    <a:pt x="218" y="166"/>
                  </a:lnTo>
                  <a:lnTo>
                    <a:pt x="224" y="167"/>
                  </a:lnTo>
                  <a:lnTo>
                    <a:pt x="237" y="168"/>
                  </a:lnTo>
                  <a:lnTo>
                    <a:pt x="248" y="169"/>
                  </a:lnTo>
                  <a:lnTo>
                    <a:pt x="251" y="169"/>
                  </a:lnTo>
                  <a:lnTo>
                    <a:pt x="254" y="169"/>
                  </a:lnTo>
                  <a:lnTo>
                    <a:pt x="260" y="170"/>
                  </a:lnTo>
                  <a:lnTo>
                    <a:pt x="271" y="170"/>
                  </a:lnTo>
                  <a:lnTo>
                    <a:pt x="277" y="171"/>
                  </a:lnTo>
                  <a:lnTo>
                    <a:pt x="282" y="171"/>
                  </a:lnTo>
                  <a:lnTo>
                    <a:pt x="288" y="171"/>
                  </a:lnTo>
                  <a:lnTo>
                    <a:pt x="293" y="172"/>
                  </a:lnTo>
                  <a:lnTo>
                    <a:pt x="296" y="172"/>
                  </a:lnTo>
                  <a:lnTo>
                    <a:pt x="299" y="172"/>
                  </a:lnTo>
                  <a:lnTo>
                    <a:pt x="304" y="172"/>
                  </a:lnTo>
                  <a:lnTo>
                    <a:pt x="314" y="173"/>
                  </a:lnTo>
                  <a:lnTo>
                    <a:pt x="325" y="173"/>
                  </a:lnTo>
                  <a:lnTo>
                    <a:pt x="335" y="173"/>
                  </a:lnTo>
                  <a:lnTo>
                    <a:pt x="336" y="173"/>
                  </a:lnTo>
                  <a:lnTo>
                    <a:pt x="337" y="173"/>
                  </a:lnTo>
                  <a:lnTo>
                    <a:pt x="340" y="173"/>
                  </a:lnTo>
                  <a:lnTo>
                    <a:pt x="345" y="173"/>
                  </a:lnTo>
                  <a:lnTo>
                    <a:pt x="350" y="172"/>
                  </a:lnTo>
                  <a:lnTo>
                    <a:pt x="355" y="172"/>
                  </a:lnTo>
                  <a:lnTo>
                    <a:pt x="366" y="172"/>
                  </a:lnTo>
                  <a:lnTo>
                    <a:pt x="376" y="171"/>
                  </a:lnTo>
                  <a:lnTo>
                    <a:pt x="386" y="170"/>
                  </a:lnTo>
                  <a:lnTo>
                    <a:pt x="391" y="169"/>
                  </a:lnTo>
                  <a:lnTo>
                    <a:pt x="396" y="169"/>
                  </a:lnTo>
                  <a:lnTo>
                    <a:pt x="406" y="167"/>
                  </a:lnTo>
                  <a:lnTo>
                    <a:pt x="411" y="166"/>
                  </a:lnTo>
                  <a:lnTo>
                    <a:pt x="416" y="166"/>
                  </a:lnTo>
                  <a:lnTo>
                    <a:pt x="426" y="164"/>
                  </a:lnTo>
                  <a:lnTo>
                    <a:pt x="436" y="162"/>
                  </a:lnTo>
                  <a:lnTo>
                    <a:pt x="438" y="161"/>
                  </a:lnTo>
                  <a:lnTo>
                    <a:pt x="441" y="160"/>
                  </a:lnTo>
                  <a:lnTo>
                    <a:pt x="446" y="159"/>
                  </a:lnTo>
                  <a:lnTo>
                    <a:pt x="451" y="158"/>
                  </a:lnTo>
                  <a:lnTo>
                    <a:pt x="456" y="157"/>
                  </a:lnTo>
                  <a:lnTo>
                    <a:pt x="466" y="154"/>
                  </a:lnTo>
                  <a:lnTo>
                    <a:pt x="469" y="153"/>
                  </a:lnTo>
                  <a:lnTo>
                    <a:pt x="473" y="152"/>
                  </a:lnTo>
                  <a:lnTo>
                    <a:pt x="477" y="151"/>
                  </a:lnTo>
                  <a:lnTo>
                    <a:pt x="481" y="151"/>
                  </a:lnTo>
                  <a:lnTo>
                    <a:pt x="485" y="150"/>
                  </a:lnTo>
                  <a:lnTo>
                    <a:pt x="489" y="149"/>
                  </a:lnTo>
                  <a:lnTo>
                    <a:pt x="494" y="148"/>
                  </a:lnTo>
                  <a:lnTo>
                    <a:pt x="499" y="147"/>
                  </a:lnTo>
                  <a:lnTo>
                    <a:pt x="504" y="147"/>
                  </a:lnTo>
                  <a:lnTo>
                    <a:pt x="509" y="146"/>
                  </a:lnTo>
                  <a:lnTo>
                    <a:pt x="515" y="145"/>
                  </a:lnTo>
                  <a:lnTo>
                    <a:pt x="520" y="145"/>
                  </a:lnTo>
                  <a:lnTo>
                    <a:pt x="526" y="144"/>
                  </a:lnTo>
                  <a:lnTo>
                    <a:pt x="532" y="143"/>
                  </a:lnTo>
                  <a:lnTo>
                    <a:pt x="539" y="143"/>
                  </a:lnTo>
                  <a:lnTo>
                    <a:pt x="545" y="143"/>
                  </a:lnTo>
                  <a:lnTo>
                    <a:pt x="552" y="142"/>
                  </a:lnTo>
                  <a:lnTo>
                    <a:pt x="559" y="141"/>
                  </a:lnTo>
                  <a:lnTo>
                    <a:pt x="566" y="141"/>
                  </a:lnTo>
                  <a:lnTo>
                    <a:pt x="573" y="141"/>
                  </a:lnTo>
                  <a:lnTo>
                    <a:pt x="580" y="140"/>
                  </a:lnTo>
                  <a:lnTo>
                    <a:pt x="588" y="140"/>
                  </a:lnTo>
                  <a:lnTo>
                    <a:pt x="595" y="140"/>
                  </a:lnTo>
                  <a:lnTo>
                    <a:pt x="604" y="139"/>
                  </a:lnTo>
                  <a:lnTo>
                    <a:pt x="612" y="139"/>
                  </a:lnTo>
                  <a:lnTo>
                    <a:pt x="620" y="139"/>
                  </a:lnTo>
                  <a:lnTo>
                    <a:pt x="629" y="139"/>
                  </a:lnTo>
                  <a:lnTo>
                    <a:pt x="637" y="139"/>
                  </a:lnTo>
                  <a:lnTo>
                    <a:pt x="646" y="138"/>
                  </a:lnTo>
                  <a:lnTo>
                    <a:pt x="656" y="138"/>
                  </a:lnTo>
                  <a:lnTo>
                    <a:pt x="665" y="138"/>
                  </a:lnTo>
                  <a:lnTo>
                    <a:pt x="674" y="138"/>
                  </a:lnTo>
                  <a:lnTo>
                    <a:pt x="696" y="141"/>
                  </a:lnTo>
                  <a:lnTo>
                    <a:pt x="708" y="142"/>
                  </a:lnTo>
                  <a:lnTo>
                    <a:pt x="719" y="143"/>
                  </a:lnTo>
                  <a:lnTo>
                    <a:pt x="731" y="145"/>
                  </a:lnTo>
                  <a:lnTo>
                    <a:pt x="736" y="145"/>
                  </a:lnTo>
                  <a:lnTo>
                    <a:pt x="742" y="146"/>
                  </a:lnTo>
                  <a:lnTo>
                    <a:pt x="748" y="147"/>
                  </a:lnTo>
                  <a:lnTo>
                    <a:pt x="753" y="147"/>
                  </a:lnTo>
                  <a:lnTo>
                    <a:pt x="764" y="148"/>
                  </a:lnTo>
                  <a:lnTo>
                    <a:pt x="775" y="149"/>
                  </a:lnTo>
                  <a:lnTo>
                    <a:pt x="780" y="150"/>
                  </a:lnTo>
                  <a:lnTo>
                    <a:pt x="786" y="151"/>
                  </a:lnTo>
                  <a:lnTo>
                    <a:pt x="791" y="151"/>
                  </a:lnTo>
                  <a:lnTo>
                    <a:pt x="796" y="151"/>
                  </a:lnTo>
                  <a:lnTo>
                    <a:pt x="806" y="153"/>
                  </a:lnTo>
                  <a:lnTo>
                    <a:pt x="811" y="153"/>
                  </a:lnTo>
                  <a:lnTo>
                    <a:pt x="816" y="153"/>
                  </a:lnTo>
                  <a:lnTo>
                    <a:pt x="826" y="154"/>
                  </a:lnTo>
                  <a:lnTo>
                    <a:pt x="830" y="154"/>
                  </a:lnTo>
                  <a:lnTo>
                    <a:pt x="835" y="155"/>
                  </a:lnTo>
                  <a:lnTo>
                    <a:pt x="845" y="156"/>
                  </a:lnTo>
                  <a:lnTo>
                    <a:pt x="849" y="156"/>
                  </a:lnTo>
                  <a:lnTo>
                    <a:pt x="854" y="156"/>
                  </a:lnTo>
                  <a:lnTo>
                    <a:pt x="863" y="157"/>
                  </a:lnTo>
                  <a:lnTo>
                    <a:pt x="867" y="157"/>
                  </a:lnTo>
                  <a:lnTo>
                    <a:pt x="871" y="158"/>
                  </a:lnTo>
                  <a:lnTo>
                    <a:pt x="880" y="158"/>
                  </a:lnTo>
                  <a:lnTo>
                    <a:pt x="884" y="159"/>
                  </a:lnTo>
                  <a:lnTo>
                    <a:pt x="888" y="159"/>
                  </a:lnTo>
                  <a:lnTo>
                    <a:pt x="896" y="159"/>
                  </a:lnTo>
                  <a:lnTo>
                    <a:pt x="904" y="160"/>
                  </a:lnTo>
                  <a:lnTo>
                    <a:pt x="908" y="160"/>
                  </a:lnTo>
                  <a:lnTo>
                    <a:pt x="912" y="160"/>
                  </a:lnTo>
                  <a:lnTo>
                    <a:pt x="915" y="160"/>
                  </a:lnTo>
                  <a:lnTo>
                    <a:pt x="919" y="160"/>
                  </a:lnTo>
                  <a:lnTo>
                    <a:pt x="926" y="161"/>
                  </a:lnTo>
                  <a:lnTo>
                    <a:pt x="933" y="161"/>
                  </a:lnTo>
                  <a:lnTo>
                    <a:pt x="937" y="161"/>
                  </a:lnTo>
                  <a:lnTo>
                    <a:pt x="940" y="161"/>
                  </a:lnTo>
                  <a:lnTo>
                    <a:pt x="943" y="161"/>
                  </a:lnTo>
                  <a:lnTo>
                    <a:pt x="947" y="161"/>
                  </a:lnTo>
                  <a:lnTo>
                    <a:pt x="950" y="161"/>
                  </a:lnTo>
                  <a:lnTo>
                    <a:pt x="953" y="161"/>
                  </a:lnTo>
                  <a:lnTo>
                    <a:pt x="959" y="161"/>
                  </a:lnTo>
                  <a:lnTo>
                    <a:pt x="962" y="161"/>
                  </a:lnTo>
                  <a:lnTo>
                    <a:pt x="966" y="161"/>
                  </a:lnTo>
                  <a:lnTo>
                    <a:pt x="971" y="161"/>
                  </a:lnTo>
                  <a:lnTo>
                    <a:pt x="974" y="161"/>
                  </a:lnTo>
                  <a:lnTo>
                    <a:pt x="977" y="161"/>
                  </a:lnTo>
                  <a:lnTo>
                    <a:pt x="982" y="161"/>
                  </a:lnTo>
                  <a:lnTo>
                    <a:pt x="985" y="161"/>
                  </a:lnTo>
                  <a:lnTo>
                    <a:pt x="988" y="161"/>
                  </a:lnTo>
                  <a:lnTo>
                    <a:pt x="992" y="161"/>
                  </a:lnTo>
                  <a:lnTo>
                    <a:pt x="995" y="160"/>
                  </a:lnTo>
                  <a:lnTo>
                    <a:pt x="997" y="160"/>
                  </a:lnTo>
                  <a:lnTo>
                    <a:pt x="999" y="160"/>
                  </a:lnTo>
                  <a:lnTo>
                    <a:pt x="1002" y="160"/>
                  </a:lnTo>
                  <a:lnTo>
                    <a:pt x="1006" y="160"/>
                  </a:lnTo>
                  <a:lnTo>
                    <a:pt x="1010" y="159"/>
                  </a:lnTo>
                  <a:lnTo>
                    <a:pt x="1012" y="159"/>
                  </a:lnTo>
                  <a:lnTo>
                    <a:pt x="1014" y="159"/>
                  </a:lnTo>
                  <a:lnTo>
                    <a:pt x="1016" y="158"/>
                  </a:lnTo>
                  <a:lnTo>
                    <a:pt x="1018" y="158"/>
                  </a:lnTo>
                  <a:lnTo>
                    <a:pt x="1021" y="157"/>
                  </a:lnTo>
                  <a:lnTo>
                    <a:pt x="1023" y="157"/>
                  </a:lnTo>
                  <a:lnTo>
                    <a:pt x="1025" y="157"/>
                  </a:lnTo>
                  <a:lnTo>
                    <a:pt x="1028" y="156"/>
                  </a:lnTo>
                  <a:lnTo>
                    <a:pt x="1029" y="156"/>
                  </a:lnTo>
                  <a:lnTo>
                    <a:pt x="1031" y="155"/>
                  </a:lnTo>
                  <a:lnTo>
                    <a:pt x="1033" y="154"/>
                  </a:lnTo>
                  <a:lnTo>
                    <a:pt x="1034" y="154"/>
                  </a:lnTo>
                  <a:lnTo>
                    <a:pt x="1036" y="154"/>
                  </a:lnTo>
                  <a:lnTo>
                    <a:pt x="1038" y="153"/>
                  </a:lnTo>
                  <a:lnTo>
                    <a:pt x="1039" y="152"/>
                  </a:lnTo>
                  <a:lnTo>
                    <a:pt x="1040" y="152"/>
                  </a:lnTo>
                  <a:lnTo>
                    <a:pt x="1042" y="151"/>
                  </a:lnTo>
                  <a:lnTo>
                    <a:pt x="1043" y="150"/>
                  </a:lnTo>
                  <a:lnTo>
                    <a:pt x="1044" y="150"/>
                  </a:lnTo>
                  <a:lnTo>
                    <a:pt x="1045" y="149"/>
                  </a:lnTo>
                  <a:lnTo>
                    <a:pt x="1046" y="147"/>
                  </a:lnTo>
                  <a:lnTo>
                    <a:pt x="1047" y="147"/>
                  </a:lnTo>
                  <a:lnTo>
                    <a:pt x="1047" y="146"/>
                  </a:lnTo>
                  <a:lnTo>
                    <a:pt x="1048" y="146"/>
                  </a:lnTo>
                  <a:lnTo>
                    <a:pt x="1048" y="145"/>
                  </a:lnTo>
                  <a:lnTo>
                    <a:pt x="1049" y="144"/>
                  </a:lnTo>
                  <a:lnTo>
                    <a:pt x="1049" y="142"/>
                  </a:lnTo>
                  <a:lnTo>
                    <a:pt x="1049" y="142"/>
                  </a:lnTo>
                  <a:lnTo>
                    <a:pt x="1049" y="141"/>
                  </a:lnTo>
                  <a:lnTo>
                    <a:pt x="1049" y="140"/>
                  </a:lnTo>
                  <a:lnTo>
                    <a:pt x="1049" y="140"/>
                  </a:lnTo>
                  <a:lnTo>
                    <a:pt x="1049" y="139"/>
                  </a:lnTo>
                  <a:lnTo>
                    <a:pt x="1049" y="138"/>
                  </a:lnTo>
                  <a:lnTo>
                    <a:pt x="1049" y="137"/>
                  </a:lnTo>
                  <a:lnTo>
                    <a:pt x="1048" y="136"/>
                  </a:lnTo>
                  <a:lnTo>
                    <a:pt x="1048" y="135"/>
                  </a:lnTo>
                  <a:lnTo>
                    <a:pt x="1047" y="134"/>
                  </a:lnTo>
                  <a:lnTo>
                    <a:pt x="1047" y="134"/>
                  </a:lnTo>
                  <a:lnTo>
                    <a:pt x="1046" y="133"/>
                  </a:lnTo>
                  <a:lnTo>
                    <a:pt x="1046" y="132"/>
                  </a:lnTo>
                  <a:lnTo>
                    <a:pt x="1045" y="130"/>
                  </a:lnTo>
                  <a:lnTo>
                    <a:pt x="1044" y="129"/>
                  </a:lnTo>
                  <a:lnTo>
                    <a:pt x="1043" y="128"/>
                  </a:lnTo>
                  <a:lnTo>
                    <a:pt x="1037" y="121"/>
                  </a:lnTo>
                  <a:lnTo>
                    <a:pt x="1030" y="114"/>
                  </a:lnTo>
                  <a:lnTo>
                    <a:pt x="1027" y="111"/>
                  </a:lnTo>
                  <a:lnTo>
                    <a:pt x="1023" y="108"/>
                  </a:lnTo>
                  <a:lnTo>
                    <a:pt x="1016" y="101"/>
                  </a:lnTo>
                  <a:lnTo>
                    <a:pt x="1009" y="95"/>
                  </a:lnTo>
                  <a:lnTo>
                    <a:pt x="1005" y="92"/>
                  </a:lnTo>
                  <a:lnTo>
                    <a:pt x="1002" y="89"/>
                  </a:lnTo>
                  <a:lnTo>
                    <a:pt x="994" y="84"/>
                  </a:lnTo>
                  <a:lnTo>
                    <a:pt x="986" y="79"/>
                  </a:lnTo>
                  <a:lnTo>
                    <a:pt x="982" y="76"/>
                  </a:lnTo>
                  <a:lnTo>
                    <a:pt x="978" y="73"/>
                  </a:lnTo>
                  <a:lnTo>
                    <a:pt x="974" y="71"/>
                  </a:lnTo>
                  <a:lnTo>
                    <a:pt x="969" y="68"/>
                  </a:lnTo>
                  <a:lnTo>
                    <a:pt x="965" y="66"/>
                  </a:lnTo>
                  <a:lnTo>
                    <a:pt x="961" y="64"/>
                  </a:lnTo>
                  <a:lnTo>
                    <a:pt x="957" y="62"/>
                  </a:lnTo>
                  <a:lnTo>
                    <a:pt x="952" y="59"/>
                  </a:lnTo>
                  <a:lnTo>
                    <a:pt x="948" y="57"/>
                  </a:lnTo>
                  <a:lnTo>
                    <a:pt x="943" y="55"/>
                  </a:lnTo>
                  <a:lnTo>
                    <a:pt x="934" y="51"/>
                  </a:lnTo>
                  <a:lnTo>
                    <a:pt x="929" y="49"/>
                  </a:lnTo>
                  <a:lnTo>
                    <a:pt x="924" y="48"/>
                  </a:lnTo>
                  <a:lnTo>
                    <a:pt x="915" y="44"/>
                  </a:lnTo>
                  <a:close/>
                </a:path>
              </a:pathLst>
            </a:custGeom>
            <a:solidFill>
              <a:srgbClr val="6699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1" name="Rectangle 3"/>
            <p:cNvSpPr>
              <a:spLocks noChangeArrowheads="1"/>
            </p:cNvSpPr>
            <p:nvPr/>
          </p:nvSpPr>
          <p:spPr bwMode="auto">
            <a:xfrm>
              <a:off x="3954647" y="1852389"/>
              <a:ext cx="1368303" cy="860822"/>
            </a:xfrm>
            <a:prstGeom prst="rect">
              <a:avLst/>
            </a:prstGeom>
            <a:solidFill>
              <a:srgbClr val="66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2" name="Freeform 4"/>
            <p:cNvSpPr>
              <a:spLocks/>
            </p:cNvSpPr>
            <p:nvPr/>
          </p:nvSpPr>
          <p:spPr bwMode="auto">
            <a:xfrm>
              <a:off x="3954647" y="1852389"/>
              <a:ext cx="1368303" cy="860822"/>
            </a:xfrm>
            <a:custGeom>
              <a:avLst/>
              <a:gdLst/>
              <a:ahLst/>
              <a:cxnLst>
                <a:cxn ang="0">
                  <a:pos x="992" y="0"/>
                </a:cxn>
                <a:cxn ang="0">
                  <a:pos x="0" y="0"/>
                </a:cxn>
                <a:cxn ang="0">
                  <a:pos x="0" y="624"/>
                </a:cxn>
                <a:cxn ang="0">
                  <a:pos x="992" y="624"/>
                </a:cxn>
              </a:cxnLst>
              <a:rect l="0" t="0" r="r" b="b"/>
              <a:pathLst>
                <a:path w="992" h="624">
                  <a:moveTo>
                    <a:pt x="992" y="0"/>
                  </a:moveTo>
                  <a:lnTo>
                    <a:pt x="0" y="0"/>
                  </a:lnTo>
                  <a:lnTo>
                    <a:pt x="0" y="624"/>
                  </a:lnTo>
                  <a:lnTo>
                    <a:pt x="992" y="62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3" name="Freeform 5"/>
            <p:cNvSpPr>
              <a:spLocks/>
            </p:cNvSpPr>
            <p:nvPr/>
          </p:nvSpPr>
          <p:spPr bwMode="auto">
            <a:xfrm>
              <a:off x="5849389" y="3394248"/>
              <a:ext cx="36268" cy="236934"/>
            </a:xfrm>
            <a:custGeom>
              <a:avLst/>
              <a:gdLst/>
              <a:ahLst/>
              <a:cxnLst>
                <a:cxn ang="0">
                  <a:pos x="1" y="172"/>
                </a:cxn>
                <a:cxn ang="0">
                  <a:pos x="2" y="172"/>
                </a:cxn>
                <a:cxn ang="0">
                  <a:pos x="4" y="171"/>
                </a:cxn>
                <a:cxn ang="0">
                  <a:pos x="6" y="171"/>
                </a:cxn>
                <a:cxn ang="0">
                  <a:pos x="8" y="169"/>
                </a:cxn>
                <a:cxn ang="0">
                  <a:pos x="10" y="167"/>
                </a:cxn>
                <a:cxn ang="0">
                  <a:pos x="13" y="164"/>
                </a:cxn>
                <a:cxn ang="0">
                  <a:pos x="14" y="161"/>
                </a:cxn>
                <a:cxn ang="0">
                  <a:pos x="16" y="158"/>
                </a:cxn>
                <a:cxn ang="0">
                  <a:pos x="18" y="152"/>
                </a:cxn>
                <a:cxn ang="0">
                  <a:pos x="20" y="147"/>
                </a:cxn>
                <a:cxn ang="0">
                  <a:pos x="21" y="142"/>
                </a:cxn>
                <a:cxn ang="0">
                  <a:pos x="22" y="137"/>
                </a:cxn>
                <a:cxn ang="0">
                  <a:pos x="22" y="134"/>
                </a:cxn>
                <a:cxn ang="0">
                  <a:pos x="23" y="133"/>
                </a:cxn>
                <a:cxn ang="0">
                  <a:pos x="23" y="132"/>
                </a:cxn>
                <a:cxn ang="0">
                  <a:pos x="23" y="130"/>
                </a:cxn>
                <a:cxn ang="0">
                  <a:pos x="23" y="129"/>
                </a:cxn>
                <a:cxn ang="0">
                  <a:pos x="24" y="126"/>
                </a:cxn>
                <a:cxn ang="0">
                  <a:pos x="25" y="119"/>
                </a:cxn>
                <a:cxn ang="0">
                  <a:pos x="26" y="111"/>
                </a:cxn>
                <a:cxn ang="0">
                  <a:pos x="26" y="107"/>
                </a:cxn>
                <a:cxn ang="0">
                  <a:pos x="26" y="99"/>
                </a:cxn>
                <a:cxn ang="0">
                  <a:pos x="27" y="90"/>
                </a:cxn>
                <a:cxn ang="0">
                  <a:pos x="27" y="81"/>
                </a:cxn>
                <a:cxn ang="0">
                  <a:pos x="26" y="73"/>
                </a:cxn>
                <a:cxn ang="0">
                  <a:pos x="26" y="65"/>
                </a:cxn>
                <a:cxn ang="0">
                  <a:pos x="25" y="57"/>
                </a:cxn>
                <a:cxn ang="0">
                  <a:pos x="24" y="49"/>
                </a:cxn>
                <a:cxn ang="0">
                  <a:pos x="23" y="38"/>
                </a:cxn>
                <a:cxn ang="0">
                  <a:pos x="21" y="32"/>
                </a:cxn>
                <a:cxn ang="0">
                  <a:pos x="19" y="22"/>
                </a:cxn>
                <a:cxn ang="0">
                  <a:pos x="17" y="17"/>
                </a:cxn>
                <a:cxn ang="0">
                  <a:pos x="15" y="12"/>
                </a:cxn>
                <a:cxn ang="0">
                  <a:pos x="13" y="8"/>
                </a:cxn>
                <a:cxn ang="0">
                  <a:pos x="10" y="5"/>
                </a:cxn>
                <a:cxn ang="0">
                  <a:pos x="8" y="3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1" y="0"/>
                </a:cxn>
              </a:cxnLst>
              <a:rect l="0" t="0" r="r" b="b"/>
              <a:pathLst>
                <a:path w="27" h="172">
                  <a:moveTo>
                    <a:pt x="0" y="171"/>
                  </a:moveTo>
                  <a:lnTo>
                    <a:pt x="1" y="172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4" y="171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7" y="170"/>
                  </a:lnTo>
                  <a:lnTo>
                    <a:pt x="8" y="169"/>
                  </a:lnTo>
                  <a:lnTo>
                    <a:pt x="9" y="168"/>
                  </a:lnTo>
                  <a:lnTo>
                    <a:pt x="10" y="167"/>
                  </a:lnTo>
                  <a:lnTo>
                    <a:pt x="12" y="165"/>
                  </a:lnTo>
                  <a:lnTo>
                    <a:pt x="13" y="164"/>
                  </a:lnTo>
                  <a:lnTo>
                    <a:pt x="14" y="162"/>
                  </a:lnTo>
                  <a:lnTo>
                    <a:pt x="14" y="161"/>
                  </a:lnTo>
                  <a:lnTo>
                    <a:pt x="15" y="160"/>
                  </a:lnTo>
                  <a:lnTo>
                    <a:pt x="16" y="158"/>
                  </a:lnTo>
                  <a:lnTo>
                    <a:pt x="17" y="155"/>
                  </a:lnTo>
                  <a:lnTo>
                    <a:pt x="18" y="152"/>
                  </a:lnTo>
                  <a:lnTo>
                    <a:pt x="19" y="150"/>
                  </a:lnTo>
                  <a:lnTo>
                    <a:pt x="20" y="147"/>
                  </a:lnTo>
                  <a:lnTo>
                    <a:pt x="20" y="143"/>
                  </a:lnTo>
                  <a:lnTo>
                    <a:pt x="21" y="142"/>
                  </a:lnTo>
                  <a:lnTo>
                    <a:pt x="21" y="140"/>
                  </a:lnTo>
                  <a:lnTo>
                    <a:pt x="22" y="137"/>
                  </a:lnTo>
                  <a:lnTo>
                    <a:pt x="22" y="135"/>
                  </a:lnTo>
                  <a:lnTo>
                    <a:pt x="22" y="134"/>
                  </a:lnTo>
                  <a:lnTo>
                    <a:pt x="22" y="134"/>
                  </a:lnTo>
                  <a:lnTo>
                    <a:pt x="23" y="133"/>
                  </a:lnTo>
                  <a:lnTo>
                    <a:pt x="23" y="133"/>
                  </a:lnTo>
                  <a:lnTo>
                    <a:pt x="23" y="132"/>
                  </a:lnTo>
                  <a:lnTo>
                    <a:pt x="23" y="131"/>
                  </a:lnTo>
                  <a:lnTo>
                    <a:pt x="23" y="130"/>
                  </a:lnTo>
                  <a:lnTo>
                    <a:pt x="23" y="129"/>
                  </a:lnTo>
                  <a:lnTo>
                    <a:pt x="23" y="129"/>
                  </a:lnTo>
                  <a:lnTo>
                    <a:pt x="23" y="128"/>
                  </a:lnTo>
                  <a:lnTo>
                    <a:pt x="24" y="126"/>
                  </a:lnTo>
                  <a:lnTo>
                    <a:pt x="24" y="122"/>
                  </a:lnTo>
                  <a:lnTo>
                    <a:pt x="25" y="119"/>
                  </a:lnTo>
                  <a:lnTo>
                    <a:pt x="25" y="115"/>
                  </a:lnTo>
                  <a:lnTo>
                    <a:pt x="26" y="111"/>
                  </a:lnTo>
                  <a:lnTo>
                    <a:pt x="26" y="109"/>
                  </a:lnTo>
                  <a:lnTo>
                    <a:pt x="26" y="107"/>
                  </a:lnTo>
                  <a:lnTo>
                    <a:pt x="26" y="103"/>
                  </a:lnTo>
                  <a:lnTo>
                    <a:pt x="26" y="99"/>
                  </a:lnTo>
                  <a:lnTo>
                    <a:pt x="27" y="95"/>
                  </a:lnTo>
                  <a:lnTo>
                    <a:pt x="27" y="90"/>
                  </a:lnTo>
                  <a:lnTo>
                    <a:pt x="27" y="86"/>
                  </a:lnTo>
                  <a:lnTo>
                    <a:pt x="27" y="81"/>
                  </a:lnTo>
                  <a:lnTo>
                    <a:pt x="27" y="77"/>
                  </a:lnTo>
                  <a:lnTo>
                    <a:pt x="26" y="73"/>
                  </a:lnTo>
                  <a:lnTo>
                    <a:pt x="26" y="69"/>
                  </a:lnTo>
                  <a:lnTo>
                    <a:pt x="26" y="65"/>
                  </a:lnTo>
                  <a:lnTo>
                    <a:pt x="26" y="61"/>
                  </a:lnTo>
                  <a:lnTo>
                    <a:pt x="25" y="57"/>
                  </a:lnTo>
                  <a:lnTo>
                    <a:pt x="25" y="53"/>
                  </a:lnTo>
                  <a:lnTo>
                    <a:pt x="24" y="49"/>
                  </a:lnTo>
                  <a:lnTo>
                    <a:pt x="24" y="46"/>
                  </a:lnTo>
                  <a:lnTo>
                    <a:pt x="23" y="38"/>
                  </a:lnTo>
                  <a:lnTo>
                    <a:pt x="22" y="35"/>
                  </a:lnTo>
                  <a:lnTo>
                    <a:pt x="21" y="32"/>
                  </a:lnTo>
                  <a:lnTo>
                    <a:pt x="20" y="25"/>
                  </a:lnTo>
                  <a:lnTo>
                    <a:pt x="19" y="22"/>
                  </a:lnTo>
                  <a:lnTo>
                    <a:pt x="18" y="19"/>
                  </a:lnTo>
                  <a:lnTo>
                    <a:pt x="17" y="17"/>
                  </a:lnTo>
                  <a:lnTo>
                    <a:pt x="16" y="14"/>
                  </a:lnTo>
                  <a:lnTo>
                    <a:pt x="15" y="12"/>
                  </a:lnTo>
                  <a:lnTo>
                    <a:pt x="14" y="10"/>
                  </a:lnTo>
                  <a:lnTo>
                    <a:pt x="13" y="8"/>
                  </a:lnTo>
                  <a:lnTo>
                    <a:pt x="12" y="7"/>
                  </a:lnTo>
                  <a:lnTo>
                    <a:pt x="10" y="5"/>
                  </a:lnTo>
                  <a:lnTo>
                    <a:pt x="9" y="4"/>
                  </a:lnTo>
                  <a:lnTo>
                    <a:pt x="8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5" y="1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4" name="Freeform 6"/>
            <p:cNvSpPr>
              <a:spLocks/>
            </p:cNvSpPr>
            <p:nvPr/>
          </p:nvSpPr>
          <p:spPr bwMode="auto">
            <a:xfrm>
              <a:off x="5298772" y="2751311"/>
              <a:ext cx="542925" cy="21431"/>
            </a:xfrm>
            <a:custGeom>
              <a:avLst/>
              <a:gdLst/>
              <a:ahLst/>
              <a:cxnLst>
                <a:cxn ang="0">
                  <a:pos x="1" y="15"/>
                </a:cxn>
                <a:cxn ang="0">
                  <a:pos x="4" y="13"/>
                </a:cxn>
                <a:cxn ang="0">
                  <a:pos x="8" y="12"/>
                </a:cxn>
                <a:cxn ang="0">
                  <a:pos x="14" y="11"/>
                </a:cxn>
                <a:cxn ang="0">
                  <a:pos x="21" y="9"/>
                </a:cxn>
                <a:cxn ang="0">
                  <a:pos x="30" y="8"/>
                </a:cxn>
                <a:cxn ang="0">
                  <a:pos x="40" y="7"/>
                </a:cxn>
                <a:cxn ang="0">
                  <a:pos x="51" y="6"/>
                </a:cxn>
                <a:cxn ang="0">
                  <a:pos x="65" y="5"/>
                </a:cxn>
                <a:cxn ang="0">
                  <a:pos x="80" y="4"/>
                </a:cxn>
                <a:cxn ang="0">
                  <a:pos x="96" y="3"/>
                </a:cxn>
                <a:cxn ang="0">
                  <a:pos x="112" y="2"/>
                </a:cxn>
                <a:cxn ang="0">
                  <a:pos x="130" y="1"/>
                </a:cxn>
                <a:cxn ang="0">
                  <a:pos x="148" y="1"/>
                </a:cxn>
                <a:cxn ang="0">
                  <a:pos x="167" y="0"/>
                </a:cxn>
                <a:cxn ang="0">
                  <a:pos x="187" y="0"/>
                </a:cxn>
                <a:cxn ang="0">
                  <a:pos x="207" y="0"/>
                </a:cxn>
                <a:cxn ang="0">
                  <a:pos x="227" y="0"/>
                </a:cxn>
                <a:cxn ang="0">
                  <a:pos x="246" y="1"/>
                </a:cxn>
                <a:cxn ang="0">
                  <a:pos x="264" y="1"/>
                </a:cxn>
                <a:cxn ang="0">
                  <a:pos x="281" y="2"/>
                </a:cxn>
                <a:cxn ang="0">
                  <a:pos x="298" y="3"/>
                </a:cxn>
                <a:cxn ang="0">
                  <a:pos x="314" y="4"/>
                </a:cxn>
                <a:cxn ang="0">
                  <a:pos x="329" y="5"/>
                </a:cxn>
                <a:cxn ang="0">
                  <a:pos x="340" y="5"/>
                </a:cxn>
                <a:cxn ang="0">
                  <a:pos x="349" y="6"/>
                </a:cxn>
                <a:cxn ang="0">
                  <a:pos x="359" y="7"/>
                </a:cxn>
                <a:cxn ang="0">
                  <a:pos x="364" y="8"/>
                </a:cxn>
                <a:cxn ang="0">
                  <a:pos x="371" y="9"/>
                </a:cxn>
                <a:cxn ang="0">
                  <a:pos x="377" y="10"/>
                </a:cxn>
                <a:cxn ang="0">
                  <a:pos x="381" y="11"/>
                </a:cxn>
                <a:cxn ang="0">
                  <a:pos x="385" y="12"/>
                </a:cxn>
                <a:cxn ang="0">
                  <a:pos x="390" y="13"/>
                </a:cxn>
                <a:cxn ang="0">
                  <a:pos x="391" y="14"/>
                </a:cxn>
                <a:cxn ang="0">
                  <a:pos x="393" y="15"/>
                </a:cxn>
              </a:cxnLst>
              <a:rect l="0" t="0" r="r" b="b"/>
              <a:pathLst>
                <a:path w="394" h="16">
                  <a:moveTo>
                    <a:pt x="0" y="16"/>
                  </a:moveTo>
                  <a:lnTo>
                    <a:pt x="1" y="15"/>
                  </a:lnTo>
                  <a:lnTo>
                    <a:pt x="2" y="14"/>
                  </a:lnTo>
                  <a:lnTo>
                    <a:pt x="4" y="13"/>
                  </a:lnTo>
                  <a:lnTo>
                    <a:pt x="6" y="13"/>
                  </a:lnTo>
                  <a:lnTo>
                    <a:pt x="8" y="12"/>
                  </a:lnTo>
                  <a:lnTo>
                    <a:pt x="11" y="11"/>
                  </a:lnTo>
                  <a:lnTo>
                    <a:pt x="14" y="11"/>
                  </a:lnTo>
                  <a:lnTo>
                    <a:pt x="17" y="10"/>
                  </a:lnTo>
                  <a:lnTo>
                    <a:pt x="21" y="9"/>
                  </a:lnTo>
                  <a:lnTo>
                    <a:pt x="25" y="9"/>
                  </a:lnTo>
                  <a:lnTo>
                    <a:pt x="30" y="8"/>
                  </a:lnTo>
                  <a:lnTo>
                    <a:pt x="34" y="7"/>
                  </a:lnTo>
                  <a:lnTo>
                    <a:pt x="40" y="7"/>
                  </a:lnTo>
                  <a:lnTo>
                    <a:pt x="45" y="6"/>
                  </a:lnTo>
                  <a:lnTo>
                    <a:pt x="51" y="6"/>
                  </a:lnTo>
                  <a:lnTo>
                    <a:pt x="58" y="5"/>
                  </a:lnTo>
                  <a:lnTo>
                    <a:pt x="65" y="5"/>
                  </a:lnTo>
                  <a:lnTo>
                    <a:pt x="72" y="4"/>
                  </a:lnTo>
                  <a:lnTo>
                    <a:pt x="80" y="4"/>
                  </a:lnTo>
                  <a:lnTo>
                    <a:pt x="88" y="3"/>
                  </a:lnTo>
                  <a:lnTo>
                    <a:pt x="96" y="3"/>
                  </a:lnTo>
                  <a:lnTo>
                    <a:pt x="104" y="2"/>
                  </a:lnTo>
                  <a:lnTo>
                    <a:pt x="112" y="2"/>
                  </a:lnTo>
                  <a:lnTo>
                    <a:pt x="121" y="2"/>
                  </a:lnTo>
                  <a:lnTo>
                    <a:pt x="130" y="1"/>
                  </a:lnTo>
                  <a:lnTo>
                    <a:pt x="139" y="1"/>
                  </a:lnTo>
                  <a:lnTo>
                    <a:pt x="148" y="1"/>
                  </a:lnTo>
                  <a:lnTo>
                    <a:pt x="158" y="1"/>
                  </a:lnTo>
                  <a:lnTo>
                    <a:pt x="167" y="0"/>
                  </a:lnTo>
                  <a:lnTo>
                    <a:pt x="177" y="0"/>
                  </a:lnTo>
                  <a:lnTo>
                    <a:pt x="187" y="0"/>
                  </a:lnTo>
                  <a:lnTo>
                    <a:pt x="197" y="0"/>
                  </a:lnTo>
                  <a:lnTo>
                    <a:pt x="207" y="0"/>
                  </a:lnTo>
                  <a:lnTo>
                    <a:pt x="217" y="0"/>
                  </a:lnTo>
                  <a:lnTo>
                    <a:pt x="227" y="0"/>
                  </a:lnTo>
                  <a:lnTo>
                    <a:pt x="236" y="1"/>
                  </a:lnTo>
                  <a:lnTo>
                    <a:pt x="246" y="1"/>
                  </a:lnTo>
                  <a:lnTo>
                    <a:pt x="255" y="1"/>
                  </a:lnTo>
                  <a:lnTo>
                    <a:pt x="264" y="1"/>
                  </a:lnTo>
                  <a:lnTo>
                    <a:pt x="273" y="2"/>
                  </a:lnTo>
                  <a:lnTo>
                    <a:pt x="281" y="2"/>
                  </a:lnTo>
                  <a:lnTo>
                    <a:pt x="290" y="2"/>
                  </a:lnTo>
                  <a:lnTo>
                    <a:pt x="298" y="3"/>
                  </a:lnTo>
                  <a:lnTo>
                    <a:pt x="306" y="3"/>
                  </a:lnTo>
                  <a:lnTo>
                    <a:pt x="314" y="4"/>
                  </a:lnTo>
                  <a:lnTo>
                    <a:pt x="322" y="4"/>
                  </a:lnTo>
                  <a:lnTo>
                    <a:pt x="329" y="5"/>
                  </a:lnTo>
                  <a:lnTo>
                    <a:pt x="336" y="5"/>
                  </a:lnTo>
                  <a:lnTo>
                    <a:pt x="340" y="5"/>
                  </a:lnTo>
                  <a:lnTo>
                    <a:pt x="343" y="6"/>
                  </a:lnTo>
                  <a:lnTo>
                    <a:pt x="349" y="6"/>
                  </a:lnTo>
                  <a:lnTo>
                    <a:pt x="354" y="7"/>
                  </a:lnTo>
                  <a:lnTo>
                    <a:pt x="359" y="7"/>
                  </a:lnTo>
                  <a:lnTo>
                    <a:pt x="362" y="8"/>
                  </a:lnTo>
                  <a:lnTo>
                    <a:pt x="364" y="8"/>
                  </a:lnTo>
                  <a:lnTo>
                    <a:pt x="369" y="9"/>
                  </a:lnTo>
                  <a:lnTo>
                    <a:pt x="371" y="9"/>
                  </a:lnTo>
                  <a:lnTo>
                    <a:pt x="373" y="9"/>
                  </a:lnTo>
                  <a:lnTo>
                    <a:pt x="377" y="10"/>
                  </a:lnTo>
                  <a:lnTo>
                    <a:pt x="380" y="11"/>
                  </a:lnTo>
                  <a:lnTo>
                    <a:pt x="381" y="11"/>
                  </a:lnTo>
                  <a:lnTo>
                    <a:pt x="383" y="11"/>
                  </a:lnTo>
                  <a:lnTo>
                    <a:pt x="385" y="12"/>
                  </a:lnTo>
                  <a:lnTo>
                    <a:pt x="388" y="13"/>
                  </a:lnTo>
                  <a:lnTo>
                    <a:pt x="390" y="13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3" y="15"/>
                  </a:lnTo>
                  <a:lnTo>
                    <a:pt x="393" y="15"/>
                  </a:lnTo>
                  <a:lnTo>
                    <a:pt x="394" y="16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5" name="Line 7"/>
            <p:cNvSpPr>
              <a:spLocks noChangeShapeType="1"/>
            </p:cNvSpPr>
            <p:nvPr/>
          </p:nvSpPr>
          <p:spPr bwMode="auto">
            <a:xfrm flipV="1">
              <a:off x="5298772" y="2772743"/>
              <a:ext cx="1099" cy="84534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6" name="Line 8"/>
            <p:cNvSpPr>
              <a:spLocks noChangeShapeType="1"/>
            </p:cNvSpPr>
            <p:nvPr/>
          </p:nvSpPr>
          <p:spPr bwMode="auto">
            <a:xfrm>
              <a:off x="5305366" y="3624039"/>
              <a:ext cx="537430" cy="238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7" name="Line 9"/>
            <p:cNvSpPr>
              <a:spLocks noChangeShapeType="1"/>
            </p:cNvSpPr>
            <p:nvPr/>
          </p:nvSpPr>
          <p:spPr bwMode="auto">
            <a:xfrm flipV="1">
              <a:off x="5842795" y="2772742"/>
              <a:ext cx="1099" cy="63341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8" name="Line 10"/>
            <p:cNvSpPr>
              <a:spLocks noChangeShapeType="1"/>
            </p:cNvSpPr>
            <p:nvPr/>
          </p:nvSpPr>
          <p:spPr bwMode="auto">
            <a:xfrm flipH="1">
              <a:off x="3954647" y="2713211"/>
              <a:ext cx="1368303" cy="238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9" name="Line 11"/>
            <p:cNvSpPr>
              <a:spLocks noChangeShapeType="1"/>
            </p:cNvSpPr>
            <p:nvPr/>
          </p:nvSpPr>
          <p:spPr bwMode="auto">
            <a:xfrm flipH="1">
              <a:off x="5320752" y="1864295"/>
              <a:ext cx="2198" cy="56792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0" name="Freeform 12"/>
            <p:cNvSpPr>
              <a:spLocks/>
            </p:cNvSpPr>
            <p:nvPr/>
          </p:nvSpPr>
          <p:spPr bwMode="auto">
            <a:xfrm>
              <a:off x="5320752" y="2458418"/>
              <a:ext cx="422031" cy="1154906"/>
            </a:xfrm>
            <a:custGeom>
              <a:avLst/>
              <a:gdLst/>
              <a:ahLst/>
              <a:cxnLst>
                <a:cxn ang="0">
                  <a:pos x="306" y="837"/>
                </a:cxn>
                <a:cxn ang="0">
                  <a:pos x="306" y="829"/>
                </a:cxn>
                <a:cxn ang="0">
                  <a:pos x="306" y="811"/>
                </a:cxn>
                <a:cxn ang="0">
                  <a:pos x="306" y="803"/>
                </a:cxn>
                <a:cxn ang="0">
                  <a:pos x="306" y="780"/>
                </a:cxn>
                <a:cxn ang="0">
                  <a:pos x="305" y="736"/>
                </a:cxn>
                <a:cxn ang="0">
                  <a:pos x="302" y="692"/>
                </a:cxn>
                <a:cxn ang="0">
                  <a:pos x="299" y="649"/>
                </a:cxn>
                <a:cxn ang="0">
                  <a:pos x="297" y="628"/>
                </a:cxn>
                <a:cxn ang="0">
                  <a:pos x="293" y="597"/>
                </a:cxn>
                <a:cxn ang="0">
                  <a:pos x="288" y="566"/>
                </a:cxn>
                <a:cxn ang="0">
                  <a:pos x="281" y="526"/>
                </a:cxn>
                <a:cxn ang="0">
                  <a:pos x="277" y="506"/>
                </a:cxn>
                <a:cxn ang="0">
                  <a:pos x="269" y="468"/>
                </a:cxn>
                <a:cxn ang="0">
                  <a:pos x="264" y="448"/>
                </a:cxn>
                <a:cxn ang="0">
                  <a:pos x="256" y="420"/>
                </a:cxn>
                <a:cxn ang="0">
                  <a:pos x="248" y="392"/>
                </a:cxn>
                <a:cxn ang="0">
                  <a:pos x="242" y="374"/>
                </a:cxn>
                <a:cxn ang="0">
                  <a:pos x="229" y="338"/>
                </a:cxn>
                <a:cxn ang="0">
                  <a:pos x="215" y="302"/>
                </a:cxn>
                <a:cxn ang="0">
                  <a:pos x="199" y="268"/>
                </a:cxn>
                <a:cxn ang="0">
                  <a:pos x="192" y="251"/>
                </a:cxn>
                <a:cxn ang="0">
                  <a:pos x="179" y="226"/>
                </a:cxn>
                <a:cxn ang="0">
                  <a:pos x="166" y="202"/>
                </a:cxn>
                <a:cxn ang="0">
                  <a:pos x="147" y="171"/>
                </a:cxn>
                <a:cxn ang="0">
                  <a:pos x="138" y="156"/>
                </a:cxn>
                <a:cxn ang="0">
                  <a:pos x="124" y="135"/>
                </a:cxn>
                <a:cxn ang="0">
                  <a:pos x="115" y="121"/>
                </a:cxn>
                <a:cxn ang="0">
                  <a:pos x="106" y="109"/>
                </a:cxn>
                <a:cxn ang="0">
                  <a:pos x="96" y="96"/>
                </a:cxn>
                <a:cxn ang="0">
                  <a:pos x="86" y="84"/>
                </a:cxn>
                <a:cxn ang="0">
                  <a:pos x="72" y="67"/>
                </a:cxn>
                <a:cxn ang="0">
                  <a:pos x="62" y="56"/>
                </a:cxn>
                <a:cxn ang="0">
                  <a:pos x="47" y="40"/>
                </a:cxn>
                <a:cxn ang="0">
                  <a:pos x="36" y="30"/>
                </a:cxn>
                <a:cxn ang="0">
                  <a:pos x="26" y="21"/>
                </a:cxn>
                <a:cxn ang="0">
                  <a:pos x="16" y="12"/>
                </a:cxn>
                <a:cxn ang="0">
                  <a:pos x="5" y="4"/>
                </a:cxn>
                <a:cxn ang="0">
                  <a:pos x="0" y="196"/>
                </a:cxn>
                <a:cxn ang="0">
                  <a:pos x="13" y="213"/>
                </a:cxn>
                <a:cxn ang="0">
                  <a:pos x="22" y="225"/>
                </a:cxn>
                <a:cxn ang="0">
                  <a:pos x="35" y="245"/>
                </a:cxn>
                <a:cxn ang="0">
                  <a:pos x="48" y="265"/>
                </a:cxn>
                <a:cxn ang="0">
                  <a:pos x="56" y="279"/>
                </a:cxn>
                <a:cxn ang="0">
                  <a:pos x="64" y="294"/>
                </a:cxn>
                <a:cxn ang="0">
                  <a:pos x="75" y="315"/>
                </a:cxn>
                <a:cxn ang="0">
                  <a:pos x="88" y="343"/>
                </a:cxn>
                <a:cxn ang="0">
                  <a:pos x="101" y="371"/>
                </a:cxn>
                <a:cxn ang="0">
                  <a:pos x="107" y="385"/>
                </a:cxn>
                <a:cxn ang="0">
                  <a:pos x="118" y="415"/>
                </a:cxn>
                <a:cxn ang="0">
                  <a:pos x="128" y="445"/>
                </a:cxn>
                <a:cxn ang="0">
                  <a:pos x="137" y="475"/>
                </a:cxn>
                <a:cxn ang="0">
                  <a:pos x="146" y="507"/>
                </a:cxn>
                <a:cxn ang="0">
                  <a:pos x="153" y="539"/>
                </a:cxn>
                <a:cxn ang="0">
                  <a:pos x="160" y="571"/>
                </a:cxn>
                <a:cxn ang="0">
                  <a:pos x="165" y="605"/>
                </a:cxn>
                <a:cxn ang="0">
                  <a:pos x="170" y="639"/>
                </a:cxn>
                <a:cxn ang="0">
                  <a:pos x="174" y="674"/>
                </a:cxn>
                <a:cxn ang="0">
                  <a:pos x="177" y="700"/>
                </a:cxn>
                <a:cxn ang="0">
                  <a:pos x="179" y="727"/>
                </a:cxn>
                <a:cxn ang="0">
                  <a:pos x="180" y="764"/>
                </a:cxn>
                <a:cxn ang="0">
                  <a:pos x="181" y="801"/>
                </a:cxn>
                <a:cxn ang="0">
                  <a:pos x="181" y="837"/>
                </a:cxn>
              </a:cxnLst>
              <a:rect l="0" t="0" r="r" b="b"/>
              <a:pathLst>
                <a:path w="306" h="837">
                  <a:moveTo>
                    <a:pt x="181" y="837"/>
                  </a:moveTo>
                  <a:lnTo>
                    <a:pt x="306" y="837"/>
                  </a:lnTo>
                  <a:lnTo>
                    <a:pt x="306" y="833"/>
                  </a:lnTo>
                  <a:lnTo>
                    <a:pt x="306" y="829"/>
                  </a:lnTo>
                  <a:lnTo>
                    <a:pt x="306" y="820"/>
                  </a:lnTo>
                  <a:lnTo>
                    <a:pt x="306" y="811"/>
                  </a:lnTo>
                  <a:lnTo>
                    <a:pt x="306" y="807"/>
                  </a:lnTo>
                  <a:lnTo>
                    <a:pt x="306" y="803"/>
                  </a:lnTo>
                  <a:lnTo>
                    <a:pt x="306" y="791"/>
                  </a:lnTo>
                  <a:lnTo>
                    <a:pt x="306" y="780"/>
                  </a:lnTo>
                  <a:lnTo>
                    <a:pt x="306" y="758"/>
                  </a:lnTo>
                  <a:lnTo>
                    <a:pt x="305" y="736"/>
                  </a:lnTo>
                  <a:lnTo>
                    <a:pt x="304" y="714"/>
                  </a:lnTo>
                  <a:lnTo>
                    <a:pt x="302" y="692"/>
                  </a:lnTo>
                  <a:lnTo>
                    <a:pt x="301" y="671"/>
                  </a:lnTo>
                  <a:lnTo>
                    <a:pt x="299" y="649"/>
                  </a:lnTo>
                  <a:lnTo>
                    <a:pt x="298" y="639"/>
                  </a:lnTo>
                  <a:lnTo>
                    <a:pt x="297" y="628"/>
                  </a:lnTo>
                  <a:lnTo>
                    <a:pt x="294" y="607"/>
                  </a:lnTo>
                  <a:lnTo>
                    <a:pt x="293" y="597"/>
                  </a:lnTo>
                  <a:lnTo>
                    <a:pt x="291" y="587"/>
                  </a:lnTo>
                  <a:lnTo>
                    <a:pt x="288" y="566"/>
                  </a:lnTo>
                  <a:lnTo>
                    <a:pt x="285" y="546"/>
                  </a:lnTo>
                  <a:lnTo>
                    <a:pt x="281" y="526"/>
                  </a:lnTo>
                  <a:lnTo>
                    <a:pt x="279" y="516"/>
                  </a:lnTo>
                  <a:lnTo>
                    <a:pt x="277" y="506"/>
                  </a:lnTo>
                  <a:lnTo>
                    <a:pt x="273" y="487"/>
                  </a:lnTo>
                  <a:lnTo>
                    <a:pt x="269" y="468"/>
                  </a:lnTo>
                  <a:lnTo>
                    <a:pt x="266" y="458"/>
                  </a:lnTo>
                  <a:lnTo>
                    <a:pt x="264" y="448"/>
                  </a:lnTo>
                  <a:lnTo>
                    <a:pt x="259" y="429"/>
                  </a:lnTo>
                  <a:lnTo>
                    <a:pt x="256" y="420"/>
                  </a:lnTo>
                  <a:lnTo>
                    <a:pt x="253" y="411"/>
                  </a:lnTo>
                  <a:lnTo>
                    <a:pt x="248" y="392"/>
                  </a:lnTo>
                  <a:lnTo>
                    <a:pt x="245" y="383"/>
                  </a:lnTo>
                  <a:lnTo>
                    <a:pt x="242" y="374"/>
                  </a:lnTo>
                  <a:lnTo>
                    <a:pt x="235" y="356"/>
                  </a:lnTo>
                  <a:lnTo>
                    <a:pt x="229" y="338"/>
                  </a:lnTo>
                  <a:lnTo>
                    <a:pt x="222" y="320"/>
                  </a:lnTo>
                  <a:lnTo>
                    <a:pt x="215" y="302"/>
                  </a:lnTo>
                  <a:lnTo>
                    <a:pt x="207" y="285"/>
                  </a:lnTo>
                  <a:lnTo>
                    <a:pt x="199" y="268"/>
                  </a:lnTo>
                  <a:lnTo>
                    <a:pt x="196" y="259"/>
                  </a:lnTo>
                  <a:lnTo>
                    <a:pt x="192" y="251"/>
                  </a:lnTo>
                  <a:lnTo>
                    <a:pt x="183" y="234"/>
                  </a:lnTo>
                  <a:lnTo>
                    <a:pt x="179" y="226"/>
                  </a:lnTo>
                  <a:lnTo>
                    <a:pt x="175" y="218"/>
                  </a:lnTo>
                  <a:lnTo>
                    <a:pt x="166" y="202"/>
                  </a:lnTo>
                  <a:lnTo>
                    <a:pt x="157" y="186"/>
                  </a:lnTo>
                  <a:lnTo>
                    <a:pt x="147" y="171"/>
                  </a:lnTo>
                  <a:lnTo>
                    <a:pt x="143" y="163"/>
                  </a:lnTo>
                  <a:lnTo>
                    <a:pt x="138" y="156"/>
                  </a:lnTo>
                  <a:lnTo>
                    <a:pt x="129" y="142"/>
                  </a:lnTo>
                  <a:lnTo>
                    <a:pt x="124" y="135"/>
                  </a:lnTo>
                  <a:lnTo>
                    <a:pt x="120" y="128"/>
                  </a:lnTo>
                  <a:lnTo>
                    <a:pt x="115" y="121"/>
                  </a:lnTo>
                  <a:lnTo>
                    <a:pt x="110" y="115"/>
                  </a:lnTo>
                  <a:lnTo>
                    <a:pt x="106" y="109"/>
                  </a:lnTo>
                  <a:lnTo>
                    <a:pt x="101" y="102"/>
                  </a:lnTo>
                  <a:lnTo>
                    <a:pt x="96" y="96"/>
                  </a:lnTo>
                  <a:lnTo>
                    <a:pt x="91" y="90"/>
                  </a:lnTo>
                  <a:lnTo>
                    <a:pt x="86" y="84"/>
                  </a:lnTo>
                  <a:lnTo>
                    <a:pt x="82" y="78"/>
                  </a:lnTo>
                  <a:lnTo>
                    <a:pt x="72" y="67"/>
                  </a:lnTo>
                  <a:lnTo>
                    <a:pt x="67" y="61"/>
                  </a:lnTo>
                  <a:lnTo>
                    <a:pt x="62" y="56"/>
                  </a:lnTo>
                  <a:lnTo>
                    <a:pt x="52" y="45"/>
                  </a:lnTo>
                  <a:lnTo>
                    <a:pt x="47" y="40"/>
                  </a:lnTo>
                  <a:lnTo>
                    <a:pt x="42" y="35"/>
                  </a:lnTo>
                  <a:lnTo>
                    <a:pt x="36" y="30"/>
                  </a:lnTo>
                  <a:lnTo>
                    <a:pt x="31" y="26"/>
                  </a:lnTo>
                  <a:lnTo>
                    <a:pt x="26" y="21"/>
                  </a:lnTo>
                  <a:lnTo>
                    <a:pt x="21" y="17"/>
                  </a:lnTo>
                  <a:lnTo>
                    <a:pt x="16" y="12"/>
                  </a:lnTo>
                  <a:lnTo>
                    <a:pt x="10" y="8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196"/>
                  </a:lnTo>
                  <a:lnTo>
                    <a:pt x="9" y="208"/>
                  </a:lnTo>
                  <a:lnTo>
                    <a:pt x="13" y="213"/>
                  </a:lnTo>
                  <a:lnTo>
                    <a:pt x="18" y="219"/>
                  </a:lnTo>
                  <a:lnTo>
                    <a:pt x="22" y="225"/>
                  </a:lnTo>
                  <a:lnTo>
                    <a:pt x="26" y="232"/>
                  </a:lnTo>
                  <a:lnTo>
                    <a:pt x="35" y="245"/>
                  </a:lnTo>
                  <a:lnTo>
                    <a:pt x="43" y="258"/>
                  </a:lnTo>
                  <a:lnTo>
                    <a:pt x="48" y="265"/>
                  </a:lnTo>
                  <a:lnTo>
                    <a:pt x="52" y="272"/>
                  </a:lnTo>
                  <a:lnTo>
                    <a:pt x="56" y="279"/>
                  </a:lnTo>
                  <a:lnTo>
                    <a:pt x="60" y="287"/>
                  </a:lnTo>
                  <a:lnTo>
                    <a:pt x="64" y="294"/>
                  </a:lnTo>
                  <a:lnTo>
                    <a:pt x="68" y="302"/>
                  </a:lnTo>
                  <a:lnTo>
                    <a:pt x="75" y="315"/>
                  </a:lnTo>
                  <a:lnTo>
                    <a:pt x="82" y="329"/>
                  </a:lnTo>
                  <a:lnTo>
                    <a:pt x="88" y="343"/>
                  </a:lnTo>
                  <a:lnTo>
                    <a:pt x="95" y="357"/>
                  </a:lnTo>
                  <a:lnTo>
                    <a:pt x="101" y="371"/>
                  </a:lnTo>
                  <a:lnTo>
                    <a:pt x="104" y="378"/>
                  </a:lnTo>
                  <a:lnTo>
                    <a:pt x="107" y="385"/>
                  </a:lnTo>
                  <a:lnTo>
                    <a:pt x="112" y="400"/>
                  </a:lnTo>
                  <a:lnTo>
                    <a:pt x="118" y="415"/>
                  </a:lnTo>
                  <a:lnTo>
                    <a:pt x="123" y="430"/>
                  </a:lnTo>
                  <a:lnTo>
                    <a:pt x="128" y="445"/>
                  </a:lnTo>
                  <a:lnTo>
                    <a:pt x="133" y="460"/>
                  </a:lnTo>
                  <a:lnTo>
                    <a:pt x="137" y="475"/>
                  </a:lnTo>
                  <a:lnTo>
                    <a:pt x="141" y="491"/>
                  </a:lnTo>
                  <a:lnTo>
                    <a:pt x="146" y="507"/>
                  </a:lnTo>
                  <a:lnTo>
                    <a:pt x="149" y="523"/>
                  </a:lnTo>
                  <a:lnTo>
                    <a:pt x="153" y="539"/>
                  </a:lnTo>
                  <a:lnTo>
                    <a:pt x="156" y="555"/>
                  </a:lnTo>
                  <a:lnTo>
                    <a:pt x="160" y="571"/>
                  </a:lnTo>
                  <a:lnTo>
                    <a:pt x="163" y="588"/>
                  </a:lnTo>
                  <a:lnTo>
                    <a:pt x="165" y="605"/>
                  </a:lnTo>
                  <a:lnTo>
                    <a:pt x="168" y="622"/>
                  </a:lnTo>
                  <a:lnTo>
                    <a:pt x="170" y="639"/>
                  </a:lnTo>
                  <a:lnTo>
                    <a:pt x="172" y="656"/>
                  </a:lnTo>
                  <a:lnTo>
                    <a:pt x="174" y="674"/>
                  </a:lnTo>
                  <a:lnTo>
                    <a:pt x="176" y="691"/>
                  </a:lnTo>
                  <a:lnTo>
                    <a:pt x="177" y="700"/>
                  </a:lnTo>
                  <a:lnTo>
                    <a:pt x="177" y="709"/>
                  </a:lnTo>
                  <a:lnTo>
                    <a:pt x="179" y="727"/>
                  </a:lnTo>
                  <a:lnTo>
                    <a:pt x="180" y="746"/>
                  </a:lnTo>
                  <a:lnTo>
                    <a:pt x="180" y="764"/>
                  </a:lnTo>
                  <a:lnTo>
                    <a:pt x="181" y="783"/>
                  </a:lnTo>
                  <a:lnTo>
                    <a:pt x="181" y="801"/>
                  </a:lnTo>
                  <a:lnTo>
                    <a:pt x="181" y="820"/>
                  </a:lnTo>
                  <a:lnTo>
                    <a:pt x="181" y="837"/>
                  </a:lnTo>
                  <a:close/>
                </a:path>
              </a:pathLst>
            </a:custGeom>
            <a:solidFill>
              <a:srgbClr val="6699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1" name="Freeform 13"/>
            <p:cNvSpPr>
              <a:spLocks/>
            </p:cNvSpPr>
            <p:nvPr/>
          </p:nvSpPr>
          <p:spPr bwMode="auto">
            <a:xfrm>
              <a:off x="5835102" y="3397820"/>
              <a:ext cx="422031" cy="963216"/>
            </a:xfrm>
            <a:custGeom>
              <a:avLst/>
              <a:gdLst/>
              <a:ahLst/>
              <a:cxnLst>
                <a:cxn ang="0">
                  <a:pos x="306" y="698"/>
                </a:cxn>
                <a:cxn ang="0">
                  <a:pos x="306" y="684"/>
                </a:cxn>
                <a:cxn ang="0">
                  <a:pos x="306" y="650"/>
                </a:cxn>
                <a:cxn ang="0">
                  <a:pos x="305" y="613"/>
                </a:cxn>
                <a:cxn ang="0">
                  <a:pos x="303" y="577"/>
                </a:cxn>
                <a:cxn ang="0">
                  <a:pos x="299" y="541"/>
                </a:cxn>
                <a:cxn ang="0">
                  <a:pos x="294" y="507"/>
                </a:cxn>
                <a:cxn ang="0">
                  <a:pos x="289" y="472"/>
                </a:cxn>
                <a:cxn ang="0">
                  <a:pos x="282" y="439"/>
                </a:cxn>
                <a:cxn ang="0">
                  <a:pos x="273" y="406"/>
                </a:cxn>
                <a:cxn ang="0">
                  <a:pos x="264" y="374"/>
                </a:cxn>
                <a:cxn ang="0">
                  <a:pos x="253" y="342"/>
                </a:cxn>
                <a:cxn ang="0">
                  <a:pos x="242" y="312"/>
                </a:cxn>
                <a:cxn ang="0">
                  <a:pos x="229" y="282"/>
                </a:cxn>
                <a:cxn ang="0">
                  <a:pos x="215" y="252"/>
                </a:cxn>
                <a:cxn ang="0">
                  <a:pos x="200" y="223"/>
                </a:cxn>
                <a:cxn ang="0">
                  <a:pos x="183" y="196"/>
                </a:cxn>
                <a:cxn ang="0">
                  <a:pos x="166" y="168"/>
                </a:cxn>
                <a:cxn ang="0">
                  <a:pos x="148" y="142"/>
                </a:cxn>
                <a:cxn ang="0">
                  <a:pos x="139" y="130"/>
                </a:cxn>
                <a:cxn ang="0">
                  <a:pos x="125" y="113"/>
                </a:cxn>
                <a:cxn ang="0">
                  <a:pos x="115" y="102"/>
                </a:cxn>
                <a:cxn ang="0">
                  <a:pos x="106" y="91"/>
                </a:cxn>
                <a:cxn ang="0">
                  <a:pos x="96" y="80"/>
                </a:cxn>
                <a:cxn ang="0">
                  <a:pos x="87" y="70"/>
                </a:cxn>
                <a:cxn ang="0">
                  <a:pos x="72" y="56"/>
                </a:cxn>
                <a:cxn ang="0">
                  <a:pos x="62" y="47"/>
                </a:cxn>
                <a:cxn ang="0">
                  <a:pos x="47" y="34"/>
                </a:cxn>
                <a:cxn ang="0">
                  <a:pos x="37" y="26"/>
                </a:cxn>
                <a:cxn ang="0">
                  <a:pos x="26" y="18"/>
                </a:cxn>
                <a:cxn ang="0">
                  <a:pos x="16" y="11"/>
                </a:cxn>
                <a:cxn ang="0">
                  <a:pos x="5" y="4"/>
                </a:cxn>
                <a:cxn ang="0">
                  <a:pos x="0" y="164"/>
                </a:cxn>
                <a:cxn ang="0">
                  <a:pos x="18" y="183"/>
                </a:cxn>
                <a:cxn ang="0">
                  <a:pos x="35" y="204"/>
                </a:cxn>
                <a:cxn ang="0">
                  <a:pos x="48" y="221"/>
                </a:cxn>
                <a:cxn ang="0">
                  <a:pos x="60" y="239"/>
                </a:cxn>
                <a:cxn ang="0">
                  <a:pos x="69" y="252"/>
                </a:cxn>
                <a:cxn ang="0">
                  <a:pos x="82" y="274"/>
                </a:cxn>
                <a:cxn ang="0">
                  <a:pos x="95" y="298"/>
                </a:cxn>
                <a:cxn ang="0">
                  <a:pos x="107" y="321"/>
                </a:cxn>
                <a:cxn ang="0">
                  <a:pos x="118" y="346"/>
                </a:cxn>
                <a:cxn ang="0">
                  <a:pos x="128" y="371"/>
                </a:cxn>
                <a:cxn ang="0">
                  <a:pos x="137" y="396"/>
                </a:cxn>
                <a:cxn ang="0">
                  <a:pos x="146" y="422"/>
                </a:cxn>
                <a:cxn ang="0">
                  <a:pos x="153" y="449"/>
                </a:cxn>
                <a:cxn ang="0">
                  <a:pos x="160" y="477"/>
                </a:cxn>
                <a:cxn ang="0">
                  <a:pos x="166" y="504"/>
                </a:cxn>
                <a:cxn ang="0">
                  <a:pos x="170" y="533"/>
                </a:cxn>
                <a:cxn ang="0">
                  <a:pos x="175" y="562"/>
                </a:cxn>
                <a:cxn ang="0">
                  <a:pos x="178" y="591"/>
                </a:cxn>
                <a:cxn ang="0">
                  <a:pos x="180" y="622"/>
                </a:cxn>
                <a:cxn ang="0">
                  <a:pos x="181" y="652"/>
                </a:cxn>
                <a:cxn ang="0">
                  <a:pos x="182" y="684"/>
                </a:cxn>
              </a:cxnLst>
              <a:rect l="0" t="0" r="r" b="b"/>
              <a:pathLst>
                <a:path w="306" h="698">
                  <a:moveTo>
                    <a:pt x="182" y="698"/>
                  </a:moveTo>
                  <a:lnTo>
                    <a:pt x="306" y="698"/>
                  </a:lnTo>
                  <a:lnTo>
                    <a:pt x="306" y="691"/>
                  </a:lnTo>
                  <a:lnTo>
                    <a:pt x="306" y="684"/>
                  </a:lnTo>
                  <a:lnTo>
                    <a:pt x="306" y="669"/>
                  </a:lnTo>
                  <a:lnTo>
                    <a:pt x="306" y="650"/>
                  </a:lnTo>
                  <a:lnTo>
                    <a:pt x="306" y="632"/>
                  </a:lnTo>
                  <a:lnTo>
                    <a:pt x="305" y="613"/>
                  </a:lnTo>
                  <a:lnTo>
                    <a:pt x="304" y="595"/>
                  </a:lnTo>
                  <a:lnTo>
                    <a:pt x="303" y="577"/>
                  </a:lnTo>
                  <a:lnTo>
                    <a:pt x="301" y="559"/>
                  </a:lnTo>
                  <a:lnTo>
                    <a:pt x="299" y="541"/>
                  </a:lnTo>
                  <a:lnTo>
                    <a:pt x="297" y="524"/>
                  </a:lnTo>
                  <a:lnTo>
                    <a:pt x="294" y="507"/>
                  </a:lnTo>
                  <a:lnTo>
                    <a:pt x="292" y="489"/>
                  </a:lnTo>
                  <a:lnTo>
                    <a:pt x="289" y="472"/>
                  </a:lnTo>
                  <a:lnTo>
                    <a:pt x="285" y="456"/>
                  </a:lnTo>
                  <a:lnTo>
                    <a:pt x="282" y="439"/>
                  </a:lnTo>
                  <a:lnTo>
                    <a:pt x="278" y="422"/>
                  </a:lnTo>
                  <a:lnTo>
                    <a:pt x="273" y="406"/>
                  </a:lnTo>
                  <a:lnTo>
                    <a:pt x="269" y="390"/>
                  </a:lnTo>
                  <a:lnTo>
                    <a:pt x="264" y="374"/>
                  </a:lnTo>
                  <a:lnTo>
                    <a:pt x="259" y="358"/>
                  </a:lnTo>
                  <a:lnTo>
                    <a:pt x="253" y="342"/>
                  </a:lnTo>
                  <a:lnTo>
                    <a:pt x="248" y="327"/>
                  </a:lnTo>
                  <a:lnTo>
                    <a:pt x="242" y="312"/>
                  </a:lnTo>
                  <a:lnTo>
                    <a:pt x="236" y="297"/>
                  </a:lnTo>
                  <a:lnTo>
                    <a:pt x="229" y="282"/>
                  </a:lnTo>
                  <a:lnTo>
                    <a:pt x="222" y="267"/>
                  </a:lnTo>
                  <a:lnTo>
                    <a:pt x="215" y="252"/>
                  </a:lnTo>
                  <a:lnTo>
                    <a:pt x="207" y="238"/>
                  </a:lnTo>
                  <a:lnTo>
                    <a:pt x="200" y="223"/>
                  </a:lnTo>
                  <a:lnTo>
                    <a:pt x="192" y="209"/>
                  </a:lnTo>
                  <a:lnTo>
                    <a:pt x="183" y="196"/>
                  </a:lnTo>
                  <a:lnTo>
                    <a:pt x="175" y="182"/>
                  </a:lnTo>
                  <a:lnTo>
                    <a:pt x="166" y="168"/>
                  </a:lnTo>
                  <a:lnTo>
                    <a:pt x="157" y="155"/>
                  </a:lnTo>
                  <a:lnTo>
                    <a:pt x="148" y="142"/>
                  </a:lnTo>
                  <a:lnTo>
                    <a:pt x="143" y="136"/>
                  </a:lnTo>
                  <a:lnTo>
                    <a:pt x="139" y="130"/>
                  </a:lnTo>
                  <a:lnTo>
                    <a:pt x="129" y="118"/>
                  </a:lnTo>
                  <a:lnTo>
                    <a:pt x="125" y="113"/>
                  </a:lnTo>
                  <a:lnTo>
                    <a:pt x="120" y="107"/>
                  </a:lnTo>
                  <a:lnTo>
                    <a:pt x="115" y="102"/>
                  </a:lnTo>
                  <a:lnTo>
                    <a:pt x="111" y="96"/>
                  </a:lnTo>
                  <a:lnTo>
                    <a:pt x="106" y="91"/>
                  </a:lnTo>
                  <a:lnTo>
                    <a:pt x="101" y="86"/>
                  </a:lnTo>
                  <a:lnTo>
                    <a:pt x="96" y="80"/>
                  </a:lnTo>
                  <a:lnTo>
                    <a:pt x="92" y="75"/>
                  </a:lnTo>
                  <a:lnTo>
                    <a:pt x="87" y="70"/>
                  </a:lnTo>
                  <a:lnTo>
                    <a:pt x="82" y="65"/>
                  </a:lnTo>
                  <a:lnTo>
                    <a:pt x="72" y="56"/>
                  </a:lnTo>
                  <a:lnTo>
                    <a:pt x="67" y="51"/>
                  </a:lnTo>
                  <a:lnTo>
                    <a:pt x="62" y="47"/>
                  </a:lnTo>
                  <a:lnTo>
                    <a:pt x="52" y="38"/>
                  </a:lnTo>
                  <a:lnTo>
                    <a:pt x="47" y="34"/>
                  </a:lnTo>
                  <a:lnTo>
                    <a:pt x="42" y="30"/>
                  </a:lnTo>
                  <a:lnTo>
                    <a:pt x="37" y="26"/>
                  </a:lnTo>
                  <a:lnTo>
                    <a:pt x="31" y="22"/>
                  </a:lnTo>
                  <a:lnTo>
                    <a:pt x="26" y="18"/>
                  </a:lnTo>
                  <a:lnTo>
                    <a:pt x="21" y="14"/>
                  </a:lnTo>
                  <a:lnTo>
                    <a:pt x="16" y="11"/>
                  </a:lnTo>
                  <a:lnTo>
                    <a:pt x="11" y="7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164"/>
                  </a:lnTo>
                  <a:lnTo>
                    <a:pt x="9" y="173"/>
                  </a:lnTo>
                  <a:lnTo>
                    <a:pt x="18" y="183"/>
                  </a:lnTo>
                  <a:lnTo>
                    <a:pt x="26" y="193"/>
                  </a:lnTo>
                  <a:lnTo>
                    <a:pt x="35" y="204"/>
                  </a:lnTo>
                  <a:lnTo>
                    <a:pt x="44" y="215"/>
                  </a:lnTo>
                  <a:lnTo>
                    <a:pt x="48" y="221"/>
                  </a:lnTo>
                  <a:lnTo>
                    <a:pt x="52" y="227"/>
                  </a:lnTo>
                  <a:lnTo>
                    <a:pt x="60" y="239"/>
                  </a:lnTo>
                  <a:lnTo>
                    <a:pt x="64" y="246"/>
                  </a:lnTo>
                  <a:lnTo>
                    <a:pt x="69" y="252"/>
                  </a:lnTo>
                  <a:lnTo>
                    <a:pt x="76" y="263"/>
                  </a:lnTo>
                  <a:lnTo>
                    <a:pt x="82" y="274"/>
                  </a:lnTo>
                  <a:lnTo>
                    <a:pt x="89" y="286"/>
                  </a:lnTo>
                  <a:lnTo>
                    <a:pt x="95" y="298"/>
                  </a:lnTo>
                  <a:lnTo>
                    <a:pt x="101" y="309"/>
                  </a:lnTo>
                  <a:lnTo>
                    <a:pt x="107" y="321"/>
                  </a:lnTo>
                  <a:lnTo>
                    <a:pt x="113" y="334"/>
                  </a:lnTo>
                  <a:lnTo>
                    <a:pt x="118" y="346"/>
                  </a:lnTo>
                  <a:lnTo>
                    <a:pt x="123" y="358"/>
                  </a:lnTo>
                  <a:lnTo>
                    <a:pt x="128" y="371"/>
                  </a:lnTo>
                  <a:lnTo>
                    <a:pt x="133" y="383"/>
                  </a:lnTo>
                  <a:lnTo>
                    <a:pt x="137" y="396"/>
                  </a:lnTo>
                  <a:lnTo>
                    <a:pt x="142" y="409"/>
                  </a:lnTo>
                  <a:lnTo>
                    <a:pt x="146" y="422"/>
                  </a:lnTo>
                  <a:lnTo>
                    <a:pt x="150" y="436"/>
                  </a:lnTo>
                  <a:lnTo>
                    <a:pt x="153" y="449"/>
                  </a:lnTo>
                  <a:lnTo>
                    <a:pt x="157" y="463"/>
                  </a:lnTo>
                  <a:lnTo>
                    <a:pt x="160" y="477"/>
                  </a:lnTo>
                  <a:lnTo>
                    <a:pt x="163" y="490"/>
                  </a:lnTo>
                  <a:lnTo>
                    <a:pt x="166" y="504"/>
                  </a:lnTo>
                  <a:lnTo>
                    <a:pt x="168" y="519"/>
                  </a:lnTo>
                  <a:lnTo>
                    <a:pt x="170" y="533"/>
                  </a:lnTo>
                  <a:lnTo>
                    <a:pt x="173" y="547"/>
                  </a:lnTo>
                  <a:lnTo>
                    <a:pt x="175" y="562"/>
                  </a:lnTo>
                  <a:lnTo>
                    <a:pt x="176" y="577"/>
                  </a:lnTo>
                  <a:lnTo>
                    <a:pt x="178" y="591"/>
                  </a:lnTo>
                  <a:lnTo>
                    <a:pt x="179" y="606"/>
                  </a:lnTo>
                  <a:lnTo>
                    <a:pt x="180" y="622"/>
                  </a:lnTo>
                  <a:lnTo>
                    <a:pt x="181" y="637"/>
                  </a:lnTo>
                  <a:lnTo>
                    <a:pt x="181" y="652"/>
                  </a:lnTo>
                  <a:lnTo>
                    <a:pt x="181" y="668"/>
                  </a:lnTo>
                  <a:lnTo>
                    <a:pt x="182" y="684"/>
                  </a:lnTo>
                  <a:lnTo>
                    <a:pt x="182" y="698"/>
                  </a:lnTo>
                  <a:close/>
                </a:path>
              </a:pathLst>
            </a:custGeom>
            <a:solidFill>
              <a:srgbClr val="6699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2" name="Rectangle 14"/>
            <p:cNvSpPr>
              <a:spLocks noChangeArrowheads="1"/>
            </p:cNvSpPr>
            <p:nvPr/>
          </p:nvSpPr>
          <p:spPr bwMode="auto">
            <a:xfrm>
              <a:off x="5298771" y="3195414"/>
              <a:ext cx="539627" cy="422672"/>
            </a:xfrm>
            <a:prstGeom prst="rect">
              <a:avLst/>
            </a:prstGeom>
            <a:solidFill>
              <a:srgbClr val="66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3" name="Rectangle 15"/>
            <p:cNvSpPr>
              <a:spLocks noChangeArrowheads="1"/>
            </p:cNvSpPr>
            <p:nvPr/>
          </p:nvSpPr>
          <p:spPr bwMode="auto">
            <a:xfrm>
              <a:off x="4046966" y="1657127"/>
              <a:ext cx="528200" cy="124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prstClr val="black"/>
                  </a:solidFill>
                  <a:latin typeface="+mn-lt"/>
                </a:rPr>
                <a:t>Reservoir A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4" name="Rectangle 16"/>
            <p:cNvSpPr>
              <a:spLocks noChangeArrowheads="1"/>
            </p:cNvSpPr>
            <p:nvPr/>
          </p:nvSpPr>
          <p:spPr bwMode="auto">
            <a:xfrm>
              <a:off x="5979076" y="3090639"/>
              <a:ext cx="371201" cy="124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CC"/>
                  </a:solidFill>
                  <a:latin typeface="+mn-lt"/>
                </a:rPr>
                <a:t>Bucket I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5" name="Rectangle 17"/>
            <p:cNvSpPr>
              <a:spLocks noChangeArrowheads="1"/>
            </p:cNvSpPr>
            <p:nvPr/>
          </p:nvSpPr>
          <p:spPr bwMode="auto">
            <a:xfrm>
              <a:off x="7112185" y="4240783"/>
              <a:ext cx="242534" cy="124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CC"/>
                  </a:solidFill>
                  <a:latin typeface="+mn-lt"/>
                </a:rPr>
                <a:t>Pond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6" name="Freeform 18"/>
            <p:cNvSpPr>
              <a:spLocks/>
            </p:cNvSpPr>
            <p:nvPr/>
          </p:nvSpPr>
          <p:spPr bwMode="auto">
            <a:xfrm>
              <a:off x="5809824" y="3389487"/>
              <a:ext cx="30773" cy="23455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1"/>
                </a:cxn>
                <a:cxn ang="0">
                  <a:pos x="18" y="2"/>
                </a:cxn>
                <a:cxn ang="0">
                  <a:pos x="17" y="3"/>
                </a:cxn>
                <a:cxn ang="0">
                  <a:pos x="16" y="4"/>
                </a:cxn>
                <a:cxn ang="0">
                  <a:pos x="14" y="7"/>
                </a:cxn>
                <a:cxn ang="0">
                  <a:pos x="12" y="11"/>
                </a:cxn>
                <a:cxn ang="0">
                  <a:pos x="10" y="15"/>
                </a:cxn>
                <a:cxn ang="0">
                  <a:pos x="8" y="19"/>
                </a:cxn>
                <a:cxn ang="0">
                  <a:pos x="8" y="22"/>
                </a:cxn>
                <a:cxn ang="0">
                  <a:pos x="7" y="25"/>
                </a:cxn>
                <a:cxn ang="0">
                  <a:pos x="5" y="31"/>
                </a:cxn>
                <a:cxn ang="0">
                  <a:pos x="4" y="38"/>
                </a:cxn>
                <a:cxn ang="0">
                  <a:pos x="2" y="45"/>
                </a:cxn>
                <a:cxn ang="0">
                  <a:pos x="1" y="52"/>
                </a:cxn>
                <a:cxn ang="0">
                  <a:pos x="1" y="60"/>
                </a:cxn>
                <a:cxn ang="0">
                  <a:pos x="0" y="64"/>
                </a:cxn>
                <a:cxn ang="0">
                  <a:pos x="0" y="68"/>
                </a:cxn>
                <a:cxn ang="0">
                  <a:pos x="0" y="72"/>
                </a:cxn>
                <a:cxn ang="0">
                  <a:pos x="0" y="76"/>
                </a:cxn>
                <a:cxn ang="0">
                  <a:pos x="0" y="85"/>
                </a:cxn>
                <a:cxn ang="0">
                  <a:pos x="0" y="94"/>
                </a:cxn>
                <a:cxn ang="0">
                  <a:pos x="0" y="98"/>
                </a:cxn>
                <a:cxn ang="0">
                  <a:pos x="0" y="102"/>
                </a:cxn>
                <a:cxn ang="0">
                  <a:pos x="0" y="106"/>
                </a:cxn>
                <a:cxn ang="0">
                  <a:pos x="1" y="110"/>
                </a:cxn>
                <a:cxn ang="0">
                  <a:pos x="1" y="118"/>
                </a:cxn>
                <a:cxn ang="0">
                  <a:pos x="2" y="125"/>
                </a:cxn>
                <a:cxn ang="0">
                  <a:pos x="4" y="132"/>
                </a:cxn>
                <a:cxn ang="0">
                  <a:pos x="5" y="139"/>
                </a:cxn>
                <a:cxn ang="0">
                  <a:pos x="6" y="142"/>
                </a:cxn>
                <a:cxn ang="0">
                  <a:pos x="7" y="146"/>
                </a:cxn>
                <a:cxn ang="0">
                  <a:pos x="8" y="148"/>
                </a:cxn>
                <a:cxn ang="0">
                  <a:pos x="8" y="151"/>
                </a:cxn>
                <a:cxn ang="0">
                  <a:pos x="9" y="153"/>
                </a:cxn>
                <a:cxn ang="0">
                  <a:pos x="10" y="156"/>
                </a:cxn>
                <a:cxn ang="0">
                  <a:pos x="11" y="158"/>
                </a:cxn>
                <a:cxn ang="0">
                  <a:pos x="12" y="160"/>
                </a:cxn>
                <a:cxn ang="0">
                  <a:pos x="13" y="161"/>
                </a:cxn>
                <a:cxn ang="0">
                  <a:pos x="14" y="163"/>
                </a:cxn>
                <a:cxn ang="0">
                  <a:pos x="15" y="164"/>
                </a:cxn>
                <a:cxn ang="0">
                  <a:pos x="16" y="166"/>
                </a:cxn>
                <a:cxn ang="0">
                  <a:pos x="17" y="167"/>
                </a:cxn>
                <a:cxn ang="0">
                  <a:pos x="18" y="168"/>
                </a:cxn>
                <a:cxn ang="0">
                  <a:pos x="19" y="169"/>
                </a:cxn>
                <a:cxn ang="0">
                  <a:pos x="20" y="170"/>
                </a:cxn>
                <a:cxn ang="0">
                  <a:pos x="21" y="170"/>
                </a:cxn>
                <a:cxn ang="0">
                  <a:pos x="22" y="170"/>
                </a:cxn>
              </a:cxnLst>
              <a:rect l="0" t="0" r="r" b="b"/>
              <a:pathLst>
                <a:path w="22" h="170">
                  <a:moveTo>
                    <a:pt x="22" y="0"/>
                  </a:moveTo>
                  <a:lnTo>
                    <a:pt x="21" y="0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7" y="3"/>
                  </a:lnTo>
                  <a:lnTo>
                    <a:pt x="16" y="4"/>
                  </a:lnTo>
                  <a:lnTo>
                    <a:pt x="14" y="7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8" y="19"/>
                  </a:lnTo>
                  <a:lnTo>
                    <a:pt x="8" y="22"/>
                  </a:lnTo>
                  <a:lnTo>
                    <a:pt x="7" y="25"/>
                  </a:lnTo>
                  <a:lnTo>
                    <a:pt x="5" y="31"/>
                  </a:lnTo>
                  <a:lnTo>
                    <a:pt x="4" y="38"/>
                  </a:lnTo>
                  <a:lnTo>
                    <a:pt x="2" y="45"/>
                  </a:lnTo>
                  <a:lnTo>
                    <a:pt x="1" y="52"/>
                  </a:lnTo>
                  <a:lnTo>
                    <a:pt x="1" y="60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2"/>
                  </a:lnTo>
                  <a:lnTo>
                    <a:pt x="0" y="76"/>
                  </a:lnTo>
                  <a:lnTo>
                    <a:pt x="0" y="85"/>
                  </a:lnTo>
                  <a:lnTo>
                    <a:pt x="0" y="94"/>
                  </a:lnTo>
                  <a:lnTo>
                    <a:pt x="0" y="98"/>
                  </a:lnTo>
                  <a:lnTo>
                    <a:pt x="0" y="102"/>
                  </a:lnTo>
                  <a:lnTo>
                    <a:pt x="0" y="106"/>
                  </a:lnTo>
                  <a:lnTo>
                    <a:pt x="1" y="110"/>
                  </a:lnTo>
                  <a:lnTo>
                    <a:pt x="1" y="118"/>
                  </a:lnTo>
                  <a:lnTo>
                    <a:pt x="2" y="125"/>
                  </a:lnTo>
                  <a:lnTo>
                    <a:pt x="4" y="132"/>
                  </a:lnTo>
                  <a:lnTo>
                    <a:pt x="5" y="139"/>
                  </a:lnTo>
                  <a:lnTo>
                    <a:pt x="6" y="142"/>
                  </a:lnTo>
                  <a:lnTo>
                    <a:pt x="7" y="146"/>
                  </a:lnTo>
                  <a:lnTo>
                    <a:pt x="8" y="148"/>
                  </a:lnTo>
                  <a:lnTo>
                    <a:pt x="8" y="151"/>
                  </a:lnTo>
                  <a:lnTo>
                    <a:pt x="9" y="153"/>
                  </a:lnTo>
                  <a:lnTo>
                    <a:pt x="10" y="156"/>
                  </a:lnTo>
                  <a:lnTo>
                    <a:pt x="11" y="158"/>
                  </a:lnTo>
                  <a:lnTo>
                    <a:pt x="12" y="160"/>
                  </a:lnTo>
                  <a:lnTo>
                    <a:pt x="13" y="161"/>
                  </a:lnTo>
                  <a:lnTo>
                    <a:pt x="14" y="163"/>
                  </a:lnTo>
                  <a:lnTo>
                    <a:pt x="15" y="164"/>
                  </a:lnTo>
                  <a:lnTo>
                    <a:pt x="16" y="166"/>
                  </a:lnTo>
                  <a:lnTo>
                    <a:pt x="17" y="167"/>
                  </a:lnTo>
                  <a:lnTo>
                    <a:pt x="18" y="168"/>
                  </a:lnTo>
                  <a:lnTo>
                    <a:pt x="19" y="169"/>
                  </a:lnTo>
                  <a:lnTo>
                    <a:pt x="20" y="170"/>
                  </a:lnTo>
                  <a:lnTo>
                    <a:pt x="21" y="170"/>
                  </a:lnTo>
                  <a:lnTo>
                    <a:pt x="22" y="17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7" name="Freeform 19"/>
            <p:cNvSpPr>
              <a:spLocks/>
            </p:cNvSpPr>
            <p:nvPr/>
          </p:nvSpPr>
          <p:spPr bwMode="auto">
            <a:xfrm>
              <a:off x="5282285" y="2451274"/>
              <a:ext cx="29674" cy="235744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21" y="1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8" y="3"/>
                </a:cxn>
                <a:cxn ang="0">
                  <a:pos x="17" y="4"/>
                </a:cxn>
                <a:cxn ang="0">
                  <a:pos x="16" y="5"/>
                </a:cxn>
                <a:cxn ang="0">
                  <a:pos x="14" y="8"/>
                </a:cxn>
                <a:cxn ang="0">
                  <a:pos x="13" y="9"/>
                </a:cxn>
                <a:cxn ang="0">
                  <a:pos x="12" y="11"/>
                </a:cxn>
                <a:cxn ang="0">
                  <a:pos x="10" y="15"/>
                </a:cxn>
                <a:cxn ang="0">
                  <a:pos x="8" y="20"/>
                </a:cxn>
                <a:cxn ang="0">
                  <a:pos x="8" y="22"/>
                </a:cxn>
                <a:cxn ang="0">
                  <a:pos x="7" y="25"/>
                </a:cxn>
                <a:cxn ang="0">
                  <a:pos x="6" y="28"/>
                </a:cxn>
                <a:cxn ang="0">
                  <a:pos x="5" y="31"/>
                </a:cxn>
                <a:cxn ang="0">
                  <a:pos x="4" y="38"/>
                </a:cxn>
                <a:cxn ang="0">
                  <a:pos x="2" y="45"/>
                </a:cxn>
                <a:cxn ang="0">
                  <a:pos x="1" y="53"/>
                </a:cxn>
                <a:cxn ang="0">
                  <a:pos x="1" y="60"/>
                </a:cxn>
                <a:cxn ang="0">
                  <a:pos x="0" y="64"/>
                </a:cxn>
                <a:cxn ang="0">
                  <a:pos x="0" y="68"/>
                </a:cxn>
                <a:cxn ang="0">
                  <a:pos x="0" y="73"/>
                </a:cxn>
                <a:cxn ang="0">
                  <a:pos x="0" y="77"/>
                </a:cxn>
                <a:cxn ang="0">
                  <a:pos x="0" y="86"/>
                </a:cxn>
                <a:cxn ang="0">
                  <a:pos x="0" y="94"/>
                </a:cxn>
                <a:cxn ang="0">
                  <a:pos x="0" y="98"/>
                </a:cxn>
                <a:cxn ang="0">
                  <a:pos x="0" y="103"/>
                </a:cxn>
                <a:cxn ang="0">
                  <a:pos x="0" y="107"/>
                </a:cxn>
                <a:cxn ang="0">
                  <a:pos x="1" y="111"/>
                </a:cxn>
                <a:cxn ang="0">
                  <a:pos x="1" y="118"/>
                </a:cxn>
                <a:cxn ang="0">
                  <a:pos x="2" y="126"/>
                </a:cxn>
                <a:cxn ang="0">
                  <a:pos x="4" y="133"/>
                </a:cxn>
                <a:cxn ang="0">
                  <a:pos x="5" y="140"/>
                </a:cxn>
                <a:cxn ang="0">
                  <a:pos x="6" y="143"/>
                </a:cxn>
                <a:cxn ang="0">
                  <a:pos x="7" y="146"/>
                </a:cxn>
                <a:cxn ang="0">
                  <a:pos x="8" y="149"/>
                </a:cxn>
                <a:cxn ang="0">
                  <a:pos x="8" y="151"/>
                </a:cxn>
                <a:cxn ang="0">
                  <a:pos x="9" y="154"/>
                </a:cxn>
                <a:cxn ang="0">
                  <a:pos x="10" y="156"/>
                </a:cxn>
                <a:cxn ang="0">
                  <a:pos x="11" y="158"/>
                </a:cxn>
                <a:cxn ang="0">
                  <a:pos x="12" y="160"/>
                </a:cxn>
                <a:cxn ang="0">
                  <a:pos x="13" y="162"/>
                </a:cxn>
                <a:cxn ang="0">
                  <a:pos x="14" y="164"/>
                </a:cxn>
                <a:cxn ang="0">
                  <a:pos x="15" y="165"/>
                </a:cxn>
                <a:cxn ang="0">
                  <a:pos x="16" y="166"/>
                </a:cxn>
                <a:cxn ang="0">
                  <a:pos x="17" y="167"/>
                </a:cxn>
                <a:cxn ang="0">
                  <a:pos x="18" y="168"/>
                </a:cxn>
                <a:cxn ang="0">
                  <a:pos x="19" y="169"/>
                </a:cxn>
                <a:cxn ang="0">
                  <a:pos x="20" y="170"/>
                </a:cxn>
                <a:cxn ang="0">
                  <a:pos x="21" y="171"/>
                </a:cxn>
                <a:cxn ang="0">
                  <a:pos x="22" y="171"/>
                </a:cxn>
              </a:cxnLst>
              <a:rect l="0" t="0" r="r" b="b"/>
              <a:pathLst>
                <a:path w="22" h="171">
                  <a:moveTo>
                    <a:pt x="22" y="0"/>
                  </a:moveTo>
                  <a:lnTo>
                    <a:pt x="21" y="1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8" y="3"/>
                  </a:lnTo>
                  <a:lnTo>
                    <a:pt x="17" y="4"/>
                  </a:lnTo>
                  <a:lnTo>
                    <a:pt x="16" y="5"/>
                  </a:lnTo>
                  <a:lnTo>
                    <a:pt x="14" y="8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7" y="25"/>
                  </a:lnTo>
                  <a:lnTo>
                    <a:pt x="6" y="28"/>
                  </a:lnTo>
                  <a:lnTo>
                    <a:pt x="5" y="31"/>
                  </a:lnTo>
                  <a:lnTo>
                    <a:pt x="4" y="38"/>
                  </a:lnTo>
                  <a:lnTo>
                    <a:pt x="2" y="45"/>
                  </a:lnTo>
                  <a:lnTo>
                    <a:pt x="1" y="53"/>
                  </a:lnTo>
                  <a:lnTo>
                    <a:pt x="1" y="60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6"/>
                  </a:lnTo>
                  <a:lnTo>
                    <a:pt x="0" y="94"/>
                  </a:lnTo>
                  <a:lnTo>
                    <a:pt x="0" y="98"/>
                  </a:lnTo>
                  <a:lnTo>
                    <a:pt x="0" y="103"/>
                  </a:lnTo>
                  <a:lnTo>
                    <a:pt x="0" y="107"/>
                  </a:lnTo>
                  <a:lnTo>
                    <a:pt x="1" y="111"/>
                  </a:lnTo>
                  <a:lnTo>
                    <a:pt x="1" y="118"/>
                  </a:lnTo>
                  <a:lnTo>
                    <a:pt x="2" y="126"/>
                  </a:lnTo>
                  <a:lnTo>
                    <a:pt x="4" y="133"/>
                  </a:lnTo>
                  <a:lnTo>
                    <a:pt x="5" y="140"/>
                  </a:lnTo>
                  <a:lnTo>
                    <a:pt x="6" y="143"/>
                  </a:lnTo>
                  <a:lnTo>
                    <a:pt x="7" y="146"/>
                  </a:lnTo>
                  <a:lnTo>
                    <a:pt x="8" y="149"/>
                  </a:lnTo>
                  <a:lnTo>
                    <a:pt x="8" y="151"/>
                  </a:lnTo>
                  <a:lnTo>
                    <a:pt x="9" y="154"/>
                  </a:lnTo>
                  <a:lnTo>
                    <a:pt x="10" y="156"/>
                  </a:lnTo>
                  <a:lnTo>
                    <a:pt x="11" y="158"/>
                  </a:lnTo>
                  <a:lnTo>
                    <a:pt x="12" y="160"/>
                  </a:lnTo>
                  <a:lnTo>
                    <a:pt x="13" y="162"/>
                  </a:lnTo>
                  <a:lnTo>
                    <a:pt x="14" y="164"/>
                  </a:lnTo>
                  <a:lnTo>
                    <a:pt x="15" y="165"/>
                  </a:lnTo>
                  <a:lnTo>
                    <a:pt x="16" y="166"/>
                  </a:lnTo>
                  <a:lnTo>
                    <a:pt x="17" y="167"/>
                  </a:lnTo>
                  <a:lnTo>
                    <a:pt x="18" y="168"/>
                  </a:lnTo>
                  <a:lnTo>
                    <a:pt x="19" y="169"/>
                  </a:lnTo>
                  <a:lnTo>
                    <a:pt x="20" y="170"/>
                  </a:lnTo>
                  <a:lnTo>
                    <a:pt x="21" y="171"/>
                  </a:lnTo>
                  <a:lnTo>
                    <a:pt x="22" y="171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8" name="Freeform 20"/>
            <p:cNvSpPr>
              <a:spLocks/>
            </p:cNvSpPr>
            <p:nvPr/>
          </p:nvSpPr>
          <p:spPr bwMode="auto">
            <a:xfrm>
              <a:off x="5302068" y="2778695"/>
              <a:ext cx="541826" cy="2024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2"/>
                </a:cxn>
                <a:cxn ang="0">
                  <a:pos x="5" y="3"/>
                </a:cxn>
                <a:cxn ang="0">
                  <a:pos x="7" y="3"/>
                </a:cxn>
                <a:cxn ang="0">
                  <a:pos x="13" y="5"/>
                </a:cxn>
                <a:cxn ang="0">
                  <a:pos x="20" y="6"/>
                </a:cxn>
                <a:cxn ang="0">
                  <a:pos x="26" y="7"/>
                </a:cxn>
                <a:cxn ang="0">
                  <a:pos x="34" y="8"/>
                </a:cxn>
                <a:cxn ang="0">
                  <a:pos x="42" y="9"/>
                </a:cxn>
                <a:cxn ang="0">
                  <a:pos x="50" y="10"/>
                </a:cxn>
                <a:cxn ang="0">
                  <a:pos x="64" y="11"/>
                </a:cxn>
                <a:cxn ang="0">
                  <a:pos x="75" y="12"/>
                </a:cxn>
                <a:cxn ang="0">
                  <a:pos x="87" y="12"/>
                </a:cxn>
                <a:cxn ang="0">
                  <a:pos x="103" y="13"/>
                </a:cxn>
                <a:cxn ang="0">
                  <a:pos x="116" y="14"/>
                </a:cxn>
                <a:cxn ang="0">
                  <a:pos x="129" y="14"/>
                </a:cxn>
                <a:cxn ang="0">
                  <a:pos x="147" y="15"/>
                </a:cxn>
                <a:cxn ang="0">
                  <a:pos x="166" y="15"/>
                </a:cxn>
                <a:cxn ang="0">
                  <a:pos x="186" y="15"/>
                </a:cxn>
                <a:cxn ang="0">
                  <a:pos x="206" y="15"/>
                </a:cxn>
                <a:cxn ang="0">
                  <a:pos x="226" y="15"/>
                </a:cxn>
                <a:cxn ang="0">
                  <a:pos x="228" y="15"/>
                </a:cxn>
                <a:cxn ang="0">
                  <a:pos x="235" y="15"/>
                </a:cxn>
                <a:cxn ang="0">
                  <a:pos x="245" y="15"/>
                </a:cxn>
                <a:cxn ang="0">
                  <a:pos x="263" y="14"/>
                </a:cxn>
                <a:cxn ang="0">
                  <a:pos x="274" y="14"/>
                </a:cxn>
                <a:cxn ang="0">
                  <a:pos x="276" y="14"/>
                </a:cxn>
                <a:cxn ang="0">
                  <a:pos x="289" y="13"/>
                </a:cxn>
                <a:cxn ang="0">
                  <a:pos x="293" y="13"/>
                </a:cxn>
                <a:cxn ang="0">
                  <a:pos x="305" y="12"/>
                </a:cxn>
                <a:cxn ang="0">
                  <a:pos x="317" y="12"/>
                </a:cxn>
                <a:cxn ang="0">
                  <a:pos x="324" y="11"/>
                </a:cxn>
                <a:cxn ang="0">
                  <a:pos x="336" y="10"/>
                </a:cxn>
                <a:cxn ang="0">
                  <a:pos x="342" y="10"/>
                </a:cxn>
                <a:cxn ang="0">
                  <a:pos x="351" y="9"/>
                </a:cxn>
                <a:cxn ang="0">
                  <a:pos x="359" y="8"/>
                </a:cxn>
                <a:cxn ang="0">
                  <a:pos x="363" y="7"/>
                </a:cxn>
                <a:cxn ang="0">
                  <a:pos x="368" y="7"/>
                </a:cxn>
                <a:cxn ang="0">
                  <a:pos x="372" y="6"/>
                </a:cxn>
                <a:cxn ang="0">
                  <a:pos x="379" y="5"/>
                </a:cxn>
                <a:cxn ang="0">
                  <a:pos x="382" y="4"/>
                </a:cxn>
                <a:cxn ang="0">
                  <a:pos x="386" y="3"/>
                </a:cxn>
                <a:cxn ang="0">
                  <a:pos x="387" y="3"/>
                </a:cxn>
                <a:cxn ang="0">
                  <a:pos x="388" y="2"/>
                </a:cxn>
                <a:cxn ang="0">
                  <a:pos x="390" y="2"/>
                </a:cxn>
                <a:cxn ang="0">
                  <a:pos x="392" y="1"/>
                </a:cxn>
                <a:cxn ang="0">
                  <a:pos x="393" y="0"/>
                </a:cxn>
              </a:cxnLst>
              <a:rect l="0" t="0" r="r" b="b"/>
              <a:pathLst>
                <a:path w="393" h="15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2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10" y="4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20" y="6"/>
                  </a:lnTo>
                  <a:lnTo>
                    <a:pt x="24" y="7"/>
                  </a:lnTo>
                  <a:lnTo>
                    <a:pt x="26" y="7"/>
                  </a:lnTo>
                  <a:lnTo>
                    <a:pt x="29" y="7"/>
                  </a:lnTo>
                  <a:lnTo>
                    <a:pt x="34" y="8"/>
                  </a:lnTo>
                  <a:lnTo>
                    <a:pt x="39" y="8"/>
                  </a:lnTo>
                  <a:lnTo>
                    <a:pt x="42" y="9"/>
                  </a:lnTo>
                  <a:lnTo>
                    <a:pt x="44" y="9"/>
                  </a:lnTo>
                  <a:lnTo>
                    <a:pt x="50" y="10"/>
                  </a:lnTo>
                  <a:lnTo>
                    <a:pt x="57" y="10"/>
                  </a:lnTo>
                  <a:lnTo>
                    <a:pt x="64" y="11"/>
                  </a:lnTo>
                  <a:lnTo>
                    <a:pt x="71" y="11"/>
                  </a:lnTo>
                  <a:lnTo>
                    <a:pt x="75" y="12"/>
                  </a:lnTo>
                  <a:lnTo>
                    <a:pt x="79" y="12"/>
                  </a:lnTo>
                  <a:lnTo>
                    <a:pt x="87" y="12"/>
                  </a:lnTo>
                  <a:lnTo>
                    <a:pt x="95" y="13"/>
                  </a:lnTo>
                  <a:lnTo>
                    <a:pt x="103" y="13"/>
                  </a:lnTo>
                  <a:lnTo>
                    <a:pt x="112" y="14"/>
                  </a:lnTo>
                  <a:lnTo>
                    <a:pt x="116" y="14"/>
                  </a:lnTo>
                  <a:lnTo>
                    <a:pt x="120" y="14"/>
                  </a:lnTo>
                  <a:lnTo>
                    <a:pt x="129" y="14"/>
                  </a:lnTo>
                  <a:lnTo>
                    <a:pt x="138" y="14"/>
                  </a:lnTo>
                  <a:lnTo>
                    <a:pt x="147" y="15"/>
                  </a:lnTo>
                  <a:lnTo>
                    <a:pt x="157" y="15"/>
                  </a:lnTo>
                  <a:lnTo>
                    <a:pt x="166" y="15"/>
                  </a:lnTo>
                  <a:lnTo>
                    <a:pt x="176" y="15"/>
                  </a:lnTo>
                  <a:lnTo>
                    <a:pt x="186" y="15"/>
                  </a:lnTo>
                  <a:lnTo>
                    <a:pt x="196" y="15"/>
                  </a:lnTo>
                  <a:lnTo>
                    <a:pt x="206" y="15"/>
                  </a:lnTo>
                  <a:lnTo>
                    <a:pt x="216" y="15"/>
                  </a:lnTo>
                  <a:lnTo>
                    <a:pt x="226" y="15"/>
                  </a:lnTo>
                  <a:lnTo>
                    <a:pt x="227" y="15"/>
                  </a:lnTo>
                  <a:lnTo>
                    <a:pt x="228" y="15"/>
                  </a:lnTo>
                  <a:lnTo>
                    <a:pt x="231" y="15"/>
                  </a:lnTo>
                  <a:lnTo>
                    <a:pt x="235" y="15"/>
                  </a:lnTo>
                  <a:lnTo>
                    <a:pt x="240" y="15"/>
                  </a:lnTo>
                  <a:lnTo>
                    <a:pt x="245" y="15"/>
                  </a:lnTo>
                  <a:lnTo>
                    <a:pt x="254" y="14"/>
                  </a:lnTo>
                  <a:lnTo>
                    <a:pt x="263" y="14"/>
                  </a:lnTo>
                  <a:lnTo>
                    <a:pt x="272" y="14"/>
                  </a:lnTo>
                  <a:lnTo>
                    <a:pt x="274" y="14"/>
                  </a:lnTo>
                  <a:lnTo>
                    <a:pt x="275" y="14"/>
                  </a:lnTo>
                  <a:lnTo>
                    <a:pt x="276" y="14"/>
                  </a:lnTo>
                  <a:lnTo>
                    <a:pt x="280" y="14"/>
                  </a:lnTo>
                  <a:lnTo>
                    <a:pt x="289" y="13"/>
                  </a:lnTo>
                  <a:lnTo>
                    <a:pt x="291" y="13"/>
                  </a:lnTo>
                  <a:lnTo>
                    <a:pt x="293" y="13"/>
                  </a:lnTo>
                  <a:lnTo>
                    <a:pt x="297" y="13"/>
                  </a:lnTo>
                  <a:lnTo>
                    <a:pt x="305" y="12"/>
                  </a:lnTo>
                  <a:lnTo>
                    <a:pt x="313" y="12"/>
                  </a:lnTo>
                  <a:lnTo>
                    <a:pt x="317" y="12"/>
                  </a:lnTo>
                  <a:lnTo>
                    <a:pt x="321" y="11"/>
                  </a:lnTo>
                  <a:lnTo>
                    <a:pt x="324" y="11"/>
                  </a:lnTo>
                  <a:lnTo>
                    <a:pt x="328" y="11"/>
                  </a:lnTo>
                  <a:lnTo>
                    <a:pt x="336" y="10"/>
                  </a:lnTo>
                  <a:lnTo>
                    <a:pt x="339" y="10"/>
                  </a:lnTo>
                  <a:lnTo>
                    <a:pt x="342" y="10"/>
                  </a:lnTo>
                  <a:lnTo>
                    <a:pt x="348" y="9"/>
                  </a:lnTo>
                  <a:lnTo>
                    <a:pt x="351" y="9"/>
                  </a:lnTo>
                  <a:lnTo>
                    <a:pt x="353" y="8"/>
                  </a:lnTo>
                  <a:lnTo>
                    <a:pt x="359" y="8"/>
                  </a:lnTo>
                  <a:lnTo>
                    <a:pt x="361" y="8"/>
                  </a:lnTo>
                  <a:lnTo>
                    <a:pt x="363" y="7"/>
                  </a:lnTo>
                  <a:lnTo>
                    <a:pt x="366" y="7"/>
                  </a:lnTo>
                  <a:lnTo>
                    <a:pt x="368" y="7"/>
                  </a:lnTo>
                  <a:lnTo>
                    <a:pt x="370" y="6"/>
                  </a:lnTo>
                  <a:lnTo>
                    <a:pt x="372" y="6"/>
                  </a:lnTo>
                  <a:lnTo>
                    <a:pt x="376" y="5"/>
                  </a:lnTo>
                  <a:lnTo>
                    <a:pt x="379" y="5"/>
                  </a:lnTo>
                  <a:lnTo>
                    <a:pt x="381" y="4"/>
                  </a:lnTo>
                  <a:lnTo>
                    <a:pt x="382" y="4"/>
                  </a:lnTo>
                  <a:lnTo>
                    <a:pt x="385" y="3"/>
                  </a:lnTo>
                  <a:lnTo>
                    <a:pt x="386" y="3"/>
                  </a:lnTo>
                  <a:lnTo>
                    <a:pt x="387" y="3"/>
                  </a:lnTo>
                  <a:lnTo>
                    <a:pt x="387" y="3"/>
                  </a:lnTo>
                  <a:lnTo>
                    <a:pt x="388" y="3"/>
                  </a:lnTo>
                  <a:lnTo>
                    <a:pt x="388" y="2"/>
                  </a:lnTo>
                  <a:lnTo>
                    <a:pt x="389" y="2"/>
                  </a:lnTo>
                  <a:lnTo>
                    <a:pt x="390" y="2"/>
                  </a:lnTo>
                  <a:lnTo>
                    <a:pt x="391" y="1"/>
                  </a:lnTo>
                  <a:lnTo>
                    <a:pt x="392" y="1"/>
                  </a:lnTo>
                  <a:lnTo>
                    <a:pt x="392" y="0"/>
                  </a:lnTo>
                  <a:lnTo>
                    <a:pt x="393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3" name="Line 25"/>
            <p:cNvSpPr>
              <a:spLocks noChangeShapeType="1"/>
            </p:cNvSpPr>
            <p:nvPr/>
          </p:nvSpPr>
          <p:spPr bwMode="auto">
            <a:xfrm>
              <a:off x="4962466" y="3191843"/>
              <a:ext cx="0" cy="431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4" name="Text Box 26"/>
            <p:cNvSpPr txBox="1">
              <a:spLocks noChangeArrowheads="1"/>
            </p:cNvSpPr>
            <p:nvPr/>
          </p:nvSpPr>
          <p:spPr bwMode="auto">
            <a:xfrm>
              <a:off x="3040247" y="3020393"/>
              <a:ext cx="1879356" cy="217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500">
                  <a:solidFill>
                    <a:prstClr val="black"/>
                  </a:solidFill>
                  <a:latin typeface="+mn-lt"/>
                </a:rPr>
                <a:t>[I] : level of water in bucket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5" name="Line 27"/>
            <p:cNvSpPr>
              <a:spLocks noChangeShapeType="1"/>
            </p:cNvSpPr>
            <p:nvPr/>
          </p:nvSpPr>
          <p:spPr bwMode="auto">
            <a:xfrm>
              <a:off x="3828258" y="1840483"/>
              <a:ext cx="0" cy="8643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6" name="Text Box 28"/>
            <p:cNvSpPr txBox="1">
              <a:spLocks noChangeArrowheads="1"/>
            </p:cNvSpPr>
            <p:nvPr/>
          </p:nvSpPr>
          <p:spPr bwMode="auto">
            <a:xfrm>
              <a:off x="3450188" y="2091705"/>
              <a:ext cx="305388" cy="217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500">
                  <a:solidFill>
                    <a:prstClr val="black"/>
                  </a:solidFill>
                  <a:latin typeface="+mn-lt"/>
                </a:rPr>
                <a:t>[A]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7" name="Oval 29"/>
            <p:cNvSpPr>
              <a:spLocks noChangeArrowheads="1"/>
            </p:cNvSpPr>
            <p:nvPr/>
          </p:nvSpPr>
          <p:spPr bwMode="auto">
            <a:xfrm>
              <a:off x="5232829" y="2381026"/>
              <a:ext cx="161558" cy="37742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8" name="Line 30"/>
            <p:cNvSpPr>
              <a:spLocks noChangeShapeType="1"/>
            </p:cNvSpPr>
            <p:nvPr/>
          </p:nvSpPr>
          <p:spPr bwMode="auto">
            <a:xfrm flipH="1">
              <a:off x="5339435" y="1679748"/>
              <a:ext cx="550618" cy="7643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9" name="Text Box 31"/>
            <p:cNvSpPr txBox="1">
              <a:spLocks noChangeArrowheads="1"/>
            </p:cNvSpPr>
            <p:nvPr/>
          </p:nvSpPr>
          <p:spPr bwMode="auto">
            <a:xfrm>
              <a:off x="5943906" y="1491630"/>
              <a:ext cx="1010214" cy="217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5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500" i="1" baseline="-25000">
                  <a:solidFill>
                    <a:prstClr val="black"/>
                  </a:solidFill>
                  <a:latin typeface="+mn-lt"/>
                </a:rPr>
                <a:t>1 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- size of hole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0" name="Text Box 32"/>
            <p:cNvSpPr txBox="1">
              <a:spLocks noChangeArrowheads="1"/>
            </p:cNvSpPr>
            <p:nvPr/>
          </p:nvSpPr>
          <p:spPr bwMode="auto">
            <a:xfrm>
              <a:off x="6312084" y="3281139"/>
              <a:ext cx="1010214" cy="217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5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500" i="1" baseline="-25000">
                  <a:solidFill>
                    <a:prstClr val="black"/>
                  </a:solidFill>
                  <a:latin typeface="+mn-lt"/>
                </a:rPr>
                <a:t>2 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- size of hole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1" name="Oval 33"/>
            <p:cNvSpPr>
              <a:spLocks noChangeArrowheads="1"/>
            </p:cNvSpPr>
            <p:nvPr/>
          </p:nvSpPr>
          <p:spPr bwMode="auto">
            <a:xfrm>
              <a:off x="5771358" y="3298999"/>
              <a:ext cx="162658" cy="37742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2" name="Line 34"/>
            <p:cNvSpPr>
              <a:spLocks noChangeShapeType="1"/>
            </p:cNvSpPr>
            <p:nvPr/>
          </p:nvSpPr>
          <p:spPr bwMode="auto">
            <a:xfrm flipH="1" flipV="1">
              <a:off x="5925223" y="3464495"/>
              <a:ext cx="433021" cy="1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3" name="Freeform 35"/>
            <p:cNvSpPr>
              <a:spLocks/>
            </p:cNvSpPr>
            <p:nvPr/>
          </p:nvSpPr>
          <p:spPr bwMode="auto">
            <a:xfrm>
              <a:off x="5514183" y="2400077"/>
              <a:ext cx="478081" cy="279797"/>
            </a:xfrm>
            <a:custGeom>
              <a:avLst/>
              <a:gdLst/>
              <a:ahLst/>
              <a:cxnLst>
                <a:cxn ang="0">
                  <a:pos x="401" y="0"/>
                </a:cxn>
                <a:cxn ang="0">
                  <a:pos x="113" y="45"/>
                </a:cxn>
                <a:cxn ang="0">
                  <a:pos x="0" y="235"/>
                </a:cxn>
              </a:cxnLst>
              <a:rect l="0" t="0" r="r" b="b"/>
              <a:pathLst>
                <a:path w="401" h="235">
                  <a:moveTo>
                    <a:pt x="401" y="0"/>
                  </a:moveTo>
                  <a:cubicBezTo>
                    <a:pt x="290" y="3"/>
                    <a:pt x="180" y="6"/>
                    <a:pt x="113" y="45"/>
                  </a:cubicBezTo>
                  <a:cubicBezTo>
                    <a:pt x="46" y="84"/>
                    <a:pt x="23" y="159"/>
                    <a:pt x="0" y="23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4" name="Text Box 36"/>
            <p:cNvSpPr txBox="1">
              <a:spLocks noChangeArrowheads="1"/>
            </p:cNvSpPr>
            <p:nvPr/>
          </p:nvSpPr>
          <p:spPr bwMode="auto">
            <a:xfrm>
              <a:off x="6018641" y="2027411"/>
              <a:ext cx="1328737" cy="527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5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500" i="1" baseline="-25000">
                  <a:solidFill>
                    <a:prstClr val="black"/>
                  </a:solidFill>
                  <a:latin typeface="+mn-lt"/>
                </a:rPr>
                <a:t>1 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x [A]: rate of water flowing </a:t>
              </a:r>
              <a:r>
                <a:rPr lang="en-GB" sz="1500" i="1">
                  <a:solidFill>
                    <a:prstClr val="black"/>
                  </a:solidFill>
                  <a:latin typeface="+mn-lt"/>
                </a:rPr>
                <a:t>into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bucket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5" name="Freeform 37"/>
            <p:cNvSpPr>
              <a:spLocks/>
            </p:cNvSpPr>
            <p:nvPr/>
          </p:nvSpPr>
          <p:spPr bwMode="auto">
            <a:xfrm flipH="1" flipV="1">
              <a:off x="5025110" y="3780011"/>
              <a:ext cx="958361" cy="279797"/>
            </a:xfrm>
            <a:custGeom>
              <a:avLst/>
              <a:gdLst/>
              <a:ahLst/>
              <a:cxnLst>
                <a:cxn ang="0">
                  <a:pos x="401" y="0"/>
                </a:cxn>
                <a:cxn ang="0">
                  <a:pos x="113" y="45"/>
                </a:cxn>
                <a:cxn ang="0">
                  <a:pos x="0" y="235"/>
                </a:cxn>
              </a:cxnLst>
              <a:rect l="0" t="0" r="r" b="b"/>
              <a:pathLst>
                <a:path w="401" h="235">
                  <a:moveTo>
                    <a:pt x="401" y="0"/>
                  </a:moveTo>
                  <a:cubicBezTo>
                    <a:pt x="290" y="3"/>
                    <a:pt x="180" y="6"/>
                    <a:pt x="113" y="45"/>
                  </a:cubicBezTo>
                  <a:cubicBezTo>
                    <a:pt x="46" y="84"/>
                    <a:pt x="23" y="159"/>
                    <a:pt x="0" y="23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6" name="Text Box 38"/>
            <p:cNvSpPr txBox="1">
              <a:spLocks noChangeArrowheads="1"/>
            </p:cNvSpPr>
            <p:nvPr/>
          </p:nvSpPr>
          <p:spPr bwMode="auto">
            <a:xfrm>
              <a:off x="2936938" y="3852639"/>
              <a:ext cx="2240940" cy="372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5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500" i="1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x [I]: rate of water flowing </a:t>
              </a:r>
              <a:r>
                <a:rPr lang="en-GB" sz="1500" i="1">
                  <a:solidFill>
                    <a:prstClr val="black"/>
                  </a:solidFill>
                  <a:latin typeface="+mn-lt"/>
                </a:rPr>
                <a:t>out of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bucket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20261" y="3014644"/>
                <a:ext cx="1308692" cy="510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>
                  <a:latin typeface="+mn-lt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61" y="3014644"/>
                <a:ext cx="1308692" cy="5107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36839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6DA52-A68C-FC29-95AB-C60F00960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E4F901-55FE-E430-796F-36E99F66303C}"/>
              </a:ext>
            </a:extLst>
          </p:cNvPr>
          <p:cNvSpPr txBox="1"/>
          <p:nvPr/>
        </p:nvSpPr>
        <p:spPr>
          <a:xfrm>
            <a:off x="149225" y="5926991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youtu.be</a:t>
            </a:r>
            <a:r>
              <a:rPr lang="en-US" dirty="0"/>
              <a:t>/K5g6P8-GmBg?si=B9t98Ayz4bMaVML2</a:t>
            </a:r>
          </a:p>
        </p:txBody>
      </p:sp>
      <p:pic>
        <p:nvPicPr>
          <p:cNvPr id="7" name="Online Media 6" descr="Pressure Demo: Water Column">
            <a:hlinkClick r:id="" action="ppaction://media"/>
            <a:extLst>
              <a:ext uri="{FF2B5EF4-FFF2-40B4-BE49-F238E27FC236}">
                <a16:creationId xmlns:a16="http://schemas.microsoft.com/office/drawing/2014/main" id="{46417CE3-0DA8-B1F7-1D7F-D2E10E7D891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90028" y="1219200"/>
            <a:ext cx="7432037" cy="419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671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87" name="Rectangle 39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r>
              <a:rPr lang="en-GB" sz="3000">
                <a:latin typeface="+mn-lt"/>
              </a:rPr>
              <a:t>The “bucket” analogy </a:t>
            </a:r>
            <a:br>
              <a:rPr lang="en-GB" sz="3000">
                <a:latin typeface="+mn-lt"/>
              </a:rPr>
            </a:br>
            <a:r>
              <a:rPr lang="en-GB" sz="3000">
                <a:latin typeface="+mn-lt"/>
              </a:rPr>
              <a:t>(simple two-step reaction) </a:t>
            </a:r>
            <a:endParaRPr lang="en-US" sz="300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2374EB-4718-166F-3BA4-D5B151A34245}"/>
              </a:ext>
            </a:extLst>
          </p:cNvPr>
          <p:cNvGrpSpPr/>
          <p:nvPr/>
        </p:nvGrpSpPr>
        <p:grpSpPr>
          <a:xfrm>
            <a:off x="1916706" y="2123854"/>
            <a:ext cx="6219371" cy="4317474"/>
            <a:chOff x="2936938" y="1491630"/>
            <a:chExt cx="4417781" cy="2901553"/>
          </a:xfrm>
        </p:grpSpPr>
        <p:sp>
          <p:nvSpPr>
            <p:cNvPr id="78850" name="Freeform 2"/>
            <p:cNvSpPr>
              <a:spLocks/>
            </p:cNvSpPr>
            <p:nvPr/>
          </p:nvSpPr>
          <p:spPr bwMode="auto">
            <a:xfrm>
              <a:off x="5639473" y="4153868"/>
              <a:ext cx="1446334" cy="239315"/>
            </a:xfrm>
            <a:custGeom>
              <a:avLst/>
              <a:gdLst/>
              <a:ahLst/>
              <a:cxnLst>
                <a:cxn ang="0">
                  <a:pos x="859" y="26"/>
                </a:cxn>
                <a:cxn ang="0">
                  <a:pos x="802" y="10"/>
                </a:cxn>
                <a:cxn ang="0">
                  <a:pos x="765" y="2"/>
                </a:cxn>
                <a:cxn ang="0">
                  <a:pos x="722" y="0"/>
                </a:cxn>
                <a:cxn ang="0">
                  <a:pos x="682" y="5"/>
                </a:cxn>
                <a:cxn ang="0">
                  <a:pos x="639" y="15"/>
                </a:cxn>
                <a:cxn ang="0">
                  <a:pos x="620" y="19"/>
                </a:cxn>
                <a:cxn ang="0">
                  <a:pos x="589" y="24"/>
                </a:cxn>
                <a:cxn ang="0">
                  <a:pos x="568" y="25"/>
                </a:cxn>
                <a:cxn ang="0">
                  <a:pos x="522" y="28"/>
                </a:cxn>
                <a:cxn ang="0">
                  <a:pos x="490" y="29"/>
                </a:cxn>
                <a:cxn ang="0">
                  <a:pos x="445" y="30"/>
                </a:cxn>
                <a:cxn ang="0">
                  <a:pos x="414" y="28"/>
                </a:cxn>
                <a:cxn ang="0">
                  <a:pos x="346" y="20"/>
                </a:cxn>
                <a:cxn ang="0">
                  <a:pos x="273" y="14"/>
                </a:cxn>
                <a:cxn ang="0">
                  <a:pos x="209" y="11"/>
                </a:cxn>
                <a:cxn ang="0">
                  <a:pos x="153" y="10"/>
                </a:cxn>
                <a:cxn ang="0">
                  <a:pos x="106" y="13"/>
                </a:cxn>
                <a:cxn ang="0">
                  <a:pos x="68" y="18"/>
                </a:cxn>
                <a:cxn ang="0">
                  <a:pos x="38" y="27"/>
                </a:cxn>
                <a:cxn ang="0">
                  <a:pos x="17" y="38"/>
                </a:cxn>
                <a:cxn ang="0">
                  <a:pos x="5" y="52"/>
                </a:cxn>
                <a:cxn ang="0">
                  <a:pos x="0" y="71"/>
                </a:cxn>
                <a:cxn ang="0">
                  <a:pos x="1" y="93"/>
                </a:cxn>
                <a:cxn ang="0">
                  <a:pos x="7" y="110"/>
                </a:cxn>
                <a:cxn ang="0">
                  <a:pos x="19" y="125"/>
                </a:cxn>
                <a:cxn ang="0">
                  <a:pos x="43" y="140"/>
                </a:cxn>
                <a:cxn ang="0">
                  <a:pos x="76" y="150"/>
                </a:cxn>
                <a:cxn ang="0">
                  <a:pos x="132" y="158"/>
                </a:cxn>
                <a:cxn ang="0">
                  <a:pos x="166" y="161"/>
                </a:cxn>
                <a:cxn ang="0">
                  <a:pos x="218" y="166"/>
                </a:cxn>
                <a:cxn ang="0">
                  <a:pos x="271" y="170"/>
                </a:cxn>
                <a:cxn ang="0">
                  <a:pos x="304" y="172"/>
                </a:cxn>
                <a:cxn ang="0">
                  <a:pos x="345" y="173"/>
                </a:cxn>
                <a:cxn ang="0">
                  <a:pos x="396" y="169"/>
                </a:cxn>
                <a:cxn ang="0">
                  <a:pos x="441" y="160"/>
                </a:cxn>
                <a:cxn ang="0">
                  <a:pos x="477" y="151"/>
                </a:cxn>
                <a:cxn ang="0">
                  <a:pos x="509" y="146"/>
                </a:cxn>
                <a:cxn ang="0">
                  <a:pos x="552" y="142"/>
                </a:cxn>
                <a:cxn ang="0">
                  <a:pos x="604" y="139"/>
                </a:cxn>
                <a:cxn ang="0">
                  <a:pos x="665" y="138"/>
                </a:cxn>
                <a:cxn ang="0">
                  <a:pos x="742" y="146"/>
                </a:cxn>
                <a:cxn ang="0">
                  <a:pos x="791" y="151"/>
                </a:cxn>
                <a:cxn ang="0">
                  <a:pos x="835" y="155"/>
                </a:cxn>
                <a:cxn ang="0">
                  <a:pos x="880" y="158"/>
                </a:cxn>
                <a:cxn ang="0">
                  <a:pos x="915" y="160"/>
                </a:cxn>
                <a:cxn ang="0">
                  <a:pos x="947" y="161"/>
                </a:cxn>
                <a:cxn ang="0">
                  <a:pos x="974" y="161"/>
                </a:cxn>
                <a:cxn ang="0">
                  <a:pos x="997" y="160"/>
                </a:cxn>
                <a:cxn ang="0">
                  <a:pos x="1016" y="158"/>
                </a:cxn>
                <a:cxn ang="0">
                  <a:pos x="1031" y="155"/>
                </a:cxn>
                <a:cxn ang="0">
                  <a:pos x="1042" y="151"/>
                </a:cxn>
                <a:cxn ang="0">
                  <a:pos x="1048" y="146"/>
                </a:cxn>
                <a:cxn ang="0">
                  <a:pos x="1049" y="140"/>
                </a:cxn>
                <a:cxn ang="0">
                  <a:pos x="1047" y="134"/>
                </a:cxn>
                <a:cxn ang="0">
                  <a:pos x="1030" y="114"/>
                </a:cxn>
                <a:cxn ang="0">
                  <a:pos x="994" y="84"/>
                </a:cxn>
                <a:cxn ang="0">
                  <a:pos x="961" y="64"/>
                </a:cxn>
                <a:cxn ang="0">
                  <a:pos x="924" y="48"/>
                </a:cxn>
              </a:cxnLst>
              <a:rect l="0" t="0" r="r" b="b"/>
              <a:pathLst>
                <a:path w="1049" h="173">
                  <a:moveTo>
                    <a:pt x="915" y="44"/>
                  </a:moveTo>
                  <a:lnTo>
                    <a:pt x="905" y="41"/>
                  </a:lnTo>
                  <a:lnTo>
                    <a:pt x="896" y="38"/>
                  </a:lnTo>
                  <a:lnTo>
                    <a:pt x="886" y="35"/>
                  </a:lnTo>
                  <a:lnTo>
                    <a:pt x="877" y="32"/>
                  </a:lnTo>
                  <a:lnTo>
                    <a:pt x="868" y="29"/>
                  </a:lnTo>
                  <a:lnTo>
                    <a:pt x="859" y="26"/>
                  </a:lnTo>
                  <a:lnTo>
                    <a:pt x="850" y="24"/>
                  </a:lnTo>
                  <a:lnTo>
                    <a:pt x="842" y="21"/>
                  </a:lnTo>
                  <a:lnTo>
                    <a:pt x="834" y="19"/>
                  </a:lnTo>
                  <a:lnTo>
                    <a:pt x="825" y="17"/>
                  </a:lnTo>
                  <a:lnTo>
                    <a:pt x="817" y="14"/>
                  </a:lnTo>
                  <a:lnTo>
                    <a:pt x="810" y="12"/>
                  </a:lnTo>
                  <a:lnTo>
                    <a:pt x="802" y="10"/>
                  </a:lnTo>
                  <a:lnTo>
                    <a:pt x="794" y="8"/>
                  </a:lnTo>
                  <a:lnTo>
                    <a:pt x="787" y="7"/>
                  </a:lnTo>
                  <a:lnTo>
                    <a:pt x="780" y="5"/>
                  </a:lnTo>
                  <a:lnTo>
                    <a:pt x="776" y="4"/>
                  </a:lnTo>
                  <a:lnTo>
                    <a:pt x="773" y="3"/>
                  </a:lnTo>
                  <a:lnTo>
                    <a:pt x="769" y="3"/>
                  </a:lnTo>
                  <a:lnTo>
                    <a:pt x="765" y="2"/>
                  </a:lnTo>
                  <a:lnTo>
                    <a:pt x="761" y="2"/>
                  </a:lnTo>
                  <a:lnTo>
                    <a:pt x="758" y="1"/>
                  </a:lnTo>
                  <a:lnTo>
                    <a:pt x="750" y="1"/>
                  </a:lnTo>
                  <a:lnTo>
                    <a:pt x="742" y="0"/>
                  </a:lnTo>
                  <a:lnTo>
                    <a:pt x="734" y="0"/>
                  </a:lnTo>
                  <a:lnTo>
                    <a:pt x="726" y="0"/>
                  </a:lnTo>
                  <a:lnTo>
                    <a:pt x="722" y="0"/>
                  </a:lnTo>
                  <a:lnTo>
                    <a:pt x="718" y="1"/>
                  </a:lnTo>
                  <a:lnTo>
                    <a:pt x="709" y="1"/>
                  </a:lnTo>
                  <a:lnTo>
                    <a:pt x="700" y="2"/>
                  </a:lnTo>
                  <a:lnTo>
                    <a:pt x="696" y="3"/>
                  </a:lnTo>
                  <a:lnTo>
                    <a:pt x="691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8" y="6"/>
                  </a:lnTo>
                  <a:lnTo>
                    <a:pt x="673" y="7"/>
                  </a:lnTo>
                  <a:lnTo>
                    <a:pt x="664" y="9"/>
                  </a:lnTo>
                  <a:lnTo>
                    <a:pt x="654" y="11"/>
                  </a:lnTo>
                  <a:lnTo>
                    <a:pt x="645" y="14"/>
                  </a:lnTo>
                  <a:lnTo>
                    <a:pt x="641" y="15"/>
                  </a:lnTo>
                  <a:lnTo>
                    <a:pt x="639" y="15"/>
                  </a:lnTo>
                  <a:lnTo>
                    <a:pt x="637" y="16"/>
                  </a:lnTo>
                  <a:lnTo>
                    <a:pt x="633" y="17"/>
                  </a:lnTo>
                  <a:lnTo>
                    <a:pt x="629" y="18"/>
                  </a:lnTo>
                  <a:lnTo>
                    <a:pt x="627" y="18"/>
                  </a:lnTo>
                  <a:lnTo>
                    <a:pt x="626" y="18"/>
                  </a:lnTo>
                  <a:lnTo>
                    <a:pt x="625" y="18"/>
                  </a:lnTo>
                  <a:lnTo>
                    <a:pt x="620" y="19"/>
                  </a:lnTo>
                  <a:lnTo>
                    <a:pt x="616" y="20"/>
                  </a:lnTo>
                  <a:lnTo>
                    <a:pt x="611" y="21"/>
                  </a:lnTo>
                  <a:lnTo>
                    <a:pt x="606" y="22"/>
                  </a:lnTo>
                  <a:lnTo>
                    <a:pt x="601" y="22"/>
                  </a:lnTo>
                  <a:lnTo>
                    <a:pt x="598" y="22"/>
                  </a:lnTo>
                  <a:lnTo>
                    <a:pt x="595" y="23"/>
                  </a:lnTo>
                  <a:lnTo>
                    <a:pt x="589" y="24"/>
                  </a:lnTo>
                  <a:lnTo>
                    <a:pt x="584" y="24"/>
                  </a:lnTo>
                  <a:lnTo>
                    <a:pt x="582" y="24"/>
                  </a:lnTo>
                  <a:lnTo>
                    <a:pt x="580" y="24"/>
                  </a:lnTo>
                  <a:lnTo>
                    <a:pt x="578" y="25"/>
                  </a:lnTo>
                  <a:lnTo>
                    <a:pt x="571" y="25"/>
                  </a:lnTo>
                  <a:lnTo>
                    <a:pt x="570" y="25"/>
                  </a:lnTo>
                  <a:lnTo>
                    <a:pt x="568" y="25"/>
                  </a:lnTo>
                  <a:lnTo>
                    <a:pt x="565" y="26"/>
                  </a:lnTo>
                  <a:lnTo>
                    <a:pt x="558" y="26"/>
                  </a:lnTo>
                  <a:lnTo>
                    <a:pt x="551" y="27"/>
                  </a:lnTo>
                  <a:lnTo>
                    <a:pt x="544" y="27"/>
                  </a:lnTo>
                  <a:lnTo>
                    <a:pt x="537" y="27"/>
                  </a:lnTo>
                  <a:lnTo>
                    <a:pt x="530" y="28"/>
                  </a:lnTo>
                  <a:lnTo>
                    <a:pt x="522" y="28"/>
                  </a:lnTo>
                  <a:lnTo>
                    <a:pt x="520" y="28"/>
                  </a:lnTo>
                  <a:lnTo>
                    <a:pt x="518" y="28"/>
                  </a:lnTo>
                  <a:lnTo>
                    <a:pt x="514" y="28"/>
                  </a:lnTo>
                  <a:lnTo>
                    <a:pt x="506" y="29"/>
                  </a:lnTo>
                  <a:lnTo>
                    <a:pt x="498" y="29"/>
                  </a:lnTo>
                  <a:lnTo>
                    <a:pt x="494" y="29"/>
                  </a:lnTo>
                  <a:lnTo>
                    <a:pt x="490" y="29"/>
                  </a:lnTo>
                  <a:lnTo>
                    <a:pt x="481" y="29"/>
                  </a:lnTo>
                  <a:lnTo>
                    <a:pt x="477" y="29"/>
                  </a:lnTo>
                  <a:lnTo>
                    <a:pt x="473" y="30"/>
                  </a:lnTo>
                  <a:lnTo>
                    <a:pt x="468" y="30"/>
                  </a:lnTo>
                  <a:lnTo>
                    <a:pt x="464" y="30"/>
                  </a:lnTo>
                  <a:lnTo>
                    <a:pt x="454" y="30"/>
                  </a:lnTo>
                  <a:lnTo>
                    <a:pt x="445" y="30"/>
                  </a:lnTo>
                  <a:lnTo>
                    <a:pt x="436" y="30"/>
                  </a:lnTo>
                  <a:lnTo>
                    <a:pt x="430" y="29"/>
                  </a:lnTo>
                  <a:lnTo>
                    <a:pt x="427" y="29"/>
                  </a:lnTo>
                  <a:lnTo>
                    <a:pt x="426" y="29"/>
                  </a:lnTo>
                  <a:lnTo>
                    <a:pt x="425" y="29"/>
                  </a:lnTo>
                  <a:lnTo>
                    <a:pt x="425" y="29"/>
                  </a:lnTo>
                  <a:lnTo>
                    <a:pt x="414" y="28"/>
                  </a:lnTo>
                  <a:lnTo>
                    <a:pt x="408" y="27"/>
                  </a:lnTo>
                  <a:lnTo>
                    <a:pt x="402" y="26"/>
                  </a:lnTo>
                  <a:lnTo>
                    <a:pt x="391" y="25"/>
                  </a:lnTo>
                  <a:lnTo>
                    <a:pt x="379" y="24"/>
                  </a:lnTo>
                  <a:lnTo>
                    <a:pt x="368" y="22"/>
                  </a:lnTo>
                  <a:lnTo>
                    <a:pt x="357" y="21"/>
                  </a:lnTo>
                  <a:lnTo>
                    <a:pt x="346" y="20"/>
                  </a:lnTo>
                  <a:lnTo>
                    <a:pt x="335" y="19"/>
                  </a:lnTo>
                  <a:lnTo>
                    <a:pt x="324" y="18"/>
                  </a:lnTo>
                  <a:lnTo>
                    <a:pt x="313" y="17"/>
                  </a:lnTo>
                  <a:lnTo>
                    <a:pt x="303" y="16"/>
                  </a:lnTo>
                  <a:lnTo>
                    <a:pt x="293" y="15"/>
                  </a:lnTo>
                  <a:lnTo>
                    <a:pt x="283" y="15"/>
                  </a:lnTo>
                  <a:lnTo>
                    <a:pt x="273" y="14"/>
                  </a:lnTo>
                  <a:lnTo>
                    <a:pt x="263" y="13"/>
                  </a:lnTo>
                  <a:lnTo>
                    <a:pt x="254" y="13"/>
                  </a:lnTo>
                  <a:lnTo>
                    <a:pt x="244" y="12"/>
                  </a:lnTo>
                  <a:lnTo>
                    <a:pt x="235" y="12"/>
                  </a:lnTo>
                  <a:lnTo>
                    <a:pt x="226" y="11"/>
                  </a:lnTo>
                  <a:lnTo>
                    <a:pt x="217" y="11"/>
                  </a:lnTo>
                  <a:lnTo>
                    <a:pt x="209" y="11"/>
                  </a:lnTo>
                  <a:lnTo>
                    <a:pt x="200" y="10"/>
                  </a:lnTo>
                  <a:lnTo>
                    <a:pt x="192" y="10"/>
                  </a:lnTo>
                  <a:lnTo>
                    <a:pt x="184" y="10"/>
                  </a:lnTo>
                  <a:lnTo>
                    <a:pt x="176" y="10"/>
                  </a:lnTo>
                  <a:lnTo>
                    <a:pt x="168" y="10"/>
                  </a:lnTo>
                  <a:lnTo>
                    <a:pt x="161" y="10"/>
                  </a:lnTo>
                  <a:lnTo>
                    <a:pt x="153" y="10"/>
                  </a:lnTo>
                  <a:lnTo>
                    <a:pt x="146" y="10"/>
                  </a:lnTo>
                  <a:lnTo>
                    <a:pt x="139" y="11"/>
                  </a:lnTo>
                  <a:lnTo>
                    <a:pt x="132" y="11"/>
                  </a:lnTo>
                  <a:lnTo>
                    <a:pt x="125" y="11"/>
                  </a:lnTo>
                  <a:lnTo>
                    <a:pt x="119" y="12"/>
                  </a:lnTo>
                  <a:lnTo>
                    <a:pt x="113" y="12"/>
                  </a:lnTo>
                  <a:lnTo>
                    <a:pt x="106" y="13"/>
                  </a:lnTo>
                  <a:lnTo>
                    <a:pt x="100" y="13"/>
                  </a:lnTo>
                  <a:lnTo>
                    <a:pt x="94" y="14"/>
                  </a:lnTo>
                  <a:lnTo>
                    <a:pt x="89" y="15"/>
                  </a:lnTo>
                  <a:lnTo>
                    <a:pt x="83" y="16"/>
                  </a:lnTo>
                  <a:lnTo>
                    <a:pt x="78" y="16"/>
                  </a:lnTo>
                  <a:lnTo>
                    <a:pt x="73" y="17"/>
                  </a:lnTo>
                  <a:lnTo>
                    <a:pt x="68" y="18"/>
                  </a:lnTo>
                  <a:lnTo>
                    <a:pt x="63" y="19"/>
                  </a:lnTo>
                  <a:lnTo>
                    <a:pt x="59" y="20"/>
                  </a:lnTo>
                  <a:lnTo>
                    <a:pt x="54" y="21"/>
                  </a:lnTo>
                  <a:lnTo>
                    <a:pt x="50" y="23"/>
                  </a:lnTo>
                  <a:lnTo>
                    <a:pt x="46" y="24"/>
                  </a:lnTo>
                  <a:lnTo>
                    <a:pt x="42" y="25"/>
                  </a:lnTo>
                  <a:lnTo>
                    <a:pt x="38" y="27"/>
                  </a:lnTo>
                  <a:lnTo>
                    <a:pt x="35" y="28"/>
                  </a:lnTo>
                  <a:lnTo>
                    <a:pt x="31" y="30"/>
                  </a:lnTo>
                  <a:lnTo>
                    <a:pt x="28" y="31"/>
                  </a:lnTo>
                  <a:lnTo>
                    <a:pt x="25" y="33"/>
                  </a:lnTo>
                  <a:lnTo>
                    <a:pt x="22" y="34"/>
                  </a:lnTo>
                  <a:lnTo>
                    <a:pt x="20" y="36"/>
                  </a:lnTo>
                  <a:lnTo>
                    <a:pt x="17" y="38"/>
                  </a:lnTo>
                  <a:lnTo>
                    <a:pt x="15" y="40"/>
                  </a:lnTo>
                  <a:lnTo>
                    <a:pt x="13" y="42"/>
                  </a:lnTo>
                  <a:lnTo>
                    <a:pt x="11" y="44"/>
                  </a:lnTo>
                  <a:lnTo>
                    <a:pt x="9" y="46"/>
                  </a:lnTo>
                  <a:lnTo>
                    <a:pt x="7" y="48"/>
                  </a:lnTo>
                  <a:lnTo>
                    <a:pt x="6" y="50"/>
                  </a:lnTo>
                  <a:lnTo>
                    <a:pt x="5" y="52"/>
                  </a:lnTo>
                  <a:lnTo>
                    <a:pt x="4" y="54"/>
                  </a:lnTo>
                  <a:lnTo>
                    <a:pt x="3" y="57"/>
                  </a:lnTo>
                  <a:lnTo>
                    <a:pt x="2" y="59"/>
                  </a:lnTo>
                  <a:lnTo>
                    <a:pt x="1" y="62"/>
                  </a:lnTo>
                  <a:lnTo>
                    <a:pt x="1" y="67"/>
                  </a:lnTo>
                  <a:lnTo>
                    <a:pt x="0" y="69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0" y="87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2" y="95"/>
                  </a:lnTo>
                  <a:lnTo>
                    <a:pt x="2" y="97"/>
                  </a:lnTo>
                  <a:lnTo>
                    <a:pt x="3" y="101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7" y="108"/>
                  </a:lnTo>
                  <a:lnTo>
                    <a:pt x="7" y="110"/>
                  </a:lnTo>
                  <a:lnTo>
                    <a:pt x="9" y="112"/>
                  </a:lnTo>
                  <a:lnTo>
                    <a:pt x="11" y="115"/>
                  </a:lnTo>
                  <a:lnTo>
                    <a:pt x="12" y="117"/>
                  </a:lnTo>
                  <a:lnTo>
                    <a:pt x="13" y="118"/>
                  </a:lnTo>
                  <a:lnTo>
                    <a:pt x="16" y="122"/>
                  </a:lnTo>
                  <a:lnTo>
                    <a:pt x="18" y="123"/>
                  </a:lnTo>
                  <a:lnTo>
                    <a:pt x="19" y="125"/>
                  </a:lnTo>
                  <a:lnTo>
                    <a:pt x="23" y="127"/>
                  </a:lnTo>
                  <a:lnTo>
                    <a:pt x="26" y="130"/>
                  </a:lnTo>
                  <a:lnTo>
                    <a:pt x="30" y="133"/>
                  </a:lnTo>
                  <a:lnTo>
                    <a:pt x="32" y="134"/>
                  </a:lnTo>
                  <a:lnTo>
                    <a:pt x="34" y="135"/>
                  </a:lnTo>
                  <a:lnTo>
                    <a:pt x="39" y="137"/>
                  </a:lnTo>
                  <a:lnTo>
                    <a:pt x="43" y="140"/>
                  </a:lnTo>
                  <a:lnTo>
                    <a:pt x="48" y="142"/>
                  </a:lnTo>
                  <a:lnTo>
                    <a:pt x="50" y="143"/>
                  </a:lnTo>
                  <a:lnTo>
                    <a:pt x="53" y="144"/>
                  </a:lnTo>
                  <a:lnTo>
                    <a:pt x="58" y="145"/>
                  </a:lnTo>
                  <a:lnTo>
                    <a:pt x="64" y="147"/>
                  </a:lnTo>
                  <a:lnTo>
                    <a:pt x="70" y="149"/>
                  </a:lnTo>
                  <a:lnTo>
                    <a:pt x="76" y="150"/>
                  </a:lnTo>
                  <a:lnTo>
                    <a:pt x="83" y="151"/>
                  </a:lnTo>
                  <a:lnTo>
                    <a:pt x="89" y="153"/>
                  </a:lnTo>
                  <a:lnTo>
                    <a:pt x="96" y="154"/>
                  </a:lnTo>
                  <a:lnTo>
                    <a:pt x="100" y="154"/>
                  </a:lnTo>
                  <a:lnTo>
                    <a:pt x="103" y="155"/>
                  </a:lnTo>
                  <a:lnTo>
                    <a:pt x="118" y="156"/>
                  </a:lnTo>
                  <a:lnTo>
                    <a:pt x="132" y="158"/>
                  </a:lnTo>
                  <a:lnTo>
                    <a:pt x="139" y="158"/>
                  </a:lnTo>
                  <a:lnTo>
                    <a:pt x="146" y="159"/>
                  </a:lnTo>
                  <a:lnTo>
                    <a:pt x="153" y="160"/>
                  </a:lnTo>
                  <a:lnTo>
                    <a:pt x="156" y="160"/>
                  </a:lnTo>
                  <a:lnTo>
                    <a:pt x="160" y="161"/>
                  </a:lnTo>
                  <a:lnTo>
                    <a:pt x="163" y="161"/>
                  </a:lnTo>
                  <a:lnTo>
                    <a:pt x="166" y="161"/>
                  </a:lnTo>
                  <a:lnTo>
                    <a:pt x="173" y="162"/>
                  </a:lnTo>
                  <a:lnTo>
                    <a:pt x="180" y="163"/>
                  </a:lnTo>
                  <a:lnTo>
                    <a:pt x="186" y="163"/>
                  </a:lnTo>
                  <a:lnTo>
                    <a:pt x="199" y="165"/>
                  </a:lnTo>
                  <a:lnTo>
                    <a:pt x="212" y="166"/>
                  </a:lnTo>
                  <a:lnTo>
                    <a:pt x="215" y="166"/>
                  </a:lnTo>
                  <a:lnTo>
                    <a:pt x="218" y="166"/>
                  </a:lnTo>
                  <a:lnTo>
                    <a:pt x="224" y="167"/>
                  </a:lnTo>
                  <a:lnTo>
                    <a:pt x="237" y="168"/>
                  </a:lnTo>
                  <a:lnTo>
                    <a:pt x="248" y="169"/>
                  </a:lnTo>
                  <a:lnTo>
                    <a:pt x="251" y="169"/>
                  </a:lnTo>
                  <a:lnTo>
                    <a:pt x="254" y="169"/>
                  </a:lnTo>
                  <a:lnTo>
                    <a:pt x="260" y="170"/>
                  </a:lnTo>
                  <a:lnTo>
                    <a:pt x="271" y="170"/>
                  </a:lnTo>
                  <a:lnTo>
                    <a:pt x="277" y="171"/>
                  </a:lnTo>
                  <a:lnTo>
                    <a:pt x="282" y="171"/>
                  </a:lnTo>
                  <a:lnTo>
                    <a:pt x="288" y="171"/>
                  </a:lnTo>
                  <a:lnTo>
                    <a:pt x="293" y="172"/>
                  </a:lnTo>
                  <a:lnTo>
                    <a:pt x="296" y="172"/>
                  </a:lnTo>
                  <a:lnTo>
                    <a:pt x="299" y="172"/>
                  </a:lnTo>
                  <a:lnTo>
                    <a:pt x="304" y="172"/>
                  </a:lnTo>
                  <a:lnTo>
                    <a:pt x="314" y="173"/>
                  </a:lnTo>
                  <a:lnTo>
                    <a:pt x="325" y="173"/>
                  </a:lnTo>
                  <a:lnTo>
                    <a:pt x="335" y="173"/>
                  </a:lnTo>
                  <a:lnTo>
                    <a:pt x="336" y="173"/>
                  </a:lnTo>
                  <a:lnTo>
                    <a:pt x="337" y="173"/>
                  </a:lnTo>
                  <a:lnTo>
                    <a:pt x="340" y="173"/>
                  </a:lnTo>
                  <a:lnTo>
                    <a:pt x="345" y="173"/>
                  </a:lnTo>
                  <a:lnTo>
                    <a:pt x="350" y="172"/>
                  </a:lnTo>
                  <a:lnTo>
                    <a:pt x="355" y="172"/>
                  </a:lnTo>
                  <a:lnTo>
                    <a:pt x="366" y="172"/>
                  </a:lnTo>
                  <a:lnTo>
                    <a:pt x="376" y="171"/>
                  </a:lnTo>
                  <a:lnTo>
                    <a:pt x="386" y="170"/>
                  </a:lnTo>
                  <a:lnTo>
                    <a:pt x="391" y="169"/>
                  </a:lnTo>
                  <a:lnTo>
                    <a:pt x="396" y="169"/>
                  </a:lnTo>
                  <a:lnTo>
                    <a:pt x="406" y="167"/>
                  </a:lnTo>
                  <a:lnTo>
                    <a:pt x="411" y="166"/>
                  </a:lnTo>
                  <a:lnTo>
                    <a:pt x="416" y="166"/>
                  </a:lnTo>
                  <a:lnTo>
                    <a:pt x="426" y="164"/>
                  </a:lnTo>
                  <a:lnTo>
                    <a:pt x="436" y="162"/>
                  </a:lnTo>
                  <a:lnTo>
                    <a:pt x="438" y="161"/>
                  </a:lnTo>
                  <a:lnTo>
                    <a:pt x="441" y="160"/>
                  </a:lnTo>
                  <a:lnTo>
                    <a:pt x="446" y="159"/>
                  </a:lnTo>
                  <a:lnTo>
                    <a:pt x="451" y="158"/>
                  </a:lnTo>
                  <a:lnTo>
                    <a:pt x="456" y="157"/>
                  </a:lnTo>
                  <a:lnTo>
                    <a:pt x="466" y="154"/>
                  </a:lnTo>
                  <a:lnTo>
                    <a:pt x="469" y="153"/>
                  </a:lnTo>
                  <a:lnTo>
                    <a:pt x="473" y="152"/>
                  </a:lnTo>
                  <a:lnTo>
                    <a:pt x="477" y="151"/>
                  </a:lnTo>
                  <a:lnTo>
                    <a:pt x="481" y="151"/>
                  </a:lnTo>
                  <a:lnTo>
                    <a:pt x="485" y="150"/>
                  </a:lnTo>
                  <a:lnTo>
                    <a:pt x="489" y="149"/>
                  </a:lnTo>
                  <a:lnTo>
                    <a:pt x="494" y="148"/>
                  </a:lnTo>
                  <a:lnTo>
                    <a:pt x="499" y="147"/>
                  </a:lnTo>
                  <a:lnTo>
                    <a:pt x="504" y="147"/>
                  </a:lnTo>
                  <a:lnTo>
                    <a:pt x="509" y="146"/>
                  </a:lnTo>
                  <a:lnTo>
                    <a:pt x="515" y="145"/>
                  </a:lnTo>
                  <a:lnTo>
                    <a:pt x="520" y="145"/>
                  </a:lnTo>
                  <a:lnTo>
                    <a:pt x="526" y="144"/>
                  </a:lnTo>
                  <a:lnTo>
                    <a:pt x="532" y="143"/>
                  </a:lnTo>
                  <a:lnTo>
                    <a:pt x="539" y="143"/>
                  </a:lnTo>
                  <a:lnTo>
                    <a:pt x="545" y="143"/>
                  </a:lnTo>
                  <a:lnTo>
                    <a:pt x="552" y="142"/>
                  </a:lnTo>
                  <a:lnTo>
                    <a:pt x="559" y="141"/>
                  </a:lnTo>
                  <a:lnTo>
                    <a:pt x="566" y="141"/>
                  </a:lnTo>
                  <a:lnTo>
                    <a:pt x="573" y="141"/>
                  </a:lnTo>
                  <a:lnTo>
                    <a:pt x="580" y="140"/>
                  </a:lnTo>
                  <a:lnTo>
                    <a:pt x="588" y="140"/>
                  </a:lnTo>
                  <a:lnTo>
                    <a:pt x="595" y="140"/>
                  </a:lnTo>
                  <a:lnTo>
                    <a:pt x="604" y="139"/>
                  </a:lnTo>
                  <a:lnTo>
                    <a:pt x="612" y="139"/>
                  </a:lnTo>
                  <a:lnTo>
                    <a:pt x="620" y="139"/>
                  </a:lnTo>
                  <a:lnTo>
                    <a:pt x="629" y="139"/>
                  </a:lnTo>
                  <a:lnTo>
                    <a:pt x="637" y="139"/>
                  </a:lnTo>
                  <a:lnTo>
                    <a:pt x="646" y="138"/>
                  </a:lnTo>
                  <a:lnTo>
                    <a:pt x="656" y="138"/>
                  </a:lnTo>
                  <a:lnTo>
                    <a:pt x="665" y="138"/>
                  </a:lnTo>
                  <a:lnTo>
                    <a:pt x="674" y="138"/>
                  </a:lnTo>
                  <a:lnTo>
                    <a:pt x="696" y="141"/>
                  </a:lnTo>
                  <a:lnTo>
                    <a:pt x="708" y="142"/>
                  </a:lnTo>
                  <a:lnTo>
                    <a:pt x="719" y="143"/>
                  </a:lnTo>
                  <a:lnTo>
                    <a:pt x="731" y="145"/>
                  </a:lnTo>
                  <a:lnTo>
                    <a:pt x="736" y="145"/>
                  </a:lnTo>
                  <a:lnTo>
                    <a:pt x="742" y="146"/>
                  </a:lnTo>
                  <a:lnTo>
                    <a:pt x="748" y="147"/>
                  </a:lnTo>
                  <a:lnTo>
                    <a:pt x="753" y="147"/>
                  </a:lnTo>
                  <a:lnTo>
                    <a:pt x="764" y="148"/>
                  </a:lnTo>
                  <a:lnTo>
                    <a:pt x="775" y="149"/>
                  </a:lnTo>
                  <a:lnTo>
                    <a:pt x="780" y="150"/>
                  </a:lnTo>
                  <a:lnTo>
                    <a:pt x="786" y="151"/>
                  </a:lnTo>
                  <a:lnTo>
                    <a:pt x="791" y="151"/>
                  </a:lnTo>
                  <a:lnTo>
                    <a:pt x="796" y="151"/>
                  </a:lnTo>
                  <a:lnTo>
                    <a:pt x="806" y="153"/>
                  </a:lnTo>
                  <a:lnTo>
                    <a:pt x="811" y="153"/>
                  </a:lnTo>
                  <a:lnTo>
                    <a:pt x="816" y="153"/>
                  </a:lnTo>
                  <a:lnTo>
                    <a:pt x="826" y="154"/>
                  </a:lnTo>
                  <a:lnTo>
                    <a:pt x="830" y="154"/>
                  </a:lnTo>
                  <a:lnTo>
                    <a:pt x="835" y="155"/>
                  </a:lnTo>
                  <a:lnTo>
                    <a:pt x="845" y="156"/>
                  </a:lnTo>
                  <a:lnTo>
                    <a:pt x="849" y="156"/>
                  </a:lnTo>
                  <a:lnTo>
                    <a:pt x="854" y="156"/>
                  </a:lnTo>
                  <a:lnTo>
                    <a:pt x="863" y="157"/>
                  </a:lnTo>
                  <a:lnTo>
                    <a:pt x="867" y="157"/>
                  </a:lnTo>
                  <a:lnTo>
                    <a:pt x="871" y="158"/>
                  </a:lnTo>
                  <a:lnTo>
                    <a:pt x="880" y="158"/>
                  </a:lnTo>
                  <a:lnTo>
                    <a:pt x="884" y="159"/>
                  </a:lnTo>
                  <a:lnTo>
                    <a:pt x="888" y="159"/>
                  </a:lnTo>
                  <a:lnTo>
                    <a:pt x="896" y="159"/>
                  </a:lnTo>
                  <a:lnTo>
                    <a:pt x="904" y="160"/>
                  </a:lnTo>
                  <a:lnTo>
                    <a:pt x="908" y="160"/>
                  </a:lnTo>
                  <a:lnTo>
                    <a:pt x="912" y="160"/>
                  </a:lnTo>
                  <a:lnTo>
                    <a:pt x="915" y="160"/>
                  </a:lnTo>
                  <a:lnTo>
                    <a:pt x="919" y="160"/>
                  </a:lnTo>
                  <a:lnTo>
                    <a:pt x="926" y="161"/>
                  </a:lnTo>
                  <a:lnTo>
                    <a:pt x="933" y="161"/>
                  </a:lnTo>
                  <a:lnTo>
                    <a:pt x="937" y="161"/>
                  </a:lnTo>
                  <a:lnTo>
                    <a:pt x="940" y="161"/>
                  </a:lnTo>
                  <a:lnTo>
                    <a:pt x="943" y="161"/>
                  </a:lnTo>
                  <a:lnTo>
                    <a:pt x="947" y="161"/>
                  </a:lnTo>
                  <a:lnTo>
                    <a:pt x="950" y="161"/>
                  </a:lnTo>
                  <a:lnTo>
                    <a:pt x="953" y="161"/>
                  </a:lnTo>
                  <a:lnTo>
                    <a:pt x="959" y="161"/>
                  </a:lnTo>
                  <a:lnTo>
                    <a:pt x="962" y="161"/>
                  </a:lnTo>
                  <a:lnTo>
                    <a:pt x="966" y="161"/>
                  </a:lnTo>
                  <a:lnTo>
                    <a:pt x="971" y="161"/>
                  </a:lnTo>
                  <a:lnTo>
                    <a:pt x="974" y="161"/>
                  </a:lnTo>
                  <a:lnTo>
                    <a:pt x="977" y="161"/>
                  </a:lnTo>
                  <a:lnTo>
                    <a:pt x="982" y="161"/>
                  </a:lnTo>
                  <a:lnTo>
                    <a:pt x="985" y="161"/>
                  </a:lnTo>
                  <a:lnTo>
                    <a:pt x="988" y="161"/>
                  </a:lnTo>
                  <a:lnTo>
                    <a:pt x="992" y="161"/>
                  </a:lnTo>
                  <a:lnTo>
                    <a:pt x="995" y="160"/>
                  </a:lnTo>
                  <a:lnTo>
                    <a:pt x="997" y="160"/>
                  </a:lnTo>
                  <a:lnTo>
                    <a:pt x="999" y="160"/>
                  </a:lnTo>
                  <a:lnTo>
                    <a:pt x="1002" y="160"/>
                  </a:lnTo>
                  <a:lnTo>
                    <a:pt x="1006" y="160"/>
                  </a:lnTo>
                  <a:lnTo>
                    <a:pt x="1010" y="159"/>
                  </a:lnTo>
                  <a:lnTo>
                    <a:pt x="1012" y="159"/>
                  </a:lnTo>
                  <a:lnTo>
                    <a:pt x="1014" y="159"/>
                  </a:lnTo>
                  <a:lnTo>
                    <a:pt x="1016" y="158"/>
                  </a:lnTo>
                  <a:lnTo>
                    <a:pt x="1018" y="158"/>
                  </a:lnTo>
                  <a:lnTo>
                    <a:pt x="1021" y="157"/>
                  </a:lnTo>
                  <a:lnTo>
                    <a:pt x="1023" y="157"/>
                  </a:lnTo>
                  <a:lnTo>
                    <a:pt x="1025" y="157"/>
                  </a:lnTo>
                  <a:lnTo>
                    <a:pt x="1028" y="156"/>
                  </a:lnTo>
                  <a:lnTo>
                    <a:pt x="1029" y="156"/>
                  </a:lnTo>
                  <a:lnTo>
                    <a:pt x="1031" y="155"/>
                  </a:lnTo>
                  <a:lnTo>
                    <a:pt x="1033" y="154"/>
                  </a:lnTo>
                  <a:lnTo>
                    <a:pt x="1034" y="154"/>
                  </a:lnTo>
                  <a:lnTo>
                    <a:pt x="1036" y="154"/>
                  </a:lnTo>
                  <a:lnTo>
                    <a:pt x="1038" y="153"/>
                  </a:lnTo>
                  <a:lnTo>
                    <a:pt x="1039" y="152"/>
                  </a:lnTo>
                  <a:lnTo>
                    <a:pt x="1040" y="152"/>
                  </a:lnTo>
                  <a:lnTo>
                    <a:pt x="1042" y="151"/>
                  </a:lnTo>
                  <a:lnTo>
                    <a:pt x="1043" y="150"/>
                  </a:lnTo>
                  <a:lnTo>
                    <a:pt x="1044" y="150"/>
                  </a:lnTo>
                  <a:lnTo>
                    <a:pt x="1045" y="149"/>
                  </a:lnTo>
                  <a:lnTo>
                    <a:pt x="1046" y="147"/>
                  </a:lnTo>
                  <a:lnTo>
                    <a:pt x="1047" y="147"/>
                  </a:lnTo>
                  <a:lnTo>
                    <a:pt x="1047" y="146"/>
                  </a:lnTo>
                  <a:lnTo>
                    <a:pt x="1048" y="146"/>
                  </a:lnTo>
                  <a:lnTo>
                    <a:pt x="1048" y="145"/>
                  </a:lnTo>
                  <a:lnTo>
                    <a:pt x="1049" y="144"/>
                  </a:lnTo>
                  <a:lnTo>
                    <a:pt x="1049" y="142"/>
                  </a:lnTo>
                  <a:lnTo>
                    <a:pt x="1049" y="142"/>
                  </a:lnTo>
                  <a:lnTo>
                    <a:pt x="1049" y="141"/>
                  </a:lnTo>
                  <a:lnTo>
                    <a:pt x="1049" y="140"/>
                  </a:lnTo>
                  <a:lnTo>
                    <a:pt x="1049" y="140"/>
                  </a:lnTo>
                  <a:lnTo>
                    <a:pt x="1049" y="139"/>
                  </a:lnTo>
                  <a:lnTo>
                    <a:pt x="1049" y="138"/>
                  </a:lnTo>
                  <a:lnTo>
                    <a:pt x="1049" y="137"/>
                  </a:lnTo>
                  <a:lnTo>
                    <a:pt x="1048" y="136"/>
                  </a:lnTo>
                  <a:lnTo>
                    <a:pt x="1048" y="135"/>
                  </a:lnTo>
                  <a:lnTo>
                    <a:pt x="1047" y="134"/>
                  </a:lnTo>
                  <a:lnTo>
                    <a:pt x="1047" y="134"/>
                  </a:lnTo>
                  <a:lnTo>
                    <a:pt x="1046" y="133"/>
                  </a:lnTo>
                  <a:lnTo>
                    <a:pt x="1046" y="132"/>
                  </a:lnTo>
                  <a:lnTo>
                    <a:pt x="1045" y="130"/>
                  </a:lnTo>
                  <a:lnTo>
                    <a:pt x="1044" y="129"/>
                  </a:lnTo>
                  <a:lnTo>
                    <a:pt x="1043" y="128"/>
                  </a:lnTo>
                  <a:lnTo>
                    <a:pt x="1037" y="121"/>
                  </a:lnTo>
                  <a:lnTo>
                    <a:pt x="1030" y="114"/>
                  </a:lnTo>
                  <a:lnTo>
                    <a:pt x="1027" y="111"/>
                  </a:lnTo>
                  <a:lnTo>
                    <a:pt x="1023" y="108"/>
                  </a:lnTo>
                  <a:lnTo>
                    <a:pt x="1016" y="101"/>
                  </a:lnTo>
                  <a:lnTo>
                    <a:pt x="1009" y="95"/>
                  </a:lnTo>
                  <a:lnTo>
                    <a:pt x="1005" y="92"/>
                  </a:lnTo>
                  <a:lnTo>
                    <a:pt x="1002" y="89"/>
                  </a:lnTo>
                  <a:lnTo>
                    <a:pt x="994" y="84"/>
                  </a:lnTo>
                  <a:lnTo>
                    <a:pt x="986" y="79"/>
                  </a:lnTo>
                  <a:lnTo>
                    <a:pt x="982" y="76"/>
                  </a:lnTo>
                  <a:lnTo>
                    <a:pt x="978" y="73"/>
                  </a:lnTo>
                  <a:lnTo>
                    <a:pt x="974" y="71"/>
                  </a:lnTo>
                  <a:lnTo>
                    <a:pt x="969" y="68"/>
                  </a:lnTo>
                  <a:lnTo>
                    <a:pt x="965" y="66"/>
                  </a:lnTo>
                  <a:lnTo>
                    <a:pt x="961" y="64"/>
                  </a:lnTo>
                  <a:lnTo>
                    <a:pt x="957" y="62"/>
                  </a:lnTo>
                  <a:lnTo>
                    <a:pt x="952" y="59"/>
                  </a:lnTo>
                  <a:lnTo>
                    <a:pt x="948" y="57"/>
                  </a:lnTo>
                  <a:lnTo>
                    <a:pt x="943" y="55"/>
                  </a:lnTo>
                  <a:lnTo>
                    <a:pt x="934" y="51"/>
                  </a:lnTo>
                  <a:lnTo>
                    <a:pt x="929" y="49"/>
                  </a:lnTo>
                  <a:lnTo>
                    <a:pt x="924" y="48"/>
                  </a:lnTo>
                  <a:lnTo>
                    <a:pt x="915" y="44"/>
                  </a:lnTo>
                  <a:close/>
                </a:path>
              </a:pathLst>
            </a:custGeom>
            <a:solidFill>
              <a:srgbClr val="6699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1" name="Rectangle 3"/>
            <p:cNvSpPr>
              <a:spLocks noChangeArrowheads="1"/>
            </p:cNvSpPr>
            <p:nvPr/>
          </p:nvSpPr>
          <p:spPr bwMode="auto">
            <a:xfrm>
              <a:off x="3954647" y="1852389"/>
              <a:ext cx="1368303" cy="860822"/>
            </a:xfrm>
            <a:prstGeom prst="rect">
              <a:avLst/>
            </a:prstGeom>
            <a:solidFill>
              <a:srgbClr val="66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2" name="Freeform 4"/>
            <p:cNvSpPr>
              <a:spLocks/>
            </p:cNvSpPr>
            <p:nvPr/>
          </p:nvSpPr>
          <p:spPr bwMode="auto">
            <a:xfrm>
              <a:off x="3954647" y="1852389"/>
              <a:ext cx="1368303" cy="860822"/>
            </a:xfrm>
            <a:custGeom>
              <a:avLst/>
              <a:gdLst/>
              <a:ahLst/>
              <a:cxnLst>
                <a:cxn ang="0">
                  <a:pos x="992" y="0"/>
                </a:cxn>
                <a:cxn ang="0">
                  <a:pos x="0" y="0"/>
                </a:cxn>
                <a:cxn ang="0">
                  <a:pos x="0" y="624"/>
                </a:cxn>
                <a:cxn ang="0">
                  <a:pos x="992" y="624"/>
                </a:cxn>
              </a:cxnLst>
              <a:rect l="0" t="0" r="r" b="b"/>
              <a:pathLst>
                <a:path w="992" h="624">
                  <a:moveTo>
                    <a:pt x="992" y="0"/>
                  </a:moveTo>
                  <a:lnTo>
                    <a:pt x="0" y="0"/>
                  </a:lnTo>
                  <a:lnTo>
                    <a:pt x="0" y="624"/>
                  </a:lnTo>
                  <a:lnTo>
                    <a:pt x="992" y="62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3" name="Freeform 5"/>
            <p:cNvSpPr>
              <a:spLocks/>
            </p:cNvSpPr>
            <p:nvPr/>
          </p:nvSpPr>
          <p:spPr bwMode="auto">
            <a:xfrm>
              <a:off x="5849389" y="3394248"/>
              <a:ext cx="36268" cy="236934"/>
            </a:xfrm>
            <a:custGeom>
              <a:avLst/>
              <a:gdLst/>
              <a:ahLst/>
              <a:cxnLst>
                <a:cxn ang="0">
                  <a:pos x="1" y="172"/>
                </a:cxn>
                <a:cxn ang="0">
                  <a:pos x="2" y="172"/>
                </a:cxn>
                <a:cxn ang="0">
                  <a:pos x="4" y="171"/>
                </a:cxn>
                <a:cxn ang="0">
                  <a:pos x="6" y="171"/>
                </a:cxn>
                <a:cxn ang="0">
                  <a:pos x="8" y="169"/>
                </a:cxn>
                <a:cxn ang="0">
                  <a:pos x="10" y="167"/>
                </a:cxn>
                <a:cxn ang="0">
                  <a:pos x="13" y="164"/>
                </a:cxn>
                <a:cxn ang="0">
                  <a:pos x="14" y="161"/>
                </a:cxn>
                <a:cxn ang="0">
                  <a:pos x="16" y="158"/>
                </a:cxn>
                <a:cxn ang="0">
                  <a:pos x="18" y="152"/>
                </a:cxn>
                <a:cxn ang="0">
                  <a:pos x="20" y="147"/>
                </a:cxn>
                <a:cxn ang="0">
                  <a:pos x="21" y="142"/>
                </a:cxn>
                <a:cxn ang="0">
                  <a:pos x="22" y="137"/>
                </a:cxn>
                <a:cxn ang="0">
                  <a:pos x="22" y="134"/>
                </a:cxn>
                <a:cxn ang="0">
                  <a:pos x="23" y="133"/>
                </a:cxn>
                <a:cxn ang="0">
                  <a:pos x="23" y="132"/>
                </a:cxn>
                <a:cxn ang="0">
                  <a:pos x="23" y="130"/>
                </a:cxn>
                <a:cxn ang="0">
                  <a:pos x="23" y="129"/>
                </a:cxn>
                <a:cxn ang="0">
                  <a:pos x="24" y="126"/>
                </a:cxn>
                <a:cxn ang="0">
                  <a:pos x="25" y="119"/>
                </a:cxn>
                <a:cxn ang="0">
                  <a:pos x="26" y="111"/>
                </a:cxn>
                <a:cxn ang="0">
                  <a:pos x="26" y="107"/>
                </a:cxn>
                <a:cxn ang="0">
                  <a:pos x="26" y="99"/>
                </a:cxn>
                <a:cxn ang="0">
                  <a:pos x="27" y="90"/>
                </a:cxn>
                <a:cxn ang="0">
                  <a:pos x="27" y="81"/>
                </a:cxn>
                <a:cxn ang="0">
                  <a:pos x="26" y="73"/>
                </a:cxn>
                <a:cxn ang="0">
                  <a:pos x="26" y="65"/>
                </a:cxn>
                <a:cxn ang="0">
                  <a:pos x="25" y="57"/>
                </a:cxn>
                <a:cxn ang="0">
                  <a:pos x="24" y="49"/>
                </a:cxn>
                <a:cxn ang="0">
                  <a:pos x="23" y="38"/>
                </a:cxn>
                <a:cxn ang="0">
                  <a:pos x="21" y="32"/>
                </a:cxn>
                <a:cxn ang="0">
                  <a:pos x="19" y="22"/>
                </a:cxn>
                <a:cxn ang="0">
                  <a:pos x="17" y="17"/>
                </a:cxn>
                <a:cxn ang="0">
                  <a:pos x="15" y="12"/>
                </a:cxn>
                <a:cxn ang="0">
                  <a:pos x="13" y="8"/>
                </a:cxn>
                <a:cxn ang="0">
                  <a:pos x="10" y="5"/>
                </a:cxn>
                <a:cxn ang="0">
                  <a:pos x="8" y="3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1" y="0"/>
                </a:cxn>
              </a:cxnLst>
              <a:rect l="0" t="0" r="r" b="b"/>
              <a:pathLst>
                <a:path w="27" h="172">
                  <a:moveTo>
                    <a:pt x="0" y="171"/>
                  </a:moveTo>
                  <a:lnTo>
                    <a:pt x="1" y="172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4" y="171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7" y="170"/>
                  </a:lnTo>
                  <a:lnTo>
                    <a:pt x="8" y="169"/>
                  </a:lnTo>
                  <a:lnTo>
                    <a:pt x="9" y="168"/>
                  </a:lnTo>
                  <a:lnTo>
                    <a:pt x="10" y="167"/>
                  </a:lnTo>
                  <a:lnTo>
                    <a:pt x="12" y="165"/>
                  </a:lnTo>
                  <a:lnTo>
                    <a:pt x="13" y="164"/>
                  </a:lnTo>
                  <a:lnTo>
                    <a:pt x="14" y="162"/>
                  </a:lnTo>
                  <a:lnTo>
                    <a:pt x="14" y="161"/>
                  </a:lnTo>
                  <a:lnTo>
                    <a:pt x="15" y="160"/>
                  </a:lnTo>
                  <a:lnTo>
                    <a:pt x="16" y="158"/>
                  </a:lnTo>
                  <a:lnTo>
                    <a:pt x="17" y="155"/>
                  </a:lnTo>
                  <a:lnTo>
                    <a:pt x="18" y="152"/>
                  </a:lnTo>
                  <a:lnTo>
                    <a:pt x="19" y="150"/>
                  </a:lnTo>
                  <a:lnTo>
                    <a:pt x="20" y="147"/>
                  </a:lnTo>
                  <a:lnTo>
                    <a:pt x="20" y="143"/>
                  </a:lnTo>
                  <a:lnTo>
                    <a:pt x="21" y="142"/>
                  </a:lnTo>
                  <a:lnTo>
                    <a:pt x="21" y="140"/>
                  </a:lnTo>
                  <a:lnTo>
                    <a:pt x="22" y="137"/>
                  </a:lnTo>
                  <a:lnTo>
                    <a:pt x="22" y="135"/>
                  </a:lnTo>
                  <a:lnTo>
                    <a:pt x="22" y="134"/>
                  </a:lnTo>
                  <a:lnTo>
                    <a:pt x="22" y="134"/>
                  </a:lnTo>
                  <a:lnTo>
                    <a:pt x="23" y="133"/>
                  </a:lnTo>
                  <a:lnTo>
                    <a:pt x="23" y="133"/>
                  </a:lnTo>
                  <a:lnTo>
                    <a:pt x="23" y="132"/>
                  </a:lnTo>
                  <a:lnTo>
                    <a:pt x="23" y="131"/>
                  </a:lnTo>
                  <a:lnTo>
                    <a:pt x="23" y="130"/>
                  </a:lnTo>
                  <a:lnTo>
                    <a:pt x="23" y="129"/>
                  </a:lnTo>
                  <a:lnTo>
                    <a:pt x="23" y="129"/>
                  </a:lnTo>
                  <a:lnTo>
                    <a:pt x="23" y="128"/>
                  </a:lnTo>
                  <a:lnTo>
                    <a:pt x="24" y="126"/>
                  </a:lnTo>
                  <a:lnTo>
                    <a:pt x="24" y="122"/>
                  </a:lnTo>
                  <a:lnTo>
                    <a:pt x="25" y="119"/>
                  </a:lnTo>
                  <a:lnTo>
                    <a:pt x="25" y="115"/>
                  </a:lnTo>
                  <a:lnTo>
                    <a:pt x="26" y="111"/>
                  </a:lnTo>
                  <a:lnTo>
                    <a:pt x="26" y="109"/>
                  </a:lnTo>
                  <a:lnTo>
                    <a:pt x="26" y="107"/>
                  </a:lnTo>
                  <a:lnTo>
                    <a:pt x="26" y="103"/>
                  </a:lnTo>
                  <a:lnTo>
                    <a:pt x="26" y="99"/>
                  </a:lnTo>
                  <a:lnTo>
                    <a:pt x="27" y="95"/>
                  </a:lnTo>
                  <a:lnTo>
                    <a:pt x="27" y="90"/>
                  </a:lnTo>
                  <a:lnTo>
                    <a:pt x="27" y="86"/>
                  </a:lnTo>
                  <a:lnTo>
                    <a:pt x="27" y="81"/>
                  </a:lnTo>
                  <a:lnTo>
                    <a:pt x="27" y="77"/>
                  </a:lnTo>
                  <a:lnTo>
                    <a:pt x="26" y="73"/>
                  </a:lnTo>
                  <a:lnTo>
                    <a:pt x="26" y="69"/>
                  </a:lnTo>
                  <a:lnTo>
                    <a:pt x="26" y="65"/>
                  </a:lnTo>
                  <a:lnTo>
                    <a:pt x="26" y="61"/>
                  </a:lnTo>
                  <a:lnTo>
                    <a:pt x="25" y="57"/>
                  </a:lnTo>
                  <a:lnTo>
                    <a:pt x="25" y="53"/>
                  </a:lnTo>
                  <a:lnTo>
                    <a:pt x="24" y="49"/>
                  </a:lnTo>
                  <a:lnTo>
                    <a:pt x="24" y="46"/>
                  </a:lnTo>
                  <a:lnTo>
                    <a:pt x="23" y="38"/>
                  </a:lnTo>
                  <a:lnTo>
                    <a:pt x="22" y="35"/>
                  </a:lnTo>
                  <a:lnTo>
                    <a:pt x="21" y="32"/>
                  </a:lnTo>
                  <a:lnTo>
                    <a:pt x="20" y="25"/>
                  </a:lnTo>
                  <a:lnTo>
                    <a:pt x="19" y="22"/>
                  </a:lnTo>
                  <a:lnTo>
                    <a:pt x="18" y="19"/>
                  </a:lnTo>
                  <a:lnTo>
                    <a:pt x="17" y="17"/>
                  </a:lnTo>
                  <a:lnTo>
                    <a:pt x="16" y="14"/>
                  </a:lnTo>
                  <a:lnTo>
                    <a:pt x="15" y="12"/>
                  </a:lnTo>
                  <a:lnTo>
                    <a:pt x="14" y="10"/>
                  </a:lnTo>
                  <a:lnTo>
                    <a:pt x="13" y="8"/>
                  </a:lnTo>
                  <a:lnTo>
                    <a:pt x="12" y="7"/>
                  </a:lnTo>
                  <a:lnTo>
                    <a:pt x="10" y="5"/>
                  </a:lnTo>
                  <a:lnTo>
                    <a:pt x="9" y="4"/>
                  </a:lnTo>
                  <a:lnTo>
                    <a:pt x="8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5" y="1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1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4" name="Freeform 6"/>
            <p:cNvSpPr>
              <a:spLocks/>
            </p:cNvSpPr>
            <p:nvPr/>
          </p:nvSpPr>
          <p:spPr bwMode="auto">
            <a:xfrm>
              <a:off x="5298772" y="2751311"/>
              <a:ext cx="542925" cy="21431"/>
            </a:xfrm>
            <a:custGeom>
              <a:avLst/>
              <a:gdLst/>
              <a:ahLst/>
              <a:cxnLst>
                <a:cxn ang="0">
                  <a:pos x="1" y="15"/>
                </a:cxn>
                <a:cxn ang="0">
                  <a:pos x="4" y="13"/>
                </a:cxn>
                <a:cxn ang="0">
                  <a:pos x="8" y="12"/>
                </a:cxn>
                <a:cxn ang="0">
                  <a:pos x="14" y="11"/>
                </a:cxn>
                <a:cxn ang="0">
                  <a:pos x="21" y="9"/>
                </a:cxn>
                <a:cxn ang="0">
                  <a:pos x="30" y="8"/>
                </a:cxn>
                <a:cxn ang="0">
                  <a:pos x="40" y="7"/>
                </a:cxn>
                <a:cxn ang="0">
                  <a:pos x="51" y="6"/>
                </a:cxn>
                <a:cxn ang="0">
                  <a:pos x="65" y="5"/>
                </a:cxn>
                <a:cxn ang="0">
                  <a:pos x="80" y="4"/>
                </a:cxn>
                <a:cxn ang="0">
                  <a:pos x="96" y="3"/>
                </a:cxn>
                <a:cxn ang="0">
                  <a:pos x="112" y="2"/>
                </a:cxn>
                <a:cxn ang="0">
                  <a:pos x="130" y="1"/>
                </a:cxn>
                <a:cxn ang="0">
                  <a:pos x="148" y="1"/>
                </a:cxn>
                <a:cxn ang="0">
                  <a:pos x="167" y="0"/>
                </a:cxn>
                <a:cxn ang="0">
                  <a:pos x="187" y="0"/>
                </a:cxn>
                <a:cxn ang="0">
                  <a:pos x="207" y="0"/>
                </a:cxn>
                <a:cxn ang="0">
                  <a:pos x="227" y="0"/>
                </a:cxn>
                <a:cxn ang="0">
                  <a:pos x="246" y="1"/>
                </a:cxn>
                <a:cxn ang="0">
                  <a:pos x="264" y="1"/>
                </a:cxn>
                <a:cxn ang="0">
                  <a:pos x="281" y="2"/>
                </a:cxn>
                <a:cxn ang="0">
                  <a:pos x="298" y="3"/>
                </a:cxn>
                <a:cxn ang="0">
                  <a:pos x="314" y="4"/>
                </a:cxn>
                <a:cxn ang="0">
                  <a:pos x="329" y="5"/>
                </a:cxn>
                <a:cxn ang="0">
                  <a:pos x="340" y="5"/>
                </a:cxn>
                <a:cxn ang="0">
                  <a:pos x="349" y="6"/>
                </a:cxn>
                <a:cxn ang="0">
                  <a:pos x="359" y="7"/>
                </a:cxn>
                <a:cxn ang="0">
                  <a:pos x="364" y="8"/>
                </a:cxn>
                <a:cxn ang="0">
                  <a:pos x="371" y="9"/>
                </a:cxn>
                <a:cxn ang="0">
                  <a:pos x="377" y="10"/>
                </a:cxn>
                <a:cxn ang="0">
                  <a:pos x="381" y="11"/>
                </a:cxn>
                <a:cxn ang="0">
                  <a:pos x="385" y="12"/>
                </a:cxn>
                <a:cxn ang="0">
                  <a:pos x="390" y="13"/>
                </a:cxn>
                <a:cxn ang="0">
                  <a:pos x="391" y="14"/>
                </a:cxn>
                <a:cxn ang="0">
                  <a:pos x="393" y="15"/>
                </a:cxn>
              </a:cxnLst>
              <a:rect l="0" t="0" r="r" b="b"/>
              <a:pathLst>
                <a:path w="394" h="16">
                  <a:moveTo>
                    <a:pt x="0" y="16"/>
                  </a:moveTo>
                  <a:lnTo>
                    <a:pt x="1" y="15"/>
                  </a:lnTo>
                  <a:lnTo>
                    <a:pt x="2" y="14"/>
                  </a:lnTo>
                  <a:lnTo>
                    <a:pt x="4" y="13"/>
                  </a:lnTo>
                  <a:lnTo>
                    <a:pt x="6" y="13"/>
                  </a:lnTo>
                  <a:lnTo>
                    <a:pt x="8" y="12"/>
                  </a:lnTo>
                  <a:lnTo>
                    <a:pt x="11" y="11"/>
                  </a:lnTo>
                  <a:lnTo>
                    <a:pt x="14" y="11"/>
                  </a:lnTo>
                  <a:lnTo>
                    <a:pt x="17" y="10"/>
                  </a:lnTo>
                  <a:lnTo>
                    <a:pt x="21" y="9"/>
                  </a:lnTo>
                  <a:lnTo>
                    <a:pt x="25" y="9"/>
                  </a:lnTo>
                  <a:lnTo>
                    <a:pt x="30" y="8"/>
                  </a:lnTo>
                  <a:lnTo>
                    <a:pt x="34" y="7"/>
                  </a:lnTo>
                  <a:lnTo>
                    <a:pt x="40" y="7"/>
                  </a:lnTo>
                  <a:lnTo>
                    <a:pt x="45" y="6"/>
                  </a:lnTo>
                  <a:lnTo>
                    <a:pt x="51" y="6"/>
                  </a:lnTo>
                  <a:lnTo>
                    <a:pt x="58" y="5"/>
                  </a:lnTo>
                  <a:lnTo>
                    <a:pt x="65" y="5"/>
                  </a:lnTo>
                  <a:lnTo>
                    <a:pt x="72" y="4"/>
                  </a:lnTo>
                  <a:lnTo>
                    <a:pt x="80" y="4"/>
                  </a:lnTo>
                  <a:lnTo>
                    <a:pt x="88" y="3"/>
                  </a:lnTo>
                  <a:lnTo>
                    <a:pt x="96" y="3"/>
                  </a:lnTo>
                  <a:lnTo>
                    <a:pt x="104" y="2"/>
                  </a:lnTo>
                  <a:lnTo>
                    <a:pt x="112" y="2"/>
                  </a:lnTo>
                  <a:lnTo>
                    <a:pt x="121" y="2"/>
                  </a:lnTo>
                  <a:lnTo>
                    <a:pt x="130" y="1"/>
                  </a:lnTo>
                  <a:lnTo>
                    <a:pt x="139" y="1"/>
                  </a:lnTo>
                  <a:lnTo>
                    <a:pt x="148" y="1"/>
                  </a:lnTo>
                  <a:lnTo>
                    <a:pt x="158" y="1"/>
                  </a:lnTo>
                  <a:lnTo>
                    <a:pt x="167" y="0"/>
                  </a:lnTo>
                  <a:lnTo>
                    <a:pt x="177" y="0"/>
                  </a:lnTo>
                  <a:lnTo>
                    <a:pt x="187" y="0"/>
                  </a:lnTo>
                  <a:lnTo>
                    <a:pt x="197" y="0"/>
                  </a:lnTo>
                  <a:lnTo>
                    <a:pt x="207" y="0"/>
                  </a:lnTo>
                  <a:lnTo>
                    <a:pt x="217" y="0"/>
                  </a:lnTo>
                  <a:lnTo>
                    <a:pt x="227" y="0"/>
                  </a:lnTo>
                  <a:lnTo>
                    <a:pt x="236" y="1"/>
                  </a:lnTo>
                  <a:lnTo>
                    <a:pt x="246" y="1"/>
                  </a:lnTo>
                  <a:lnTo>
                    <a:pt x="255" y="1"/>
                  </a:lnTo>
                  <a:lnTo>
                    <a:pt x="264" y="1"/>
                  </a:lnTo>
                  <a:lnTo>
                    <a:pt x="273" y="2"/>
                  </a:lnTo>
                  <a:lnTo>
                    <a:pt x="281" y="2"/>
                  </a:lnTo>
                  <a:lnTo>
                    <a:pt x="290" y="2"/>
                  </a:lnTo>
                  <a:lnTo>
                    <a:pt x="298" y="3"/>
                  </a:lnTo>
                  <a:lnTo>
                    <a:pt x="306" y="3"/>
                  </a:lnTo>
                  <a:lnTo>
                    <a:pt x="314" y="4"/>
                  </a:lnTo>
                  <a:lnTo>
                    <a:pt x="322" y="4"/>
                  </a:lnTo>
                  <a:lnTo>
                    <a:pt x="329" y="5"/>
                  </a:lnTo>
                  <a:lnTo>
                    <a:pt x="336" y="5"/>
                  </a:lnTo>
                  <a:lnTo>
                    <a:pt x="340" y="5"/>
                  </a:lnTo>
                  <a:lnTo>
                    <a:pt x="343" y="6"/>
                  </a:lnTo>
                  <a:lnTo>
                    <a:pt x="349" y="6"/>
                  </a:lnTo>
                  <a:lnTo>
                    <a:pt x="354" y="7"/>
                  </a:lnTo>
                  <a:lnTo>
                    <a:pt x="359" y="7"/>
                  </a:lnTo>
                  <a:lnTo>
                    <a:pt x="362" y="8"/>
                  </a:lnTo>
                  <a:lnTo>
                    <a:pt x="364" y="8"/>
                  </a:lnTo>
                  <a:lnTo>
                    <a:pt x="369" y="9"/>
                  </a:lnTo>
                  <a:lnTo>
                    <a:pt x="371" y="9"/>
                  </a:lnTo>
                  <a:lnTo>
                    <a:pt x="373" y="9"/>
                  </a:lnTo>
                  <a:lnTo>
                    <a:pt x="377" y="10"/>
                  </a:lnTo>
                  <a:lnTo>
                    <a:pt x="380" y="11"/>
                  </a:lnTo>
                  <a:lnTo>
                    <a:pt x="381" y="11"/>
                  </a:lnTo>
                  <a:lnTo>
                    <a:pt x="383" y="11"/>
                  </a:lnTo>
                  <a:lnTo>
                    <a:pt x="385" y="12"/>
                  </a:lnTo>
                  <a:lnTo>
                    <a:pt x="388" y="13"/>
                  </a:lnTo>
                  <a:lnTo>
                    <a:pt x="390" y="13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3" y="15"/>
                  </a:lnTo>
                  <a:lnTo>
                    <a:pt x="393" y="15"/>
                  </a:lnTo>
                  <a:lnTo>
                    <a:pt x="394" y="16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5" name="Line 7"/>
            <p:cNvSpPr>
              <a:spLocks noChangeShapeType="1"/>
            </p:cNvSpPr>
            <p:nvPr/>
          </p:nvSpPr>
          <p:spPr bwMode="auto">
            <a:xfrm flipV="1">
              <a:off x="5298772" y="2772743"/>
              <a:ext cx="1099" cy="84534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6" name="Line 8"/>
            <p:cNvSpPr>
              <a:spLocks noChangeShapeType="1"/>
            </p:cNvSpPr>
            <p:nvPr/>
          </p:nvSpPr>
          <p:spPr bwMode="auto">
            <a:xfrm>
              <a:off x="5305366" y="3624039"/>
              <a:ext cx="537430" cy="238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7" name="Line 9"/>
            <p:cNvSpPr>
              <a:spLocks noChangeShapeType="1"/>
            </p:cNvSpPr>
            <p:nvPr/>
          </p:nvSpPr>
          <p:spPr bwMode="auto">
            <a:xfrm flipV="1">
              <a:off x="5842795" y="2772742"/>
              <a:ext cx="1099" cy="633413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8" name="Line 10"/>
            <p:cNvSpPr>
              <a:spLocks noChangeShapeType="1"/>
            </p:cNvSpPr>
            <p:nvPr/>
          </p:nvSpPr>
          <p:spPr bwMode="auto">
            <a:xfrm flipH="1">
              <a:off x="3954647" y="2713211"/>
              <a:ext cx="1368303" cy="238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59" name="Line 11"/>
            <p:cNvSpPr>
              <a:spLocks noChangeShapeType="1"/>
            </p:cNvSpPr>
            <p:nvPr/>
          </p:nvSpPr>
          <p:spPr bwMode="auto">
            <a:xfrm flipH="1">
              <a:off x="5320752" y="1864295"/>
              <a:ext cx="2198" cy="567929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0" name="Freeform 12"/>
            <p:cNvSpPr>
              <a:spLocks/>
            </p:cNvSpPr>
            <p:nvPr/>
          </p:nvSpPr>
          <p:spPr bwMode="auto">
            <a:xfrm>
              <a:off x="5320752" y="2458418"/>
              <a:ext cx="422031" cy="1154906"/>
            </a:xfrm>
            <a:custGeom>
              <a:avLst/>
              <a:gdLst/>
              <a:ahLst/>
              <a:cxnLst>
                <a:cxn ang="0">
                  <a:pos x="306" y="837"/>
                </a:cxn>
                <a:cxn ang="0">
                  <a:pos x="306" y="829"/>
                </a:cxn>
                <a:cxn ang="0">
                  <a:pos x="306" y="811"/>
                </a:cxn>
                <a:cxn ang="0">
                  <a:pos x="306" y="803"/>
                </a:cxn>
                <a:cxn ang="0">
                  <a:pos x="306" y="780"/>
                </a:cxn>
                <a:cxn ang="0">
                  <a:pos x="305" y="736"/>
                </a:cxn>
                <a:cxn ang="0">
                  <a:pos x="302" y="692"/>
                </a:cxn>
                <a:cxn ang="0">
                  <a:pos x="299" y="649"/>
                </a:cxn>
                <a:cxn ang="0">
                  <a:pos x="297" y="628"/>
                </a:cxn>
                <a:cxn ang="0">
                  <a:pos x="293" y="597"/>
                </a:cxn>
                <a:cxn ang="0">
                  <a:pos x="288" y="566"/>
                </a:cxn>
                <a:cxn ang="0">
                  <a:pos x="281" y="526"/>
                </a:cxn>
                <a:cxn ang="0">
                  <a:pos x="277" y="506"/>
                </a:cxn>
                <a:cxn ang="0">
                  <a:pos x="269" y="468"/>
                </a:cxn>
                <a:cxn ang="0">
                  <a:pos x="264" y="448"/>
                </a:cxn>
                <a:cxn ang="0">
                  <a:pos x="256" y="420"/>
                </a:cxn>
                <a:cxn ang="0">
                  <a:pos x="248" y="392"/>
                </a:cxn>
                <a:cxn ang="0">
                  <a:pos x="242" y="374"/>
                </a:cxn>
                <a:cxn ang="0">
                  <a:pos x="229" y="338"/>
                </a:cxn>
                <a:cxn ang="0">
                  <a:pos x="215" y="302"/>
                </a:cxn>
                <a:cxn ang="0">
                  <a:pos x="199" y="268"/>
                </a:cxn>
                <a:cxn ang="0">
                  <a:pos x="192" y="251"/>
                </a:cxn>
                <a:cxn ang="0">
                  <a:pos x="179" y="226"/>
                </a:cxn>
                <a:cxn ang="0">
                  <a:pos x="166" y="202"/>
                </a:cxn>
                <a:cxn ang="0">
                  <a:pos x="147" y="171"/>
                </a:cxn>
                <a:cxn ang="0">
                  <a:pos x="138" y="156"/>
                </a:cxn>
                <a:cxn ang="0">
                  <a:pos x="124" y="135"/>
                </a:cxn>
                <a:cxn ang="0">
                  <a:pos x="115" y="121"/>
                </a:cxn>
                <a:cxn ang="0">
                  <a:pos x="106" y="109"/>
                </a:cxn>
                <a:cxn ang="0">
                  <a:pos x="96" y="96"/>
                </a:cxn>
                <a:cxn ang="0">
                  <a:pos x="86" y="84"/>
                </a:cxn>
                <a:cxn ang="0">
                  <a:pos x="72" y="67"/>
                </a:cxn>
                <a:cxn ang="0">
                  <a:pos x="62" y="56"/>
                </a:cxn>
                <a:cxn ang="0">
                  <a:pos x="47" y="40"/>
                </a:cxn>
                <a:cxn ang="0">
                  <a:pos x="36" y="30"/>
                </a:cxn>
                <a:cxn ang="0">
                  <a:pos x="26" y="21"/>
                </a:cxn>
                <a:cxn ang="0">
                  <a:pos x="16" y="12"/>
                </a:cxn>
                <a:cxn ang="0">
                  <a:pos x="5" y="4"/>
                </a:cxn>
                <a:cxn ang="0">
                  <a:pos x="0" y="196"/>
                </a:cxn>
                <a:cxn ang="0">
                  <a:pos x="13" y="213"/>
                </a:cxn>
                <a:cxn ang="0">
                  <a:pos x="22" y="225"/>
                </a:cxn>
                <a:cxn ang="0">
                  <a:pos x="35" y="245"/>
                </a:cxn>
                <a:cxn ang="0">
                  <a:pos x="48" y="265"/>
                </a:cxn>
                <a:cxn ang="0">
                  <a:pos x="56" y="279"/>
                </a:cxn>
                <a:cxn ang="0">
                  <a:pos x="64" y="294"/>
                </a:cxn>
                <a:cxn ang="0">
                  <a:pos x="75" y="315"/>
                </a:cxn>
                <a:cxn ang="0">
                  <a:pos x="88" y="343"/>
                </a:cxn>
                <a:cxn ang="0">
                  <a:pos x="101" y="371"/>
                </a:cxn>
                <a:cxn ang="0">
                  <a:pos x="107" y="385"/>
                </a:cxn>
                <a:cxn ang="0">
                  <a:pos x="118" y="415"/>
                </a:cxn>
                <a:cxn ang="0">
                  <a:pos x="128" y="445"/>
                </a:cxn>
                <a:cxn ang="0">
                  <a:pos x="137" y="475"/>
                </a:cxn>
                <a:cxn ang="0">
                  <a:pos x="146" y="507"/>
                </a:cxn>
                <a:cxn ang="0">
                  <a:pos x="153" y="539"/>
                </a:cxn>
                <a:cxn ang="0">
                  <a:pos x="160" y="571"/>
                </a:cxn>
                <a:cxn ang="0">
                  <a:pos x="165" y="605"/>
                </a:cxn>
                <a:cxn ang="0">
                  <a:pos x="170" y="639"/>
                </a:cxn>
                <a:cxn ang="0">
                  <a:pos x="174" y="674"/>
                </a:cxn>
                <a:cxn ang="0">
                  <a:pos x="177" y="700"/>
                </a:cxn>
                <a:cxn ang="0">
                  <a:pos x="179" y="727"/>
                </a:cxn>
                <a:cxn ang="0">
                  <a:pos x="180" y="764"/>
                </a:cxn>
                <a:cxn ang="0">
                  <a:pos x="181" y="801"/>
                </a:cxn>
                <a:cxn ang="0">
                  <a:pos x="181" y="837"/>
                </a:cxn>
              </a:cxnLst>
              <a:rect l="0" t="0" r="r" b="b"/>
              <a:pathLst>
                <a:path w="306" h="837">
                  <a:moveTo>
                    <a:pt x="181" y="837"/>
                  </a:moveTo>
                  <a:lnTo>
                    <a:pt x="306" y="837"/>
                  </a:lnTo>
                  <a:lnTo>
                    <a:pt x="306" y="833"/>
                  </a:lnTo>
                  <a:lnTo>
                    <a:pt x="306" y="829"/>
                  </a:lnTo>
                  <a:lnTo>
                    <a:pt x="306" y="820"/>
                  </a:lnTo>
                  <a:lnTo>
                    <a:pt x="306" y="811"/>
                  </a:lnTo>
                  <a:lnTo>
                    <a:pt x="306" y="807"/>
                  </a:lnTo>
                  <a:lnTo>
                    <a:pt x="306" y="803"/>
                  </a:lnTo>
                  <a:lnTo>
                    <a:pt x="306" y="791"/>
                  </a:lnTo>
                  <a:lnTo>
                    <a:pt x="306" y="780"/>
                  </a:lnTo>
                  <a:lnTo>
                    <a:pt x="306" y="758"/>
                  </a:lnTo>
                  <a:lnTo>
                    <a:pt x="305" y="736"/>
                  </a:lnTo>
                  <a:lnTo>
                    <a:pt x="304" y="714"/>
                  </a:lnTo>
                  <a:lnTo>
                    <a:pt x="302" y="692"/>
                  </a:lnTo>
                  <a:lnTo>
                    <a:pt x="301" y="671"/>
                  </a:lnTo>
                  <a:lnTo>
                    <a:pt x="299" y="649"/>
                  </a:lnTo>
                  <a:lnTo>
                    <a:pt x="298" y="639"/>
                  </a:lnTo>
                  <a:lnTo>
                    <a:pt x="297" y="628"/>
                  </a:lnTo>
                  <a:lnTo>
                    <a:pt x="294" y="607"/>
                  </a:lnTo>
                  <a:lnTo>
                    <a:pt x="293" y="597"/>
                  </a:lnTo>
                  <a:lnTo>
                    <a:pt x="291" y="587"/>
                  </a:lnTo>
                  <a:lnTo>
                    <a:pt x="288" y="566"/>
                  </a:lnTo>
                  <a:lnTo>
                    <a:pt x="285" y="546"/>
                  </a:lnTo>
                  <a:lnTo>
                    <a:pt x="281" y="526"/>
                  </a:lnTo>
                  <a:lnTo>
                    <a:pt x="279" y="516"/>
                  </a:lnTo>
                  <a:lnTo>
                    <a:pt x="277" y="506"/>
                  </a:lnTo>
                  <a:lnTo>
                    <a:pt x="273" y="487"/>
                  </a:lnTo>
                  <a:lnTo>
                    <a:pt x="269" y="468"/>
                  </a:lnTo>
                  <a:lnTo>
                    <a:pt x="266" y="458"/>
                  </a:lnTo>
                  <a:lnTo>
                    <a:pt x="264" y="448"/>
                  </a:lnTo>
                  <a:lnTo>
                    <a:pt x="259" y="429"/>
                  </a:lnTo>
                  <a:lnTo>
                    <a:pt x="256" y="420"/>
                  </a:lnTo>
                  <a:lnTo>
                    <a:pt x="253" y="411"/>
                  </a:lnTo>
                  <a:lnTo>
                    <a:pt x="248" y="392"/>
                  </a:lnTo>
                  <a:lnTo>
                    <a:pt x="245" y="383"/>
                  </a:lnTo>
                  <a:lnTo>
                    <a:pt x="242" y="374"/>
                  </a:lnTo>
                  <a:lnTo>
                    <a:pt x="235" y="356"/>
                  </a:lnTo>
                  <a:lnTo>
                    <a:pt x="229" y="338"/>
                  </a:lnTo>
                  <a:lnTo>
                    <a:pt x="222" y="320"/>
                  </a:lnTo>
                  <a:lnTo>
                    <a:pt x="215" y="302"/>
                  </a:lnTo>
                  <a:lnTo>
                    <a:pt x="207" y="285"/>
                  </a:lnTo>
                  <a:lnTo>
                    <a:pt x="199" y="268"/>
                  </a:lnTo>
                  <a:lnTo>
                    <a:pt x="196" y="259"/>
                  </a:lnTo>
                  <a:lnTo>
                    <a:pt x="192" y="251"/>
                  </a:lnTo>
                  <a:lnTo>
                    <a:pt x="183" y="234"/>
                  </a:lnTo>
                  <a:lnTo>
                    <a:pt x="179" y="226"/>
                  </a:lnTo>
                  <a:lnTo>
                    <a:pt x="175" y="218"/>
                  </a:lnTo>
                  <a:lnTo>
                    <a:pt x="166" y="202"/>
                  </a:lnTo>
                  <a:lnTo>
                    <a:pt x="157" y="186"/>
                  </a:lnTo>
                  <a:lnTo>
                    <a:pt x="147" y="171"/>
                  </a:lnTo>
                  <a:lnTo>
                    <a:pt x="143" y="163"/>
                  </a:lnTo>
                  <a:lnTo>
                    <a:pt x="138" y="156"/>
                  </a:lnTo>
                  <a:lnTo>
                    <a:pt x="129" y="142"/>
                  </a:lnTo>
                  <a:lnTo>
                    <a:pt x="124" y="135"/>
                  </a:lnTo>
                  <a:lnTo>
                    <a:pt x="120" y="128"/>
                  </a:lnTo>
                  <a:lnTo>
                    <a:pt x="115" y="121"/>
                  </a:lnTo>
                  <a:lnTo>
                    <a:pt x="110" y="115"/>
                  </a:lnTo>
                  <a:lnTo>
                    <a:pt x="106" y="109"/>
                  </a:lnTo>
                  <a:lnTo>
                    <a:pt x="101" y="102"/>
                  </a:lnTo>
                  <a:lnTo>
                    <a:pt x="96" y="96"/>
                  </a:lnTo>
                  <a:lnTo>
                    <a:pt x="91" y="90"/>
                  </a:lnTo>
                  <a:lnTo>
                    <a:pt x="86" y="84"/>
                  </a:lnTo>
                  <a:lnTo>
                    <a:pt x="82" y="78"/>
                  </a:lnTo>
                  <a:lnTo>
                    <a:pt x="72" y="67"/>
                  </a:lnTo>
                  <a:lnTo>
                    <a:pt x="67" y="61"/>
                  </a:lnTo>
                  <a:lnTo>
                    <a:pt x="62" y="56"/>
                  </a:lnTo>
                  <a:lnTo>
                    <a:pt x="52" y="45"/>
                  </a:lnTo>
                  <a:lnTo>
                    <a:pt x="47" y="40"/>
                  </a:lnTo>
                  <a:lnTo>
                    <a:pt x="42" y="35"/>
                  </a:lnTo>
                  <a:lnTo>
                    <a:pt x="36" y="30"/>
                  </a:lnTo>
                  <a:lnTo>
                    <a:pt x="31" y="26"/>
                  </a:lnTo>
                  <a:lnTo>
                    <a:pt x="26" y="21"/>
                  </a:lnTo>
                  <a:lnTo>
                    <a:pt x="21" y="17"/>
                  </a:lnTo>
                  <a:lnTo>
                    <a:pt x="16" y="12"/>
                  </a:lnTo>
                  <a:lnTo>
                    <a:pt x="10" y="8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196"/>
                  </a:lnTo>
                  <a:lnTo>
                    <a:pt x="9" y="208"/>
                  </a:lnTo>
                  <a:lnTo>
                    <a:pt x="13" y="213"/>
                  </a:lnTo>
                  <a:lnTo>
                    <a:pt x="18" y="219"/>
                  </a:lnTo>
                  <a:lnTo>
                    <a:pt x="22" y="225"/>
                  </a:lnTo>
                  <a:lnTo>
                    <a:pt x="26" y="232"/>
                  </a:lnTo>
                  <a:lnTo>
                    <a:pt x="35" y="245"/>
                  </a:lnTo>
                  <a:lnTo>
                    <a:pt x="43" y="258"/>
                  </a:lnTo>
                  <a:lnTo>
                    <a:pt x="48" y="265"/>
                  </a:lnTo>
                  <a:lnTo>
                    <a:pt x="52" y="272"/>
                  </a:lnTo>
                  <a:lnTo>
                    <a:pt x="56" y="279"/>
                  </a:lnTo>
                  <a:lnTo>
                    <a:pt x="60" y="287"/>
                  </a:lnTo>
                  <a:lnTo>
                    <a:pt x="64" y="294"/>
                  </a:lnTo>
                  <a:lnTo>
                    <a:pt x="68" y="302"/>
                  </a:lnTo>
                  <a:lnTo>
                    <a:pt x="75" y="315"/>
                  </a:lnTo>
                  <a:lnTo>
                    <a:pt x="82" y="329"/>
                  </a:lnTo>
                  <a:lnTo>
                    <a:pt x="88" y="343"/>
                  </a:lnTo>
                  <a:lnTo>
                    <a:pt x="95" y="357"/>
                  </a:lnTo>
                  <a:lnTo>
                    <a:pt x="101" y="371"/>
                  </a:lnTo>
                  <a:lnTo>
                    <a:pt x="104" y="378"/>
                  </a:lnTo>
                  <a:lnTo>
                    <a:pt x="107" y="385"/>
                  </a:lnTo>
                  <a:lnTo>
                    <a:pt x="112" y="400"/>
                  </a:lnTo>
                  <a:lnTo>
                    <a:pt x="118" y="415"/>
                  </a:lnTo>
                  <a:lnTo>
                    <a:pt x="123" y="430"/>
                  </a:lnTo>
                  <a:lnTo>
                    <a:pt x="128" y="445"/>
                  </a:lnTo>
                  <a:lnTo>
                    <a:pt x="133" y="460"/>
                  </a:lnTo>
                  <a:lnTo>
                    <a:pt x="137" y="475"/>
                  </a:lnTo>
                  <a:lnTo>
                    <a:pt x="141" y="491"/>
                  </a:lnTo>
                  <a:lnTo>
                    <a:pt x="146" y="507"/>
                  </a:lnTo>
                  <a:lnTo>
                    <a:pt x="149" y="523"/>
                  </a:lnTo>
                  <a:lnTo>
                    <a:pt x="153" y="539"/>
                  </a:lnTo>
                  <a:lnTo>
                    <a:pt x="156" y="555"/>
                  </a:lnTo>
                  <a:lnTo>
                    <a:pt x="160" y="571"/>
                  </a:lnTo>
                  <a:lnTo>
                    <a:pt x="163" y="588"/>
                  </a:lnTo>
                  <a:lnTo>
                    <a:pt x="165" y="605"/>
                  </a:lnTo>
                  <a:lnTo>
                    <a:pt x="168" y="622"/>
                  </a:lnTo>
                  <a:lnTo>
                    <a:pt x="170" y="639"/>
                  </a:lnTo>
                  <a:lnTo>
                    <a:pt x="172" y="656"/>
                  </a:lnTo>
                  <a:lnTo>
                    <a:pt x="174" y="674"/>
                  </a:lnTo>
                  <a:lnTo>
                    <a:pt x="176" y="691"/>
                  </a:lnTo>
                  <a:lnTo>
                    <a:pt x="177" y="700"/>
                  </a:lnTo>
                  <a:lnTo>
                    <a:pt x="177" y="709"/>
                  </a:lnTo>
                  <a:lnTo>
                    <a:pt x="179" y="727"/>
                  </a:lnTo>
                  <a:lnTo>
                    <a:pt x="180" y="746"/>
                  </a:lnTo>
                  <a:lnTo>
                    <a:pt x="180" y="764"/>
                  </a:lnTo>
                  <a:lnTo>
                    <a:pt x="181" y="783"/>
                  </a:lnTo>
                  <a:lnTo>
                    <a:pt x="181" y="801"/>
                  </a:lnTo>
                  <a:lnTo>
                    <a:pt x="181" y="820"/>
                  </a:lnTo>
                  <a:lnTo>
                    <a:pt x="181" y="837"/>
                  </a:lnTo>
                  <a:close/>
                </a:path>
              </a:pathLst>
            </a:custGeom>
            <a:solidFill>
              <a:srgbClr val="6699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1" name="Freeform 13"/>
            <p:cNvSpPr>
              <a:spLocks/>
            </p:cNvSpPr>
            <p:nvPr/>
          </p:nvSpPr>
          <p:spPr bwMode="auto">
            <a:xfrm>
              <a:off x="5835102" y="3397820"/>
              <a:ext cx="422031" cy="963216"/>
            </a:xfrm>
            <a:custGeom>
              <a:avLst/>
              <a:gdLst/>
              <a:ahLst/>
              <a:cxnLst>
                <a:cxn ang="0">
                  <a:pos x="306" y="698"/>
                </a:cxn>
                <a:cxn ang="0">
                  <a:pos x="306" y="684"/>
                </a:cxn>
                <a:cxn ang="0">
                  <a:pos x="306" y="650"/>
                </a:cxn>
                <a:cxn ang="0">
                  <a:pos x="305" y="613"/>
                </a:cxn>
                <a:cxn ang="0">
                  <a:pos x="303" y="577"/>
                </a:cxn>
                <a:cxn ang="0">
                  <a:pos x="299" y="541"/>
                </a:cxn>
                <a:cxn ang="0">
                  <a:pos x="294" y="507"/>
                </a:cxn>
                <a:cxn ang="0">
                  <a:pos x="289" y="472"/>
                </a:cxn>
                <a:cxn ang="0">
                  <a:pos x="282" y="439"/>
                </a:cxn>
                <a:cxn ang="0">
                  <a:pos x="273" y="406"/>
                </a:cxn>
                <a:cxn ang="0">
                  <a:pos x="264" y="374"/>
                </a:cxn>
                <a:cxn ang="0">
                  <a:pos x="253" y="342"/>
                </a:cxn>
                <a:cxn ang="0">
                  <a:pos x="242" y="312"/>
                </a:cxn>
                <a:cxn ang="0">
                  <a:pos x="229" y="282"/>
                </a:cxn>
                <a:cxn ang="0">
                  <a:pos x="215" y="252"/>
                </a:cxn>
                <a:cxn ang="0">
                  <a:pos x="200" y="223"/>
                </a:cxn>
                <a:cxn ang="0">
                  <a:pos x="183" y="196"/>
                </a:cxn>
                <a:cxn ang="0">
                  <a:pos x="166" y="168"/>
                </a:cxn>
                <a:cxn ang="0">
                  <a:pos x="148" y="142"/>
                </a:cxn>
                <a:cxn ang="0">
                  <a:pos x="139" y="130"/>
                </a:cxn>
                <a:cxn ang="0">
                  <a:pos x="125" y="113"/>
                </a:cxn>
                <a:cxn ang="0">
                  <a:pos x="115" y="102"/>
                </a:cxn>
                <a:cxn ang="0">
                  <a:pos x="106" y="91"/>
                </a:cxn>
                <a:cxn ang="0">
                  <a:pos x="96" y="80"/>
                </a:cxn>
                <a:cxn ang="0">
                  <a:pos x="87" y="70"/>
                </a:cxn>
                <a:cxn ang="0">
                  <a:pos x="72" y="56"/>
                </a:cxn>
                <a:cxn ang="0">
                  <a:pos x="62" y="47"/>
                </a:cxn>
                <a:cxn ang="0">
                  <a:pos x="47" y="34"/>
                </a:cxn>
                <a:cxn ang="0">
                  <a:pos x="37" y="26"/>
                </a:cxn>
                <a:cxn ang="0">
                  <a:pos x="26" y="18"/>
                </a:cxn>
                <a:cxn ang="0">
                  <a:pos x="16" y="11"/>
                </a:cxn>
                <a:cxn ang="0">
                  <a:pos x="5" y="4"/>
                </a:cxn>
                <a:cxn ang="0">
                  <a:pos x="0" y="164"/>
                </a:cxn>
                <a:cxn ang="0">
                  <a:pos x="18" y="183"/>
                </a:cxn>
                <a:cxn ang="0">
                  <a:pos x="35" y="204"/>
                </a:cxn>
                <a:cxn ang="0">
                  <a:pos x="48" y="221"/>
                </a:cxn>
                <a:cxn ang="0">
                  <a:pos x="60" y="239"/>
                </a:cxn>
                <a:cxn ang="0">
                  <a:pos x="69" y="252"/>
                </a:cxn>
                <a:cxn ang="0">
                  <a:pos x="82" y="274"/>
                </a:cxn>
                <a:cxn ang="0">
                  <a:pos x="95" y="298"/>
                </a:cxn>
                <a:cxn ang="0">
                  <a:pos x="107" y="321"/>
                </a:cxn>
                <a:cxn ang="0">
                  <a:pos x="118" y="346"/>
                </a:cxn>
                <a:cxn ang="0">
                  <a:pos x="128" y="371"/>
                </a:cxn>
                <a:cxn ang="0">
                  <a:pos x="137" y="396"/>
                </a:cxn>
                <a:cxn ang="0">
                  <a:pos x="146" y="422"/>
                </a:cxn>
                <a:cxn ang="0">
                  <a:pos x="153" y="449"/>
                </a:cxn>
                <a:cxn ang="0">
                  <a:pos x="160" y="477"/>
                </a:cxn>
                <a:cxn ang="0">
                  <a:pos x="166" y="504"/>
                </a:cxn>
                <a:cxn ang="0">
                  <a:pos x="170" y="533"/>
                </a:cxn>
                <a:cxn ang="0">
                  <a:pos x="175" y="562"/>
                </a:cxn>
                <a:cxn ang="0">
                  <a:pos x="178" y="591"/>
                </a:cxn>
                <a:cxn ang="0">
                  <a:pos x="180" y="622"/>
                </a:cxn>
                <a:cxn ang="0">
                  <a:pos x="181" y="652"/>
                </a:cxn>
                <a:cxn ang="0">
                  <a:pos x="182" y="684"/>
                </a:cxn>
              </a:cxnLst>
              <a:rect l="0" t="0" r="r" b="b"/>
              <a:pathLst>
                <a:path w="306" h="698">
                  <a:moveTo>
                    <a:pt x="182" y="698"/>
                  </a:moveTo>
                  <a:lnTo>
                    <a:pt x="306" y="698"/>
                  </a:lnTo>
                  <a:lnTo>
                    <a:pt x="306" y="691"/>
                  </a:lnTo>
                  <a:lnTo>
                    <a:pt x="306" y="684"/>
                  </a:lnTo>
                  <a:lnTo>
                    <a:pt x="306" y="669"/>
                  </a:lnTo>
                  <a:lnTo>
                    <a:pt x="306" y="650"/>
                  </a:lnTo>
                  <a:lnTo>
                    <a:pt x="306" y="632"/>
                  </a:lnTo>
                  <a:lnTo>
                    <a:pt x="305" y="613"/>
                  </a:lnTo>
                  <a:lnTo>
                    <a:pt x="304" y="595"/>
                  </a:lnTo>
                  <a:lnTo>
                    <a:pt x="303" y="577"/>
                  </a:lnTo>
                  <a:lnTo>
                    <a:pt x="301" y="559"/>
                  </a:lnTo>
                  <a:lnTo>
                    <a:pt x="299" y="541"/>
                  </a:lnTo>
                  <a:lnTo>
                    <a:pt x="297" y="524"/>
                  </a:lnTo>
                  <a:lnTo>
                    <a:pt x="294" y="507"/>
                  </a:lnTo>
                  <a:lnTo>
                    <a:pt x="292" y="489"/>
                  </a:lnTo>
                  <a:lnTo>
                    <a:pt x="289" y="472"/>
                  </a:lnTo>
                  <a:lnTo>
                    <a:pt x="285" y="456"/>
                  </a:lnTo>
                  <a:lnTo>
                    <a:pt x="282" y="439"/>
                  </a:lnTo>
                  <a:lnTo>
                    <a:pt x="278" y="422"/>
                  </a:lnTo>
                  <a:lnTo>
                    <a:pt x="273" y="406"/>
                  </a:lnTo>
                  <a:lnTo>
                    <a:pt x="269" y="390"/>
                  </a:lnTo>
                  <a:lnTo>
                    <a:pt x="264" y="374"/>
                  </a:lnTo>
                  <a:lnTo>
                    <a:pt x="259" y="358"/>
                  </a:lnTo>
                  <a:lnTo>
                    <a:pt x="253" y="342"/>
                  </a:lnTo>
                  <a:lnTo>
                    <a:pt x="248" y="327"/>
                  </a:lnTo>
                  <a:lnTo>
                    <a:pt x="242" y="312"/>
                  </a:lnTo>
                  <a:lnTo>
                    <a:pt x="236" y="297"/>
                  </a:lnTo>
                  <a:lnTo>
                    <a:pt x="229" y="282"/>
                  </a:lnTo>
                  <a:lnTo>
                    <a:pt x="222" y="267"/>
                  </a:lnTo>
                  <a:lnTo>
                    <a:pt x="215" y="252"/>
                  </a:lnTo>
                  <a:lnTo>
                    <a:pt x="207" y="238"/>
                  </a:lnTo>
                  <a:lnTo>
                    <a:pt x="200" y="223"/>
                  </a:lnTo>
                  <a:lnTo>
                    <a:pt x="192" y="209"/>
                  </a:lnTo>
                  <a:lnTo>
                    <a:pt x="183" y="196"/>
                  </a:lnTo>
                  <a:lnTo>
                    <a:pt x="175" y="182"/>
                  </a:lnTo>
                  <a:lnTo>
                    <a:pt x="166" y="168"/>
                  </a:lnTo>
                  <a:lnTo>
                    <a:pt x="157" y="155"/>
                  </a:lnTo>
                  <a:lnTo>
                    <a:pt x="148" y="142"/>
                  </a:lnTo>
                  <a:lnTo>
                    <a:pt x="143" y="136"/>
                  </a:lnTo>
                  <a:lnTo>
                    <a:pt x="139" y="130"/>
                  </a:lnTo>
                  <a:lnTo>
                    <a:pt x="129" y="118"/>
                  </a:lnTo>
                  <a:lnTo>
                    <a:pt x="125" y="113"/>
                  </a:lnTo>
                  <a:lnTo>
                    <a:pt x="120" y="107"/>
                  </a:lnTo>
                  <a:lnTo>
                    <a:pt x="115" y="102"/>
                  </a:lnTo>
                  <a:lnTo>
                    <a:pt x="111" y="96"/>
                  </a:lnTo>
                  <a:lnTo>
                    <a:pt x="106" y="91"/>
                  </a:lnTo>
                  <a:lnTo>
                    <a:pt x="101" y="86"/>
                  </a:lnTo>
                  <a:lnTo>
                    <a:pt x="96" y="80"/>
                  </a:lnTo>
                  <a:lnTo>
                    <a:pt x="92" y="75"/>
                  </a:lnTo>
                  <a:lnTo>
                    <a:pt x="87" y="70"/>
                  </a:lnTo>
                  <a:lnTo>
                    <a:pt x="82" y="65"/>
                  </a:lnTo>
                  <a:lnTo>
                    <a:pt x="72" y="56"/>
                  </a:lnTo>
                  <a:lnTo>
                    <a:pt x="67" y="51"/>
                  </a:lnTo>
                  <a:lnTo>
                    <a:pt x="62" y="47"/>
                  </a:lnTo>
                  <a:lnTo>
                    <a:pt x="52" y="38"/>
                  </a:lnTo>
                  <a:lnTo>
                    <a:pt x="47" y="34"/>
                  </a:lnTo>
                  <a:lnTo>
                    <a:pt x="42" y="30"/>
                  </a:lnTo>
                  <a:lnTo>
                    <a:pt x="37" y="26"/>
                  </a:lnTo>
                  <a:lnTo>
                    <a:pt x="31" y="22"/>
                  </a:lnTo>
                  <a:lnTo>
                    <a:pt x="26" y="18"/>
                  </a:lnTo>
                  <a:lnTo>
                    <a:pt x="21" y="14"/>
                  </a:lnTo>
                  <a:lnTo>
                    <a:pt x="16" y="11"/>
                  </a:lnTo>
                  <a:lnTo>
                    <a:pt x="11" y="7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164"/>
                  </a:lnTo>
                  <a:lnTo>
                    <a:pt x="9" y="173"/>
                  </a:lnTo>
                  <a:lnTo>
                    <a:pt x="18" y="183"/>
                  </a:lnTo>
                  <a:lnTo>
                    <a:pt x="26" y="193"/>
                  </a:lnTo>
                  <a:lnTo>
                    <a:pt x="35" y="204"/>
                  </a:lnTo>
                  <a:lnTo>
                    <a:pt x="44" y="215"/>
                  </a:lnTo>
                  <a:lnTo>
                    <a:pt x="48" y="221"/>
                  </a:lnTo>
                  <a:lnTo>
                    <a:pt x="52" y="227"/>
                  </a:lnTo>
                  <a:lnTo>
                    <a:pt x="60" y="239"/>
                  </a:lnTo>
                  <a:lnTo>
                    <a:pt x="64" y="246"/>
                  </a:lnTo>
                  <a:lnTo>
                    <a:pt x="69" y="252"/>
                  </a:lnTo>
                  <a:lnTo>
                    <a:pt x="76" y="263"/>
                  </a:lnTo>
                  <a:lnTo>
                    <a:pt x="82" y="274"/>
                  </a:lnTo>
                  <a:lnTo>
                    <a:pt x="89" y="286"/>
                  </a:lnTo>
                  <a:lnTo>
                    <a:pt x="95" y="298"/>
                  </a:lnTo>
                  <a:lnTo>
                    <a:pt x="101" y="309"/>
                  </a:lnTo>
                  <a:lnTo>
                    <a:pt x="107" y="321"/>
                  </a:lnTo>
                  <a:lnTo>
                    <a:pt x="113" y="334"/>
                  </a:lnTo>
                  <a:lnTo>
                    <a:pt x="118" y="346"/>
                  </a:lnTo>
                  <a:lnTo>
                    <a:pt x="123" y="358"/>
                  </a:lnTo>
                  <a:lnTo>
                    <a:pt x="128" y="371"/>
                  </a:lnTo>
                  <a:lnTo>
                    <a:pt x="133" y="383"/>
                  </a:lnTo>
                  <a:lnTo>
                    <a:pt x="137" y="396"/>
                  </a:lnTo>
                  <a:lnTo>
                    <a:pt x="142" y="409"/>
                  </a:lnTo>
                  <a:lnTo>
                    <a:pt x="146" y="422"/>
                  </a:lnTo>
                  <a:lnTo>
                    <a:pt x="150" y="436"/>
                  </a:lnTo>
                  <a:lnTo>
                    <a:pt x="153" y="449"/>
                  </a:lnTo>
                  <a:lnTo>
                    <a:pt x="157" y="463"/>
                  </a:lnTo>
                  <a:lnTo>
                    <a:pt x="160" y="477"/>
                  </a:lnTo>
                  <a:lnTo>
                    <a:pt x="163" y="490"/>
                  </a:lnTo>
                  <a:lnTo>
                    <a:pt x="166" y="504"/>
                  </a:lnTo>
                  <a:lnTo>
                    <a:pt x="168" y="519"/>
                  </a:lnTo>
                  <a:lnTo>
                    <a:pt x="170" y="533"/>
                  </a:lnTo>
                  <a:lnTo>
                    <a:pt x="173" y="547"/>
                  </a:lnTo>
                  <a:lnTo>
                    <a:pt x="175" y="562"/>
                  </a:lnTo>
                  <a:lnTo>
                    <a:pt x="176" y="577"/>
                  </a:lnTo>
                  <a:lnTo>
                    <a:pt x="178" y="591"/>
                  </a:lnTo>
                  <a:lnTo>
                    <a:pt x="179" y="606"/>
                  </a:lnTo>
                  <a:lnTo>
                    <a:pt x="180" y="622"/>
                  </a:lnTo>
                  <a:lnTo>
                    <a:pt x="181" y="637"/>
                  </a:lnTo>
                  <a:lnTo>
                    <a:pt x="181" y="652"/>
                  </a:lnTo>
                  <a:lnTo>
                    <a:pt x="181" y="668"/>
                  </a:lnTo>
                  <a:lnTo>
                    <a:pt x="182" y="684"/>
                  </a:lnTo>
                  <a:lnTo>
                    <a:pt x="182" y="698"/>
                  </a:lnTo>
                  <a:close/>
                </a:path>
              </a:pathLst>
            </a:custGeom>
            <a:solidFill>
              <a:srgbClr val="6699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2" name="Rectangle 14"/>
            <p:cNvSpPr>
              <a:spLocks noChangeArrowheads="1"/>
            </p:cNvSpPr>
            <p:nvPr/>
          </p:nvSpPr>
          <p:spPr bwMode="auto">
            <a:xfrm>
              <a:off x="5298771" y="3195414"/>
              <a:ext cx="539627" cy="422672"/>
            </a:xfrm>
            <a:prstGeom prst="rect">
              <a:avLst/>
            </a:prstGeom>
            <a:solidFill>
              <a:srgbClr val="66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3" name="Rectangle 15"/>
            <p:cNvSpPr>
              <a:spLocks noChangeArrowheads="1"/>
            </p:cNvSpPr>
            <p:nvPr/>
          </p:nvSpPr>
          <p:spPr bwMode="auto">
            <a:xfrm>
              <a:off x="4046966" y="1657127"/>
              <a:ext cx="528200" cy="124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prstClr val="black"/>
                  </a:solidFill>
                  <a:latin typeface="+mn-lt"/>
                </a:rPr>
                <a:t>Reservoir A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4" name="Rectangle 16"/>
            <p:cNvSpPr>
              <a:spLocks noChangeArrowheads="1"/>
            </p:cNvSpPr>
            <p:nvPr/>
          </p:nvSpPr>
          <p:spPr bwMode="auto">
            <a:xfrm>
              <a:off x="5979076" y="3090639"/>
              <a:ext cx="371201" cy="124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CC"/>
                  </a:solidFill>
                  <a:latin typeface="+mn-lt"/>
                </a:rPr>
                <a:t>Bucket I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5" name="Rectangle 17"/>
            <p:cNvSpPr>
              <a:spLocks noChangeArrowheads="1"/>
            </p:cNvSpPr>
            <p:nvPr/>
          </p:nvSpPr>
          <p:spPr bwMode="auto">
            <a:xfrm>
              <a:off x="7112185" y="4240783"/>
              <a:ext cx="242534" cy="124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CC"/>
                  </a:solidFill>
                  <a:latin typeface="+mn-lt"/>
                </a:rPr>
                <a:t>Pond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6" name="Freeform 18"/>
            <p:cNvSpPr>
              <a:spLocks/>
            </p:cNvSpPr>
            <p:nvPr/>
          </p:nvSpPr>
          <p:spPr bwMode="auto">
            <a:xfrm>
              <a:off x="5809824" y="3389487"/>
              <a:ext cx="30773" cy="23455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1"/>
                </a:cxn>
                <a:cxn ang="0">
                  <a:pos x="18" y="2"/>
                </a:cxn>
                <a:cxn ang="0">
                  <a:pos x="17" y="3"/>
                </a:cxn>
                <a:cxn ang="0">
                  <a:pos x="16" y="4"/>
                </a:cxn>
                <a:cxn ang="0">
                  <a:pos x="14" y="7"/>
                </a:cxn>
                <a:cxn ang="0">
                  <a:pos x="12" y="11"/>
                </a:cxn>
                <a:cxn ang="0">
                  <a:pos x="10" y="15"/>
                </a:cxn>
                <a:cxn ang="0">
                  <a:pos x="8" y="19"/>
                </a:cxn>
                <a:cxn ang="0">
                  <a:pos x="8" y="22"/>
                </a:cxn>
                <a:cxn ang="0">
                  <a:pos x="7" y="25"/>
                </a:cxn>
                <a:cxn ang="0">
                  <a:pos x="5" y="31"/>
                </a:cxn>
                <a:cxn ang="0">
                  <a:pos x="4" y="38"/>
                </a:cxn>
                <a:cxn ang="0">
                  <a:pos x="2" y="45"/>
                </a:cxn>
                <a:cxn ang="0">
                  <a:pos x="1" y="52"/>
                </a:cxn>
                <a:cxn ang="0">
                  <a:pos x="1" y="60"/>
                </a:cxn>
                <a:cxn ang="0">
                  <a:pos x="0" y="64"/>
                </a:cxn>
                <a:cxn ang="0">
                  <a:pos x="0" y="68"/>
                </a:cxn>
                <a:cxn ang="0">
                  <a:pos x="0" y="72"/>
                </a:cxn>
                <a:cxn ang="0">
                  <a:pos x="0" y="76"/>
                </a:cxn>
                <a:cxn ang="0">
                  <a:pos x="0" y="85"/>
                </a:cxn>
                <a:cxn ang="0">
                  <a:pos x="0" y="94"/>
                </a:cxn>
                <a:cxn ang="0">
                  <a:pos x="0" y="98"/>
                </a:cxn>
                <a:cxn ang="0">
                  <a:pos x="0" y="102"/>
                </a:cxn>
                <a:cxn ang="0">
                  <a:pos x="0" y="106"/>
                </a:cxn>
                <a:cxn ang="0">
                  <a:pos x="1" y="110"/>
                </a:cxn>
                <a:cxn ang="0">
                  <a:pos x="1" y="118"/>
                </a:cxn>
                <a:cxn ang="0">
                  <a:pos x="2" y="125"/>
                </a:cxn>
                <a:cxn ang="0">
                  <a:pos x="4" y="132"/>
                </a:cxn>
                <a:cxn ang="0">
                  <a:pos x="5" y="139"/>
                </a:cxn>
                <a:cxn ang="0">
                  <a:pos x="6" y="142"/>
                </a:cxn>
                <a:cxn ang="0">
                  <a:pos x="7" y="146"/>
                </a:cxn>
                <a:cxn ang="0">
                  <a:pos x="8" y="148"/>
                </a:cxn>
                <a:cxn ang="0">
                  <a:pos x="8" y="151"/>
                </a:cxn>
                <a:cxn ang="0">
                  <a:pos x="9" y="153"/>
                </a:cxn>
                <a:cxn ang="0">
                  <a:pos x="10" y="156"/>
                </a:cxn>
                <a:cxn ang="0">
                  <a:pos x="11" y="158"/>
                </a:cxn>
                <a:cxn ang="0">
                  <a:pos x="12" y="160"/>
                </a:cxn>
                <a:cxn ang="0">
                  <a:pos x="13" y="161"/>
                </a:cxn>
                <a:cxn ang="0">
                  <a:pos x="14" y="163"/>
                </a:cxn>
                <a:cxn ang="0">
                  <a:pos x="15" y="164"/>
                </a:cxn>
                <a:cxn ang="0">
                  <a:pos x="16" y="166"/>
                </a:cxn>
                <a:cxn ang="0">
                  <a:pos x="17" y="167"/>
                </a:cxn>
                <a:cxn ang="0">
                  <a:pos x="18" y="168"/>
                </a:cxn>
                <a:cxn ang="0">
                  <a:pos x="19" y="169"/>
                </a:cxn>
                <a:cxn ang="0">
                  <a:pos x="20" y="170"/>
                </a:cxn>
                <a:cxn ang="0">
                  <a:pos x="21" y="170"/>
                </a:cxn>
                <a:cxn ang="0">
                  <a:pos x="22" y="170"/>
                </a:cxn>
              </a:cxnLst>
              <a:rect l="0" t="0" r="r" b="b"/>
              <a:pathLst>
                <a:path w="22" h="170">
                  <a:moveTo>
                    <a:pt x="22" y="0"/>
                  </a:moveTo>
                  <a:lnTo>
                    <a:pt x="21" y="0"/>
                  </a:lnTo>
                  <a:lnTo>
                    <a:pt x="20" y="1"/>
                  </a:lnTo>
                  <a:lnTo>
                    <a:pt x="19" y="1"/>
                  </a:lnTo>
                  <a:lnTo>
                    <a:pt x="18" y="2"/>
                  </a:lnTo>
                  <a:lnTo>
                    <a:pt x="17" y="3"/>
                  </a:lnTo>
                  <a:lnTo>
                    <a:pt x="16" y="4"/>
                  </a:lnTo>
                  <a:lnTo>
                    <a:pt x="14" y="7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8" y="19"/>
                  </a:lnTo>
                  <a:lnTo>
                    <a:pt x="8" y="22"/>
                  </a:lnTo>
                  <a:lnTo>
                    <a:pt x="7" y="25"/>
                  </a:lnTo>
                  <a:lnTo>
                    <a:pt x="5" y="31"/>
                  </a:lnTo>
                  <a:lnTo>
                    <a:pt x="4" y="38"/>
                  </a:lnTo>
                  <a:lnTo>
                    <a:pt x="2" y="45"/>
                  </a:lnTo>
                  <a:lnTo>
                    <a:pt x="1" y="52"/>
                  </a:lnTo>
                  <a:lnTo>
                    <a:pt x="1" y="60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2"/>
                  </a:lnTo>
                  <a:lnTo>
                    <a:pt x="0" y="76"/>
                  </a:lnTo>
                  <a:lnTo>
                    <a:pt x="0" y="85"/>
                  </a:lnTo>
                  <a:lnTo>
                    <a:pt x="0" y="94"/>
                  </a:lnTo>
                  <a:lnTo>
                    <a:pt x="0" y="98"/>
                  </a:lnTo>
                  <a:lnTo>
                    <a:pt x="0" y="102"/>
                  </a:lnTo>
                  <a:lnTo>
                    <a:pt x="0" y="106"/>
                  </a:lnTo>
                  <a:lnTo>
                    <a:pt x="1" y="110"/>
                  </a:lnTo>
                  <a:lnTo>
                    <a:pt x="1" y="118"/>
                  </a:lnTo>
                  <a:lnTo>
                    <a:pt x="2" y="125"/>
                  </a:lnTo>
                  <a:lnTo>
                    <a:pt x="4" y="132"/>
                  </a:lnTo>
                  <a:lnTo>
                    <a:pt x="5" y="139"/>
                  </a:lnTo>
                  <a:lnTo>
                    <a:pt x="6" y="142"/>
                  </a:lnTo>
                  <a:lnTo>
                    <a:pt x="7" y="146"/>
                  </a:lnTo>
                  <a:lnTo>
                    <a:pt x="8" y="148"/>
                  </a:lnTo>
                  <a:lnTo>
                    <a:pt x="8" y="151"/>
                  </a:lnTo>
                  <a:lnTo>
                    <a:pt x="9" y="153"/>
                  </a:lnTo>
                  <a:lnTo>
                    <a:pt x="10" y="156"/>
                  </a:lnTo>
                  <a:lnTo>
                    <a:pt x="11" y="158"/>
                  </a:lnTo>
                  <a:lnTo>
                    <a:pt x="12" y="160"/>
                  </a:lnTo>
                  <a:lnTo>
                    <a:pt x="13" y="161"/>
                  </a:lnTo>
                  <a:lnTo>
                    <a:pt x="14" y="163"/>
                  </a:lnTo>
                  <a:lnTo>
                    <a:pt x="15" y="164"/>
                  </a:lnTo>
                  <a:lnTo>
                    <a:pt x="16" y="166"/>
                  </a:lnTo>
                  <a:lnTo>
                    <a:pt x="17" y="167"/>
                  </a:lnTo>
                  <a:lnTo>
                    <a:pt x="18" y="168"/>
                  </a:lnTo>
                  <a:lnTo>
                    <a:pt x="19" y="169"/>
                  </a:lnTo>
                  <a:lnTo>
                    <a:pt x="20" y="170"/>
                  </a:lnTo>
                  <a:lnTo>
                    <a:pt x="21" y="170"/>
                  </a:lnTo>
                  <a:lnTo>
                    <a:pt x="22" y="17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7" name="Freeform 19"/>
            <p:cNvSpPr>
              <a:spLocks/>
            </p:cNvSpPr>
            <p:nvPr/>
          </p:nvSpPr>
          <p:spPr bwMode="auto">
            <a:xfrm>
              <a:off x="5282285" y="2451274"/>
              <a:ext cx="29674" cy="235744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21" y="1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8" y="3"/>
                </a:cxn>
                <a:cxn ang="0">
                  <a:pos x="17" y="4"/>
                </a:cxn>
                <a:cxn ang="0">
                  <a:pos x="16" y="5"/>
                </a:cxn>
                <a:cxn ang="0">
                  <a:pos x="14" y="8"/>
                </a:cxn>
                <a:cxn ang="0">
                  <a:pos x="13" y="9"/>
                </a:cxn>
                <a:cxn ang="0">
                  <a:pos x="12" y="11"/>
                </a:cxn>
                <a:cxn ang="0">
                  <a:pos x="10" y="15"/>
                </a:cxn>
                <a:cxn ang="0">
                  <a:pos x="8" y="20"/>
                </a:cxn>
                <a:cxn ang="0">
                  <a:pos x="8" y="22"/>
                </a:cxn>
                <a:cxn ang="0">
                  <a:pos x="7" y="25"/>
                </a:cxn>
                <a:cxn ang="0">
                  <a:pos x="6" y="28"/>
                </a:cxn>
                <a:cxn ang="0">
                  <a:pos x="5" y="31"/>
                </a:cxn>
                <a:cxn ang="0">
                  <a:pos x="4" y="38"/>
                </a:cxn>
                <a:cxn ang="0">
                  <a:pos x="2" y="45"/>
                </a:cxn>
                <a:cxn ang="0">
                  <a:pos x="1" y="53"/>
                </a:cxn>
                <a:cxn ang="0">
                  <a:pos x="1" y="60"/>
                </a:cxn>
                <a:cxn ang="0">
                  <a:pos x="0" y="64"/>
                </a:cxn>
                <a:cxn ang="0">
                  <a:pos x="0" y="68"/>
                </a:cxn>
                <a:cxn ang="0">
                  <a:pos x="0" y="73"/>
                </a:cxn>
                <a:cxn ang="0">
                  <a:pos x="0" y="77"/>
                </a:cxn>
                <a:cxn ang="0">
                  <a:pos x="0" y="86"/>
                </a:cxn>
                <a:cxn ang="0">
                  <a:pos x="0" y="94"/>
                </a:cxn>
                <a:cxn ang="0">
                  <a:pos x="0" y="98"/>
                </a:cxn>
                <a:cxn ang="0">
                  <a:pos x="0" y="103"/>
                </a:cxn>
                <a:cxn ang="0">
                  <a:pos x="0" y="107"/>
                </a:cxn>
                <a:cxn ang="0">
                  <a:pos x="1" y="111"/>
                </a:cxn>
                <a:cxn ang="0">
                  <a:pos x="1" y="118"/>
                </a:cxn>
                <a:cxn ang="0">
                  <a:pos x="2" y="126"/>
                </a:cxn>
                <a:cxn ang="0">
                  <a:pos x="4" y="133"/>
                </a:cxn>
                <a:cxn ang="0">
                  <a:pos x="5" y="140"/>
                </a:cxn>
                <a:cxn ang="0">
                  <a:pos x="6" y="143"/>
                </a:cxn>
                <a:cxn ang="0">
                  <a:pos x="7" y="146"/>
                </a:cxn>
                <a:cxn ang="0">
                  <a:pos x="8" y="149"/>
                </a:cxn>
                <a:cxn ang="0">
                  <a:pos x="8" y="151"/>
                </a:cxn>
                <a:cxn ang="0">
                  <a:pos x="9" y="154"/>
                </a:cxn>
                <a:cxn ang="0">
                  <a:pos x="10" y="156"/>
                </a:cxn>
                <a:cxn ang="0">
                  <a:pos x="11" y="158"/>
                </a:cxn>
                <a:cxn ang="0">
                  <a:pos x="12" y="160"/>
                </a:cxn>
                <a:cxn ang="0">
                  <a:pos x="13" y="162"/>
                </a:cxn>
                <a:cxn ang="0">
                  <a:pos x="14" y="164"/>
                </a:cxn>
                <a:cxn ang="0">
                  <a:pos x="15" y="165"/>
                </a:cxn>
                <a:cxn ang="0">
                  <a:pos x="16" y="166"/>
                </a:cxn>
                <a:cxn ang="0">
                  <a:pos x="17" y="167"/>
                </a:cxn>
                <a:cxn ang="0">
                  <a:pos x="18" y="168"/>
                </a:cxn>
                <a:cxn ang="0">
                  <a:pos x="19" y="169"/>
                </a:cxn>
                <a:cxn ang="0">
                  <a:pos x="20" y="170"/>
                </a:cxn>
                <a:cxn ang="0">
                  <a:pos x="21" y="171"/>
                </a:cxn>
                <a:cxn ang="0">
                  <a:pos x="22" y="171"/>
                </a:cxn>
              </a:cxnLst>
              <a:rect l="0" t="0" r="r" b="b"/>
              <a:pathLst>
                <a:path w="22" h="171">
                  <a:moveTo>
                    <a:pt x="22" y="0"/>
                  </a:moveTo>
                  <a:lnTo>
                    <a:pt x="21" y="1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8" y="3"/>
                  </a:lnTo>
                  <a:lnTo>
                    <a:pt x="17" y="4"/>
                  </a:lnTo>
                  <a:lnTo>
                    <a:pt x="16" y="5"/>
                  </a:lnTo>
                  <a:lnTo>
                    <a:pt x="14" y="8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0" y="15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7" y="25"/>
                  </a:lnTo>
                  <a:lnTo>
                    <a:pt x="6" y="28"/>
                  </a:lnTo>
                  <a:lnTo>
                    <a:pt x="5" y="31"/>
                  </a:lnTo>
                  <a:lnTo>
                    <a:pt x="4" y="38"/>
                  </a:lnTo>
                  <a:lnTo>
                    <a:pt x="2" y="45"/>
                  </a:lnTo>
                  <a:lnTo>
                    <a:pt x="1" y="53"/>
                  </a:lnTo>
                  <a:lnTo>
                    <a:pt x="1" y="60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6"/>
                  </a:lnTo>
                  <a:lnTo>
                    <a:pt x="0" y="94"/>
                  </a:lnTo>
                  <a:lnTo>
                    <a:pt x="0" y="98"/>
                  </a:lnTo>
                  <a:lnTo>
                    <a:pt x="0" y="103"/>
                  </a:lnTo>
                  <a:lnTo>
                    <a:pt x="0" y="107"/>
                  </a:lnTo>
                  <a:lnTo>
                    <a:pt x="1" y="111"/>
                  </a:lnTo>
                  <a:lnTo>
                    <a:pt x="1" y="118"/>
                  </a:lnTo>
                  <a:lnTo>
                    <a:pt x="2" y="126"/>
                  </a:lnTo>
                  <a:lnTo>
                    <a:pt x="4" y="133"/>
                  </a:lnTo>
                  <a:lnTo>
                    <a:pt x="5" y="140"/>
                  </a:lnTo>
                  <a:lnTo>
                    <a:pt x="6" y="143"/>
                  </a:lnTo>
                  <a:lnTo>
                    <a:pt x="7" y="146"/>
                  </a:lnTo>
                  <a:lnTo>
                    <a:pt x="8" y="149"/>
                  </a:lnTo>
                  <a:lnTo>
                    <a:pt x="8" y="151"/>
                  </a:lnTo>
                  <a:lnTo>
                    <a:pt x="9" y="154"/>
                  </a:lnTo>
                  <a:lnTo>
                    <a:pt x="10" y="156"/>
                  </a:lnTo>
                  <a:lnTo>
                    <a:pt x="11" y="158"/>
                  </a:lnTo>
                  <a:lnTo>
                    <a:pt x="12" y="160"/>
                  </a:lnTo>
                  <a:lnTo>
                    <a:pt x="13" y="162"/>
                  </a:lnTo>
                  <a:lnTo>
                    <a:pt x="14" y="164"/>
                  </a:lnTo>
                  <a:lnTo>
                    <a:pt x="15" y="165"/>
                  </a:lnTo>
                  <a:lnTo>
                    <a:pt x="16" y="166"/>
                  </a:lnTo>
                  <a:lnTo>
                    <a:pt x="17" y="167"/>
                  </a:lnTo>
                  <a:lnTo>
                    <a:pt x="18" y="168"/>
                  </a:lnTo>
                  <a:lnTo>
                    <a:pt x="19" y="169"/>
                  </a:lnTo>
                  <a:lnTo>
                    <a:pt x="20" y="170"/>
                  </a:lnTo>
                  <a:lnTo>
                    <a:pt x="21" y="171"/>
                  </a:lnTo>
                  <a:lnTo>
                    <a:pt x="22" y="171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68" name="Freeform 20"/>
            <p:cNvSpPr>
              <a:spLocks/>
            </p:cNvSpPr>
            <p:nvPr/>
          </p:nvSpPr>
          <p:spPr bwMode="auto">
            <a:xfrm>
              <a:off x="5302068" y="2778695"/>
              <a:ext cx="541826" cy="2024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2"/>
                </a:cxn>
                <a:cxn ang="0">
                  <a:pos x="5" y="3"/>
                </a:cxn>
                <a:cxn ang="0">
                  <a:pos x="7" y="3"/>
                </a:cxn>
                <a:cxn ang="0">
                  <a:pos x="13" y="5"/>
                </a:cxn>
                <a:cxn ang="0">
                  <a:pos x="20" y="6"/>
                </a:cxn>
                <a:cxn ang="0">
                  <a:pos x="26" y="7"/>
                </a:cxn>
                <a:cxn ang="0">
                  <a:pos x="34" y="8"/>
                </a:cxn>
                <a:cxn ang="0">
                  <a:pos x="42" y="9"/>
                </a:cxn>
                <a:cxn ang="0">
                  <a:pos x="50" y="10"/>
                </a:cxn>
                <a:cxn ang="0">
                  <a:pos x="64" y="11"/>
                </a:cxn>
                <a:cxn ang="0">
                  <a:pos x="75" y="12"/>
                </a:cxn>
                <a:cxn ang="0">
                  <a:pos x="87" y="12"/>
                </a:cxn>
                <a:cxn ang="0">
                  <a:pos x="103" y="13"/>
                </a:cxn>
                <a:cxn ang="0">
                  <a:pos x="116" y="14"/>
                </a:cxn>
                <a:cxn ang="0">
                  <a:pos x="129" y="14"/>
                </a:cxn>
                <a:cxn ang="0">
                  <a:pos x="147" y="15"/>
                </a:cxn>
                <a:cxn ang="0">
                  <a:pos x="166" y="15"/>
                </a:cxn>
                <a:cxn ang="0">
                  <a:pos x="186" y="15"/>
                </a:cxn>
                <a:cxn ang="0">
                  <a:pos x="206" y="15"/>
                </a:cxn>
                <a:cxn ang="0">
                  <a:pos x="226" y="15"/>
                </a:cxn>
                <a:cxn ang="0">
                  <a:pos x="228" y="15"/>
                </a:cxn>
                <a:cxn ang="0">
                  <a:pos x="235" y="15"/>
                </a:cxn>
                <a:cxn ang="0">
                  <a:pos x="245" y="15"/>
                </a:cxn>
                <a:cxn ang="0">
                  <a:pos x="263" y="14"/>
                </a:cxn>
                <a:cxn ang="0">
                  <a:pos x="274" y="14"/>
                </a:cxn>
                <a:cxn ang="0">
                  <a:pos x="276" y="14"/>
                </a:cxn>
                <a:cxn ang="0">
                  <a:pos x="289" y="13"/>
                </a:cxn>
                <a:cxn ang="0">
                  <a:pos x="293" y="13"/>
                </a:cxn>
                <a:cxn ang="0">
                  <a:pos x="305" y="12"/>
                </a:cxn>
                <a:cxn ang="0">
                  <a:pos x="317" y="12"/>
                </a:cxn>
                <a:cxn ang="0">
                  <a:pos x="324" y="11"/>
                </a:cxn>
                <a:cxn ang="0">
                  <a:pos x="336" y="10"/>
                </a:cxn>
                <a:cxn ang="0">
                  <a:pos x="342" y="10"/>
                </a:cxn>
                <a:cxn ang="0">
                  <a:pos x="351" y="9"/>
                </a:cxn>
                <a:cxn ang="0">
                  <a:pos x="359" y="8"/>
                </a:cxn>
                <a:cxn ang="0">
                  <a:pos x="363" y="7"/>
                </a:cxn>
                <a:cxn ang="0">
                  <a:pos x="368" y="7"/>
                </a:cxn>
                <a:cxn ang="0">
                  <a:pos x="372" y="6"/>
                </a:cxn>
                <a:cxn ang="0">
                  <a:pos x="379" y="5"/>
                </a:cxn>
                <a:cxn ang="0">
                  <a:pos x="382" y="4"/>
                </a:cxn>
                <a:cxn ang="0">
                  <a:pos x="386" y="3"/>
                </a:cxn>
                <a:cxn ang="0">
                  <a:pos x="387" y="3"/>
                </a:cxn>
                <a:cxn ang="0">
                  <a:pos x="388" y="2"/>
                </a:cxn>
                <a:cxn ang="0">
                  <a:pos x="390" y="2"/>
                </a:cxn>
                <a:cxn ang="0">
                  <a:pos x="392" y="1"/>
                </a:cxn>
                <a:cxn ang="0">
                  <a:pos x="393" y="0"/>
                </a:cxn>
              </a:cxnLst>
              <a:rect l="0" t="0" r="r" b="b"/>
              <a:pathLst>
                <a:path w="393" h="15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2"/>
                  </a:lnTo>
                  <a:lnTo>
                    <a:pt x="4" y="2"/>
                  </a:lnTo>
                  <a:lnTo>
                    <a:pt x="5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10" y="4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20" y="6"/>
                  </a:lnTo>
                  <a:lnTo>
                    <a:pt x="24" y="7"/>
                  </a:lnTo>
                  <a:lnTo>
                    <a:pt x="26" y="7"/>
                  </a:lnTo>
                  <a:lnTo>
                    <a:pt x="29" y="7"/>
                  </a:lnTo>
                  <a:lnTo>
                    <a:pt x="34" y="8"/>
                  </a:lnTo>
                  <a:lnTo>
                    <a:pt x="39" y="8"/>
                  </a:lnTo>
                  <a:lnTo>
                    <a:pt x="42" y="9"/>
                  </a:lnTo>
                  <a:lnTo>
                    <a:pt x="44" y="9"/>
                  </a:lnTo>
                  <a:lnTo>
                    <a:pt x="50" y="10"/>
                  </a:lnTo>
                  <a:lnTo>
                    <a:pt x="57" y="10"/>
                  </a:lnTo>
                  <a:lnTo>
                    <a:pt x="64" y="11"/>
                  </a:lnTo>
                  <a:lnTo>
                    <a:pt x="71" y="11"/>
                  </a:lnTo>
                  <a:lnTo>
                    <a:pt x="75" y="12"/>
                  </a:lnTo>
                  <a:lnTo>
                    <a:pt x="79" y="12"/>
                  </a:lnTo>
                  <a:lnTo>
                    <a:pt x="87" y="12"/>
                  </a:lnTo>
                  <a:lnTo>
                    <a:pt x="95" y="13"/>
                  </a:lnTo>
                  <a:lnTo>
                    <a:pt x="103" y="13"/>
                  </a:lnTo>
                  <a:lnTo>
                    <a:pt x="112" y="14"/>
                  </a:lnTo>
                  <a:lnTo>
                    <a:pt x="116" y="14"/>
                  </a:lnTo>
                  <a:lnTo>
                    <a:pt x="120" y="14"/>
                  </a:lnTo>
                  <a:lnTo>
                    <a:pt x="129" y="14"/>
                  </a:lnTo>
                  <a:lnTo>
                    <a:pt x="138" y="14"/>
                  </a:lnTo>
                  <a:lnTo>
                    <a:pt x="147" y="15"/>
                  </a:lnTo>
                  <a:lnTo>
                    <a:pt x="157" y="15"/>
                  </a:lnTo>
                  <a:lnTo>
                    <a:pt x="166" y="15"/>
                  </a:lnTo>
                  <a:lnTo>
                    <a:pt x="176" y="15"/>
                  </a:lnTo>
                  <a:lnTo>
                    <a:pt x="186" y="15"/>
                  </a:lnTo>
                  <a:lnTo>
                    <a:pt x="196" y="15"/>
                  </a:lnTo>
                  <a:lnTo>
                    <a:pt x="206" y="15"/>
                  </a:lnTo>
                  <a:lnTo>
                    <a:pt x="216" y="15"/>
                  </a:lnTo>
                  <a:lnTo>
                    <a:pt x="226" y="15"/>
                  </a:lnTo>
                  <a:lnTo>
                    <a:pt x="227" y="15"/>
                  </a:lnTo>
                  <a:lnTo>
                    <a:pt x="228" y="15"/>
                  </a:lnTo>
                  <a:lnTo>
                    <a:pt x="231" y="15"/>
                  </a:lnTo>
                  <a:lnTo>
                    <a:pt x="235" y="15"/>
                  </a:lnTo>
                  <a:lnTo>
                    <a:pt x="240" y="15"/>
                  </a:lnTo>
                  <a:lnTo>
                    <a:pt x="245" y="15"/>
                  </a:lnTo>
                  <a:lnTo>
                    <a:pt x="254" y="14"/>
                  </a:lnTo>
                  <a:lnTo>
                    <a:pt x="263" y="14"/>
                  </a:lnTo>
                  <a:lnTo>
                    <a:pt x="272" y="14"/>
                  </a:lnTo>
                  <a:lnTo>
                    <a:pt x="274" y="14"/>
                  </a:lnTo>
                  <a:lnTo>
                    <a:pt x="275" y="14"/>
                  </a:lnTo>
                  <a:lnTo>
                    <a:pt x="276" y="14"/>
                  </a:lnTo>
                  <a:lnTo>
                    <a:pt x="280" y="14"/>
                  </a:lnTo>
                  <a:lnTo>
                    <a:pt x="289" y="13"/>
                  </a:lnTo>
                  <a:lnTo>
                    <a:pt x="291" y="13"/>
                  </a:lnTo>
                  <a:lnTo>
                    <a:pt x="293" y="13"/>
                  </a:lnTo>
                  <a:lnTo>
                    <a:pt x="297" y="13"/>
                  </a:lnTo>
                  <a:lnTo>
                    <a:pt x="305" y="12"/>
                  </a:lnTo>
                  <a:lnTo>
                    <a:pt x="313" y="12"/>
                  </a:lnTo>
                  <a:lnTo>
                    <a:pt x="317" y="12"/>
                  </a:lnTo>
                  <a:lnTo>
                    <a:pt x="321" y="11"/>
                  </a:lnTo>
                  <a:lnTo>
                    <a:pt x="324" y="11"/>
                  </a:lnTo>
                  <a:lnTo>
                    <a:pt x="328" y="11"/>
                  </a:lnTo>
                  <a:lnTo>
                    <a:pt x="336" y="10"/>
                  </a:lnTo>
                  <a:lnTo>
                    <a:pt x="339" y="10"/>
                  </a:lnTo>
                  <a:lnTo>
                    <a:pt x="342" y="10"/>
                  </a:lnTo>
                  <a:lnTo>
                    <a:pt x="348" y="9"/>
                  </a:lnTo>
                  <a:lnTo>
                    <a:pt x="351" y="9"/>
                  </a:lnTo>
                  <a:lnTo>
                    <a:pt x="353" y="8"/>
                  </a:lnTo>
                  <a:lnTo>
                    <a:pt x="359" y="8"/>
                  </a:lnTo>
                  <a:lnTo>
                    <a:pt x="361" y="8"/>
                  </a:lnTo>
                  <a:lnTo>
                    <a:pt x="363" y="7"/>
                  </a:lnTo>
                  <a:lnTo>
                    <a:pt x="366" y="7"/>
                  </a:lnTo>
                  <a:lnTo>
                    <a:pt x="368" y="7"/>
                  </a:lnTo>
                  <a:lnTo>
                    <a:pt x="370" y="6"/>
                  </a:lnTo>
                  <a:lnTo>
                    <a:pt x="372" y="6"/>
                  </a:lnTo>
                  <a:lnTo>
                    <a:pt x="376" y="5"/>
                  </a:lnTo>
                  <a:lnTo>
                    <a:pt x="379" y="5"/>
                  </a:lnTo>
                  <a:lnTo>
                    <a:pt x="381" y="4"/>
                  </a:lnTo>
                  <a:lnTo>
                    <a:pt x="382" y="4"/>
                  </a:lnTo>
                  <a:lnTo>
                    <a:pt x="385" y="3"/>
                  </a:lnTo>
                  <a:lnTo>
                    <a:pt x="386" y="3"/>
                  </a:lnTo>
                  <a:lnTo>
                    <a:pt x="387" y="3"/>
                  </a:lnTo>
                  <a:lnTo>
                    <a:pt x="387" y="3"/>
                  </a:lnTo>
                  <a:lnTo>
                    <a:pt x="388" y="3"/>
                  </a:lnTo>
                  <a:lnTo>
                    <a:pt x="388" y="2"/>
                  </a:lnTo>
                  <a:lnTo>
                    <a:pt x="389" y="2"/>
                  </a:lnTo>
                  <a:lnTo>
                    <a:pt x="390" y="2"/>
                  </a:lnTo>
                  <a:lnTo>
                    <a:pt x="391" y="1"/>
                  </a:lnTo>
                  <a:lnTo>
                    <a:pt x="392" y="1"/>
                  </a:lnTo>
                  <a:lnTo>
                    <a:pt x="392" y="0"/>
                  </a:lnTo>
                  <a:lnTo>
                    <a:pt x="393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3" name="Line 25"/>
            <p:cNvSpPr>
              <a:spLocks noChangeShapeType="1"/>
            </p:cNvSpPr>
            <p:nvPr/>
          </p:nvSpPr>
          <p:spPr bwMode="auto">
            <a:xfrm>
              <a:off x="4962466" y="3191843"/>
              <a:ext cx="0" cy="431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4" name="Text Box 26"/>
            <p:cNvSpPr txBox="1">
              <a:spLocks noChangeArrowheads="1"/>
            </p:cNvSpPr>
            <p:nvPr/>
          </p:nvSpPr>
          <p:spPr bwMode="auto">
            <a:xfrm>
              <a:off x="3040247" y="3020393"/>
              <a:ext cx="1879356" cy="217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500">
                  <a:solidFill>
                    <a:prstClr val="black"/>
                  </a:solidFill>
                  <a:latin typeface="+mn-lt"/>
                </a:rPr>
                <a:t>[I] : level of water in bucket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5" name="Line 27"/>
            <p:cNvSpPr>
              <a:spLocks noChangeShapeType="1"/>
            </p:cNvSpPr>
            <p:nvPr/>
          </p:nvSpPr>
          <p:spPr bwMode="auto">
            <a:xfrm>
              <a:off x="3828258" y="1840483"/>
              <a:ext cx="0" cy="8643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6" name="Text Box 28"/>
            <p:cNvSpPr txBox="1">
              <a:spLocks noChangeArrowheads="1"/>
            </p:cNvSpPr>
            <p:nvPr/>
          </p:nvSpPr>
          <p:spPr bwMode="auto">
            <a:xfrm>
              <a:off x="3450188" y="2091705"/>
              <a:ext cx="305388" cy="217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500">
                  <a:solidFill>
                    <a:prstClr val="black"/>
                  </a:solidFill>
                  <a:latin typeface="+mn-lt"/>
                </a:rPr>
                <a:t>[A]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7" name="Oval 29"/>
            <p:cNvSpPr>
              <a:spLocks noChangeArrowheads="1"/>
            </p:cNvSpPr>
            <p:nvPr/>
          </p:nvSpPr>
          <p:spPr bwMode="auto">
            <a:xfrm>
              <a:off x="5232829" y="2381026"/>
              <a:ext cx="161558" cy="37742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8" name="Line 30"/>
            <p:cNvSpPr>
              <a:spLocks noChangeShapeType="1"/>
            </p:cNvSpPr>
            <p:nvPr/>
          </p:nvSpPr>
          <p:spPr bwMode="auto">
            <a:xfrm flipH="1">
              <a:off x="5339435" y="1679748"/>
              <a:ext cx="550618" cy="7643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79" name="Text Box 31"/>
            <p:cNvSpPr txBox="1">
              <a:spLocks noChangeArrowheads="1"/>
            </p:cNvSpPr>
            <p:nvPr/>
          </p:nvSpPr>
          <p:spPr bwMode="auto">
            <a:xfrm>
              <a:off x="5943906" y="1491630"/>
              <a:ext cx="1010214" cy="217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5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500" i="1" baseline="-25000">
                  <a:solidFill>
                    <a:prstClr val="black"/>
                  </a:solidFill>
                  <a:latin typeface="+mn-lt"/>
                </a:rPr>
                <a:t>1 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- size of hole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0" name="Text Box 32"/>
            <p:cNvSpPr txBox="1">
              <a:spLocks noChangeArrowheads="1"/>
            </p:cNvSpPr>
            <p:nvPr/>
          </p:nvSpPr>
          <p:spPr bwMode="auto">
            <a:xfrm>
              <a:off x="6312084" y="3281139"/>
              <a:ext cx="1010214" cy="217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5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500" i="1" baseline="-25000">
                  <a:solidFill>
                    <a:prstClr val="black"/>
                  </a:solidFill>
                  <a:latin typeface="+mn-lt"/>
                </a:rPr>
                <a:t>2 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- size of hole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1" name="Oval 33"/>
            <p:cNvSpPr>
              <a:spLocks noChangeArrowheads="1"/>
            </p:cNvSpPr>
            <p:nvPr/>
          </p:nvSpPr>
          <p:spPr bwMode="auto">
            <a:xfrm>
              <a:off x="5771358" y="3298999"/>
              <a:ext cx="162658" cy="37742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2" name="Line 34"/>
            <p:cNvSpPr>
              <a:spLocks noChangeShapeType="1"/>
            </p:cNvSpPr>
            <p:nvPr/>
          </p:nvSpPr>
          <p:spPr bwMode="auto">
            <a:xfrm flipH="1" flipV="1">
              <a:off x="5925223" y="3464495"/>
              <a:ext cx="433021" cy="1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3" name="Freeform 35"/>
            <p:cNvSpPr>
              <a:spLocks/>
            </p:cNvSpPr>
            <p:nvPr/>
          </p:nvSpPr>
          <p:spPr bwMode="auto">
            <a:xfrm>
              <a:off x="5514183" y="2400077"/>
              <a:ext cx="478081" cy="279797"/>
            </a:xfrm>
            <a:custGeom>
              <a:avLst/>
              <a:gdLst/>
              <a:ahLst/>
              <a:cxnLst>
                <a:cxn ang="0">
                  <a:pos x="401" y="0"/>
                </a:cxn>
                <a:cxn ang="0">
                  <a:pos x="113" y="45"/>
                </a:cxn>
                <a:cxn ang="0">
                  <a:pos x="0" y="235"/>
                </a:cxn>
              </a:cxnLst>
              <a:rect l="0" t="0" r="r" b="b"/>
              <a:pathLst>
                <a:path w="401" h="235">
                  <a:moveTo>
                    <a:pt x="401" y="0"/>
                  </a:moveTo>
                  <a:cubicBezTo>
                    <a:pt x="290" y="3"/>
                    <a:pt x="180" y="6"/>
                    <a:pt x="113" y="45"/>
                  </a:cubicBezTo>
                  <a:cubicBezTo>
                    <a:pt x="46" y="84"/>
                    <a:pt x="23" y="159"/>
                    <a:pt x="0" y="23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4" name="Text Box 36"/>
            <p:cNvSpPr txBox="1">
              <a:spLocks noChangeArrowheads="1"/>
            </p:cNvSpPr>
            <p:nvPr/>
          </p:nvSpPr>
          <p:spPr bwMode="auto">
            <a:xfrm>
              <a:off x="6018641" y="2027411"/>
              <a:ext cx="1328737" cy="527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5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500" i="1" baseline="-25000">
                  <a:solidFill>
                    <a:prstClr val="black"/>
                  </a:solidFill>
                  <a:latin typeface="+mn-lt"/>
                </a:rPr>
                <a:t>1 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x [A]: rate of water flowing </a:t>
              </a:r>
              <a:r>
                <a:rPr lang="en-GB" sz="1500" i="1">
                  <a:solidFill>
                    <a:prstClr val="black"/>
                  </a:solidFill>
                  <a:latin typeface="+mn-lt"/>
                </a:rPr>
                <a:t>into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bucket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5" name="Freeform 37"/>
            <p:cNvSpPr>
              <a:spLocks/>
            </p:cNvSpPr>
            <p:nvPr/>
          </p:nvSpPr>
          <p:spPr bwMode="auto">
            <a:xfrm flipH="1" flipV="1">
              <a:off x="5025110" y="3780011"/>
              <a:ext cx="958361" cy="279797"/>
            </a:xfrm>
            <a:custGeom>
              <a:avLst/>
              <a:gdLst/>
              <a:ahLst/>
              <a:cxnLst>
                <a:cxn ang="0">
                  <a:pos x="401" y="0"/>
                </a:cxn>
                <a:cxn ang="0">
                  <a:pos x="113" y="45"/>
                </a:cxn>
                <a:cxn ang="0">
                  <a:pos x="0" y="235"/>
                </a:cxn>
              </a:cxnLst>
              <a:rect l="0" t="0" r="r" b="b"/>
              <a:pathLst>
                <a:path w="401" h="235">
                  <a:moveTo>
                    <a:pt x="401" y="0"/>
                  </a:moveTo>
                  <a:cubicBezTo>
                    <a:pt x="290" y="3"/>
                    <a:pt x="180" y="6"/>
                    <a:pt x="113" y="45"/>
                  </a:cubicBezTo>
                  <a:cubicBezTo>
                    <a:pt x="46" y="84"/>
                    <a:pt x="23" y="159"/>
                    <a:pt x="0" y="23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GB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8886" name="Text Box 38"/>
            <p:cNvSpPr txBox="1">
              <a:spLocks noChangeArrowheads="1"/>
            </p:cNvSpPr>
            <p:nvPr/>
          </p:nvSpPr>
          <p:spPr bwMode="auto">
            <a:xfrm>
              <a:off x="2936938" y="3852639"/>
              <a:ext cx="2240940" cy="372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sz="15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500" i="1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x [I]: rate of water flowing </a:t>
              </a:r>
              <a:r>
                <a:rPr lang="en-GB" sz="1500" i="1">
                  <a:solidFill>
                    <a:prstClr val="black"/>
                  </a:solidFill>
                  <a:latin typeface="+mn-lt"/>
                </a:rPr>
                <a:t>out of</a:t>
              </a:r>
              <a:r>
                <a:rPr lang="en-GB" sz="1500">
                  <a:solidFill>
                    <a:prstClr val="black"/>
                  </a:solidFill>
                  <a:latin typeface="+mn-lt"/>
                </a:rPr>
                <a:t> bucket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20261" y="3014644"/>
                <a:ext cx="1308692" cy="510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>
                  <a:latin typeface="+mn-lt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61" y="3014644"/>
                <a:ext cx="1308692" cy="510781"/>
              </a:xfrm>
              <a:prstGeom prst="rect">
                <a:avLst/>
              </a:prstGeom>
              <a:blipFill>
                <a:blip r:embed="rId3"/>
                <a:stretch>
                  <a:fillRect l="-4808" t="-7317" r="-4808" b="-65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17334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1C1EF-68A9-6066-313E-779D7310C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609C0-E1F2-A3DD-6C87-9BD12ECA6CA4}"/>
              </a:ext>
            </a:extLst>
          </p:cNvPr>
          <p:cNvSpPr txBox="1"/>
          <p:nvPr/>
        </p:nvSpPr>
        <p:spPr>
          <a:xfrm>
            <a:off x="755650" y="5953674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</a:t>
            </a:r>
            <a:r>
              <a:rPr lang="en-US" err="1"/>
              <a:t>youtu.be</a:t>
            </a:r>
            <a:r>
              <a:rPr lang="en-US"/>
              <a:t>/ZUzgVZk7Yxk?si=Y0DZBTpHNuC_OHif</a:t>
            </a:r>
          </a:p>
        </p:txBody>
      </p:sp>
      <p:pic>
        <p:nvPicPr>
          <p:cNvPr id="7" name="Online Media 6" descr="Steady States Using a Water Flow Model (10x)">
            <a:hlinkClick r:id="" action="ppaction://media"/>
            <a:extLst>
              <a:ext uri="{FF2B5EF4-FFF2-40B4-BE49-F238E27FC236}">
                <a16:creationId xmlns:a16="http://schemas.microsoft.com/office/drawing/2014/main" id="{13AF1059-ED6A-54CC-2726-131705AE6BA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56665" y="1598197"/>
            <a:ext cx="6255695" cy="353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471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What does the analogy tell us? 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GB">
                <a:solidFill>
                  <a:prstClr val="black"/>
                </a:solidFill>
              </a:rPr>
              <a:t>The level of water in the bucket initially increases, but quickly reaches a “steady state”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>
                <a:solidFill>
                  <a:prstClr val="black"/>
                </a:solidFill>
              </a:rPr>
              <a:t>At steady state, (rate of water flowing in) = (rate of water flowing out)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>
                <a:solidFill>
                  <a:prstClr val="black"/>
                </a:solidFill>
              </a:rPr>
              <a:t>The steady state level of water increases with rate flowing in (either because more water in A, or because the hole </a:t>
            </a:r>
            <a:r>
              <a:rPr lang="en-GB" i="1">
                <a:solidFill>
                  <a:prstClr val="black"/>
                </a:solidFill>
              </a:rPr>
              <a:t>k</a:t>
            </a:r>
            <a:r>
              <a:rPr lang="en-GB" i="1" baseline="-25000">
                <a:solidFill>
                  <a:prstClr val="black"/>
                </a:solidFill>
              </a:rPr>
              <a:t>1</a:t>
            </a:r>
            <a:r>
              <a:rPr lang="en-GB">
                <a:solidFill>
                  <a:prstClr val="black"/>
                </a:solidFill>
              </a:rPr>
              <a:t> is larger)...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>
                <a:solidFill>
                  <a:prstClr val="black"/>
                </a:solidFill>
              </a:rPr>
              <a:t>…and decreases with rate constant for water flowing out (if hole </a:t>
            </a:r>
            <a:r>
              <a:rPr lang="en-GB" i="1">
                <a:solidFill>
                  <a:prstClr val="black"/>
                </a:solidFill>
              </a:rPr>
              <a:t>k</a:t>
            </a:r>
            <a:r>
              <a:rPr lang="en-GB" i="1" baseline="-25000">
                <a:solidFill>
                  <a:prstClr val="black"/>
                </a:solidFill>
              </a:rPr>
              <a:t>2</a:t>
            </a:r>
            <a:r>
              <a:rPr lang="en-GB">
                <a:solidFill>
                  <a:prstClr val="black"/>
                </a:solidFill>
              </a:rPr>
              <a:t> is larger)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GB" sz="2100">
              <a:solidFill>
                <a:prstClr val="black"/>
              </a:solidFill>
            </a:endParaRPr>
          </a:p>
          <a:p>
            <a:pPr marL="0" indent="0">
              <a:spcBef>
                <a:spcPct val="50000"/>
              </a:spcBef>
              <a:buNone/>
            </a:pPr>
            <a:r>
              <a:rPr lang="en-US">
                <a:solidFill>
                  <a:prstClr val="black"/>
                </a:solidFill>
              </a:rPr>
              <a:t>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56109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Steady state in chemical kinetics</a:t>
            </a: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spcBef>
                    <a:spcPct val="50000"/>
                  </a:spcBef>
                  <a:buFontTx/>
                  <a:buChar char="•"/>
                </a:pPr>
                <a:endParaRPr lang="en-GB">
                  <a:solidFill>
                    <a:prstClr val="black"/>
                  </a:solidFill>
                </a:endParaRP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r>
                  <a:rPr lang="en-GB">
                    <a:solidFill>
                      <a:prstClr val="black"/>
                    </a:solidFill>
                  </a:rPr>
                  <a:t>[I] initially increases, but quickly reaches a “steady state” where rate of change of [I]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GB">
                    <a:solidFill>
                      <a:prstClr val="black"/>
                    </a:solidFill>
                  </a:rPr>
                  <a:t> 0</a:t>
                </a: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r>
                  <a:rPr lang="en-GB">
                    <a:solidFill>
                      <a:prstClr val="black"/>
                    </a:solidFill>
                  </a:rPr>
                  <a:t>At steady state:</a:t>
                </a: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endParaRPr lang="en-GB">
                  <a:solidFill>
                    <a:prstClr val="black"/>
                  </a:solidFill>
                </a:endParaRP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endParaRPr lang="en-GB">
                  <a:solidFill>
                    <a:prstClr val="black"/>
                  </a:solidFill>
                </a:endParaRP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endParaRPr lang="en-GB">
                  <a:solidFill>
                    <a:prstClr val="black"/>
                  </a:solidFill>
                </a:endParaRP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r>
                  <a:rPr lang="en-GB">
                    <a:solidFill>
                      <a:prstClr val="black"/>
                    </a:solidFill>
                  </a:rPr>
                  <a:t>Steady-state conc. of I = [I]</a:t>
                </a:r>
                <a:r>
                  <a:rPr lang="en-GB" baseline="-25000">
                    <a:solidFill>
                      <a:prstClr val="black"/>
                    </a:solidFill>
                  </a:rPr>
                  <a:t>SS</a:t>
                </a:r>
                <a:r>
                  <a:rPr lang="en-GB">
                    <a:solidFill>
                      <a:prstClr val="black"/>
                    </a:solidFill>
                  </a:rPr>
                  <a:t>  = </a:t>
                </a:r>
                <a:r>
                  <a:rPr lang="en-GB" i="1">
                    <a:solidFill>
                      <a:prstClr val="black"/>
                    </a:solidFill>
                  </a:rPr>
                  <a:t>k</a:t>
                </a:r>
                <a:r>
                  <a:rPr lang="en-GB" baseline="-25000">
                    <a:solidFill>
                      <a:prstClr val="black"/>
                    </a:solidFill>
                  </a:rPr>
                  <a:t>1</a:t>
                </a:r>
                <a:r>
                  <a:rPr lang="en-GB" i="1" baseline="-25000">
                    <a:solidFill>
                      <a:prstClr val="black"/>
                    </a:solidFill>
                  </a:rPr>
                  <a:t> </a:t>
                </a:r>
                <a:r>
                  <a:rPr lang="en-GB">
                    <a:solidFill>
                      <a:prstClr val="black"/>
                    </a:solidFill>
                  </a:rPr>
                  <a:t>[A] / </a:t>
                </a:r>
                <a:r>
                  <a:rPr lang="en-GB" i="1">
                    <a:solidFill>
                      <a:prstClr val="black"/>
                    </a:solidFill>
                  </a:rPr>
                  <a:t>k</a:t>
                </a:r>
                <a:r>
                  <a:rPr lang="en-GB" baseline="-25000">
                    <a:solidFill>
                      <a:prstClr val="black"/>
                    </a:solidFill>
                  </a:rPr>
                  <a:t>2</a:t>
                </a:r>
                <a:r>
                  <a:rPr lang="en-GB" i="1" baseline="-25000">
                    <a:solidFill>
                      <a:prstClr val="black"/>
                    </a:solidFill>
                  </a:rPr>
                  <a:t>    </a:t>
                </a:r>
                <a:r>
                  <a:rPr lang="en-GB" sz="1800">
                    <a:solidFill>
                      <a:prstClr val="black"/>
                    </a:solidFill>
                  </a:rPr>
                  <a:t>(see next slide)</a:t>
                </a:r>
                <a:r>
                  <a:rPr lang="en-GB">
                    <a:solidFill>
                      <a:prstClr val="black"/>
                    </a:solidFill>
                  </a:rPr>
                  <a:t> </a:t>
                </a: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r>
                  <a:rPr lang="en-GB">
                    <a:solidFill>
                      <a:prstClr val="black"/>
                    </a:solidFill>
                  </a:rPr>
                  <a:t>Rate of reaction = </a:t>
                </a:r>
                <a:r>
                  <a:rPr lang="en-GB" i="1">
                    <a:solidFill>
                      <a:prstClr val="black"/>
                    </a:solidFill>
                  </a:rPr>
                  <a:t>k</a:t>
                </a:r>
                <a:r>
                  <a:rPr lang="en-GB" baseline="-25000">
                    <a:solidFill>
                      <a:prstClr val="black"/>
                    </a:solidFill>
                  </a:rPr>
                  <a:t>2</a:t>
                </a:r>
                <a:r>
                  <a:rPr lang="en-GB" i="1" baseline="-25000">
                    <a:solidFill>
                      <a:prstClr val="black"/>
                    </a:solidFill>
                  </a:rPr>
                  <a:t> </a:t>
                </a:r>
                <a:r>
                  <a:rPr lang="en-GB">
                    <a:solidFill>
                      <a:prstClr val="black"/>
                    </a:solidFill>
                  </a:rPr>
                  <a:t>[I] = </a:t>
                </a:r>
                <a:r>
                  <a:rPr lang="en-GB" i="1">
                    <a:solidFill>
                      <a:prstClr val="black"/>
                    </a:solidFill>
                  </a:rPr>
                  <a:t>k</a:t>
                </a:r>
                <a:r>
                  <a:rPr lang="en-GB" baseline="-25000">
                    <a:solidFill>
                      <a:prstClr val="black"/>
                    </a:solidFill>
                  </a:rPr>
                  <a:t>1</a:t>
                </a:r>
                <a:r>
                  <a:rPr lang="en-GB">
                    <a:solidFill>
                      <a:prstClr val="black"/>
                    </a:solidFill>
                  </a:rPr>
                  <a:t>[A] </a:t>
                </a:r>
              </a:p>
              <a:p>
                <a:endParaRPr lang="en-GB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99" b="-1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915249" y="1546963"/>
                <a:ext cx="1308692" cy="510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>
                  <a:latin typeface="+mn-lt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249" y="1546963"/>
                <a:ext cx="1308692" cy="5107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3131840" y="3067481"/>
            <a:ext cx="5400598" cy="1546201"/>
            <a:chOff x="1704822" y="3857629"/>
            <a:chExt cx="6045471" cy="1477028"/>
          </a:xfrm>
        </p:grpSpPr>
        <p:grpSp>
          <p:nvGrpSpPr>
            <p:cNvPr id="2" name="Group 4"/>
            <p:cNvGrpSpPr>
              <a:grpSpLocks/>
            </p:cNvGrpSpPr>
            <p:nvPr/>
          </p:nvGrpSpPr>
          <p:grpSpPr bwMode="auto">
            <a:xfrm>
              <a:off x="1704822" y="3857629"/>
              <a:ext cx="6045471" cy="1146176"/>
              <a:chOff x="1210" y="2230"/>
              <a:chExt cx="3680" cy="722"/>
            </a:xfrm>
          </p:grpSpPr>
          <p:sp>
            <p:nvSpPr>
              <p:cNvPr id="80901" name="Text Box 5"/>
              <p:cNvSpPr txBox="1">
                <a:spLocks noChangeArrowheads="1"/>
              </p:cNvSpPr>
              <p:nvPr/>
            </p:nvSpPr>
            <p:spPr bwMode="auto">
              <a:xfrm>
                <a:off x="1210" y="2230"/>
                <a:ext cx="1602" cy="7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>
                    <a:solidFill>
                      <a:prstClr val="black"/>
                    </a:solidFill>
                    <a:latin typeface="+mn-lt"/>
                  </a:rPr>
                  <a:t>Rate of process forming intermediate</a:t>
                </a:r>
                <a:endParaRPr lang="en-US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80902" name="Text Box 6"/>
              <p:cNvSpPr txBox="1">
                <a:spLocks noChangeArrowheads="1"/>
              </p:cNvSpPr>
              <p:nvPr/>
            </p:nvSpPr>
            <p:spPr bwMode="auto">
              <a:xfrm>
                <a:off x="3087" y="2230"/>
                <a:ext cx="1803" cy="7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>
                    <a:solidFill>
                      <a:prstClr val="black"/>
                    </a:solidFill>
                    <a:latin typeface="+mn-lt"/>
                  </a:rPr>
                  <a:t>Rate of process removing intermediate</a:t>
                </a:r>
                <a:endParaRPr lang="en-US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80903" name="Text Box 7"/>
              <p:cNvSpPr txBox="1">
                <a:spLocks noChangeArrowheads="1"/>
              </p:cNvSpPr>
              <p:nvPr/>
            </p:nvSpPr>
            <p:spPr bwMode="auto">
              <a:xfrm>
                <a:off x="2485" y="2464"/>
                <a:ext cx="969" cy="2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GB">
                    <a:solidFill>
                      <a:prstClr val="black"/>
                    </a:solidFill>
                    <a:latin typeface="+mn-lt"/>
                  </a:rPr>
                  <a:t>=</a:t>
                </a:r>
                <a:endParaRPr lang="en-US">
                  <a:solidFill>
                    <a:prstClr val="black"/>
                  </a:solidFill>
                  <a:latin typeface="+mn-lt"/>
                </a:endParaRPr>
              </a:p>
            </p:txBody>
          </p:sp>
        </p:grpSp>
        <p:sp>
          <p:nvSpPr>
            <p:cNvPr id="80905" name="Rectangle 9"/>
            <p:cNvSpPr>
              <a:spLocks noChangeArrowheads="1"/>
            </p:cNvSpPr>
            <p:nvPr/>
          </p:nvSpPr>
          <p:spPr bwMode="auto">
            <a:xfrm>
              <a:off x="2372923" y="4937747"/>
              <a:ext cx="1172112" cy="3969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1</a:t>
              </a:r>
              <a:r>
                <a:rPr lang="en-GB" sz="2100" i="1" baseline="-250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× [A]</a:t>
              </a:r>
              <a:endParaRPr lang="en-US" sz="21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80906" name="Rectangle 10"/>
            <p:cNvSpPr>
              <a:spLocks noChangeArrowheads="1"/>
            </p:cNvSpPr>
            <p:nvPr/>
          </p:nvSpPr>
          <p:spPr bwMode="auto">
            <a:xfrm>
              <a:off x="5726680" y="4937747"/>
              <a:ext cx="1005231" cy="3969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 i="1" baseline="-250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× [I]</a:t>
              </a:r>
              <a:endParaRPr lang="en-US" sz="2100">
                <a:solidFill>
                  <a:prstClr val="black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42259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57250"/>
            <a:ext cx="6172200" cy="857250"/>
          </a:xfrm>
        </p:spPr>
        <p:txBody>
          <a:bodyPr>
            <a:normAutofit fontScale="90000"/>
          </a:bodyPr>
          <a:lstStyle/>
          <a:p>
            <a:r>
              <a:rPr lang="en-GB" sz="3000">
                <a:latin typeface="+mn-lt"/>
              </a:rPr>
              <a:t>How to apply the steady-state </a:t>
            </a:r>
            <a:br>
              <a:rPr lang="en-GB" sz="3000">
                <a:latin typeface="+mn-lt"/>
              </a:rPr>
            </a:br>
            <a:r>
              <a:rPr lang="en-GB" sz="3000">
                <a:latin typeface="+mn-lt"/>
              </a:rPr>
              <a:t>approximation</a:t>
            </a:r>
            <a:endParaRPr lang="en-US" sz="3000">
              <a:latin typeface="+mn-lt"/>
            </a:endParaRPr>
          </a:p>
        </p:txBody>
      </p:sp>
      <p:sp>
        <p:nvSpPr>
          <p:cNvPr id="14348" name="Oval 12"/>
          <p:cNvSpPr>
            <a:spLocks noChangeArrowheads="1"/>
          </p:cNvSpPr>
          <p:nvPr/>
        </p:nvSpPr>
        <p:spPr bwMode="auto">
          <a:xfrm>
            <a:off x="6938589" y="3297385"/>
            <a:ext cx="271463" cy="415528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sz="1350">
              <a:solidFill>
                <a:prstClr val="black"/>
              </a:solidFill>
              <a:latin typeface="+mn-lt"/>
            </a:endParaRP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5282407" y="4736529"/>
            <a:ext cx="385528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Overall rate of change of  [I]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d[I]/</a:t>
            </a:r>
            <a:r>
              <a:rPr lang="en-GB" err="1">
                <a:solidFill>
                  <a:srgbClr val="FF0000"/>
                </a:solidFill>
                <a:latin typeface="+mn-lt"/>
              </a:rPr>
              <a:t>d</a:t>
            </a:r>
            <a:r>
              <a:rPr lang="en-GB" i="1" err="1">
                <a:solidFill>
                  <a:srgbClr val="FF0000"/>
                </a:solidFill>
                <a:latin typeface="+mn-lt"/>
              </a:rPr>
              <a:t>t</a:t>
            </a:r>
            <a:r>
              <a:rPr lang="en-GB">
                <a:solidFill>
                  <a:srgbClr val="FF0000"/>
                </a:solidFill>
                <a:latin typeface="+mn-lt"/>
              </a:rPr>
              <a:t> =  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 – 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</a:p>
          <a:p>
            <a:endParaRPr lang="en-US" i="1">
              <a:solidFill>
                <a:prstClr val="black"/>
              </a:solidFill>
              <a:latin typeface="+mn-lt"/>
            </a:endParaRP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5889822" y="6058915"/>
            <a:ext cx="285075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d[I]/</a:t>
            </a:r>
            <a:r>
              <a:rPr lang="en-GB" err="1">
                <a:solidFill>
                  <a:srgbClr val="FF0000"/>
                </a:solidFill>
                <a:latin typeface="+mn-lt"/>
              </a:rPr>
              <a:t>d</a:t>
            </a:r>
            <a:r>
              <a:rPr lang="en-GB" i="1" err="1">
                <a:solidFill>
                  <a:srgbClr val="FF0000"/>
                </a:solidFill>
                <a:latin typeface="+mn-lt"/>
              </a:rPr>
              <a:t>t</a:t>
            </a:r>
            <a:r>
              <a:rPr lang="en-GB">
                <a:solidFill>
                  <a:srgbClr val="FF0000"/>
                </a:solidFill>
                <a:latin typeface="+mn-lt"/>
              </a:rPr>
              <a:t> </a:t>
            </a:r>
            <a:r>
              <a:rPr lang="en-GB" i="1">
                <a:solidFill>
                  <a:srgbClr val="FF0000"/>
                </a:solidFill>
                <a:latin typeface="+mn-lt"/>
              </a:rPr>
              <a:t>= 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[A] </a:t>
            </a:r>
            <a:r>
              <a:rPr lang="en-GB" i="1">
                <a:solidFill>
                  <a:srgbClr val="FF0000"/>
                </a:solidFill>
                <a:latin typeface="+mn-lt"/>
              </a:rPr>
              <a:t>– 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[I] </a:t>
            </a:r>
          </a:p>
          <a:p>
            <a:r>
              <a:rPr lang="en-GB" i="1">
                <a:solidFill>
                  <a:srgbClr val="FF0000"/>
                </a:solidFill>
                <a:latin typeface="+mn-lt"/>
              </a:rPr>
              <a:t>		</a:t>
            </a:r>
          </a:p>
        </p:txBody>
      </p:sp>
      <p:sp>
        <p:nvSpPr>
          <p:cNvPr id="14357" name="Text Box 21"/>
          <p:cNvSpPr txBox="1">
            <a:spLocks noChangeArrowheads="1"/>
          </p:cNvSpPr>
          <p:nvPr/>
        </p:nvSpPr>
        <p:spPr bwMode="auto">
          <a:xfrm>
            <a:off x="6213625" y="2256294"/>
            <a:ext cx="199285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 i="1">
                <a:solidFill>
                  <a:srgbClr val="FF0000"/>
                </a:solidFill>
                <a:latin typeface="+mn-lt"/>
              </a:rPr>
              <a:t> =  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 i="1">
                <a:solidFill>
                  <a:srgbClr val="FF0000"/>
                </a:solidFill>
                <a:latin typeface="+mn-lt"/>
              </a:rPr>
              <a:t> </a:t>
            </a:r>
            <a:r>
              <a:rPr lang="en-GB">
                <a:solidFill>
                  <a:srgbClr val="FF0000"/>
                </a:solidFill>
                <a:latin typeface="+mn-lt"/>
              </a:rPr>
              <a:t>[A]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 i="1">
                <a:solidFill>
                  <a:srgbClr val="FF0000"/>
                </a:solidFill>
                <a:latin typeface="+mn-lt"/>
              </a:rPr>
              <a:t> =  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 i="1">
                <a:solidFill>
                  <a:srgbClr val="FF0000"/>
                </a:solidFill>
                <a:latin typeface="+mn-lt"/>
              </a:rPr>
              <a:t> </a:t>
            </a:r>
            <a:r>
              <a:rPr lang="en-GB">
                <a:solidFill>
                  <a:srgbClr val="FF0000"/>
                </a:solidFill>
                <a:latin typeface="+mn-lt"/>
              </a:rPr>
              <a:t>[I]</a:t>
            </a:r>
            <a:endParaRPr lang="en-US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6152182" y="3760380"/>
            <a:ext cx="267252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Formed by step 1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Removed by step 2</a:t>
            </a:r>
            <a:endParaRPr lang="en-US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566555" y="2213865"/>
            <a:ext cx="4150519" cy="39433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GB">
                <a:solidFill>
                  <a:prstClr val="black"/>
                </a:solidFill>
                <a:latin typeface="+mn-lt"/>
              </a:rPr>
              <a:t>Write rate equations</a:t>
            </a: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GB">
                <a:solidFill>
                  <a:prstClr val="black"/>
                </a:solidFill>
                <a:latin typeface="+mn-lt"/>
              </a:rPr>
              <a:t>Identify intermediate(s)  and identify processes that produce and remove the intermediate</a:t>
            </a: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GB">
                <a:solidFill>
                  <a:prstClr val="black"/>
                </a:solidFill>
                <a:latin typeface="+mn-lt"/>
              </a:rPr>
              <a:t>Combine to give overall rate of change of [intermediate]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417507" y="1655284"/>
                <a:ext cx="1308692" cy="510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>
                  <a:latin typeface="+mn-lt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507" y="1655284"/>
                <a:ext cx="1308692" cy="5107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417507" y="3185695"/>
                <a:ext cx="1308692" cy="510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>
                  <a:latin typeface="+mn-lt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507" y="3185695"/>
                <a:ext cx="1308692" cy="5107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31837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8" grpId="0" animBg="1"/>
      <p:bldP spid="14349" grpId="0"/>
      <p:bldP spid="14357" grpId="0"/>
      <p:bldP spid="14365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1248966"/>
            <a:ext cx="3048000" cy="4751784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r>
              <a:rPr lang="en-GB" sz="2100"/>
              <a:t>Apply steady-state approximation, rate of change of [intermediate]=0; solve to find [intermediate]</a:t>
            </a:r>
            <a:r>
              <a:rPr lang="en-GB" sz="2100" baseline="-25000"/>
              <a:t>SS</a:t>
            </a:r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 baseline="-2500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 baseline="-2500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 baseline="-2500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r>
              <a:rPr lang="en-GB" sz="2100"/>
              <a:t>Write rate law for elementary step that forms final products</a:t>
            </a:r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r>
              <a:rPr lang="en-GB" sz="2100"/>
              <a:t>Substitute [I] into (5) to get final rate		</a:t>
            </a:r>
            <a:endParaRPr lang="en-US" sz="2100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4896036" y="3952019"/>
            <a:ext cx="40864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 = d[P]/</a:t>
            </a:r>
            <a:r>
              <a:rPr lang="en-GB" err="1">
                <a:solidFill>
                  <a:srgbClr val="FF0000"/>
                </a:solidFill>
                <a:latin typeface="+mn-lt"/>
              </a:rPr>
              <a:t>d</a:t>
            </a:r>
            <a:r>
              <a:rPr lang="en-GB" i="1" err="1">
                <a:solidFill>
                  <a:srgbClr val="FF0000"/>
                </a:solidFill>
                <a:latin typeface="+mn-lt"/>
              </a:rPr>
              <a:t>t</a:t>
            </a:r>
            <a:r>
              <a:rPr lang="en-GB">
                <a:solidFill>
                  <a:srgbClr val="FF0000"/>
                </a:solidFill>
                <a:latin typeface="+mn-lt"/>
              </a:rPr>
              <a:t> = 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 [I]</a:t>
            </a:r>
            <a:endParaRPr lang="en-US" baseline="-25000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350" name="Rectangle 6"/>
              <p:cNvSpPr>
                <a:spLocks noChangeArrowheads="1"/>
              </p:cNvSpPr>
              <p:nvPr/>
            </p:nvSpPr>
            <p:spPr bwMode="auto">
              <a:xfrm>
                <a:off x="5112060" y="4946200"/>
                <a:ext cx="2942793" cy="675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rgbClr val="FF0000"/>
                    </a:solidFill>
                    <a:latin typeface="+mn-lt"/>
                  </a:rPr>
                  <a:t>Rate</a:t>
                </a:r>
                <a:r>
                  <a:rPr lang="en-GB" i="1">
                    <a:solidFill>
                      <a:srgbClr val="FF0000"/>
                    </a:solidFill>
                    <a:latin typeface="+mn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i="1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GB">
                    <a:solidFill>
                      <a:srgbClr val="FF0000"/>
                    </a:solidFill>
                    <a:latin typeface="+mn-lt"/>
                  </a:rPr>
                  <a:t>[A]</a:t>
                </a:r>
                <a:r>
                  <a:rPr lang="en-GB" i="1">
                    <a:solidFill>
                      <a:srgbClr val="FF0000"/>
                    </a:solidFill>
                    <a:latin typeface="+mn-lt"/>
                  </a:rPr>
                  <a:t>= k</a:t>
                </a:r>
                <a:r>
                  <a:rPr lang="en-GB" baseline="-25000">
                    <a:solidFill>
                      <a:srgbClr val="FF0000"/>
                    </a:solidFill>
                    <a:latin typeface="+mn-lt"/>
                  </a:rPr>
                  <a:t>1</a:t>
                </a:r>
                <a:r>
                  <a:rPr lang="en-GB">
                    <a:solidFill>
                      <a:srgbClr val="FF0000"/>
                    </a:solidFill>
                    <a:latin typeface="+mn-lt"/>
                  </a:rPr>
                  <a:t>[A]</a:t>
                </a:r>
                <a:endParaRPr lang="en-US">
                  <a:solidFill>
                    <a:srgbClr val="FF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57350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12060" y="4946200"/>
                <a:ext cx="2942793" cy="675249"/>
              </a:xfrm>
              <a:prstGeom prst="rect">
                <a:avLst/>
              </a:prstGeom>
              <a:blipFill>
                <a:blip r:embed="rId3"/>
                <a:stretch>
                  <a:fillRect l="-3320" r="-373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4896036" y="1127231"/>
            <a:ext cx="408645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Overall rate of change of [I] 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=  d[I]/</a:t>
            </a:r>
            <a:r>
              <a:rPr lang="en-GB" err="1">
                <a:solidFill>
                  <a:srgbClr val="FF0000"/>
                </a:solidFill>
                <a:latin typeface="+mn-lt"/>
              </a:rPr>
              <a:t>d</a:t>
            </a:r>
            <a:r>
              <a:rPr lang="en-GB" i="1" err="1">
                <a:solidFill>
                  <a:srgbClr val="FF0000"/>
                </a:solidFill>
                <a:latin typeface="+mn-lt"/>
              </a:rPr>
              <a:t>t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[A] – </a:t>
            </a:r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[I] </a:t>
            </a:r>
            <a:r>
              <a:rPr lang="en-GB">
                <a:solidFill>
                  <a:srgbClr val="FF0000"/>
                </a:solidFill>
                <a:latin typeface="+mn-lt"/>
                <a:sym typeface="Mathematica1" pitchFamily="2" charset="2"/>
              </a:rPr>
              <a:t>≈</a:t>
            </a:r>
            <a:r>
              <a:rPr lang="en-GB">
                <a:solidFill>
                  <a:srgbClr val="FF0000"/>
                </a:solidFill>
                <a:latin typeface="+mn-lt"/>
              </a:rPr>
              <a:t> 0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			</a:t>
            </a:r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5832140" y="2103658"/>
            <a:ext cx="26312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 [I]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SS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 [A]</a:t>
            </a:r>
            <a:endParaRPr lang="en-US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691740" y="2860353"/>
                <a:ext cx="2301843" cy="764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>
                              <a:solidFill>
                                <a:srgbClr val="FF0000"/>
                              </a:solidFill>
                              <a:latin typeface="+mn-lt"/>
                            </a:rPr>
                            <m:t>I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sub>
                      </m:sSub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>
                              <a:solidFill>
                                <a:srgbClr val="FF0000"/>
                              </a:solidFill>
                              <a:latin typeface="+mn-lt"/>
                            </a:rPr>
                            <m:t>A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>
                  <a:solidFill>
                    <a:srgbClr val="FF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740" y="2860353"/>
                <a:ext cx="2301843" cy="764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0502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/>
      <p:bldP spid="57352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57250"/>
            <a:ext cx="6172200" cy="857250"/>
          </a:xfrm>
        </p:spPr>
        <p:txBody>
          <a:bodyPr>
            <a:normAutofit fontScale="90000"/>
          </a:bodyPr>
          <a:lstStyle/>
          <a:p>
            <a:r>
              <a:rPr lang="en-GB" sz="3000" dirty="0">
                <a:latin typeface="+mn-lt"/>
              </a:rPr>
              <a:t>Worked example: How to apply the steady-state </a:t>
            </a:r>
            <a:br>
              <a:rPr lang="en-GB" sz="3000" dirty="0">
                <a:latin typeface="+mn-lt"/>
              </a:rPr>
            </a:br>
            <a:r>
              <a:rPr lang="en-GB" sz="3000" dirty="0">
                <a:latin typeface="+mn-lt"/>
              </a:rPr>
              <a:t>approximation</a:t>
            </a:r>
            <a:endParaRPr lang="en-US" sz="3000" dirty="0">
              <a:latin typeface="+mn-lt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143001" y="2057400"/>
            <a:ext cx="4150519" cy="39433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GB">
                <a:solidFill>
                  <a:prstClr val="black"/>
                </a:solidFill>
                <a:latin typeface="+mn-lt"/>
              </a:rPr>
              <a:t>Write rate equations</a:t>
            </a: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endParaRPr lang="en-GB">
              <a:solidFill>
                <a:prstClr val="black"/>
              </a:solidFill>
              <a:latin typeface="+mn-lt"/>
            </a:endParaRP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GB">
                <a:solidFill>
                  <a:prstClr val="black"/>
                </a:solidFill>
                <a:latin typeface="+mn-lt"/>
              </a:rPr>
              <a:t>Identify intermediate(s)  and identify processes that produce and remove the intermediate</a:t>
            </a: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GB">
                <a:solidFill>
                  <a:prstClr val="black"/>
                </a:solidFill>
                <a:latin typeface="+mn-lt"/>
              </a:rPr>
              <a:t>Combine to give overall rate of change of [intermediate]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997282" y="1533848"/>
                <a:ext cx="1478610" cy="510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>
                  <a:latin typeface="+mn-lt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282" y="1533848"/>
                <a:ext cx="1478610" cy="5107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491565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57250"/>
            <a:ext cx="6172200" cy="857250"/>
          </a:xfrm>
        </p:spPr>
        <p:txBody>
          <a:bodyPr>
            <a:normAutofit fontScale="90000"/>
          </a:bodyPr>
          <a:lstStyle/>
          <a:p>
            <a:r>
              <a:rPr lang="en-GB" sz="3000" dirty="0">
                <a:latin typeface="+mn-lt"/>
              </a:rPr>
              <a:t>Worked example: How to apply the steady-state </a:t>
            </a:r>
            <a:br>
              <a:rPr lang="en-GB" sz="3000" dirty="0">
                <a:latin typeface="+mn-lt"/>
              </a:rPr>
            </a:br>
            <a:r>
              <a:rPr lang="en-GB" sz="3000" dirty="0">
                <a:latin typeface="+mn-lt"/>
              </a:rPr>
              <a:t>approximation</a:t>
            </a:r>
            <a:endParaRPr lang="en-US" sz="3000" dirty="0">
              <a:latin typeface="+mn-lt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143002" y="2057400"/>
            <a:ext cx="3987738" cy="39433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GB">
                <a:solidFill>
                  <a:prstClr val="black"/>
                </a:solidFill>
                <a:latin typeface="+mn-lt"/>
              </a:rPr>
              <a:t>Write rate equations</a:t>
            </a: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endParaRPr lang="en-GB">
              <a:solidFill>
                <a:prstClr val="black"/>
              </a:solidFill>
              <a:latin typeface="+mn-lt"/>
            </a:endParaRP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GB">
                <a:solidFill>
                  <a:prstClr val="black"/>
                </a:solidFill>
                <a:latin typeface="+mn-lt"/>
              </a:rPr>
              <a:t>Identify intermediate(s)  and identify processes that produce and remove the intermediate</a:t>
            </a:r>
          </a:p>
          <a:p>
            <a:pPr marL="457200" indent="-457200">
              <a:spcBef>
                <a:spcPct val="20000"/>
              </a:spcBef>
              <a:buFontTx/>
              <a:buAutoNum type="arabicPeriod"/>
              <a:defRPr/>
            </a:pPr>
            <a:r>
              <a:rPr lang="en-GB">
                <a:solidFill>
                  <a:prstClr val="black"/>
                </a:solidFill>
                <a:latin typeface="+mn-lt"/>
              </a:rPr>
              <a:t>Combine to give overall rate of change of [intermediate]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997282" y="1533848"/>
                <a:ext cx="1478610" cy="510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>
                  <a:latin typeface="+mn-lt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282" y="1533848"/>
                <a:ext cx="1478610" cy="5107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5292080" y="4287387"/>
            <a:ext cx="377898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Overall rate of change of  [I]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d[I]/</a:t>
            </a:r>
            <a:r>
              <a:rPr lang="en-GB" err="1">
                <a:solidFill>
                  <a:srgbClr val="FF0000"/>
                </a:solidFill>
                <a:latin typeface="+mn-lt"/>
              </a:rPr>
              <a:t>d</a:t>
            </a:r>
            <a:r>
              <a:rPr lang="en-GB" i="1" err="1">
                <a:solidFill>
                  <a:srgbClr val="FF0000"/>
                </a:solidFill>
                <a:latin typeface="+mn-lt"/>
              </a:rPr>
              <a:t>t</a:t>
            </a:r>
            <a:r>
              <a:rPr lang="en-GB">
                <a:solidFill>
                  <a:srgbClr val="FF0000"/>
                </a:solidFill>
                <a:latin typeface="+mn-lt"/>
              </a:rPr>
              <a:t> =  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 – 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</a:p>
          <a:p>
            <a:endParaRPr lang="en-US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5427838" y="5324152"/>
            <a:ext cx="381642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d[I]/</a:t>
            </a:r>
            <a:r>
              <a:rPr lang="en-GB" err="1">
                <a:solidFill>
                  <a:srgbClr val="FF0000"/>
                </a:solidFill>
                <a:latin typeface="+mn-lt"/>
              </a:rPr>
              <a:t>d</a:t>
            </a:r>
            <a:r>
              <a:rPr lang="en-GB" i="1" err="1">
                <a:solidFill>
                  <a:srgbClr val="FF0000"/>
                </a:solidFill>
                <a:latin typeface="+mn-lt"/>
              </a:rPr>
              <a:t>t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[A]</a:t>
            </a:r>
            <a:r>
              <a:rPr lang="en-GB" baseline="30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 – </a:t>
            </a:r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[I] 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			</a:t>
            </a:r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5740159" y="2034943"/>
            <a:ext cx="210666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 i="1">
                <a:solidFill>
                  <a:srgbClr val="FF0000"/>
                </a:solidFill>
                <a:latin typeface="+mn-lt"/>
              </a:rPr>
              <a:t> =  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 i="1">
                <a:solidFill>
                  <a:srgbClr val="FF0000"/>
                </a:solidFill>
                <a:latin typeface="+mn-lt"/>
              </a:rPr>
              <a:t> </a:t>
            </a:r>
            <a:r>
              <a:rPr lang="en-GB">
                <a:solidFill>
                  <a:srgbClr val="FF0000"/>
                </a:solidFill>
                <a:latin typeface="+mn-lt"/>
              </a:rPr>
              <a:t>[A]</a:t>
            </a:r>
            <a:r>
              <a:rPr lang="en-GB" baseline="30000">
                <a:solidFill>
                  <a:srgbClr val="FF0000"/>
                </a:solidFill>
                <a:latin typeface="+mn-lt"/>
              </a:rPr>
              <a:t>2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 i="1">
                <a:solidFill>
                  <a:srgbClr val="FF0000"/>
                </a:solidFill>
                <a:latin typeface="+mn-lt"/>
              </a:rPr>
              <a:t> =  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 i="1">
                <a:solidFill>
                  <a:srgbClr val="FF0000"/>
                </a:solidFill>
                <a:latin typeface="+mn-lt"/>
              </a:rPr>
              <a:t> </a:t>
            </a:r>
            <a:r>
              <a:rPr lang="en-GB">
                <a:solidFill>
                  <a:srgbClr val="FF0000"/>
                </a:solidFill>
                <a:latin typeface="+mn-lt"/>
              </a:rPr>
              <a:t>[I]</a:t>
            </a:r>
            <a:endParaRPr lang="en-US">
              <a:solidFill>
                <a:srgbClr val="FF0000"/>
              </a:solidFill>
              <a:latin typeface="+mn-lt"/>
            </a:endParaRPr>
          </a:p>
        </p:txBody>
      </p:sp>
      <p:sp>
        <p:nvSpPr>
          <p:cNvPr id="8" name="Text Box 29"/>
          <p:cNvSpPr txBox="1">
            <a:spLocks noChangeArrowheads="1"/>
          </p:cNvSpPr>
          <p:nvPr/>
        </p:nvSpPr>
        <p:spPr bwMode="auto">
          <a:xfrm>
            <a:off x="5517105" y="3446850"/>
            <a:ext cx="267252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Formed by step 1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Removed by step 2</a:t>
            </a:r>
            <a:endParaRPr lang="en-US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841079" y="2917511"/>
                <a:ext cx="1478610" cy="510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079" y="2917511"/>
                <a:ext cx="1478610" cy="5107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2"/>
          <p:cNvSpPr>
            <a:spLocks noChangeArrowheads="1"/>
          </p:cNvSpPr>
          <p:nvPr/>
        </p:nvSpPr>
        <p:spPr bwMode="auto">
          <a:xfrm>
            <a:off x="6526535" y="3049159"/>
            <a:ext cx="271463" cy="415528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sz="135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86285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1248966"/>
            <a:ext cx="3048000" cy="4751784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r>
              <a:rPr lang="en-GB" sz="2100"/>
              <a:t>Apply steady-state approximation, rate of change of [intermediate]=0; solve to find [intermediate]</a:t>
            </a:r>
            <a:r>
              <a:rPr lang="en-GB" sz="2100" baseline="-25000"/>
              <a:t>SS</a:t>
            </a:r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 baseline="-2500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 baseline="-2500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 baseline="-2500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r>
              <a:rPr lang="en-GB" sz="2100"/>
              <a:t>Write rate law for elementary step that forms final products</a:t>
            </a:r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r>
              <a:rPr lang="en-GB" sz="2100"/>
              <a:t>Substitute [intermediate] into (5) to get final rate		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9826086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1248966"/>
            <a:ext cx="3048000" cy="4751784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r>
              <a:rPr lang="en-GB" sz="2100" dirty="0"/>
              <a:t>Apply steady-state approximation, rate of change of [intermediate]=0; solve to find [intermediate]</a:t>
            </a:r>
            <a:r>
              <a:rPr lang="en-GB" sz="2100" baseline="-25000" dirty="0"/>
              <a:t>SS</a:t>
            </a:r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 baseline="-25000" dirty="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 baseline="-25000" dirty="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 baseline="-25000" dirty="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r>
              <a:rPr lang="en-GB" sz="2100" dirty="0"/>
              <a:t>Write rate law for elementary step that forms final products</a:t>
            </a:r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endParaRPr lang="en-GB" sz="2100" dirty="0"/>
          </a:p>
          <a:p>
            <a:pPr marL="457200" indent="-457200">
              <a:lnSpc>
                <a:spcPct val="80000"/>
              </a:lnSpc>
              <a:buFontTx/>
              <a:buAutoNum type="arabicPeriod" startAt="4"/>
            </a:pPr>
            <a:r>
              <a:rPr lang="en-GB" sz="2100" dirty="0"/>
              <a:t>Substitute [intermediate] into (5) to get final rate		</a:t>
            </a:r>
            <a:endParaRPr lang="en-US" sz="2100" dirty="0"/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910811" y="3675083"/>
            <a:ext cx="39366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 = d[P]/</a:t>
            </a:r>
            <a:r>
              <a:rPr lang="en-GB" err="1">
                <a:solidFill>
                  <a:srgbClr val="FF0000"/>
                </a:solidFill>
                <a:latin typeface="+mn-lt"/>
              </a:rPr>
              <a:t>d</a:t>
            </a:r>
            <a:r>
              <a:rPr lang="en-GB" i="1" err="1">
                <a:solidFill>
                  <a:srgbClr val="FF0000"/>
                </a:solidFill>
                <a:latin typeface="+mn-lt"/>
              </a:rPr>
              <a:t>t</a:t>
            </a:r>
            <a:r>
              <a:rPr lang="en-GB">
                <a:solidFill>
                  <a:srgbClr val="FF0000"/>
                </a:solidFill>
                <a:latin typeface="+mn-lt"/>
              </a:rPr>
              <a:t> = 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[I]</a:t>
            </a:r>
            <a:endParaRPr lang="en-US" baseline="-25000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6"/>
              <p:cNvSpPr>
                <a:spLocks noChangeArrowheads="1"/>
              </p:cNvSpPr>
              <p:nvPr/>
            </p:nvSpPr>
            <p:spPr bwMode="auto">
              <a:xfrm>
                <a:off x="5089683" y="4779150"/>
                <a:ext cx="3207288" cy="675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rgbClr val="FF0000"/>
                    </a:solidFill>
                    <a:latin typeface="+mn-lt"/>
                  </a:rPr>
                  <a:t>Rate</a:t>
                </a:r>
                <a:r>
                  <a:rPr lang="en-GB" i="1">
                    <a:solidFill>
                      <a:srgbClr val="FF0000"/>
                    </a:solidFill>
                    <a:latin typeface="+mn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i="1">
                    <a:solidFill>
                      <a:srgbClr val="FF0000"/>
                    </a:solidFill>
                    <a:latin typeface="+mn-lt"/>
                  </a:rPr>
                  <a:t> </a:t>
                </a:r>
                <a:r>
                  <a:rPr lang="en-GB">
                    <a:solidFill>
                      <a:srgbClr val="FF0000"/>
                    </a:solidFill>
                    <a:latin typeface="+mn-lt"/>
                  </a:rPr>
                  <a:t>[A]</a:t>
                </a:r>
                <a:r>
                  <a:rPr lang="en-GB" baseline="30000">
                    <a:solidFill>
                      <a:srgbClr val="FF0000"/>
                    </a:solidFill>
                    <a:latin typeface="+mn-lt"/>
                  </a:rPr>
                  <a:t>2 </a:t>
                </a:r>
                <a:r>
                  <a:rPr lang="en-GB" i="1">
                    <a:solidFill>
                      <a:srgbClr val="FF0000"/>
                    </a:solidFill>
                    <a:latin typeface="+mn-lt"/>
                  </a:rPr>
                  <a:t>= k</a:t>
                </a:r>
                <a:r>
                  <a:rPr lang="en-GB" i="1" baseline="-25000">
                    <a:solidFill>
                      <a:srgbClr val="FF0000"/>
                    </a:solidFill>
                    <a:latin typeface="+mn-lt"/>
                  </a:rPr>
                  <a:t>1</a:t>
                </a:r>
                <a:r>
                  <a:rPr lang="en-GB">
                    <a:solidFill>
                      <a:srgbClr val="FF0000"/>
                    </a:solidFill>
                    <a:latin typeface="+mn-lt"/>
                  </a:rPr>
                  <a:t>[A]</a:t>
                </a:r>
                <a:r>
                  <a:rPr lang="en-GB" baseline="30000">
                    <a:solidFill>
                      <a:srgbClr val="FF0000"/>
                    </a:solidFill>
                    <a:latin typeface="+mn-lt"/>
                  </a:rPr>
                  <a:t>2</a:t>
                </a:r>
                <a:endParaRPr lang="en-US">
                  <a:solidFill>
                    <a:srgbClr val="FF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4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9683" y="4779150"/>
                <a:ext cx="3207288" cy="675249"/>
              </a:xfrm>
              <a:prstGeom prst="rect">
                <a:avLst/>
              </a:prstGeom>
              <a:blipFill>
                <a:blip r:embed="rId3"/>
                <a:stretch>
                  <a:fillRect l="-3042" r="-152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4896036" y="1133745"/>
            <a:ext cx="372641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Overall rate of change of [I] 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=  d[I]/</a:t>
            </a:r>
            <a:r>
              <a:rPr lang="en-GB" err="1">
                <a:solidFill>
                  <a:srgbClr val="FF0000"/>
                </a:solidFill>
                <a:latin typeface="+mn-lt"/>
              </a:rPr>
              <a:t>d</a:t>
            </a:r>
            <a:r>
              <a:rPr lang="en-GB" i="1" err="1">
                <a:solidFill>
                  <a:srgbClr val="FF0000"/>
                </a:solidFill>
                <a:latin typeface="+mn-lt"/>
              </a:rPr>
              <a:t>t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[A]</a:t>
            </a:r>
            <a:r>
              <a:rPr lang="en-GB" baseline="30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 – </a:t>
            </a:r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[I] </a:t>
            </a:r>
            <a:r>
              <a:rPr lang="en-GB">
                <a:solidFill>
                  <a:srgbClr val="FF0000"/>
                </a:solidFill>
                <a:latin typeface="+mn-lt"/>
                <a:sym typeface="Mathematica1" pitchFamily="2" charset="2"/>
              </a:rPr>
              <a:t>≈</a:t>
            </a:r>
            <a:r>
              <a:rPr lang="en-GB">
                <a:solidFill>
                  <a:srgbClr val="FF0000"/>
                </a:solidFill>
                <a:latin typeface="+mn-lt"/>
              </a:rPr>
              <a:t> 0</a:t>
            </a:r>
          </a:p>
          <a:p>
            <a:r>
              <a:rPr lang="en-GB">
                <a:solidFill>
                  <a:srgbClr val="FF0000"/>
                </a:solidFill>
                <a:latin typeface="+mn-lt"/>
              </a:rPr>
              <a:t>			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419727" y="2009446"/>
            <a:ext cx="26312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[I]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SS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r>
              <a:rPr lang="en-GB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[A]</a:t>
            </a:r>
            <a:r>
              <a:rPr lang="en-GB" baseline="30000">
                <a:solidFill>
                  <a:srgbClr val="FF0000"/>
                </a:solidFill>
                <a:latin typeface="+mn-lt"/>
              </a:rPr>
              <a:t>2</a:t>
            </a:r>
            <a:endParaRPr lang="en-US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436132" y="2639871"/>
                <a:ext cx="1963074" cy="810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>
                              <a:solidFill>
                                <a:srgbClr val="FF0000"/>
                              </a:solidFill>
                              <a:latin typeface="+mn-lt"/>
                            </a:rPr>
                            <m:t>I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nor/>
                                </m:rPr>
                                <a:rPr lang="en-GB">
                                  <a:solidFill>
                                    <a:srgbClr val="FF0000"/>
                                  </a:solidFill>
                                  <a:latin typeface="+mn-lt"/>
                                </a:rPr>
                                <m:t>A</m:t>
                              </m:r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>
                  <a:solidFill>
                    <a:srgbClr val="FF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132" y="2639871"/>
                <a:ext cx="1963074" cy="8109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8605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94FD-D865-4156-8E11-D2B12D9C5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400">
                <a:latin typeface="+mn-lt"/>
              </a:rPr>
              <a:t>steady state – </a:t>
            </a:r>
            <a:br>
              <a:rPr lang="en-GB" sz="3400">
                <a:latin typeface="+mn-lt"/>
              </a:rPr>
            </a:br>
            <a:r>
              <a:rPr lang="en-GB" sz="3400">
                <a:latin typeface="+mn-lt"/>
              </a:rPr>
              <a:t>with reversible first step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8F91B-B996-48B1-B18B-7238658DB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</a:rPr>
              <a:t>CH2PH2 Chemical Kinetics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85610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+mn-lt"/>
              </a:rPr>
              <a:t>Reversible first step</a:t>
            </a:r>
            <a:endParaRPr lang="en-US">
              <a:latin typeface="+mn-lt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1724026"/>
            <a:ext cx="6172200" cy="733425"/>
          </a:xfrm>
        </p:spPr>
        <p:txBody>
          <a:bodyPr/>
          <a:lstStyle/>
          <a:p>
            <a:pPr>
              <a:buNone/>
            </a:pPr>
            <a:endParaRPr lang="en-US" sz="1800"/>
          </a:p>
          <a:p>
            <a:r>
              <a:rPr lang="en-GB" sz="1800"/>
              <a:t>Acid-catalysed hydrolysis of esters:</a:t>
            </a:r>
            <a:endParaRPr lang="en-US" sz="1800"/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1688308" y="2376487"/>
            <a:ext cx="5161359" cy="777478"/>
            <a:chOff x="867" y="1779"/>
            <a:chExt cx="4335" cy="653"/>
          </a:xfrm>
        </p:grpSpPr>
        <p:sp>
          <p:nvSpPr>
            <p:cNvPr id="8196" name="Text Box 4"/>
            <p:cNvSpPr txBox="1">
              <a:spLocks noChangeArrowheads="1"/>
            </p:cNvSpPr>
            <p:nvPr/>
          </p:nvSpPr>
          <p:spPr bwMode="auto">
            <a:xfrm>
              <a:off x="867" y="1949"/>
              <a:ext cx="1003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E + H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3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O</a:t>
              </a:r>
              <a:r>
                <a:rPr lang="en-GB" sz="2100" baseline="30000">
                  <a:solidFill>
                    <a:prstClr val="black"/>
                  </a:solidFill>
                  <a:latin typeface="+mn-lt"/>
                </a:rPr>
                <a:t>+</a:t>
              </a:r>
              <a:endParaRPr lang="en-US" sz="2100" baseline="30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8197" name="Text Box 5"/>
            <p:cNvSpPr txBox="1">
              <a:spLocks noChangeArrowheads="1"/>
            </p:cNvSpPr>
            <p:nvPr/>
          </p:nvSpPr>
          <p:spPr bwMode="auto">
            <a:xfrm>
              <a:off x="2445" y="1949"/>
              <a:ext cx="1161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EH</a:t>
              </a:r>
              <a:r>
                <a:rPr lang="en-GB" sz="2100" baseline="30000">
                  <a:solidFill>
                    <a:prstClr val="black"/>
                  </a:solidFill>
                  <a:latin typeface="+mn-lt"/>
                </a:rPr>
                <a:t>+</a:t>
              </a:r>
              <a:r>
                <a:rPr lang="en-US" sz="21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+ H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O</a:t>
              </a:r>
              <a:endParaRPr lang="en-US" sz="2100" baseline="30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8199" name="Text Box 7"/>
            <p:cNvSpPr txBox="1">
              <a:spLocks noChangeArrowheads="1"/>
            </p:cNvSpPr>
            <p:nvPr/>
          </p:nvSpPr>
          <p:spPr bwMode="auto">
            <a:xfrm>
              <a:off x="4186" y="1949"/>
              <a:ext cx="101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Products</a:t>
              </a:r>
              <a:endParaRPr lang="en-US" sz="2100" baseline="30000">
                <a:solidFill>
                  <a:prstClr val="black"/>
                </a:solidFill>
                <a:latin typeface="+mn-lt"/>
              </a:endParaRPr>
            </a:p>
          </p:txBody>
        </p:sp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1970" y="2049"/>
              <a:ext cx="462" cy="128"/>
              <a:chOff x="1713" y="3123"/>
              <a:chExt cx="462" cy="128"/>
            </a:xfrm>
          </p:grpSpPr>
          <p:sp>
            <p:nvSpPr>
              <p:cNvPr id="8200" name="Line 8"/>
              <p:cNvSpPr>
                <a:spLocks noChangeShapeType="1"/>
              </p:cNvSpPr>
              <p:nvPr/>
            </p:nvSpPr>
            <p:spPr bwMode="auto">
              <a:xfrm>
                <a:off x="1713" y="3123"/>
                <a:ext cx="4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135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8201" name="Line 9"/>
              <p:cNvSpPr>
                <a:spLocks noChangeShapeType="1"/>
              </p:cNvSpPr>
              <p:nvPr/>
            </p:nvSpPr>
            <p:spPr bwMode="auto">
              <a:xfrm flipH="1">
                <a:off x="1713" y="3251"/>
                <a:ext cx="4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1350">
                  <a:solidFill>
                    <a:prstClr val="black"/>
                  </a:solidFill>
                  <a:latin typeface="+mn-lt"/>
                </a:endParaRPr>
              </a:p>
            </p:txBody>
          </p:sp>
        </p:grpSp>
        <p:sp>
          <p:nvSpPr>
            <p:cNvPr id="8202" name="Line 10"/>
            <p:cNvSpPr>
              <a:spLocks noChangeShapeType="1"/>
            </p:cNvSpPr>
            <p:nvPr/>
          </p:nvSpPr>
          <p:spPr bwMode="auto">
            <a:xfrm>
              <a:off x="3695" y="2113"/>
              <a:ext cx="4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8204" name="Rectangle 12"/>
            <p:cNvSpPr>
              <a:spLocks noChangeArrowheads="1"/>
            </p:cNvSpPr>
            <p:nvPr/>
          </p:nvSpPr>
          <p:spPr bwMode="auto">
            <a:xfrm>
              <a:off x="2075" y="1779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1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8205" name="Rectangle 13"/>
            <p:cNvSpPr>
              <a:spLocks noChangeArrowheads="1"/>
            </p:cNvSpPr>
            <p:nvPr/>
          </p:nvSpPr>
          <p:spPr bwMode="auto">
            <a:xfrm>
              <a:off x="3727" y="1834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8206" name="Rectangle 14"/>
            <p:cNvSpPr>
              <a:spLocks noChangeArrowheads="1"/>
            </p:cNvSpPr>
            <p:nvPr/>
          </p:nvSpPr>
          <p:spPr bwMode="auto">
            <a:xfrm>
              <a:off x="2075" y="2180"/>
              <a:ext cx="30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-1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1143000" y="4021932"/>
            <a:ext cx="7299430" cy="251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57175" indent="-257175">
              <a:spcBef>
                <a:spcPct val="50000"/>
              </a:spcBef>
              <a:buFontTx/>
              <a:buAutoNum type="arabicPeriod"/>
            </a:pPr>
            <a:r>
              <a:rPr lang="en-GB" sz="1500" b="1" dirty="0">
                <a:solidFill>
                  <a:prstClr val="black"/>
                </a:solidFill>
                <a:latin typeface="+mn-lt"/>
              </a:rPr>
              <a:t>Rate equations for three steps are</a:t>
            </a:r>
          </a:p>
          <a:p>
            <a:pPr marL="257175" indent="-257175">
              <a:spcBef>
                <a:spcPct val="50000"/>
              </a:spcBef>
            </a:pPr>
            <a:r>
              <a:rPr lang="en-GB" sz="1500" dirty="0">
                <a:solidFill>
                  <a:prstClr val="black"/>
                </a:solidFill>
                <a:latin typeface="+mn-lt"/>
              </a:rPr>
              <a:t> Rate</a:t>
            </a:r>
            <a:r>
              <a:rPr lang="en-GB" sz="1500" baseline="-25000" dirty="0">
                <a:solidFill>
                  <a:prstClr val="black"/>
                </a:solidFill>
                <a:latin typeface="+mn-lt"/>
              </a:rPr>
              <a:t>1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= </a:t>
            </a:r>
            <a:r>
              <a:rPr lang="en-GB" sz="1500" i="1" dirty="0">
                <a:solidFill>
                  <a:prstClr val="black"/>
                </a:solidFill>
                <a:latin typeface="+mn-lt"/>
              </a:rPr>
              <a:t>k</a:t>
            </a:r>
            <a:r>
              <a:rPr lang="en-GB" sz="1500" i="1" baseline="-25000" dirty="0">
                <a:solidFill>
                  <a:prstClr val="black"/>
                </a:solidFill>
                <a:latin typeface="+mn-lt"/>
              </a:rPr>
              <a:t>1 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[E][H</a:t>
            </a:r>
            <a:r>
              <a:rPr lang="en-GB" sz="1500" baseline="-25000" dirty="0">
                <a:solidFill>
                  <a:prstClr val="black"/>
                </a:solidFill>
                <a:latin typeface="+mn-lt"/>
              </a:rPr>
              <a:t>3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O</a:t>
            </a:r>
            <a:r>
              <a:rPr lang="en-GB" sz="1500" baseline="30000" dirty="0">
                <a:solidFill>
                  <a:prstClr val="black"/>
                </a:solidFill>
                <a:latin typeface="+mn-lt"/>
              </a:rPr>
              <a:t>+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] 	Rate</a:t>
            </a:r>
            <a:r>
              <a:rPr lang="en-GB" sz="1500" baseline="-25000" dirty="0">
                <a:solidFill>
                  <a:prstClr val="black"/>
                </a:solidFill>
                <a:latin typeface="+mn-lt"/>
              </a:rPr>
              <a:t>-1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 = </a:t>
            </a:r>
            <a:r>
              <a:rPr lang="en-GB" sz="1500" i="1" dirty="0">
                <a:solidFill>
                  <a:prstClr val="black"/>
                </a:solidFill>
                <a:latin typeface="+mn-lt"/>
              </a:rPr>
              <a:t>k</a:t>
            </a:r>
            <a:r>
              <a:rPr lang="en-GB" sz="1500" i="1" baseline="-25000" dirty="0">
                <a:solidFill>
                  <a:prstClr val="black"/>
                </a:solidFill>
                <a:latin typeface="+mn-lt"/>
              </a:rPr>
              <a:t>-1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[EH</a:t>
            </a:r>
            <a:r>
              <a:rPr lang="en-GB" sz="1500" baseline="30000" dirty="0">
                <a:solidFill>
                  <a:prstClr val="black"/>
                </a:solidFill>
                <a:latin typeface="+mn-lt"/>
              </a:rPr>
              <a:t>+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][H</a:t>
            </a:r>
            <a:r>
              <a:rPr lang="en-GB" sz="1500" baseline="-25000" dirty="0">
                <a:solidFill>
                  <a:prstClr val="black"/>
                </a:solidFill>
                <a:latin typeface="+mn-lt"/>
              </a:rPr>
              <a:t>2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O] 	Rate</a:t>
            </a:r>
            <a:r>
              <a:rPr lang="en-GB" sz="1500" baseline="-25000" dirty="0">
                <a:solidFill>
                  <a:prstClr val="black"/>
                </a:solidFill>
                <a:latin typeface="+mn-lt"/>
              </a:rPr>
              <a:t>2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 = </a:t>
            </a:r>
            <a:r>
              <a:rPr lang="en-GB" sz="1500" i="1" dirty="0">
                <a:solidFill>
                  <a:prstClr val="black"/>
                </a:solidFill>
                <a:latin typeface="+mn-lt"/>
              </a:rPr>
              <a:t>k</a:t>
            </a:r>
            <a:r>
              <a:rPr lang="en-GB" sz="1500" i="1" baseline="-25000" dirty="0">
                <a:solidFill>
                  <a:prstClr val="black"/>
                </a:solidFill>
                <a:latin typeface="+mn-lt"/>
              </a:rPr>
              <a:t>2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[EH</a:t>
            </a:r>
            <a:r>
              <a:rPr lang="en-GB" sz="1500" baseline="30000" dirty="0">
                <a:solidFill>
                  <a:prstClr val="black"/>
                </a:solidFill>
                <a:latin typeface="+mn-lt"/>
              </a:rPr>
              <a:t>+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][H</a:t>
            </a:r>
            <a:r>
              <a:rPr lang="en-GB" sz="1500" baseline="-25000" dirty="0">
                <a:solidFill>
                  <a:prstClr val="black"/>
                </a:solidFill>
                <a:latin typeface="+mn-lt"/>
              </a:rPr>
              <a:t>2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O]</a:t>
            </a:r>
          </a:p>
          <a:p>
            <a:pPr marL="257175" indent="-257175">
              <a:spcBef>
                <a:spcPct val="50000"/>
              </a:spcBef>
            </a:pPr>
            <a:r>
              <a:rPr lang="en-GB" sz="1500" dirty="0">
                <a:solidFill>
                  <a:prstClr val="black"/>
                </a:solidFill>
                <a:latin typeface="+mn-lt"/>
              </a:rPr>
              <a:t>2. </a:t>
            </a:r>
            <a:r>
              <a:rPr lang="en-GB" sz="1500" b="1" dirty="0">
                <a:solidFill>
                  <a:prstClr val="black"/>
                </a:solidFill>
                <a:latin typeface="+mn-lt"/>
              </a:rPr>
              <a:t>Intermediate is protonated ester, EH</a:t>
            </a:r>
            <a:r>
              <a:rPr lang="en-GB" sz="1500" b="1" baseline="30000" dirty="0">
                <a:solidFill>
                  <a:prstClr val="black"/>
                </a:solidFill>
                <a:latin typeface="+mn-lt"/>
              </a:rPr>
              <a:t>+</a:t>
            </a:r>
            <a:r>
              <a:rPr lang="en-GB" sz="1500" b="1" dirty="0">
                <a:solidFill>
                  <a:prstClr val="black"/>
                </a:solidFill>
                <a:latin typeface="+mn-lt"/>
              </a:rPr>
              <a:t>. This is formed by (1), removed by (-1) and (2).</a:t>
            </a:r>
          </a:p>
          <a:p>
            <a:pPr marL="257175" indent="-257175">
              <a:spcBef>
                <a:spcPct val="50000"/>
              </a:spcBef>
            </a:pPr>
            <a:r>
              <a:rPr lang="en-GB" sz="1500" dirty="0">
                <a:solidFill>
                  <a:prstClr val="black"/>
                </a:solidFill>
                <a:latin typeface="+mn-lt"/>
              </a:rPr>
              <a:t>3. </a:t>
            </a:r>
            <a:r>
              <a:rPr lang="en-GB" sz="1500" b="1" dirty="0">
                <a:solidFill>
                  <a:prstClr val="black"/>
                </a:solidFill>
                <a:latin typeface="+mn-lt"/>
              </a:rPr>
              <a:t>Overall rate of change of intermediate d[EH</a:t>
            </a:r>
            <a:r>
              <a:rPr lang="en-GB" sz="1500" b="1" baseline="30000" dirty="0">
                <a:solidFill>
                  <a:prstClr val="black"/>
                </a:solidFill>
                <a:latin typeface="+mn-lt"/>
              </a:rPr>
              <a:t>+</a:t>
            </a:r>
            <a:r>
              <a:rPr lang="en-GB" sz="1500" b="1" dirty="0">
                <a:solidFill>
                  <a:prstClr val="black"/>
                </a:solidFill>
                <a:latin typeface="+mn-lt"/>
              </a:rPr>
              <a:t>]/dt = Rate</a:t>
            </a:r>
            <a:r>
              <a:rPr lang="en-GB" sz="1500" b="1" baseline="-25000" dirty="0">
                <a:solidFill>
                  <a:prstClr val="black"/>
                </a:solidFill>
                <a:latin typeface="+mn-lt"/>
              </a:rPr>
              <a:t>1 </a:t>
            </a:r>
            <a:r>
              <a:rPr lang="en-GB" sz="1500" b="1" dirty="0">
                <a:solidFill>
                  <a:prstClr val="black"/>
                </a:solidFill>
                <a:latin typeface="+mn-lt"/>
              </a:rPr>
              <a:t>– Rate</a:t>
            </a:r>
            <a:r>
              <a:rPr lang="en-GB" sz="1500" b="1" baseline="-25000" dirty="0">
                <a:solidFill>
                  <a:prstClr val="black"/>
                </a:solidFill>
                <a:latin typeface="+mn-lt"/>
              </a:rPr>
              <a:t>-1</a:t>
            </a:r>
            <a:r>
              <a:rPr lang="en-GB" sz="1500" b="1" dirty="0">
                <a:solidFill>
                  <a:prstClr val="black"/>
                </a:solidFill>
                <a:latin typeface="+mn-lt"/>
              </a:rPr>
              <a:t> – Rate</a:t>
            </a:r>
            <a:r>
              <a:rPr lang="en-GB" sz="1500" b="1" baseline="-25000" dirty="0">
                <a:solidFill>
                  <a:prstClr val="black"/>
                </a:solidFill>
                <a:latin typeface="+mn-lt"/>
              </a:rPr>
              <a:t>2</a:t>
            </a:r>
            <a:endParaRPr lang="en-GB" sz="1500" b="1" dirty="0">
              <a:solidFill>
                <a:prstClr val="black"/>
              </a:solidFill>
              <a:latin typeface="+mn-lt"/>
            </a:endParaRPr>
          </a:p>
          <a:p>
            <a:pPr marL="257175" indent="-257175">
              <a:spcBef>
                <a:spcPct val="50000"/>
              </a:spcBef>
            </a:pPr>
            <a:r>
              <a:rPr lang="en-GB" sz="1500" b="1" dirty="0">
                <a:solidFill>
                  <a:prstClr val="black"/>
                </a:solidFill>
                <a:latin typeface="+mn-lt"/>
              </a:rPr>
              <a:t>Substitute  in rates: 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        d[EH</a:t>
            </a:r>
            <a:r>
              <a:rPr lang="en-GB" sz="1500" baseline="30000" dirty="0">
                <a:solidFill>
                  <a:prstClr val="black"/>
                </a:solidFill>
                <a:latin typeface="+mn-lt"/>
              </a:rPr>
              <a:t>+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]/dt = </a:t>
            </a:r>
            <a:r>
              <a:rPr lang="en-GB" sz="1500" i="1" dirty="0">
                <a:solidFill>
                  <a:prstClr val="black"/>
                </a:solidFill>
                <a:latin typeface="+mn-lt"/>
              </a:rPr>
              <a:t>k</a:t>
            </a:r>
            <a:r>
              <a:rPr lang="en-GB" sz="1500" i="1" baseline="-25000" dirty="0">
                <a:solidFill>
                  <a:prstClr val="black"/>
                </a:solidFill>
                <a:latin typeface="+mn-lt"/>
              </a:rPr>
              <a:t>1 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[E][H</a:t>
            </a:r>
            <a:r>
              <a:rPr lang="en-GB" sz="1500" baseline="-25000" dirty="0">
                <a:solidFill>
                  <a:prstClr val="black"/>
                </a:solidFill>
                <a:latin typeface="+mn-lt"/>
              </a:rPr>
              <a:t>3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O</a:t>
            </a:r>
            <a:r>
              <a:rPr lang="en-GB" sz="1500" baseline="30000" dirty="0">
                <a:solidFill>
                  <a:prstClr val="black"/>
                </a:solidFill>
                <a:latin typeface="+mn-lt"/>
              </a:rPr>
              <a:t>+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] –</a:t>
            </a:r>
            <a:r>
              <a:rPr lang="en-GB" sz="1500" i="1" dirty="0">
                <a:solidFill>
                  <a:prstClr val="black"/>
                </a:solidFill>
                <a:latin typeface="+mn-lt"/>
              </a:rPr>
              <a:t>k</a:t>
            </a:r>
            <a:r>
              <a:rPr lang="en-GB" sz="1500" i="1" baseline="-25000" dirty="0">
                <a:solidFill>
                  <a:prstClr val="black"/>
                </a:solidFill>
                <a:latin typeface="+mn-lt"/>
              </a:rPr>
              <a:t>-1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[EH</a:t>
            </a:r>
            <a:r>
              <a:rPr lang="en-GB" sz="1500" baseline="30000" dirty="0">
                <a:solidFill>
                  <a:prstClr val="black"/>
                </a:solidFill>
                <a:latin typeface="+mn-lt"/>
              </a:rPr>
              <a:t>+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][H</a:t>
            </a:r>
            <a:r>
              <a:rPr lang="en-GB" sz="1500" baseline="-25000" dirty="0">
                <a:solidFill>
                  <a:prstClr val="black"/>
                </a:solidFill>
                <a:latin typeface="+mn-lt"/>
              </a:rPr>
              <a:t>2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O] – </a:t>
            </a:r>
            <a:r>
              <a:rPr lang="en-GB" sz="1500" i="1" dirty="0">
                <a:solidFill>
                  <a:prstClr val="black"/>
                </a:solidFill>
                <a:latin typeface="+mn-lt"/>
              </a:rPr>
              <a:t>k</a:t>
            </a:r>
            <a:r>
              <a:rPr lang="en-GB" sz="1500" i="1" baseline="-25000" dirty="0">
                <a:solidFill>
                  <a:prstClr val="black"/>
                </a:solidFill>
                <a:latin typeface="+mn-lt"/>
              </a:rPr>
              <a:t>2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[EH</a:t>
            </a:r>
            <a:r>
              <a:rPr lang="en-GB" sz="1500" baseline="30000" dirty="0">
                <a:solidFill>
                  <a:prstClr val="black"/>
                </a:solidFill>
                <a:latin typeface="+mn-lt"/>
              </a:rPr>
              <a:t>+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][H</a:t>
            </a:r>
            <a:r>
              <a:rPr lang="en-GB" sz="1500" baseline="-25000" dirty="0">
                <a:solidFill>
                  <a:prstClr val="black"/>
                </a:solidFill>
                <a:latin typeface="+mn-lt"/>
              </a:rPr>
              <a:t>2</a:t>
            </a:r>
            <a:r>
              <a:rPr lang="en-GB" sz="1500" dirty="0">
                <a:solidFill>
                  <a:prstClr val="black"/>
                </a:solidFill>
                <a:latin typeface="+mn-lt"/>
              </a:rPr>
              <a:t>O]</a:t>
            </a:r>
          </a:p>
          <a:p>
            <a:pPr marL="257175" indent="-257175">
              <a:spcBef>
                <a:spcPct val="50000"/>
              </a:spcBef>
            </a:pPr>
            <a:r>
              <a:rPr lang="en-GB" sz="1500" dirty="0">
                <a:solidFill>
                  <a:prstClr val="black"/>
                </a:solidFill>
                <a:latin typeface="+mn-lt"/>
              </a:rPr>
              <a:t>									(…continued…)</a:t>
            </a:r>
            <a:endParaRPr lang="en-US" sz="1500" dirty="0">
              <a:solidFill>
                <a:prstClr val="black"/>
              </a:solidFill>
              <a:latin typeface="+mn-lt"/>
            </a:endParaRP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3821902" y="2990851"/>
            <a:ext cx="4125515" cy="995363"/>
            <a:chOff x="2295" y="1832"/>
            <a:chExt cx="3465" cy="836"/>
          </a:xfrm>
        </p:grpSpPr>
        <p:pic>
          <p:nvPicPr>
            <p:cNvPr id="8208" name="Picture 1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407" y="1832"/>
              <a:ext cx="2353" cy="7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214" name="Rectangle 22"/>
            <p:cNvSpPr>
              <a:spLocks noChangeArrowheads="1"/>
            </p:cNvSpPr>
            <p:nvPr/>
          </p:nvSpPr>
          <p:spPr bwMode="auto">
            <a:xfrm>
              <a:off x="2295" y="1834"/>
              <a:ext cx="3465" cy="83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4422935" y="3000372"/>
            <a:ext cx="782587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>
                <a:solidFill>
                  <a:prstClr val="black"/>
                </a:solidFill>
                <a:latin typeface="+mn-lt"/>
              </a:rPr>
              <a:t>(Step 1)</a:t>
            </a:r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sp>
        <p:nvSpPr>
          <p:cNvPr id="24" name="Text Box 17"/>
          <p:cNvSpPr txBox="1">
            <a:spLocks noChangeArrowheads="1"/>
          </p:cNvSpPr>
          <p:nvPr/>
        </p:nvSpPr>
        <p:spPr bwMode="auto">
          <a:xfrm>
            <a:off x="4422935" y="3634207"/>
            <a:ext cx="782587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>
                <a:solidFill>
                  <a:prstClr val="black"/>
                </a:solidFill>
                <a:latin typeface="+mn-lt"/>
              </a:rPr>
              <a:t>(Step 2)</a:t>
            </a:r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4422935" y="3317290"/>
            <a:ext cx="838691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>
                <a:solidFill>
                  <a:prstClr val="black"/>
                </a:solidFill>
                <a:latin typeface="+mn-lt"/>
              </a:rPr>
              <a:t>(Step -1)</a:t>
            </a:r>
            <a:endParaRPr lang="en-US" sz="135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68566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8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12" name="Text Box 4"/>
              <p:cNvSpPr txBox="1">
                <a:spLocks noChangeArrowheads="1"/>
              </p:cNvSpPr>
              <p:nvPr/>
            </p:nvSpPr>
            <p:spPr bwMode="auto">
              <a:xfrm>
                <a:off x="386535" y="857251"/>
                <a:ext cx="8505945" cy="49234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257175" indent="-257175">
                  <a:spcBef>
                    <a:spcPct val="50000"/>
                  </a:spcBef>
                  <a:buFontTx/>
                  <a:buAutoNum type="arabicPeriod" startAt="4"/>
                </a:pPr>
                <a:r>
                  <a:rPr lang="en-GB" sz="1500" b="1" dirty="0">
                    <a:solidFill>
                      <a:prstClr val="black"/>
                    </a:solidFill>
                    <a:latin typeface="+mn-lt"/>
                  </a:rPr>
                  <a:t>“Apply steady state approximation, rearrange, and solve to find [intermediate]</a:t>
                </a:r>
                <a:r>
                  <a:rPr lang="en-GB" sz="1500" b="1" baseline="-25000" dirty="0">
                    <a:solidFill>
                      <a:prstClr val="black"/>
                    </a:solidFill>
                    <a:latin typeface="+mn-lt"/>
                  </a:rPr>
                  <a:t>SS</a:t>
                </a:r>
                <a:r>
                  <a:rPr lang="en-GB" sz="1500" b="1" dirty="0">
                    <a:solidFill>
                      <a:prstClr val="black"/>
                    </a:solidFill>
                    <a:latin typeface="+mn-lt"/>
                  </a:rPr>
                  <a:t>” :</a:t>
                </a:r>
              </a:p>
              <a:p>
                <a:pPr marL="257175" indent="-257175">
                  <a:spcBef>
                    <a:spcPct val="50000"/>
                  </a:spcBef>
                </a:pPr>
                <a:endParaRPr lang="en-GB" sz="1500" b="1" baseline="30000" dirty="0">
                  <a:solidFill>
                    <a:prstClr val="black"/>
                  </a:solidFill>
                  <a:latin typeface="+mn-lt"/>
                </a:endParaRPr>
              </a:p>
              <a:p>
                <a:pPr marL="257175" indent="-257175">
                  <a:spcBef>
                    <a:spcPct val="50000"/>
                  </a:spcBef>
                </a:pP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	 	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d[EH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]/dt = </a:t>
                </a:r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500" i="1" baseline="-25000" dirty="0">
                    <a:solidFill>
                      <a:prstClr val="black"/>
                    </a:solidFill>
                    <a:latin typeface="+mn-lt"/>
                  </a:rPr>
                  <a:t>1 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[E][H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3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O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 –</a:t>
                </a:r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500" i="1" baseline="-25000" dirty="0">
                    <a:solidFill>
                      <a:prstClr val="black"/>
                    </a:solidFill>
                    <a:latin typeface="+mn-lt"/>
                  </a:rPr>
                  <a:t>-1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[EH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][H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O] –</a:t>
                </a:r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500" i="1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[EH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][H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O]   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  <a:sym typeface="Mathematica1" pitchFamily="2" charset="2"/>
                  </a:rPr>
                  <a:t>≈   0</a:t>
                </a:r>
              </a:p>
              <a:p>
                <a:pPr marL="257175" indent="-257175">
                  <a:spcBef>
                    <a:spcPct val="50000"/>
                  </a:spcBef>
                </a:pPr>
                <a:endParaRPr lang="en-GB" sz="1500" dirty="0">
                  <a:solidFill>
                    <a:prstClr val="black"/>
                  </a:solidFill>
                  <a:latin typeface="+mn-lt"/>
                  <a:sym typeface="Mathematica1" pitchFamily="2" charset="2"/>
                </a:endParaRPr>
              </a:p>
              <a:p>
                <a:pPr marL="257175" indent="-257175"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  <a:latin typeface="+mn-lt"/>
                    <a:sym typeface="Mathematica1" pitchFamily="2" charset="2"/>
                  </a:rPr>
                  <a:t>		 </a:t>
                </a:r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500" i="1" baseline="-25000" dirty="0">
                    <a:solidFill>
                      <a:prstClr val="black"/>
                    </a:solidFill>
                    <a:latin typeface="+mn-lt"/>
                  </a:rPr>
                  <a:t>1 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[E][H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3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O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  = </a:t>
                </a:r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500" i="1" baseline="-25000" dirty="0">
                    <a:solidFill>
                      <a:prstClr val="black"/>
                    </a:solidFill>
                    <a:latin typeface="+mn-lt"/>
                  </a:rPr>
                  <a:t>-1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[EH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][H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O] +</a:t>
                </a:r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500" i="1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[EH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][H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O]</a:t>
                </a:r>
              </a:p>
              <a:p>
                <a:pPr marL="257175" indent="-257175">
                  <a:spcBef>
                    <a:spcPct val="50000"/>
                  </a:spcBef>
                </a:pPr>
                <a:endParaRPr lang="en-GB" sz="1500" dirty="0">
                  <a:solidFill>
                    <a:prstClr val="black"/>
                  </a:solidFill>
                  <a:latin typeface="+mn-lt"/>
                </a:endParaRPr>
              </a:p>
              <a:p>
                <a:pPr marL="257175" indent="-257175"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		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  <a:sym typeface="Mathematica1" pitchFamily="2" charset="2"/>
                  </a:rPr>
                  <a:t> </a:t>
                </a:r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500" i="1" baseline="-25000" dirty="0">
                    <a:solidFill>
                      <a:prstClr val="black"/>
                    </a:solidFill>
                    <a:latin typeface="+mn-lt"/>
                  </a:rPr>
                  <a:t>1 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[E][H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3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O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  = [EH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](</a:t>
                </a:r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500" i="1" baseline="-25000" dirty="0">
                    <a:solidFill>
                      <a:prstClr val="black"/>
                    </a:solidFill>
                    <a:latin typeface="+mn-lt"/>
                  </a:rPr>
                  <a:t>-1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[H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O] +</a:t>
                </a:r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500" i="1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 [H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O])</a:t>
                </a:r>
              </a:p>
              <a:p>
                <a:pPr marL="257175" indent="-257175"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		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  <a:sym typeface="Mathematica1" pitchFamily="2" charset="2"/>
                  </a:rPr>
                  <a:t> 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[EH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SS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5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1500" i="1" dirty="0">
                            <a:solidFill>
                              <a:prstClr val="black"/>
                            </a:solidFill>
                            <a:latin typeface="+mn-lt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GB" sz="1500" i="1" baseline="-25000" dirty="0">
                            <a:solidFill>
                              <a:prstClr val="black"/>
                            </a:solidFill>
                            <a:latin typeface="+mn-lt"/>
                          </a:rPr>
                          <m:t>1 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][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GB" sz="1500" baseline="-25000" dirty="0">
                            <a:solidFill>
                              <a:prstClr val="black"/>
                            </a:solidFill>
                            <a:latin typeface="+mn-lt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GB" sz="1500" baseline="30000" dirty="0">
                            <a:solidFill>
                              <a:prstClr val="black"/>
                            </a:solidFill>
                            <a:latin typeface="+mn-lt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GB" sz="1500" i="1" dirty="0">
                            <a:solidFill>
                              <a:prstClr val="black"/>
                            </a:solidFill>
                            <a:latin typeface="+mn-lt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GB" sz="1500" i="1" baseline="-25000" dirty="0">
                            <a:solidFill>
                              <a:prstClr val="black"/>
                            </a:solidFill>
                            <a:latin typeface="+mn-lt"/>
                          </a:rPr>
                          <m:t>−1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GB" sz="1500" baseline="-25000" dirty="0">
                            <a:solidFill>
                              <a:prstClr val="black"/>
                            </a:solidFill>
                            <a:latin typeface="+mn-lt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] +</m:t>
                        </m:r>
                        <m:r>
                          <m:rPr>
                            <m:nor/>
                          </m:rPr>
                          <a:rPr lang="en-GB" sz="1500" i="1" dirty="0">
                            <a:solidFill>
                              <a:prstClr val="black"/>
                            </a:solidFill>
                            <a:latin typeface="+mn-lt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GB" sz="1500" i="1" baseline="-25000" dirty="0">
                            <a:solidFill>
                              <a:prstClr val="black"/>
                            </a:solidFill>
                            <a:latin typeface="+mn-lt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 [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GB" sz="1500" baseline="-25000" dirty="0">
                            <a:solidFill>
                              <a:prstClr val="black"/>
                            </a:solidFill>
                            <a:latin typeface="+mn-lt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en-GB" sz="1500" dirty="0">
                            <a:solidFill>
                              <a:prstClr val="black"/>
                            </a:solidFill>
                            <a:latin typeface="+mn-lt"/>
                          </a:rPr>
                          <m:t>])</m:t>
                        </m:r>
                      </m:den>
                    </m:f>
                  </m:oMath>
                </a14:m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 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			(equation 4)</a:t>
                </a:r>
              </a:p>
              <a:p>
                <a:pPr marL="257175" indent="-257175">
                  <a:spcBef>
                    <a:spcPct val="50000"/>
                  </a:spcBef>
                </a:pPr>
                <a:endParaRPr lang="en-GB" sz="1500" baseline="30000" dirty="0">
                  <a:solidFill>
                    <a:prstClr val="black"/>
                  </a:solidFill>
                  <a:latin typeface="+mn-lt"/>
                  <a:sym typeface="Mathematica1" pitchFamily="2" charset="2"/>
                </a:endParaRPr>
              </a:p>
              <a:p>
                <a:pPr marL="257175" indent="-257175">
                  <a:spcBef>
                    <a:spcPct val="50000"/>
                  </a:spcBef>
                  <a:buFontTx/>
                  <a:buAutoNum type="arabicPeriod" startAt="5"/>
                </a:pPr>
                <a:r>
                  <a:rPr lang="en-GB" sz="1500" b="1" dirty="0">
                    <a:solidFill>
                      <a:prstClr val="black"/>
                    </a:solidFill>
                    <a:latin typeface="+mn-lt"/>
                  </a:rPr>
                  <a:t>“Write rate law for elementary step that forms final products” 	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	</a:t>
                </a:r>
              </a:p>
              <a:p>
                <a:pPr marL="942975" lvl="2" indent="-257175"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step (2)</a:t>
                </a:r>
              </a:p>
              <a:p>
                <a:pPr marL="942975" lvl="2" indent="-257175"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Rate = d[Products] / dt = </a:t>
                </a:r>
                <a:r>
                  <a:rPr lang="en-GB" sz="1500" i="1" dirty="0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500" i="1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[EH</a:t>
                </a:r>
                <a:r>
                  <a:rPr lang="en-GB" sz="1500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][H</a:t>
                </a:r>
                <a:r>
                  <a:rPr lang="en-GB" sz="1500" baseline="-25000" dirty="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1500" dirty="0">
                    <a:solidFill>
                      <a:prstClr val="black"/>
                    </a:solidFill>
                    <a:latin typeface="+mn-lt"/>
                  </a:rPr>
                  <a:t>O]		(equation 5)</a:t>
                </a:r>
              </a:p>
              <a:p>
                <a:pPr marL="257175" indent="-257175">
                  <a:spcBef>
                    <a:spcPct val="50000"/>
                  </a:spcBef>
                  <a:buFontTx/>
                  <a:buAutoNum type="arabicPeriod" startAt="5"/>
                </a:pPr>
                <a:r>
                  <a:rPr lang="en-GB" sz="1500" b="1" dirty="0">
                    <a:solidFill>
                      <a:prstClr val="black"/>
                    </a:solidFill>
                    <a:latin typeface="+mn-lt"/>
                  </a:rPr>
                  <a:t>“Substitute [intermediate]</a:t>
                </a:r>
                <a:r>
                  <a:rPr lang="en-GB" sz="1500" b="1" baseline="-25000" dirty="0">
                    <a:solidFill>
                      <a:prstClr val="black"/>
                    </a:solidFill>
                    <a:latin typeface="+mn-lt"/>
                  </a:rPr>
                  <a:t>SS</a:t>
                </a:r>
                <a:r>
                  <a:rPr lang="en-GB" sz="1500" b="1" dirty="0">
                    <a:solidFill>
                      <a:prstClr val="black"/>
                    </a:solidFill>
                    <a:latin typeface="+mn-lt"/>
                  </a:rPr>
                  <a:t> into last equation”</a:t>
                </a:r>
              </a:p>
              <a:p>
                <a:pPr marL="600075" lvl="1" indent="-257175">
                  <a:spcBef>
                    <a:spcPct val="50000"/>
                  </a:spcBef>
                </a:pPr>
                <a:r>
                  <a:rPr lang="en-GB" sz="1500" b="1" dirty="0">
                    <a:solidFill>
                      <a:prstClr val="black"/>
                    </a:solidFill>
                    <a:latin typeface="+mn-lt"/>
                  </a:rPr>
                  <a:t>	substituting in [EH</a:t>
                </a:r>
                <a:r>
                  <a:rPr lang="en-GB" sz="1500" b="1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b="1" dirty="0">
                    <a:solidFill>
                      <a:prstClr val="black"/>
                    </a:solidFill>
                    <a:latin typeface="+mn-lt"/>
                  </a:rPr>
                  <a:t>]</a:t>
                </a:r>
                <a:r>
                  <a:rPr lang="en-GB" sz="1500" b="1" baseline="-25000" dirty="0">
                    <a:solidFill>
                      <a:prstClr val="black"/>
                    </a:solidFill>
                    <a:latin typeface="+mn-lt"/>
                  </a:rPr>
                  <a:t>SS</a:t>
                </a:r>
                <a:r>
                  <a:rPr lang="en-GB" sz="1500" b="1" dirty="0">
                    <a:solidFill>
                      <a:prstClr val="black"/>
                    </a:solidFill>
                    <a:latin typeface="+mn-lt"/>
                  </a:rPr>
                  <a:t> from equation 4 for [EH</a:t>
                </a:r>
                <a:r>
                  <a:rPr lang="en-GB" sz="1500" b="1" baseline="30000" dirty="0">
                    <a:solidFill>
                      <a:prstClr val="black"/>
                    </a:solidFill>
                    <a:latin typeface="+mn-lt"/>
                  </a:rPr>
                  <a:t>+</a:t>
                </a:r>
                <a:r>
                  <a:rPr lang="en-GB" sz="1500" b="1" dirty="0">
                    <a:solidFill>
                      <a:prstClr val="black"/>
                    </a:solidFill>
                    <a:latin typeface="+mn-lt"/>
                  </a:rPr>
                  <a:t>] into equation 5:</a:t>
                </a:r>
                <a:endParaRPr lang="en-US" sz="1500" b="1" dirty="0">
                  <a:solidFill>
                    <a:prstClr val="black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741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535" y="857251"/>
                <a:ext cx="8505945" cy="4923464"/>
              </a:xfrm>
              <a:prstGeom prst="rect">
                <a:avLst/>
              </a:prstGeom>
              <a:blipFill>
                <a:blip r:embed="rId3"/>
                <a:stretch>
                  <a:fillRect l="-298" t="-257" b="-25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106615" y="5801429"/>
            <a:ext cx="6374109" cy="538163"/>
            <a:chOff x="0" y="5953426"/>
            <a:chExt cx="8498813" cy="717550"/>
          </a:xfrm>
        </p:grpSpPr>
        <p:sp>
          <p:nvSpPr>
            <p:cNvPr id="17419" name="Rectangle 11"/>
            <p:cNvSpPr>
              <a:spLocks noChangeArrowheads="1"/>
            </p:cNvSpPr>
            <p:nvPr/>
          </p:nvSpPr>
          <p:spPr bwMode="auto">
            <a:xfrm>
              <a:off x="0" y="6169024"/>
              <a:ext cx="1852218" cy="430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500">
                  <a:solidFill>
                    <a:prstClr val="black"/>
                  </a:solidFill>
                  <a:latin typeface="+mn-lt"/>
                </a:rPr>
                <a:t>d[Products]/</a:t>
              </a:r>
              <a:r>
                <a:rPr lang="en-GB" sz="1500" err="1">
                  <a:solidFill>
                    <a:prstClr val="black"/>
                  </a:solidFill>
                  <a:latin typeface="+mn-lt"/>
                </a:rPr>
                <a:t>dt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graphicFrame>
          <p:nvGraphicFramePr>
            <p:cNvPr id="1742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5251104"/>
                </p:ext>
              </p:extLst>
            </p:nvPr>
          </p:nvGraphicFramePr>
          <p:xfrm>
            <a:off x="1920213" y="5953426"/>
            <a:ext cx="6578600" cy="717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90760" imgH="457200" progId="Equation.3">
                    <p:embed/>
                  </p:oleObj>
                </mc:Choice>
                <mc:Fallback>
                  <p:oleObj name="Equation" r:id="rId4" imgW="4190760" imgH="457200" progId="Equation.3">
                    <p:embed/>
                    <p:pic>
                      <p:nvPicPr>
                        <p:cNvPr id="1742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213" y="5953426"/>
                          <a:ext cx="6578600" cy="717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882435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74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74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74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74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74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4" name="Rectangle 169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+mn-lt"/>
              </a:rPr>
              <a:t>So, overall:</a:t>
            </a:r>
            <a:endParaRPr lang="en-US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0" y="1600200"/>
            <a:ext cx="8226840" cy="4343400"/>
          </a:xfrm>
        </p:spPr>
        <p:txBody>
          <a:bodyPr/>
          <a:lstStyle/>
          <a:p>
            <a:endParaRPr lang="en-GB"/>
          </a:p>
          <a:p>
            <a:endParaRPr lang="en-GB"/>
          </a:p>
          <a:p>
            <a:pPr>
              <a:spcBef>
                <a:spcPct val="50000"/>
              </a:spcBef>
              <a:buFontTx/>
              <a:buChar char="•"/>
            </a:pPr>
            <a:endParaRPr lang="en-GB" sz="1800">
              <a:solidFill>
                <a:prstClr val="black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sz="1800">
                <a:solidFill>
                  <a:prstClr val="black"/>
                </a:solidFill>
              </a:rPr>
              <a:t>Rate is a fraction of </a:t>
            </a:r>
            <a:r>
              <a:rPr lang="en-GB" sz="1800" i="1">
                <a:solidFill>
                  <a:prstClr val="black"/>
                </a:solidFill>
              </a:rPr>
              <a:t>k</a:t>
            </a:r>
            <a:r>
              <a:rPr lang="en-GB" sz="1800" baseline="-25000">
                <a:solidFill>
                  <a:prstClr val="black"/>
                </a:solidFill>
              </a:rPr>
              <a:t>1</a:t>
            </a:r>
            <a:r>
              <a:rPr lang="en-GB" sz="1800">
                <a:solidFill>
                  <a:prstClr val="black"/>
                </a:solidFill>
              </a:rPr>
              <a:t>[E][H</a:t>
            </a:r>
            <a:r>
              <a:rPr lang="en-GB" sz="1800" baseline="-25000">
                <a:solidFill>
                  <a:prstClr val="black"/>
                </a:solidFill>
              </a:rPr>
              <a:t>3</a:t>
            </a:r>
            <a:r>
              <a:rPr lang="en-GB" sz="1800">
                <a:solidFill>
                  <a:prstClr val="black"/>
                </a:solidFill>
              </a:rPr>
              <a:t>O</a:t>
            </a:r>
            <a:r>
              <a:rPr lang="en-GB" sz="1800" baseline="30000">
                <a:solidFill>
                  <a:prstClr val="black"/>
                </a:solidFill>
              </a:rPr>
              <a:t>+</a:t>
            </a:r>
            <a:r>
              <a:rPr lang="en-GB" sz="1800">
                <a:solidFill>
                  <a:prstClr val="black"/>
                </a:solidFill>
              </a:rPr>
              <a:t>], which is </a:t>
            </a:r>
            <a:r>
              <a:rPr lang="en-GB" sz="1800" i="1">
                <a:solidFill>
                  <a:prstClr val="black"/>
                </a:solidFill>
              </a:rPr>
              <a:t>Rate</a:t>
            </a:r>
            <a:r>
              <a:rPr lang="en-GB" sz="1800" baseline="-25000">
                <a:solidFill>
                  <a:prstClr val="black"/>
                </a:solidFill>
              </a:rPr>
              <a:t>1</a:t>
            </a:r>
            <a:endParaRPr lang="en-GB" sz="1800">
              <a:solidFill>
                <a:prstClr val="black"/>
              </a:solidFill>
            </a:endParaRPr>
          </a:p>
          <a:p>
            <a:pPr lvl="1">
              <a:spcBef>
                <a:spcPct val="50000"/>
              </a:spcBef>
            </a:pPr>
            <a:r>
              <a:rPr lang="en-GB" sz="1800">
                <a:solidFill>
                  <a:prstClr val="black"/>
                </a:solidFill>
              </a:rPr>
              <a:t>In this case, depends only on the ratio of </a:t>
            </a:r>
            <a:r>
              <a:rPr lang="en-GB" sz="1800" i="1">
                <a:solidFill>
                  <a:prstClr val="black"/>
                </a:solidFill>
              </a:rPr>
              <a:t>k</a:t>
            </a:r>
            <a:r>
              <a:rPr lang="en-GB" sz="1800" baseline="-25000">
                <a:solidFill>
                  <a:prstClr val="black"/>
                </a:solidFill>
              </a:rPr>
              <a:t>2</a:t>
            </a:r>
            <a:r>
              <a:rPr lang="en-GB" sz="1800" i="1" baseline="-25000">
                <a:solidFill>
                  <a:prstClr val="black"/>
                </a:solidFill>
              </a:rPr>
              <a:t> </a:t>
            </a:r>
            <a:r>
              <a:rPr lang="en-GB" sz="1800">
                <a:solidFill>
                  <a:prstClr val="black"/>
                </a:solidFill>
              </a:rPr>
              <a:t>and </a:t>
            </a:r>
            <a:r>
              <a:rPr lang="en-GB" sz="1800" i="1">
                <a:solidFill>
                  <a:prstClr val="black"/>
                </a:solidFill>
              </a:rPr>
              <a:t>k</a:t>
            </a:r>
            <a:r>
              <a:rPr lang="en-GB" sz="1800" baseline="-25000">
                <a:solidFill>
                  <a:prstClr val="black"/>
                </a:solidFill>
              </a:rPr>
              <a:t>-1</a:t>
            </a:r>
            <a:r>
              <a:rPr lang="en-GB" sz="1800" i="1" baseline="-25000">
                <a:solidFill>
                  <a:prstClr val="black"/>
                </a:solidFill>
              </a:rPr>
              <a:t> </a:t>
            </a:r>
            <a:r>
              <a:rPr lang="en-GB" sz="1800">
                <a:solidFill>
                  <a:prstClr val="black"/>
                </a:solidFill>
              </a:rPr>
              <a:t>. </a:t>
            </a:r>
            <a:endParaRPr lang="en-GB" sz="1800" i="1">
              <a:solidFill>
                <a:prstClr val="black"/>
              </a:solidFill>
            </a:endParaRPr>
          </a:p>
          <a:p>
            <a:pPr lvl="1">
              <a:spcBef>
                <a:spcPct val="50000"/>
              </a:spcBef>
            </a:pPr>
            <a:r>
              <a:rPr lang="en-GB" sz="1800" err="1">
                <a:solidFill>
                  <a:prstClr val="black"/>
                </a:solidFill>
              </a:rPr>
              <a:t>eg</a:t>
            </a:r>
            <a:r>
              <a:rPr lang="en-GB" sz="1800">
                <a:solidFill>
                  <a:prstClr val="black"/>
                </a:solidFill>
              </a:rPr>
              <a:t>. If </a:t>
            </a:r>
            <a:r>
              <a:rPr lang="en-GB" sz="1800" i="1">
                <a:solidFill>
                  <a:prstClr val="black"/>
                </a:solidFill>
              </a:rPr>
              <a:t>k</a:t>
            </a:r>
            <a:r>
              <a:rPr lang="en-GB" sz="1800" baseline="-25000">
                <a:solidFill>
                  <a:prstClr val="black"/>
                </a:solidFill>
              </a:rPr>
              <a:t>2</a:t>
            </a:r>
            <a:r>
              <a:rPr lang="en-GB" sz="1800" i="1" baseline="-25000">
                <a:solidFill>
                  <a:prstClr val="black"/>
                </a:solidFill>
              </a:rPr>
              <a:t> </a:t>
            </a:r>
            <a:r>
              <a:rPr lang="en-GB" sz="1800">
                <a:solidFill>
                  <a:prstClr val="black"/>
                </a:solidFill>
              </a:rPr>
              <a:t>= </a:t>
            </a:r>
            <a:r>
              <a:rPr lang="en-GB" sz="1800" i="1">
                <a:solidFill>
                  <a:prstClr val="black"/>
                </a:solidFill>
              </a:rPr>
              <a:t>k</a:t>
            </a:r>
            <a:r>
              <a:rPr lang="en-GB" sz="1800" baseline="-25000">
                <a:solidFill>
                  <a:prstClr val="black"/>
                </a:solidFill>
              </a:rPr>
              <a:t>-1</a:t>
            </a:r>
            <a:r>
              <a:rPr lang="en-GB" sz="1800">
                <a:solidFill>
                  <a:prstClr val="black"/>
                </a:solidFill>
              </a:rPr>
              <a:t>, Rate = (1/2) × </a:t>
            </a:r>
            <a:r>
              <a:rPr lang="en-GB" sz="1800" i="1">
                <a:solidFill>
                  <a:prstClr val="black"/>
                </a:solidFill>
              </a:rPr>
              <a:t>k</a:t>
            </a:r>
            <a:r>
              <a:rPr lang="en-GB" sz="1800" baseline="-25000">
                <a:solidFill>
                  <a:prstClr val="black"/>
                </a:solidFill>
              </a:rPr>
              <a:t>1</a:t>
            </a:r>
            <a:r>
              <a:rPr lang="en-GB" sz="1800">
                <a:solidFill>
                  <a:prstClr val="black"/>
                </a:solidFill>
              </a:rPr>
              <a:t>[E][H</a:t>
            </a:r>
            <a:r>
              <a:rPr lang="en-GB" sz="1800" baseline="-25000">
                <a:solidFill>
                  <a:prstClr val="black"/>
                </a:solidFill>
              </a:rPr>
              <a:t>3</a:t>
            </a:r>
            <a:r>
              <a:rPr lang="en-GB" sz="1800">
                <a:solidFill>
                  <a:prstClr val="black"/>
                </a:solidFill>
              </a:rPr>
              <a:t>O</a:t>
            </a:r>
            <a:r>
              <a:rPr lang="en-GB" sz="1800" baseline="30000">
                <a:solidFill>
                  <a:prstClr val="black"/>
                </a:solidFill>
              </a:rPr>
              <a:t>+</a:t>
            </a:r>
            <a:r>
              <a:rPr lang="en-GB" sz="1800">
                <a:solidFill>
                  <a:prstClr val="black"/>
                </a:solidFill>
              </a:rPr>
              <a:t>] regardless of the values of </a:t>
            </a:r>
            <a:r>
              <a:rPr lang="en-GB" sz="1800" i="1">
                <a:solidFill>
                  <a:prstClr val="black"/>
                </a:solidFill>
              </a:rPr>
              <a:t>k</a:t>
            </a:r>
            <a:r>
              <a:rPr lang="en-GB" sz="1800" baseline="-25000">
                <a:solidFill>
                  <a:prstClr val="black"/>
                </a:solidFill>
              </a:rPr>
              <a:t>2</a:t>
            </a:r>
            <a:r>
              <a:rPr lang="en-GB" sz="1800" i="1" baseline="-25000">
                <a:solidFill>
                  <a:prstClr val="black"/>
                </a:solidFill>
              </a:rPr>
              <a:t> </a:t>
            </a:r>
            <a:r>
              <a:rPr lang="en-GB" sz="1800">
                <a:solidFill>
                  <a:prstClr val="black"/>
                </a:solidFill>
              </a:rPr>
              <a:t>and </a:t>
            </a:r>
            <a:r>
              <a:rPr lang="en-GB" sz="1800" i="1">
                <a:solidFill>
                  <a:prstClr val="black"/>
                </a:solidFill>
              </a:rPr>
              <a:t>k</a:t>
            </a:r>
            <a:r>
              <a:rPr lang="en-GB" sz="1800" baseline="-25000">
                <a:solidFill>
                  <a:prstClr val="black"/>
                </a:solidFill>
              </a:rPr>
              <a:t>-1</a:t>
            </a:r>
            <a:endParaRPr lang="en-US" sz="1800" baseline="-25000">
              <a:solidFill>
                <a:prstClr val="black"/>
              </a:solidFill>
            </a:endParaRPr>
          </a:p>
          <a:p>
            <a:endParaRPr lang="en-GB"/>
          </a:p>
        </p:txBody>
      </p:sp>
      <p:sp>
        <p:nvSpPr>
          <p:cNvPr id="21156" name="AutoShape 1700"/>
          <p:cNvSpPr>
            <a:spLocks noChangeAspect="1" noChangeArrowheads="1" noTextEdit="1"/>
          </p:cNvSpPr>
          <p:nvPr/>
        </p:nvSpPr>
        <p:spPr bwMode="auto">
          <a:xfrm>
            <a:off x="1752600" y="3095625"/>
            <a:ext cx="5637610" cy="372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237" name="Text Box 1781"/>
              <p:cNvSpPr txBox="1">
                <a:spLocks noChangeArrowheads="1"/>
              </p:cNvSpPr>
              <p:nvPr/>
            </p:nvSpPr>
            <p:spPr bwMode="auto">
              <a:xfrm>
                <a:off x="2485182" y="1927011"/>
                <a:ext cx="5381185" cy="8937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GB" sz="3300">
                    <a:solidFill>
                      <a:prstClr val="black"/>
                    </a:solidFill>
                    <a:latin typeface="+mn-lt"/>
                  </a:rPr>
                  <a:t>Rate</a:t>
                </a:r>
                <a14:m>
                  <m:oMath xmlns:m="http://schemas.openxmlformats.org/officeDocument/2006/math">
                    <m:r>
                      <a:rPr lang="en-GB" sz="33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3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GB" sz="3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33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GB" sz="3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sz="3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sz="3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GB" sz="3300">
                            <a:solidFill>
                              <a:prstClr val="black"/>
                            </a:solidFill>
                            <a:latin typeface="+mn-lt"/>
                          </a:rPr>
                          <m:t>E</m:t>
                        </m:r>
                      </m:e>
                    </m:d>
                    <m:r>
                      <a:rPr lang="en-GB" sz="33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sz="3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3300">
                            <a:solidFill>
                              <a:prstClr val="black"/>
                            </a:solidFill>
                            <a:latin typeface="+mn-lt"/>
                          </a:rPr>
                          <m:t>H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3300">
                            <a:solidFill>
                              <a:prstClr val="black"/>
                            </a:solidFill>
                            <a:latin typeface="+mn-lt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GB" sz="33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 sz="3300">
                            <a:solidFill>
                              <a:prstClr val="black"/>
                            </a:solidFill>
                            <a:latin typeface="+mn-lt"/>
                          </a:rPr>
                          <m:t>O</m:t>
                        </m:r>
                      </m:e>
                      <m:sup>
                        <m:r>
                          <m:rPr>
                            <m:nor/>
                          </m:rPr>
                          <a:rPr lang="en-GB" sz="3300">
                            <a:solidFill>
                              <a:prstClr val="black"/>
                            </a:solidFill>
                            <a:latin typeface="+mn-lt"/>
                          </a:rPr>
                          <m:t>+</m:t>
                        </m:r>
                      </m:sup>
                    </m:sSup>
                    <m:r>
                      <a:rPr lang="en-GB" sz="33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3300">
                  <a:solidFill>
                    <a:prstClr val="black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1237" name="Text Box 17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5182" y="1927011"/>
                <a:ext cx="5381185" cy="893771"/>
              </a:xfrm>
              <a:prstGeom prst="rect">
                <a:avLst/>
              </a:prstGeom>
              <a:blipFill>
                <a:blip r:embed="rId3"/>
                <a:stretch>
                  <a:fillRect l="-3061" b="-204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06027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4" name="Rectangle 169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+mn-lt"/>
              </a:rPr>
              <a:t>Limiting cases</a:t>
            </a:r>
            <a:endParaRPr lang="en-US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2057400"/>
                <a:ext cx="6172200" cy="380187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ct val="50000"/>
                  </a:spcBef>
                </a:pPr>
                <a:endParaRPr lang="en-GB" sz="1500" dirty="0">
                  <a:solidFill>
                    <a:prstClr val="black"/>
                  </a:solidFill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</a:rPr>
                  <a:t>In general, consider cases where one number is much bigger (</a:t>
                </a:r>
                <a14:m>
                  <m:oMath xmlns:m="http://schemas.openxmlformats.org/officeDocument/2006/math">
                    <m:r>
                      <a:rPr lang="en-GB" sz="15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GB" sz="1500" dirty="0">
                    <a:solidFill>
                      <a:prstClr val="black"/>
                    </a:solidFill>
                  </a:rPr>
                  <a:t>) or much smaller (</a:t>
                </a:r>
                <a14:m>
                  <m:oMath xmlns:m="http://schemas.openxmlformats.org/officeDocument/2006/math">
                    <m:r>
                      <a:rPr lang="en-GB" sz="15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GB" sz="1500" dirty="0">
                    <a:solidFill>
                      <a:prstClr val="black"/>
                    </a:solidFill>
                  </a:rPr>
                  <a:t>) than another.</a:t>
                </a:r>
              </a:p>
              <a:p>
                <a:pPr marL="0" indent="0">
                  <a:spcBef>
                    <a:spcPct val="50000"/>
                  </a:spcBef>
                  <a:buNone/>
                </a:pPr>
                <a:endParaRPr lang="en-GB" sz="1500" i="1" baseline="30000" dirty="0">
                  <a:solidFill>
                    <a:prstClr val="black"/>
                  </a:solidFill>
                  <a:sym typeface="Mathematica1" pitchFamily="2" charset="2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</a:rPr>
                  <a:t>If they are </a:t>
                </a:r>
                <a:r>
                  <a:rPr lang="en-GB" sz="1500" i="1" dirty="0">
                    <a:solidFill>
                      <a:prstClr val="black"/>
                    </a:solidFill>
                  </a:rPr>
                  <a:t>added</a:t>
                </a:r>
                <a:r>
                  <a:rPr lang="en-GB" sz="1500" dirty="0">
                    <a:solidFill>
                      <a:prstClr val="black"/>
                    </a:solidFill>
                  </a:rPr>
                  <a:t> or </a:t>
                </a:r>
                <a:r>
                  <a:rPr lang="en-GB" sz="1500" i="1" dirty="0">
                    <a:solidFill>
                      <a:prstClr val="black"/>
                    </a:solidFill>
                  </a:rPr>
                  <a:t>subtracted</a:t>
                </a:r>
                <a:r>
                  <a:rPr lang="en-GB" sz="1500" dirty="0">
                    <a:solidFill>
                      <a:prstClr val="black"/>
                    </a:solidFill>
                  </a:rPr>
                  <a:t> then you can ignore the smaller one </a:t>
                </a:r>
              </a:p>
              <a:p>
                <a:pPr marL="0" indent="0">
                  <a:spcBef>
                    <a:spcPct val="50000"/>
                  </a:spcBef>
                  <a:buNone/>
                </a:pPr>
                <a:r>
                  <a:rPr lang="en-GB" sz="1500" dirty="0">
                    <a:solidFill>
                      <a:prstClr val="black"/>
                    </a:solidFill>
                  </a:rPr>
                  <a:t>	(i.e. pretend that it is equal to zero)</a:t>
                </a:r>
              </a:p>
              <a:p>
                <a:pPr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</a:rPr>
                  <a:t>If A</a:t>
                </a:r>
                <a14:m>
                  <m:oMath xmlns:m="http://schemas.openxmlformats.org/officeDocument/2006/math">
                    <m:r>
                      <a:rPr lang="en-GB" sz="15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GB" sz="1500" dirty="0">
                    <a:solidFill>
                      <a:prstClr val="black"/>
                    </a:solidFill>
                  </a:rPr>
                  <a:t>B then A+B is approximately (</a:t>
                </a:r>
                <a:r>
                  <a:rPr lang="en-GB" sz="1500" dirty="0">
                    <a:solidFill>
                      <a:prstClr val="black"/>
                    </a:solidFill>
                    <a:cs typeface="Times New Roman"/>
                  </a:rPr>
                  <a:t>≈) A</a:t>
                </a:r>
                <a:endParaRPr lang="en-GB" sz="1500" dirty="0">
                  <a:solidFill>
                    <a:prstClr val="black"/>
                  </a:solidFill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</a:rPr>
                  <a:t>If they are </a:t>
                </a:r>
                <a:r>
                  <a:rPr lang="en-GB" sz="1500" i="1" dirty="0">
                    <a:solidFill>
                      <a:prstClr val="black"/>
                    </a:solidFill>
                  </a:rPr>
                  <a:t>multiplied</a:t>
                </a:r>
                <a:r>
                  <a:rPr lang="en-GB" sz="1500" dirty="0">
                    <a:solidFill>
                      <a:prstClr val="black"/>
                    </a:solidFill>
                  </a:rPr>
                  <a:t> or </a:t>
                </a:r>
                <a:r>
                  <a:rPr lang="en-GB" sz="1500" i="1" dirty="0">
                    <a:solidFill>
                      <a:prstClr val="black"/>
                    </a:solidFill>
                  </a:rPr>
                  <a:t>divided</a:t>
                </a:r>
                <a:r>
                  <a:rPr lang="en-GB" sz="1500" dirty="0">
                    <a:solidFill>
                      <a:prstClr val="black"/>
                    </a:solidFill>
                  </a:rPr>
                  <a:t> then you need to be careful:</a:t>
                </a:r>
              </a:p>
              <a:p>
                <a:pPr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</a:rPr>
                  <a:t>	 If A</a:t>
                </a:r>
                <a14:m>
                  <m:oMath xmlns:m="http://schemas.openxmlformats.org/officeDocument/2006/math">
                    <m:r>
                      <a:rPr lang="en-GB" sz="15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GB" sz="1500" dirty="0">
                    <a:solidFill>
                      <a:prstClr val="black"/>
                    </a:solidFill>
                  </a:rPr>
                  <a:t>B then </a:t>
                </a:r>
              </a:p>
              <a:p>
                <a:pPr marL="0" indent="0">
                  <a:spcBef>
                    <a:spcPct val="50000"/>
                  </a:spcBef>
                  <a:buNone/>
                </a:pPr>
                <a:r>
                  <a:rPr lang="en-GB" sz="1500" dirty="0">
                    <a:solidFill>
                      <a:prstClr val="black"/>
                    </a:solidFill>
                  </a:rPr>
                  <a:t>		</a:t>
                </a:r>
              </a:p>
              <a:p>
                <a:pPr>
                  <a:spcBef>
                    <a:spcPct val="50000"/>
                  </a:spcBef>
                </a:pPr>
                <a:r>
                  <a:rPr lang="en-GB" sz="1500" dirty="0">
                    <a:solidFill>
                      <a:prstClr val="black"/>
                    </a:solidFill>
                  </a:rPr>
                  <a:t>Try 1,000,000 / (1,000,000 + 1)  or 1 / (1,000,000 + 1) on your calculator</a:t>
                </a: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endParaRPr lang="en-GB" sz="1500" i="1" baseline="30000" dirty="0">
                  <a:solidFill>
                    <a:prstClr val="black"/>
                  </a:solidFill>
                  <a:sym typeface="Mathematica1" pitchFamily="2" charset="2"/>
                </a:endParaRPr>
              </a:p>
              <a:p>
                <a:endParaRPr lang="en-GB" sz="15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2057400"/>
                <a:ext cx="6172200" cy="3801870"/>
              </a:xfrm>
              <a:blipFill>
                <a:blip r:embed="rId3"/>
                <a:stretch>
                  <a:fillRect l="-412" b="-7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56" name="AutoShape 1700"/>
          <p:cNvSpPr>
            <a:spLocks noChangeAspect="1" noChangeArrowheads="1" noTextEdit="1"/>
          </p:cNvSpPr>
          <p:nvPr/>
        </p:nvSpPr>
        <p:spPr bwMode="auto">
          <a:xfrm>
            <a:off x="1752600" y="3095625"/>
            <a:ext cx="5637610" cy="372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21237" name="Text Box 1781"/>
          <p:cNvSpPr txBox="1">
            <a:spLocks noChangeArrowheads="1"/>
          </p:cNvSpPr>
          <p:nvPr/>
        </p:nvSpPr>
        <p:spPr bwMode="auto">
          <a:xfrm>
            <a:off x="1596629" y="1793081"/>
            <a:ext cx="55496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500">
                <a:solidFill>
                  <a:prstClr val="black"/>
                </a:solidFill>
                <a:latin typeface="+mn-lt"/>
              </a:rPr>
              <a:t>Rate</a:t>
            </a:r>
            <a:endParaRPr lang="en-US" sz="1500">
              <a:solidFill>
                <a:prstClr val="black"/>
              </a:solidFill>
              <a:latin typeface="+mn-lt"/>
            </a:endParaRPr>
          </a:p>
        </p:txBody>
      </p:sp>
      <p:graphicFrame>
        <p:nvGraphicFramePr>
          <p:cNvPr id="21239" name="Object 17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083"/>
              </p:ext>
            </p:extLst>
          </p:nvPr>
        </p:nvGraphicFramePr>
        <p:xfrm>
          <a:off x="2143125" y="1689498"/>
          <a:ext cx="1897908" cy="569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431640" progId="Equation.3">
                  <p:embed/>
                </p:oleObj>
              </mc:Choice>
              <mc:Fallback>
                <p:oleObj name="Equation" r:id="rId4" imgW="1434960" imgH="431640" progId="Equation.3">
                  <p:embed/>
                  <p:pic>
                    <p:nvPicPr>
                      <p:cNvPr id="21239" name="Object 17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1689498"/>
                        <a:ext cx="1897908" cy="569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3674543" y="4706533"/>
            <a:ext cx="1275170" cy="461969"/>
            <a:chOff x="2643174" y="4572000"/>
            <a:chExt cx="1700226" cy="615958"/>
          </a:xfrm>
        </p:grpSpPr>
        <p:graphicFrame>
          <p:nvGraphicFramePr>
            <p:cNvPr id="21240" name="Object 1784"/>
            <p:cNvGraphicFramePr>
              <a:graphicFrameLocks noChangeAspect="1"/>
            </p:cNvGraphicFramePr>
            <p:nvPr/>
          </p:nvGraphicFramePr>
          <p:xfrm>
            <a:off x="2643174" y="4572008"/>
            <a:ext cx="658812" cy="615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9040" imgH="393480" progId="Equation.3">
                    <p:embed/>
                  </p:oleObj>
                </mc:Choice>
                <mc:Fallback>
                  <p:oleObj name="Equation" r:id="rId6" imgW="419040" imgH="393480" progId="Equation.3">
                    <p:embed/>
                    <p:pic>
                      <p:nvPicPr>
                        <p:cNvPr id="21240" name="Object 17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3174" y="4572008"/>
                          <a:ext cx="658812" cy="615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7"/>
            <p:cNvSpPr/>
            <p:nvPr/>
          </p:nvSpPr>
          <p:spPr>
            <a:xfrm>
              <a:off x="3286116" y="4714884"/>
              <a:ext cx="397973" cy="430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500">
                  <a:solidFill>
                    <a:prstClr val="black"/>
                  </a:solidFill>
                  <a:latin typeface="+mn-lt"/>
                  <a:cs typeface="Times New Roman"/>
                </a:rPr>
                <a:t>≈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graphicFrame>
          <p:nvGraphicFramePr>
            <p:cNvPr id="6148" name="Object 4"/>
            <p:cNvGraphicFramePr>
              <a:graphicFrameLocks noChangeAspect="1"/>
            </p:cNvGraphicFramePr>
            <p:nvPr/>
          </p:nvGraphicFramePr>
          <p:xfrm>
            <a:off x="3743325" y="4572000"/>
            <a:ext cx="600075" cy="615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0880" imgH="393480" progId="Equation.3">
                    <p:embed/>
                  </p:oleObj>
                </mc:Choice>
                <mc:Fallback>
                  <p:oleObj name="Equation" r:id="rId8" imgW="380880" imgH="393480" progId="Equation.3">
                    <p:embed/>
                    <p:pic>
                      <p:nvPicPr>
                        <p:cNvPr id="614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3325" y="4572000"/>
                          <a:ext cx="600075" cy="615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"/>
          <p:cNvGrpSpPr/>
          <p:nvPr/>
        </p:nvGrpSpPr>
        <p:grpSpPr>
          <a:xfrm>
            <a:off x="5585206" y="4726642"/>
            <a:ext cx="1083473" cy="464717"/>
            <a:chOff x="2638597" y="5327153"/>
            <a:chExt cx="1444630" cy="619623"/>
          </a:xfrm>
        </p:grpSpPr>
        <p:graphicFrame>
          <p:nvGraphicFramePr>
            <p:cNvPr id="6149" name="Object 5"/>
            <p:cNvGraphicFramePr>
              <a:graphicFrameLocks noChangeAspect="1"/>
            </p:cNvGraphicFramePr>
            <p:nvPr/>
          </p:nvGraphicFramePr>
          <p:xfrm>
            <a:off x="2638597" y="5327153"/>
            <a:ext cx="658812" cy="615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19040" imgH="393480" progId="Equation.3">
                    <p:embed/>
                  </p:oleObj>
                </mc:Choice>
                <mc:Fallback>
                  <p:oleObj name="Equation" r:id="rId10" imgW="419040" imgH="393480" progId="Equation.3">
                    <p:embed/>
                    <p:pic>
                      <p:nvPicPr>
                        <p:cNvPr id="614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8597" y="5327153"/>
                          <a:ext cx="658812" cy="615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0"/>
            <p:cNvSpPr/>
            <p:nvPr/>
          </p:nvSpPr>
          <p:spPr>
            <a:xfrm>
              <a:off x="3314809" y="5450462"/>
              <a:ext cx="397973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500">
                  <a:solidFill>
                    <a:prstClr val="black"/>
                  </a:solidFill>
                  <a:latin typeface="+mn-lt"/>
                  <a:cs typeface="Times New Roman"/>
                </a:rPr>
                <a:t>≈</a:t>
              </a:r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graphicFrame>
          <p:nvGraphicFramePr>
            <p:cNvPr id="12" name="Object 4"/>
            <p:cNvGraphicFramePr>
              <a:graphicFrameLocks noChangeAspect="1"/>
            </p:cNvGraphicFramePr>
            <p:nvPr/>
          </p:nvGraphicFramePr>
          <p:xfrm>
            <a:off x="3783190" y="5330826"/>
            <a:ext cx="300037" cy="615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440" imgH="393480" progId="Equation.3">
                    <p:embed/>
                  </p:oleObj>
                </mc:Choice>
                <mc:Fallback>
                  <p:oleObj name="Equation" r:id="rId12" imgW="190440" imgH="393480" progId="Equation.3">
                    <p:embed/>
                    <p:pic>
                      <p:nvPicPr>
                        <p:cNvPr id="1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3190" y="5330826"/>
                          <a:ext cx="300037" cy="615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1781"/>
          <p:cNvSpPr txBox="1">
            <a:spLocks noChangeArrowheads="1"/>
          </p:cNvSpPr>
          <p:nvPr/>
        </p:nvSpPr>
        <p:spPr bwMode="auto">
          <a:xfrm>
            <a:off x="4196952" y="1821645"/>
            <a:ext cx="377629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500">
                <a:solidFill>
                  <a:prstClr val="black"/>
                </a:solidFill>
                <a:latin typeface="+mn-lt"/>
              </a:rPr>
              <a:t>What if k</a:t>
            </a:r>
            <a:r>
              <a:rPr lang="en-GB" sz="1500" baseline="-25000">
                <a:solidFill>
                  <a:prstClr val="black"/>
                </a:solidFill>
                <a:latin typeface="+mn-lt"/>
              </a:rPr>
              <a:t>2</a:t>
            </a:r>
            <a:r>
              <a:rPr lang="en-GB" sz="1500">
                <a:solidFill>
                  <a:prstClr val="black"/>
                </a:solidFill>
                <a:latin typeface="+mn-lt"/>
              </a:rPr>
              <a:t> is much smaller or larger than k</a:t>
            </a:r>
            <a:r>
              <a:rPr lang="en-GB" sz="1500" baseline="-25000">
                <a:solidFill>
                  <a:prstClr val="black"/>
                </a:solidFill>
                <a:latin typeface="+mn-lt"/>
              </a:rPr>
              <a:t>-1</a:t>
            </a:r>
            <a:r>
              <a:rPr lang="en-GB" sz="1500">
                <a:solidFill>
                  <a:prstClr val="black"/>
                </a:solidFill>
                <a:latin typeface="+mn-lt"/>
              </a:rPr>
              <a:t>?</a:t>
            </a:r>
            <a:endParaRPr lang="en-US" sz="1500" baseline="-2500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752903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4" name="Rectangle 169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Limiting cases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10363" y="2057400"/>
                <a:ext cx="8633637" cy="4251919"/>
              </a:xfrm>
            </p:spPr>
            <p:txBody>
              <a:bodyPr>
                <a:normAutofit/>
              </a:bodyPr>
              <a:lstStyle/>
              <a:p>
                <a:pPr marL="600075" lvl="1" indent="-257175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endParaRPr lang="en-GB" sz="1500">
                  <a:solidFill>
                    <a:prstClr val="black"/>
                  </a:solidFill>
                </a:endParaRPr>
              </a:p>
              <a:p>
                <a:pPr marL="600075" lvl="1" indent="-257175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endParaRPr lang="en-GB" sz="1800">
                  <a:solidFill>
                    <a:prstClr val="black"/>
                  </a:solidFill>
                </a:endParaRPr>
              </a:p>
              <a:p>
                <a:pPr marL="600075" lvl="1" indent="-257175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GB" sz="1800">
                    <a:solidFill>
                      <a:prstClr val="black"/>
                    </a:solidFill>
                  </a:rPr>
                  <a:t>Limiting case that </a:t>
                </a:r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k</a:t>
                </a:r>
                <a:r>
                  <a:rPr lang="en-GB" sz="1800" i="1" baseline="-25000">
                    <a:solidFill>
                      <a:prstClr val="black"/>
                    </a:solidFill>
                    <a:latin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GB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k</a:t>
                </a:r>
                <a:r>
                  <a:rPr lang="en-GB" sz="1800" i="1" baseline="-25000">
                    <a:solidFill>
                      <a:prstClr val="black"/>
                    </a:solidFill>
                    <a:latin typeface="Times New Roman" pitchFamily="18" charset="0"/>
                  </a:rPr>
                  <a:t>-1		</a:t>
                </a:r>
              </a:p>
              <a:p>
                <a:pPr marL="342900" lvl="1" indent="0">
                  <a:spcBef>
                    <a:spcPct val="50000"/>
                  </a:spcBef>
                  <a:buNone/>
                </a:pPr>
                <a:r>
                  <a:rPr lang="en-GB" sz="1800" i="1" baseline="-25000">
                    <a:solidFill>
                      <a:prstClr val="black"/>
                    </a:solidFill>
                    <a:latin typeface="Times New Roman" pitchFamily="18" charset="0"/>
                  </a:rPr>
                  <a:t>	</a:t>
                </a:r>
                <a:r>
                  <a:rPr lang="en-GB" sz="1800">
                    <a:solidFill>
                      <a:prstClr val="black"/>
                    </a:solidFill>
                  </a:rPr>
                  <a:t>Step (a) is the Rate Determining Step.</a:t>
                </a:r>
              </a:p>
              <a:p>
                <a:pPr marL="342900" lvl="1" indent="0">
                  <a:spcBef>
                    <a:spcPct val="50000"/>
                  </a:spcBef>
                  <a:buNone/>
                </a:pPr>
                <a:r>
                  <a:rPr lang="en-GB" sz="1800">
                    <a:solidFill>
                      <a:prstClr val="black"/>
                    </a:solidFill>
                  </a:rPr>
                  <a:t>	rate independent of </a:t>
                </a:r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k</a:t>
                </a:r>
                <a:r>
                  <a:rPr lang="en-GB" sz="1800" i="1" baseline="-25000">
                    <a:solidFill>
                      <a:prstClr val="black"/>
                    </a:solidFill>
                    <a:latin typeface="Times New Roman" pitchFamily="18" charset="0"/>
                  </a:rPr>
                  <a:t>2</a:t>
                </a:r>
                <a:endParaRPr lang="en-GB" sz="1800">
                  <a:solidFill>
                    <a:prstClr val="black"/>
                  </a:solidFill>
                </a:endParaRPr>
              </a:p>
              <a:p>
                <a:pPr marL="685800" lvl="2" indent="0">
                  <a:spcBef>
                    <a:spcPct val="50000"/>
                  </a:spcBef>
                  <a:buNone/>
                </a:pPr>
                <a:r>
                  <a:rPr lang="en-GB" sz="1800">
                    <a:solidFill>
                      <a:prstClr val="black"/>
                    </a:solidFill>
                  </a:rPr>
                  <a:t>	Rate </a:t>
                </a:r>
                <a:r>
                  <a:rPr lang="en-GB" sz="1800">
                    <a:solidFill>
                      <a:prstClr val="black"/>
                    </a:solidFill>
                    <a:sym typeface="Mathematica1" pitchFamily="2" charset="2"/>
                  </a:rPr>
                  <a:t>≈ </a:t>
                </a:r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k</a:t>
                </a:r>
                <a:r>
                  <a:rPr lang="en-GB" sz="1800" i="1" baseline="-25000">
                    <a:solidFill>
                      <a:prstClr val="black"/>
                    </a:solidFill>
                    <a:latin typeface="Times New Roman" pitchFamily="18" charset="0"/>
                  </a:rPr>
                  <a:t>1</a:t>
                </a:r>
                <a:r>
                  <a:rPr lang="en-GB" sz="1800">
                    <a:solidFill>
                      <a:prstClr val="black"/>
                    </a:solidFill>
                    <a:latin typeface="Times New Roman" pitchFamily="18" charset="0"/>
                  </a:rPr>
                  <a:t>[E][H</a:t>
                </a:r>
                <a:r>
                  <a:rPr lang="en-GB" sz="1800" baseline="-25000">
                    <a:solidFill>
                      <a:prstClr val="black"/>
                    </a:solidFill>
                    <a:latin typeface="Times New Roman" pitchFamily="18" charset="0"/>
                  </a:rPr>
                  <a:t>3</a:t>
                </a:r>
                <a:r>
                  <a:rPr lang="en-GB" sz="1800">
                    <a:solidFill>
                      <a:prstClr val="black"/>
                    </a:solidFill>
                    <a:latin typeface="Times New Roman" pitchFamily="18" charset="0"/>
                  </a:rPr>
                  <a:t>O</a:t>
                </a:r>
                <a:r>
                  <a:rPr lang="en-GB" sz="1800" baseline="30000">
                    <a:solidFill>
                      <a:prstClr val="black"/>
                    </a:solidFill>
                    <a:latin typeface="Times New Roman" pitchFamily="18" charset="0"/>
                  </a:rPr>
                  <a:t>+</a:t>
                </a:r>
                <a:r>
                  <a:rPr lang="en-GB" sz="1800">
                    <a:solidFill>
                      <a:prstClr val="black"/>
                    </a:solidFill>
                    <a:latin typeface="Times New Roman" pitchFamily="18" charset="0"/>
                  </a:rPr>
                  <a:t>]</a:t>
                </a:r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		</a:t>
                </a:r>
                <a:r>
                  <a:rPr lang="en-GB" sz="1800" i="1" baseline="30000">
                    <a:solidFill>
                      <a:prstClr val="black"/>
                    </a:solidFill>
                    <a:latin typeface="Times New Roman" pitchFamily="18" charset="0"/>
                    <a:sym typeface="Mathematica1" pitchFamily="2" charset="2"/>
                  </a:rPr>
                  <a:t>					 </a:t>
                </a:r>
              </a:p>
              <a:p>
                <a:pPr marL="600075" lvl="1" indent="-257175">
                  <a:spcBef>
                    <a:spcPct val="50000"/>
                  </a:spcBef>
                  <a:buFont typeface="Arial" panose="020B0604020202020204" pitchFamily="34" charset="0"/>
                  <a:buChar char="•"/>
                </a:pPr>
                <a:r>
                  <a:rPr lang="en-GB" sz="1800">
                    <a:solidFill>
                      <a:prstClr val="black"/>
                    </a:solidFill>
                  </a:rPr>
                  <a:t>Limiting case that </a:t>
                </a:r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k</a:t>
                </a:r>
                <a:r>
                  <a:rPr lang="en-GB" sz="1800" i="1" baseline="-25000">
                    <a:solidFill>
                      <a:prstClr val="black"/>
                    </a:solidFill>
                    <a:latin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GB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k</a:t>
                </a:r>
                <a:r>
                  <a:rPr lang="en-GB" sz="1800" i="1" baseline="-25000">
                    <a:solidFill>
                      <a:prstClr val="black"/>
                    </a:solidFill>
                    <a:latin typeface="Times New Roman" pitchFamily="18" charset="0"/>
                  </a:rPr>
                  <a:t>-1		</a:t>
                </a:r>
                <a:r>
                  <a:rPr lang="en-GB" sz="1800">
                    <a:solidFill>
                      <a:prstClr val="black"/>
                    </a:solidFill>
                  </a:rPr>
                  <a:t> </a:t>
                </a:r>
              </a:p>
              <a:p>
                <a:pPr marL="342900" lvl="1" indent="0">
                  <a:spcBef>
                    <a:spcPct val="50000"/>
                  </a:spcBef>
                  <a:buNone/>
                </a:pPr>
                <a:r>
                  <a:rPr lang="en-GB" sz="1800">
                    <a:solidFill>
                      <a:prstClr val="black"/>
                    </a:solidFill>
                  </a:rPr>
                  <a:t>	“pre-equilibrium”, rate proportional to </a:t>
                </a:r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k</a:t>
                </a:r>
                <a:r>
                  <a:rPr lang="en-GB" sz="1800" i="1" baseline="-25000">
                    <a:solidFill>
                      <a:prstClr val="black"/>
                    </a:solidFill>
                    <a:latin typeface="Times New Roman" pitchFamily="18" charset="0"/>
                  </a:rPr>
                  <a:t>2 </a:t>
                </a:r>
                <a:r>
                  <a:rPr lang="en-GB" sz="1800">
                    <a:solidFill>
                      <a:prstClr val="black"/>
                    </a:solidFill>
                  </a:rPr>
                  <a:t>and the ratio of </a:t>
                </a:r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k</a:t>
                </a:r>
                <a:r>
                  <a:rPr lang="en-GB" sz="1800" i="1" baseline="-25000">
                    <a:solidFill>
                      <a:prstClr val="black"/>
                    </a:solidFill>
                    <a:latin typeface="Times New Roman" pitchFamily="18" charset="0"/>
                  </a:rPr>
                  <a:t>1 </a:t>
                </a:r>
                <a:r>
                  <a:rPr lang="en-GB" sz="1800">
                    <a:solidFill>
                      <a:prstClr val="black"/>
                    </a:solidFill>
                  </a:rPr>
                  <a:t>and </a:t>
                </a:r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k</a:t>
                </a:r>
                <a:r>
                  <a:rPr lang="en-GB" sz="1800" i="1" baseline="-25000">
                    <a:solidFill>
                      <a:prstClr val="black"/>
                    </a:solidFill>
                    <a:latin typeface="Times New Roman" pitchFamily="18" charset="0"/>
                  </a:rPr>
                  <a:t>-1</a:t>
                </a:r>
                <a:endParaRPr lang="en-GB" sz="1800" i="1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marL="685800" lvl="2" indent="0">
                  <a:spcBef>
                    <a:spcPct val="50000"/>
                  </a:spcBef>
                  <a:buNone/>
                </a:pPr>
                <a:r>
                  <a:rPr lang="en-GB" sz="1800">
                    <a:solidFill>
                      <a:prstClr val="black"/>
                    </a:solidFill>
                  </a:rPr>
                  <a:t>	Rate </a:t>
                </a:r>
                <a:r>
                  <a:rPr lang="en-GB" sz="1800">
                    <a:solidFill>
                      <a:prstClr val="black"/>
                    </a:solidFill>
                    <a:sym typeface="Mathematica1" pitchFamily="2" charset="2"/>
                  </a:rPr>
                  <a:t>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GB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sz="1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>
                    <a:solidFill>
                      <a:prstClr val="black"/>
                    </a:solidFill>
                    <a:latin typeface="Times New Roman" pitchFamily="18" charset="0"/>
                  </a:rPr>
                  <a:t>[E][H</a:t>
                </a:r>
                <a:r>
                  <a:rPr lang="en-GB" sz="1800" baseline="-25000">
                    <a:solidFill>
                      <a:prstClr val="black"/>
                    </a:solidFill>
                    <a:latin typeface="Times New Roman" pitchFamily="18" charset="0"/>
                  </a:rPr>
                  <a:t>3</a:t>
                </a:r>
                <a:r>
                  <a:rPr lang="en-GB" sz="1800">
                    <a:solidFill>
                      <a:prstClr val="black"/>
                    </a:solidFill>
                    <a:latin typeface="Times New Roman" pitchFamily="18" charset="0"/>
                  </a:rPr>
                  <a:t>O</a:t>
                </a:r>
                <a:r>
                  <a:rPr lang="en-GB" sz="1800" baseline="30000">
                    <a:solidFill>
                      <a:prstClr val="black"/>
                    </a:solidFill>
                    <a:latin typeface="Times New Roman" pitchFamily="18" charset="0"/>
                  </a:rPr>
                  <a:t>+</a:t>
                </a:r>
                <a:r>
                  <a:rPr lang="en-GB" sz="1800">
                    <a:solidFill>
                      <a:prstClr val="black"/>
                    </a:solidFill>
                    <a:latin typeface="Times New Roman" pitchFamily="18" charset="0"/>
                  </a:rPr>
                  <a:t>]</a:t>
                </a:r>
                <a:r>
                  <a:rPr lang="en-GB" sz="1800" i="1">
                    <a:solidFill>
                      <a:prstClr val="black"/>
                    </a:solidFill>
                    <a:latin typeface="Times New Roman" pitchFamily="18" charset="0"/>
                  </a:rPr>
                  <a:t>	</a:t>
                </a:r>
                <a:r>
                  <a:rPr lang="en-GB" sz="1500" i="1">
                    <a:solidFill>
                      <a:prstClr val="black"/>
                    </a:solidFill>
                    <a:latin typeface="Times New Roman" pitchFamily="18" charset="0"/>
                  </a:rPr>
                  <a:t>					</a:t>
                </a:r>
              </a:p>
              <a:p>
                <a:pPr>
                  <a:spcBef>
                    <a:spcPct val="50000"/>
                  </a:spcBef>
                  <a:buFontTx/>
                  <a:buChar char="•"/>
                </a:pPr>
                <a:endParaRPr lang="en-GB" sz="1500">
                  <a:solidFill>
                    <a:prstClr val="black"/>
                  </a:solidFill>
                </a:endParaRPr>
              </a:p>
              <a:p>
                <a:endParaRPr lang="en-GB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363" y="2057400"/>
                <a:ext cx="8633637" cy="425191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56" name="AutoShape 1700"/>
          <p:cNvSpPr>
            <a:spLocks noChangeAspect="1" noChangeArrowheads="1" noTextEdit="1"/>
          </p:cNvSpPr>
          <p:nvPr/>
        </p:nvSpPr>
        <p:spPr bwMode="auto">
          <a:xfrm>
            <a:off x="1752600" y="3095625"/>
            <a:ext cx="5637610" cy="372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21237" name="Text Box 1781"/>
          <p:cNvSpPr txBox="1">
            <a:spLocks noChangeArrowheads="1"/>
          </p:cNvSpPr>
          <p:nvPr/>
        </p:nvSpPr>
        <p:spPr bwMode="auto">
          <a:xfrm>
            <a:off x="3485444" y="2058591"/>
            <a:ext cx="62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>
                <a:solidFill>
                  <a:prstClr val="black"/>
                </a:solidFill>
              </a:rPr>
              <a:t>Rate</a:t>
            </a:r>
            <a:endParaRPr lang="en-US" sz="1800">
              <a:solidFill>
                <a:prstClr val="black"/>
              </a:solidFill>
            </a:endParaRPr>
          </a:p>
        </p:txBody>
      </p:sp>
      <p:graphicFrame>
        <p:nvGraphicFramePr>
          <p:cNvPr id="21239" name="Object 17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057004"/>
              </p:ext>
            </p:extLst>
          </p:nvPr>
        </p:nvGraphicFramePr>
        <p:xfrm>
          <a:off x="4114142" y="1943835"/>
          <a:ext cx="2177982" cy="653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431640" progId="Equation.3">
                  <p:embed/>
                </p:oleObj>
              </mc:Choice>
              <mc:Fallback>
                <p:oleObj name="Equation" r:id="rId4" imgW="1434960" imgH="431640" progId="Equation.3">
                  <p:embed/>
                  <p:pic>
                    <p:nvPicPr>
                      <p:cNvPr id="21239" name="Object 17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142" y="1943835"/>
                        <a:ext cx="2177982" cy="653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419498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Another example (your task)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GB" i="1">
                <a:solidFill>
                  <a:prstClr val="black"/>
                </a:solidFill>
              </a:rPr>
              <a:t>The reaction whose overall equation is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i="1">
                <a:solidFill>
                  <a:prstClr val="black"/>
                </a:solidFill>
              </a:rPr>
              <a:t>A + B </a:t>
            </a:r>
            <a:r>
              <a:rPr lang="en-GB" i="1">
                <a:solidFill>
                  <a:prstClr val="black"/>
                </a:solidFill>
                <a:cs typeface="Times New Roman"/>
              </a:rPr>
              <a:t>→ P</a:t>
            </a:r>
            <a:r>
              <a:rPr lang="en-GB" i="1">
                <a:solidFill>
                  <a:prstClr val="black"/>
                </a:solidFill>
              </a:rPr>
              <a:t>	proceeds via the following mechanism:</a:t>
            </a:r>
          </a:p>
          <a:p>
            <a:endParaRPr lang="en-GB"/>
          </a:p>
        </p:txBody>
      </p:sp>
      <p:grpSp>
        <p:nvGrpSpPr>
          <p:cNvPr id="13" name="Group 12"/>
          <p:cNvGrpSpPr/>
          <p:nvPr/>
        </p:nvGrpSpPr>
        <p:grpSpPr>
          <a:xfrm>
            <a:off x="2851466" y="3641656"/>
            <a:ext cx="1673835" cy="627815"/>
            <a:chOff x="1367204" y="3753372"/>
            <a:chExt cx="2231780" cy="837086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auto">
            <a:xfrm>
              <a:off x="1367204" y="4071939"/>
              <a:ext cx="2231780" cy="518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lvl="1">
                <a:lnSpc>
                  <a:spcPct val="90000"/>
                </a:lnSpc>
                <a:spcBef>
                  <a:spcPct val="20000"/>
                </a:spcBef>
              </a:pPr>
              <a:r>
                <a:rPr lang="en-GB" sz="2100" i="1">
                  <a:solidFill>
                    <a:prstClr val="black"/>
                  </a:solidFill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Times" pitchFamily="18" charset="0"/>
                  <a:cs typeface="Arial" charset="0"/>
                </a:rPr>
                <a:t>I</a:t>
              </a:r>
              <a:r>
                <a:rPr lang="en-GB" sz="2100">
                  <a:solidFill>
                    <a:prstClr val="black"/>
                  </a:solidFill>
                  <a:cs typeface="Arial" charset="0"/>
                </a:rPr>
                <a:t> → A</a:t>
              </a:r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647841" y="3753372"/>
              <a:ext cx="1245324" cy="5216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lvl="1">
                <a:lnSpc>
                  <a:spcPct val="90000"/>
                </a:lnSpc>
                <a:spcBef>
                  <a:spcPct val="20000"/>
                </a:spcBef>
              </a:pPr>
              <a:r>
                <a:rPr lang="en-GB" sz="2100" i="1">
                  <a:solidFill>
                    <a:prstClr val="black"/>
                  </a:solidFill>
                  <a:latin typeface="Times" pitchFamily="18" charset="0"/>
                </a:rPr>
                <a:t>k</a:t>
              </a:r>
              <a:r>
                <a:rPr lang="en-GB" sz="2100" i="1" baseline="-25000">
                  <a:solidFill>
                    <a:prstClr val="black"/>
                  </a:solidFill>
                  <a:latin typeface="Times" pitchFamily="18" charset="0"/>
                </a:rPr>
                <a:t>-1</a:t>
              </a:r>
              <a:endParaRPr lang="en-GB" sz="2100" i="1" baseline="-25000">
                <a:solidFill>
                  <a:prstClr val="black"/>
                </a:solidFill>
                <a:latin typeface="Times" pitchFamily="18" charset="0"/>
                <a:cs typeface="Arial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771801" y="3013972"/>
            <a:ext cx="2769577" cy="663210"/>
            <a:chOff x="528089" y="2928934"/>
            <a:chExt cx="3692769" cy="884280"/>
          </a:xfrm>
        </p:grpSpPr>
        <p:sp>
          <p:nvSpPr>
            <p:cNvPr id="9" name="Rectangle 12"/>
            <p:cNvSpPr>
              <a:spLocks noChangeArrowheads="1"/>
            </p:cNvSpPr>
            <p:nvPr/>
          </p:nvSpPr>
          <p:spPr bwMode="auto">
            <a:xfrm>
              <a:off x="528089" y="3294695"/>
              <a:ext cx="3692769" cy="518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lvl="1">
                <a:lnSpc>
                  <a:spcPct val="90000"/>
                </a:lnSpc>
                <a:spcBef>
                  <a:spcPct val="20000"/>
                </a:spcBef>
              </a:pPr>
              <a:r>
                <a:rPr lang="en-GB" sz="2100" i="1">
                  <a:solidFill>
                    <a:prstClr val="black"/>
                  </a:solidFill>
                </a:rPr>
                <a:t>   </a:t>
              </a:r>
              <a:r>
                <a:rPr lang="en-GB" sz="2100">
                  <a:solidFill>
                    <a:prstClr val="black"/>
                  </a:solidFill>
                </a:rPr>
                <a:t>A </a:t>
              </a:r>
              <a:r>
                <a:rPr lang="en-GB" sz="2100">
                  <a:solidFill>
                    <a:prstClr val="black"/>
                  </a:solidFill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Times" pitchFamily="18" charset="0"/>
                  <a:cs typeface="Arial" charset="0"/>
                </a:rPr>
                <a:t>I</a:t>
              </a: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928662" y="2928934"/>
              <a:ext cx="1279907" cy="5216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lvl="1" algn="r">
                <a:lnSpc>
                  <a:spcPct val="90000"/>
                </a:lnSpc>
                <a:spcBef>
                  <a:spcPct val="20000"/>
                </a:spcBef>
              </a:pPr>
              <a:r>
                <a:rPr lang="en-GB" sz="2100" i="1">
                  <a:solidFill>
                    <a:prstClr val="black"/>
                  </a:solidFill>
                  <a:latin typeface="Times" pitchFamily="18" charset="0"/>
                </a:rPr>
                <a:t>k</a:t>
              </a:r>
              <a:r>
                <a:rPr lang="en-GB" sz="2100" i="1" baseline="-25000">
                  <a:solidFill>
                    <a:prstClr val="black"/>
                  </a:solidFill>
                  <a:latin typeface="Times" pitchFamily="18" charset="0"/>
                </a:rPr>
                <a:t>1</a:t>
              </a:r>
              <a:endParaRPr lang="en-GB" sz="2100" i="1" baseline="-25000">
                <a:solidFill>
                  <a:prstClr val="black"/>
                </a:solidFill>
                <a:latin typeface="Times" pitchFamily="18" charset="0"/>
                <a:cs typeface="Arial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626006" y="3228285"/>
            <a:ext cx="2518190" cy="672834"/>
            <a:chOff x="1367204" y="3693346"/>
            <a:chExt cx="2231780" cy="897111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367204" y="4071939"/>
              <a:ext cx="2231780" cy="518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lvl="1">
                <a:lnSpc>
                  <a:spcPct val="90000"/>
                </a:lnSpc>
                <a:spcBef>
                  <a:spcPct val="20000"/>
                </a:spcBef>
              </a:pPr>
              <a:r>
                <a:rPr lang="en-GB" sz="2100" i="1">
                  <a:solidFill>
                    <a:prstClr val="black"/>
                  </a:solidFill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Times" pitchFamily="18" charset="0"/>
                  <a:cs typeface="Arial" charset="0"/>
                </a:rPr>
                <a:t>I + </a:t>
              </a:r>
              <a:r>
                <a:rPr lang="en-GB" sz="2100">
                  <a:solidFill>
                    <a:prstClr val="black"/>
                  </a:solidFill>
                  <a:cs typeface="Arial" charset="0"/>
                </a:rPr>
                <a:t>B → P</a:t>
              </a:r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1937020" y="3693346"/>
              <a:ext cx="1135660" cy="5216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lvl="1">
                <a:lnSpc>
                  <a:spcPct val="90000"/>
                </a:lnSpc>
                <a:spcBef>
                  <a:spcPct val="20000"/>
                </a:spcBef>
              </a:pPr>
              <a:r>
                <a:rPr lang="en-GB" sz="2100" i="1">
                  <a:solidFill>
                    <a:prstClr val="black"/>
                  </a:solidFill>
                  <a:latin typeface="Times" pitchFamily="18" charset="0"/>
                </a:rPr>
                <a:t>k</a:t>
              </a:r>
              <a:r>
                <a:rPr lang="en-GB" sz="2100" i="1" baseline="-25000">
                  <a:solidFill>
                    <a:prstClr val="black"/>
                  </a:solidFill>
                  <a:latin typeface="Times" pitchFamily="18" charset="0"/>
                </a:rPr>
                <a:t>2</a:t>
              </a:r>
              <a:endParaRPr lang="en-GB" sz="2100" i="1" baseline="-25000">
                <a:solidFill>
                  <a:prstClr val="black"/>
                </a:solidFill>
                <a:latin typeface="Times" pitchFamily="18" charset="0"/>
                <a:cs typeface="Arial" charset="0"/>
              </a:endParaRPr>
            </a:p>
          </p:txBody>
        </p:sp>
      </p:grp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1143000" y="4607728"/>
            <a:ext cx="3804050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GB" i="1">
                <a:solidFill>
                  <a:prstClr val="black"/>
                </a:solidFill>
              </a:rPr>
              <a:t>(a) Show that the expected overall rate law is:</a:t>
            </a:r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5138739" y="4554141"/>
          <a:ext cx="2668191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240" imgH="431640" progId="Equation.3">
                  <p:embed/>
                </p:oleObj>
              </mc:Choice>
              <mc:Fallback>
                <p:oleObj name="Equation" r:id="rId3" imgW="1587240" imgH="431640" progId="Equation.3">
                  <p:embed/>
                  <p:pic>
                    <p:nvPicPr>
                      <p:cNvPr id="92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9" y="4554141"/>
                        <a:ext cx="2668191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3642645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Your task (continued)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57175" lvl="1" indent="-257175">
              <a:buFont typeface="Arial" pitchFamily="34" charset="0"/>
              <a:buChar char="•"/>
            </a:pPr>
            <a:r>
              <a:rPr lang="en-GB"/>
              <a:t>(b) Consider the case where </a:t>
            </a:r>
            <a:r>
              <a:rPr lang="en-GB" i="1">
                <a:latin typeface="Times" pitchFamily="18" charset="0"/>
              </a:rPr>
              <a:t>k</a:t>
            </a:r>
            <a:r>
              <a:rPr lang="en-GB" i="1" baseline="-25000">
                <a:latin typeface="Times" pitchFamily="18" charset="0"/>
              </a:rPr>
              <a:t>1</a:t>
            </a:r>
            <a:r>
              <a:rPr lang="en-GB" i="1">
                <a:latin typeface="Times" pitchFamily="18" charset="0"/>
              </a:rPr>
              <a:t> =k</a:t>
            </a:r>
            <a:r>
              <a:rPr lang="en-GB" i="1" baseline="-25000">
                <a:latin typeface="Times" pitchFamily="18" charset="0"/>
              </a:rPr>
              <a:t>2</a:t>
            </a:r>
            <a:r>
              <a:rPr lang="en-GB" i="1">
                <a:latin typeface="Times" pitchFamily="18" charset="0"/>
              </a:rPr>
              <a:t> =k</a:t>
            </a:r>
            <a:r>
              <a:rPr lang="en-GB" i="1" baseline="-25000">
                <a:latin typeface="Times" pitchFamily="18" charset="0"/>
              </a:rPr>
              <a:t>-1 </a:t>
            </a:r>
            <a:r>
              <a:rPr lang="en-GB" i="1">
                <a:latin typeface="Times" pitchFamily="18" charset="0"/>
              </a:rPr>
              <a:t> </a:t>
            </a:r>
            <a:r>
              <a:rPr lang="en-GB">
                <a:latin typeface="Times" pitchFamily="18" charset="0"/>
              </a:rPr>
              <a:t>and</a:t>
            </a:r>
            <a:r>
              <a:rPr lang="en-GB" i="1">
                <a:latin typeface="Times" pitchFamily="18" charset="0"/>
              </a:rPr>
              <a:t> </a:t>
            </a:r>
            <a:r>
              <a:rPr lang="en-GB"/>
              <a:t>[A] = </a:t>
            </a:r>
            <a:r>
              <a:rPr lang="en-GB">
                <a:latin typeface="Times" pitchFamily="18" charset="0"/>
              </a:rPr>
              <a:t>1</a:t>
            </a:r>
            <a:endParaRPr lang="en-GB" baseline="-25000">
              <a:latin typeface="Times" pitchFamily="18" charset="0"/>
              <a:cs typeface="Arial" charset="0"/>
            </a:endParaRPr>
          </a:p>
          <a:p>
            <a:pPr lvl="1"/>
            <a:r>
              <a:rPr lang="en-GB" sz="1800"/>
              <a:t>Suppose that [B] is very small. What is the Rate when [B] = 0.01? 0.02? 0.03? What is the approximate order with respect to B under these conditions?</a:t>
            </a:r>
          </a:p>
          <a:p>
            <a:pPr lvl="1"/>
            <a:r>
              <a:rPr lang="en-GB" sz="1800"/>
              <a:t>Suppose that [B] is very big. What is the Rate when [B] = 100? 200? 300? What is the approximate order with respect to B under these conditions?</a:t>
            </a:r>
          </a:p>
          <a:p>
            <a:r>
              <a:rPr lang="en-GB" sz="2100"/>
              <a:t>(c) By setting </a:t>
            </a:r>
            <a:r>
              <a:rPr lang="en-GB" sz="2100" i="1">
                <a:latin typeface="Times" pitchFamily="18" charset="0"/>
              </a:rPr>
              <a:t>k</a:t>
            </a:r>
            <a:r>
              <a:rPr lang="en-GB" sz="2100" i="1" baseline="-25000">
                <a:latin typeface="Times" pitchFamily="18" charset="0"/>
              </a:rPr>
              <a:t>2</a:t>
            </a:r>
            <a:r>
              <a:rPr lang="en-GB" sz="2100" i="1">
                <a:latin typeface="Times" pitchFamily="18" charset="0"/>
              </a:rPr>
              <a:t> </a:t>
            </a:r>
            <a:r>
              <a:rPr lang="en-GB" sz="2100"/>
              <a:t>[B]&gt;&gt;</a:t>
            </a:r>
            <a:r>
              <a:rPr lang="en-GB" sz="2100" i="1">
                <a:latin typeface="Times" pitchFamily="18" charset="0"/>
              </a:rPr>
              <a:t>k</a:t>
            </a:r>
            <a:r>
              <a:rPr lang="en-GB" sz="2100" i="1" baseline="-25000">
                <a:latin typeface="Times" pitchFamily="18" charset="0"/>
              </a:rPr>
              <a:t>-1 </a:t>
            </a:r>
            <a:r>
              <a:rPr lang="en-GB" sz="2100"/>
              <a:t> or </a:t>
            </a:r>
            <a:r>
              <a:rPr lang="en-GB" sz="2100" i="1">
                <a:latin typeface="Times" pitchFamily="18" charset="0"/>
              </a:rPr>
              <a:t>k</a:t>
            </a:r>
            <a:r>
              <a:rPr lang="en-GB" sz="2100" i="1" baseline="-25000">
                <a:latin typeface="Times" pitchFamily="18" charset="0"/>
              </a:rPr>
              <a:t>2</a:t>
            </a:r>
            <a:r>
              <a:rPr lang="en-GB" sz="2100" i="1">
                <a:latin typeface="Times" pitchFamily="18" charset="0"/>
              </a:rPr>
              <a:t> </a:t>
            </a:r>
            <a:r>
              <a:rPr lang="en-GB" sz="2100"/>
              <a:t>[B]&lt;&lt; </a:t>
            </a:r>
            <a:r>
              <a:rPr lang="en-GB" sz="2100" i="1">
                <a:latin typeface="Times" pitchFamily="18" charset="0"/>
              </a:rPr>
              <a:t>k</a:t>
            </a:r>
            <a:r>
              <a:rPr lang="en-GB" sz="2100" i="1" baseline="-25000">
                <a:latin typeface="Times" pitchFamily="18" charset="0"/>
              </a:rPr>
              <a:t>-1 </a:t>
            </a:r>
            <a:r>
              <a:rPr lang="en-GB" sz="2100"/>
              <a:t>in the Rate law from the previous slide,  derive simplified rate laws for two limiting cases. Do they agree with your answers to (b)?</a:t>
            </a:r>
          </a:p>
          <a:p>
            <a:r>
              <a:rPr lang="en-GB" sz="2100"/>
              <a:t>(d) Plot a graph of Rate against [B]</a:t>
            </a:r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233526171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Answers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If k</a:t>
            </a:r>
            <a:r>
              <a:rPr lang="en-GB" baseline="-25000"/>
              <a:t>2</a:t>
            </a:r>
            <a:r>
              <a:rPr lang="en-GB"/>
              <a:t> [B]&gt;&gt;k</a:t>
            </a:r>
            <a:r>
              <a:rPr lang="en-GB" baseline="-25000"/>
              <a:t>-1</a:t>
            </a:r>
            <a:r>
              <a:rPr lang="en-GB"/>
              <a:t> then d[P]/</a:t>
            </a:r>
            <a:r>
              <a:rPr lang="en-GB" err="1"/>
              <a:t>dt</a:t>
            </a:r>
            <a:r>
              <a:rPr lang="en-GB"/>
              <a:t> ≈ k</a:t>
            </a:r>
            <a:r>
              <a:rPr lang="en-GB" baseline="-25000"/>
              <a:t>1</a:t>
            </a:r>
            <a:r>
              <a:rPr lang="en-GB"/>
              <a:t>[A] 	</a:t>
            </a:r>
          </a:p>
          <a:p>
            <a:pPr marL="0" indent="0">
              <a:buNone/>
            </a:pPr>
            <a:r>
              <a:rPr lang="en-GB"/>
              <a:t>	(zero order w.r.t. [B])</a:t>
            </a:r>
          </a:p>
          <a:p>
            <a:r>
              <a:rPr lang="en-GB"/>
              <a:t>If k</a:t>
            </a:r>
            <a:r>
              <a:rPr lang="en-GB" baseline="-25000"/>
              <a:t>2</a:t>
            </a:r>
            <a:r>
              <a:rPr lang="en-GB"/>
              <a:t> [B]&lt;&lt;k</a:t>
            </a:r>
            <a:r>
              <a:rPr lang="en-GB" baseline="-25000"/>
              <a:t>-1</a:t>
            </a:r>
            <a:r>
              <a:rPr lang="en-GB"/>
              <a:t> then d[P]/</a:t>
            </a:r>
            <a:r>
              <a:rPr lang="en-GB" err="1"/>
              <a:t>dt</a:t>
            </a:r>
            <a:r>
              <a:rPr lang="en-GB"/>
              <a:t> ≈</a:t>
            </a:r>
          </a:p>
          <a:p>
            <a:pPr marL="0" indent="0">
              <a:buNone/>
            </a:pPr>
            <a:r>
              <a:rPr lang="en-GB"/>
              <a:t>	(first order w.r.t. [B])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716607"/>
              </p:ext>
            </p:extLst>
          </p:nvPr>
        </p:nvGraphicFramePr>
        <p:xfrm>
          <a:off x="4806000" y="2483360"/>
          <a:ext cx="1173956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431640" progId="Equation.3">
                  <p:embed/>
                </p:oleObj>
              </mc:Choice>
              <mc:Fallback>
                <p:oleObj name="Equation" r:id="rId3" imgW="698400" imgH="431640" progId="Equation.3">
                  <p:embed/>
                  <p:pic>
                    <p:nvPicPr>
                      <p:cNvPr id="10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6000" y="2483360"/>
                        <a:ext cx="1173956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2460244" y="3969060"/>
            <a:ext cx="4282587" cy="1734072"/>
            <a:chOff x="1545619" y="4232787"/>
            <a:chExt cx="5710115" cy="2312096"/>
          </a:xfrm>
        </p:grpSpPr>
        <p:sp>
          <p:nvSpPr>
            <p:cNvPr id="7" name="Freeform 6"/>
            <p:cNvSpPr/>
            <p:nvPr/>
          </p:nvSpPr>
          <p:spPr>
            <a:xfrm>
              <a:off x="2227006" y="4232787"/>
              <a:ext cx="3996813" cy="2005781"/>
            </a:xfrm>
            <a:custGeom>
              <a:avLst/>
              <a:gdLst>
                <a:gd name="connsiteX0" fmla="*/ 0 w 3996813"/>
                <a:gd name="connsiteY0" fmla="*/ 0 h 2005781"/>
                <a:gd name="connsiteX1" fmla="*/ 0 w 3996813"/>
                <a:gd name="connsiteY1" fmla="*/ 2005781 h 2005781"/>
                <a:gd name="connsiteX2" fmla="*/ 0 w 3996813"/>
                <a:gd name="connsiteY2" fmla="*/ 2005781 h 2005781"/>
                <a:gd name="connsiteX3" fmla="*/ 3996813 w 3996813"/>
                <a:gd name="connsiteY3" fmla="*/ 2005781 h 2005781"/>
                <a:gd name="connsiteX4" fmla="*/ 3996813 w 3996813"/>
                <a:gd name="connsiteY4" fmla="*/ 2005781 h 2005781"/>
                <a:gd name="connsiteX5" fmla="*/ 3996813 w 3996813"/>
                <a:gd name="connsiteY5" fmla="*/ 2005781 h 2005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96813" h="2005781">
                  <a:moveTo>
                    <a:pt x="0" y="0"/>
                  </a:moveTo>
                  <a:lnTo>
                    <a:pt x="0" y="2005781"/>
                  </a:lnTo>
                  <a:lnTo>
                    <a:pt x="0" y="2005781"/>
                  </a:lnTo>
                  <a:lnTo>
                    <a:pt x="3996813" y="2005781"/>
                  </a:lnTo>
                  <a:lnTo>
                    <a:pt x="3996813" y="2005781"/>
                  </a:lnTo>
                  <a:lnTo>
                    <a:pt x="3996813" y="2005781"/>
                  </a:ln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prstClr val="black"/>
                </a:solidFill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2227006" y="4508091"/>
              <a:ext cx="4011562" cy="1730477"/>
            </a:xfrm>
            <a:custGeom>
              <a:avLst/>
              <a:gdLst>
                <a:gd name="connsiteX0" fmla="*/ 0 w 4011562"/>
                <a:gd name="connsiteY0" fmla="*/ 1730477 h 1730477"/>
                <a:gd name="connsiteX1" fmla="*/ 1120878 w 4011562"/>
                <a:gd name="connsiteY1" fmla="*/ 285135 h 1730477"/>
                <a:gd name="connsiteX2" fmla="*/ 4011562 w 4011562"/>
                <a:gd name="connsiteY2" fmla="*/ 19664 h 173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11562" h="1730477">
                  <a:moveTo>
                    <a:pt x="0" y="1730477"/>
                  </a:moveTo>
                  <a:cubicBezTo>
                    <a:pt x="226142" y="1150373"/>
                    <a:pt x="452284" y="570270"/>
                    <a:pt x="1120878" y="285135"/>
                  </a:cubicBezTo>
                  <a:cubicBezTo>
                    <a:pt x="1789472" y="0"/>
                    <a:pt x="2900517" y="9832"/>
                    <a:pt x="4011562" y="1966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prstClr val="black"/>
                </a:solidFill>
              </a:endParaRPr>
            </a:p>
          </p:txBody>
        </p:sp>
        <p:cxnSp>
          <p:nvCxnSpPr>
            <p:cNvPr id="12" name="Straight Connector 11"/>
            <p:cNvCxnSpPr>
              <a:stCxn id="10" idx="2"/>
            </p:cNvCxnSpPr>
            <p:nvPr/>
          </p:nvCxnSpPr>
          <p:spPr>
            <a:xfrm flipH="1">
              <a:off x="2285984" y="4527755"/>
              <a:ext cx="3952584" cy="44253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endCxn id="10" idx="0"/>
            </p:cNvCxnSpPr>
            <p:nvPr/>
          </p:nvCxnSpPr>
          <p:spPr>
            <a:xfrm rot="5400000">
              <a:off x="1780405" y="5161485"/>
              <a:ext cx="1523684" cy="630482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6500826" y="5929330"/>
              <a:ext cx="754908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</a:rPr>
                <a:t>[B]</a:t>
              </a:r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 rot="16200000">
              <a:off x="1381899" y="4770932"/>
              <a:ext cx="942993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</a:rPr>
                <a:t>rate</a:t>
              </a:r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88666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2168-C226-85A6-C0F1-E0C43BFE0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08414-76EF-6AC8-9B00-959B4DE9D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have:</a:t>
            </a:r>
            <a:br>
              <a:rPr lang="en-US" dirty="0"/>
            </a:br>
            <a:r>
              <a:rPr lang="en-US" dirty="0"/>
              <a:t>Practiced solving multi-step reactions</a:t>
            </a:r>
            <a:br>
              <a:rPr lang="en-US" dirty="0"/>
            </a:br>
            <a:r>
              <a:rPr lang="en-US" dirty="0"/>
              <a:t>Introduced and applied the steady state approximation</a:t>
            </a:r>
            <a:br>
              <a:rPr lang="en-US" dirty="0"/>
            </a:br>
            <a:r>
              <a:rPr lang="en-US" dirty="0"/>
              <a:t>Introduced the concept of reversibility in kinetics equations</a:t>
            </a:r>
            <a:br>
              <a:rPr lang="en-US" dirty="0"/>
            </a:br>
            <a:r>
              <a:rPr lang="en-US" dirty="0"/>
              <a:t>Introduced the concept of limiting cases, and how the modify rate equations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BAF9C-088D-DE55-508C-7DD30D5DB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65170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right colours jl">
  <a:themeElements>
    <a:clrScheme name="Bright colours jl 1">
      <a:dk1>
        <a:srgbClr val="000000"/>
      </a:dk1>
      <a:lt1>
        <a:srgbClr val="F8F8F8"/>
      </a:lt1>
      <a:dk2>
        <a:srgbClr val="BF0071"/>
      </a:dk2>
      <a:lt2>
        <a:srgbClr val="1C1C1C"/>
      </a:lt2>
      <a:accent1>
        <a:srgbClr val="BF0071"/>
      </a:accent1>
      <a:accent2>
        <a:srgbClr val="808080"/>
      </a:accent2>
      <a:accent3>
        <a:srgbClr val="FBFBFB"/>
      </a:accent3>
      <a:accent4>
        <a:srgbClr val="000000"/>
      </a:accent4>
      <a:accent5>
        <a:srgbClr val="DCAABB"/>
      </a:accent5>
      <a:accent6>
        <a:srgbClr val="737373"/>
      </a:accent6>
      <a:hlink>
        <a:srgbClr val="BF0071"/>
      </a:hlink>
      <a:folHlink>
        <a:srgbClr val="777777"/>
      </a:folHlink>
    </a:clrScheme>
    <a:fontScheme name="Custom 1">
      <a:majorFont>
        <a:latin typeface="Rdg Vesta"/>
        <a:ea typeface=""/>
        <a:cs typeface=""/>
      </a:majorFont>
      <a:minorFont>
        <a:latin typeface="Rdg Ves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>
    <a:extraClrScheme>
      <a:clrScheme name="Bright colours jl 1">
        <a:dk1>
          <a:srgbClr val="000000"/>
        </a:dk1>
        <a:lt1>
          <a:srgbClr val="F8F8F8"/>
        </a:lt1>
        <a:dk2>
          <a:srgbClr val="BF0071"/>
        </a:dk2>
        <a:lt2>
          <a:srgbClr val="1C1C1C"/>
        </a:lt2>
        <a:accent1>
          <a:srgbClr val="BF0071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DCAABB"/>
        </a:accent5>
        <a:accent6>
          <a:srgbClr val="737373"/>
        </a:accent6>
        <a:hlink>
          <a:srgbClr val="BF0071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2">
        <a:dk1>
          <a:srgbClr val="000000"/>
        </a:dk1>
        <a:lt1>
          <a:srgbClr val="F8F8F8"/>
        </a:lt1>
        <a:dk2>
          <a:srgbClr val="642864"/>
        </a:dk2>
        <a:lt2>
          <a:srgbClr val="1C1C1C"/>
        </a:lt2>
        <a:accent1>
          <a:srgbClr val="642864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B8ACB8"/>
        </a:accent5>
        <a:accent6>
          <a:srgbClr val="737373"/>
        </a:accent6>
        <a:hlink>
          <a:srgbClr val="642864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3">
        <a:dk1>
          <a:srgbClr val="000000"/>
        </a:dk1>
        <a:lt1>
          <a:srgbClr val="F8F8F8"/>
        </a:lt1>
        <a:dk2>
          <a:srgbClr val="0F5C9D"/>
        </a:dk2>
        <a:lt2>
          <a:srgbClr val="1C1C1C"/>
        </a:lt2>
        <a:accent1>
          <a:srgbClr val="0F5C9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B5CC"/>
        </a:accent5>
        <a:accent6>
          <a:srgbClr val="737373"/>
        </a:accent6>
        <a:hlink>
          <a:srgbClr val="0F5C9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4">
        <a:dk1>
          <a:srgbClr val="000000"/>
        </a:dk1>
        <a:lt1>
          <a:srgbClr val="F8F8F8"/>
        </a:lt1>
        <a:dk2>
          <a:srgbClr val="FF6600"/>
        </a:dk2>
        <a:lt2>
          <a:srgbClr val="1C1C1C"/>
        </a:lt2>
        <a:accent1>
          <a:srgbClr val="FF6600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FFB8AA"/>
        </a:accent5>
        <a:accent6>
          <a:srgbClr val="737373"/>
        </a:accent6>
        <a:hlink>
          <a:srgbClr val="FF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5">
        <a:dk1>
          <a:srgbClr val="000000"/>
        </a:dk1>
        <a:lt1>
          <a:srgbClr val="F8F8F8"/>
        </a:lt1>
        <a:dk2>
          <a:srgbClr val="12AD2B"/>
        </a:dk2>
        <a:lt2>
          <a:srgbClr val="1C1C1C"/>
        </a:lt2>
        <a:accent1>
          <a:srgbClr val="12AD2B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D3AC"/>
        </a:accent5>
        <a:accent6>
          <a:srgbClr val="737373"/>
        </a:accent6>
        <a:hlink>
          <a:srgbClr val="12AD2B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Rdg_PP_without_R_WHITE_slides</Template>
  <TotalTime>31</TotalTime>
  <Words>2059</Words>
  <Application>Microsoft Macintosh PowerPoint</Application>
  <PresentationFormat>On-screen Show (4:3)</PresentationFormat>
  <Paragraphs>257</Paragraphs>
  <Slides>28</Slides>
  <Notes>22</Notes>
  <HiddenSlides>0</HiddenSlides>
  <MMClips>2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Times</vt:lpstr>
      <vt:lpstr>Cambria Math</vt:lpstr>
      <vt:lpstr>Times New Roman</vt:lpstr>
      <vt:lpstr>Rdg Vesta</vt:lpstr>
      <vt:lpstr>Mathematica1</vt:lpstr>
      <vt:lpstr>Bright colours jl</vt:lpstr>
      <vt:lpstr>Equation</vt:lpstr>
      <vt:lpstr>CH2PH2:  Chemical Kinetics </vt:lpstr>
      <vt:lpstr>Lecture 2</vt:lpstr>
      <vt:lpstr>the steady state approximation</vt:lpstr>
      <vt:lpstr>Rules for determining the rate  equation for a multi-step reaction (1)</vt:lpstr>
      <vt:lpstr>Rules for determining the rate equation for a multi-step reaction (2)</vt:lpstr>
      <vt:lpstr>Rules for determining the rate equation for a multi-step reaction (3)</vt:lpstr>
      <vt:lpstr>The “bucket” analogy  (simple two-step reaction) </vt:lpstr>
      <vt:lpstr>PowerPoint Presentation</vt:lpstr>
      <vt:lpstr>The “bucket” analogy  (simple two-step reaction) </vt:lpstr>
      <vt:lpstr>PowerPoint Presentation</vt:lpstr>
      <vt:lpstr>What does the analogy tell us? </vt:lpstr>
      <vt:lpstr>Steady state in chemical kinetics</vt:lpstr>
      <vt:lpstr>How to apply the steady-state  approximation</vt:lpstr>
      <vt:lpstr>PowerPoint Presentation</vt:lpstr>
      <vt:lpstr>Worked example: How to apply the steady-state  approximation</vt:lpstr>
      <vt:lpstr>Worked example: How to apply the steady-state  approximation</vt:lpstr>
      <vt:lpstr>PowerPoint Presentation</vt:lpstr>
      <vt:lpstr>PowerPoint Presentation</vt:lpstr>
      <vt:lpstr>steady state –  with reversible first step</vt:lpstr>
      <vt:lpstr>Reversible first step</vt:lpstr>
      <vt:lpstr>PowerPoint Presentation</vt:lpstr>
      <vt:lpstr>So, overall:</vt:lpstr>
      <vt:lpstr>Limiting cases</vt:lpstr>
      <vt:lpstr>Limiting cases</vt:lpstr>
      <vt:lpstr>Another example (your task)</vt:lpstr>
      <vt:lpstr>Your task (continued)</vt:lpstr>
      <vt:lpstr>Answers</vt:lpstr>
      <vt:lpstr>Learning Outcomes</vt:lpstr>
    </vt:vector>
  </TitlesOfParts>
  <Company>University of Reading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scs07dn</dc:creator>
  <cp:lastModifiedBy>James Hallett</cp:lastModifiedBy>
  <cp:revision>3</cp:revision>
  <cp:lastPrinted>2006-09-19T14:59:33Z</cp:lastPrinted>
  <dcterms:created xsi:type="dcterms:W3CDTF">2009-08-10T15:23:00Z</dcterms:created>
  <dcterms:modified xsi:type="dcterms:W3CDTF">2026-02-10T09:59:00Z</dcterms:modified>
</cp:coreProperties>
</file>