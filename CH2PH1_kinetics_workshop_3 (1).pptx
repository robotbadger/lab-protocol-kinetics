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70"/>
    <p:restoredTop sz="95144"/>
  </p:normalViewPr>
  <p:slideViewPr>
    <p:cSldViewPr snapToGrid="0" snapToObjects="1">
      <p:cViewPr varScale="1">
        <p:scale>
          <a:sx n="73" d="100"/>
          <a:sy n="73" d="100"/>
        </p:scale>
        <p:origin x="2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0120-374C-CD46-B937-009858847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CD2FC-91D1-F541-B48B-982AF970E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E8A0C-7B0C-5048-AD35-B5292E518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6542D-2CA8-794D-B994-A7F5C09B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8189-F6E2-ED44-B1C1-7C3B1052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80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40DF-D3F7-524B-90C3-55EF1F85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53039-FCBC-654B-8C61-D7BC3987A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E5865-3906-7846-8C1E-2515C68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34D3A-37CD-7E4D-847D-A2848E0E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FEE52-CA8A-C64E-A37E-A8CF87C6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09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93BB-07F3-BF48-B6FA-9AB6140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AB014-3D39-2047-889F-99EF3AF32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4D5F3-D560-BC4C-BD74-D065FCBF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E5282-ADDF-F347-A3C6-08E9D5B3D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EB342-4707-2243-89C9-8D0A512E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1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559DA-FA4F-D443-86B5-DC541F465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7FA69-777A-A240-9366-4A1CD9A08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CD1E5-6586-CB49-B31F-C458C12D4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BF245-9F60-9844-B167-777CE5F07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555CD-15D8-0A4D-946A-61D4EBF9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0BFA5-6133-094A-A01A-6A503A745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76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EC2C-938A-D544-AB3A-70F2755F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41489-96AA-A34B-92C1-63B28E21C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6C9FB-E10F-8442-B1A6-0A9A19FA2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836D54-99DF-1246-8D78-1DC68C660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F7A78-E2FC-6043-9F46-F5E9B7E69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82397-ADF5-654E-9306-BF22203C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E7108-F618-5B40-B828-5615333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51398-CAC6-F240-9D84-0932DE97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3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E298A-7CD4-2444-B422-6E026D90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40D85-3DF3-EC41-855A-9CD7E27C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BD451-EF0B-E645-8898-F342618A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7103C-9A54-4747-8F90-9EF00E91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FF040-CD81-4E4B-B821-3FEE5811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C5054A-C010-7844-B270-AA5F8454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575F8-5C65-E94B-ABCB-092049DE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2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0AAC-FA0F-9E41-B74E-836320FC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D6DBA-0E90-6046-88F1-D30263394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F2A98-602D-4D4B-A11A-9E8E44A79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F75DC-FBD3-504B-BE16-CDBA8666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44B56-AA51-5347-911B-4CEB8896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8C6BA-16E3-404E-80B9-F16C49E2B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9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D3BE7-9690-AD49-8E67-4BE8EA89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CB07A2-9CE4-9A4E-B4A4-7ED8E02A0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5F024-B533-AD4B-8180-145E21778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455A5-476A-2446-B4C8-0FF4BAA5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057FD-9804-ED47-983C-831223F70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E40DC-7B01-6947-A3C3-5D3A0975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4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CDD5D-BD3C-2B42-A5FB-199513E9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1A49D-7096-B24F-A793-A21BAB944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DC730-FC44-574B-B683-CC47B4AF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0F37F-EB4B-624A-8A8D-12ECA9A9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310C7-B5BE-1840-B410-58A7AC11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07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574E7-B8F5-AE4B-A19A-A804C6C620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7F7E6-2608-4E4E-9BB3-AEDFD2FF1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CBEBB-2A97-9045-9957-3ECB61DA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2C1DE-9CCE-9D49-94F7-6E259E08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C37FF-D25B-3045-AA18-0CEB5B004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6A717-CFA1-E44F-BB7D-36839D73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84756-919D-3E43-A9C1-78CAB2EB6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40062-F9DE-6546-9BE1-A9AB7F66C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FFAB5-1BCC-8546-A50F-4DB7351BFADA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CB8DF-80C0-D441-A10F-4B5A43C6C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10499-AC41-0041-BF79-87E77ECD3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25956-6D7B-4449-98BA-BE2E1BAB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DE5C-BFA5-3647-8648-F5B5090FE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77FAD4-7FB7-3545-B276-20EB9E0209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2043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Recap question:</a:t>
                </a:r>
              </a:p>
              <a:p>
                <a:r>
                  <a:rPr lang="en-GB" dirty="0"/>
                  <a:t>An arbitrary reaction has the rate law: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GB" dirty="0"/>
                  <a:t>If the concentrations are given as M (molar) and time in milliseconds, what are the units of k</a:t>
                </a:r>
                <a:r>
                  <a:rPr lang="en-GB" baseline="-25000" dirty="0"/>
                  <a:t>a</a:t>
                </a:r>
                <a:r>
                  <a:rPr lang="en-GB" dirty="0"/>
                  <a:t> ,k</a:t>
                </a:r>
                <a:r>
                  <a:rPr lang="en-GB" baseline="-25000" dirty="0"/>
                  <a:t>b </a:t>
                </a:r>
                <a:r>
                  <a:rPr lang="en-GB" dirty="0"/>
                  <a:t>and k</a:t>
                </a:r>
                <a:r>
                  <a:rPr lang="en-GB" baseline="-25000" dirty="0"/>
                  <a:t>c</a:t>
                </a:r>
                <a:r>
                  <a:rPr lang="en-GB" dirty="0"/>
                  <a:t>? (remember we can just use the units c for concentration and t for time, then sub in the actual units at the end).</a:t>
                </a:r>
                <a:endParaRPr lang="en-GB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77FAD4-7FB7-3545-B276-20EB9E0209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20438" cy="4351338"/>
              </a:xfrm>
              <a:blipFill>
                <a:blip r:embed="rId2"/>
                <a:stretch>
                  <a:fillRect l="-1142" t="-2326" r="-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925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C67092-47DD-AA4D-B4B4-41239BA6D283}"/>
              </a:ext>
            </a:extLst>
          </p:cNvPr>
          <p:cNvSpPr txBox="1">
            <a:spLocks/>
          </p:cNvSpPr>
          <p:nvPr/>
        </p:nvSpPr>
        <p:spPr>
          <a:xfrm>
            <a:off x="838200" y="758283"/>
            <a:ext cx="11120438" cy="54186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/>
              <a:t>A reaction producing species C</a:t>
            </a:r>
            <a:r>
              <a:rPr lang="en-GB" baseline="-25000" dirty="0"/>
              <a:t>2</a:t>
            </a:r>
            <a:r>
              <a:rPr lang="en-GB" dirty="0"/>
              <a:t> from reactant A proceeds according to the radical mechanism outlined below:</a:t>
            </a:r>
          </a:p>
          <a:p>
            <a:pPr algn="l"/>
            <a:endParaRPr lang="en-GB" dirty="0"/>
          </a:p>
          <a:p>
            <a:pPr algn="l"/>
            <a:r>
              <a:rPr lang="en-US" dirty="0"/>
              <a:t>A+M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Bᐧ+M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		rate constant k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algn="l"/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Bᐧ+A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Cᐧ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		rate constant k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Cᐧ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+M →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Bᐧ+A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		rate constant k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Cᐧ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Cᐧ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→C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		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rate constant k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  <a:p>
            <a:pPr algn="l"/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Identify the initiation, propagation and termination reactions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Identify the chain carriers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Write down the rate equations for each reaction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Write down an expression for the rate of formation of products in terms of the reactants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43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F9FF93-4F3E-7C4B-9FFC-8A41AEE1F269}"/>
              </a:ext>
            </a:extLst>
          </p:cNvPr>
          <p:cNvSpPr txBox="1">
            <a:spLocks/>
          </p:cNvSpPr>
          <p:nvPr/>
        </p:nvSpPr>
        <p:spPr>
          <a:xfrm>
            <a:off x="838200" y="758283"/>
            <a:ext cx="11120438" cy="54186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/>
              <a:t>Perhaps the most well-known chain reaction is the breakdown of the ozone by CFCs. The mechanism by which this proceeds is given by:</a:t>
            </a:r>
          </a:p>
          <a:p>
            <a:pPr algn="l"/>
            <a:endParaRPr lang="en-GB" dirty="0"/>
          </a:p>
          <a:p>
            <a:pPr algn="l"/>
            <a:r>
              <a:rPr lang="en-GB" dirty="0" err="1"/>
              <a:t>C</a:t>
            </a:r>
            <a:r>
              <a:rPr lang="en-GB" baseline="-25000" dirty="0" err="1"/>
              <a:t>n</a:t>
            </a:r>
            <a:r>
              <a:rPr lang="en-GB" dirty="0" err="1"/>
              <a:t>F</a:t>
            </a:r>
            <a:r>
              <a:rPr lang="en-GB" baseline="-25000" dirty="0" err="1"/>
              <a:t>m</a:t>
            </a:r>
            <a:r>
              <a:rPr lang="en-GB" dirty="0" err="1"/>
              <a:t>Cl</a:t>
            </a:r>
            <a:r>
              <a:rPr lang="en-GB" dirty="0"/>
              <a:t> + h</a:t>
            </a:r>
            <a:r>
              <a:rPr lang="el-GR" dirty="0"/>
              <a:t>ν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ᐧ</a:t>
            </a:r>
            <a:r>
              <a:rPr lang="en-GB" dirty="0" err="1"/>
              <a:t>C</a:t>
            </a:r>
            <a:r>
              <a:rPr lang="en-GB" baseline="-25000" dirty="0" err="1"/>
              <a:t>n</a:t>
            </a:r>
            <a:r>
              <a:rPr lang="en-GB" dirty="0" err="1"/>
              <a:t>F</a:t>
            </a:r>
            <a:r>
              <a:rPr lang="en-GB" baseline="-25000" dirty="0" err="1"/>
              <a:t>m</a:t>
            </a:r>
            <a:r>
              <a:rPr lang="en-GB" dirty="0"/>
              <a:t> +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ᐧ</a:t>
            </a:r>
            <a:r>
              <a:rPr lang="en-GB" dirty="0" err="1"/>
              <a:t>Cl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		rate constant k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algn="l"/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ᐧ</a:t>
            </a:r>
            <a:r>
              <a:rPr lang="en-GB" dirty="0" err="1"/>
              <a:t>Cl</a:t>
            </a:r>
            <a:r>
              <a:rPr lang="en-GB" dirty="0"/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+ O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ᐧ</a:t>
            </a:r>
            <a:r>
              <a:rPr lang="en-GB" dirty="0" err="1"/>
              <a:t>ClO</a:t>
            </a:r>
            <a:r>
              <a:rPr lang="en-GB" dirty="0"/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+ O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			rate constant k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ᐧ</a:t>
            </a:r>
            <a:r>
              <a:rPr lang="en-GB" dirty="0" err="1"/>
              <a:t>ClO</a:t>
            </a:r>
            <a:r>
              <a:rPr lang="en-GB" dirty="0"/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+ O →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ᐧ</a:t>
            </a:r>
            <a:r>
              <a:rPr lang="en-GB" dirty="0" err="1"/>
              <a:t>Cl</a:t>
            </a:r>
            <a:r>
              <a:rPr lang="en-GB" dirty="0"/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+ O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			rate constant k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ᐧ</a:t>
            </a:r>
            <a:r>
              <a:rPr lang="en-GB" dirty="0" err="1"/>
              <a:t>Cl</a:t>
            </a:r>
            <a:r>
              <a:rPr lang="en-GB" dirty="0"/>
              <a:t>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+ CH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→ᐧCH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+HCl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			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rate constant k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  <a:p>
            <a:pPr algn="l"/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Identify the initiation, propagation and termination reactions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Identify the chain carriers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Write down the rate equations for each reaction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Write down an expression for the rate of decomposition of O</a:t>
            </a:r>
            <a:r>
              <a:rPr lang="en-GB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in terms of the reactants</a:t>
            </a:r>
          </a:p>
          <a:p>
            <a:pPr algn="l"/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55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278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Workshop 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3</dc:title>
  <dc:creator>James Hallett</dc:creator>
  <cp:lastModifiedBy>James Hallett</cp:lastModifiedBy>
  <cp:revision>7</cp:revision>
  <dcterms:created xsi:type="dcterms:W3CDTF">2021-12-06T08:39:47Z</dcterms:created>
  <dcterms:modified xsi:type="dcterms:W3CDTF">2021-12-07T11:28:41Z</dcterms:modified>
</cp:coreProperties>
</file>