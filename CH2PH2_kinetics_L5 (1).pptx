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45"/>
  </p:notesMasterIdLst>
  <p:handoutMasterIdLst>
    <p:handoutMasterId r:id="rId46"/>
  </p:handoutMasterIdLst>
  <p:sldIdLst>
    <p:sldId id="402" r:id="rId5"/>
    <p:sldId id="456" r:id="rId6"/>
    <p:sldId id="529" r:id="rId7"/>
    <p:sldId id="458" r:id="rId8"/>
    <p:sldId id="489" r:id="rId9"/>
    <p:sldId id="490" r:id="rId10"/>
    <p:sldId id="491" r:id="rId11"/>
    <p:sldId id="492" r:id="rId12"/>
    <p:sldId id="532" r:id="rId13"/>
    <p:sldId id="533" r:id="rId14"/>
    <p:sldId id="534" r:id="rId15"/>
    <p:sldId id="496" r:id="rId16"/>
    <p:sldId id="495" r:id="rId17"/>
    <p:sldId id="535" r:id="rId18"/>
    <p:sldId id="461" r:id="rId19"/>
    <p:sldId id="493" r:id="rId20"/>
    <p:sldId id="536" r:id="rId21"/>
    <p:sldId id="537" r:id="rId22"/>
    <p:sldId id="538" r:id="rId23"/>
    <p:sldId id="459" r:id="rId24"/>
    <p:sldId id="494" r:id="rId25"/>
    <p:sldId id="539" r:id="rId26"/>
    <p:sldId id="540" r:id="rId27"/>
    <p:sldId id="526" r:id="rId28"/>
    <p:sldId id="469" r:id="rId29"/>
    <p:sldId id="470" r:id="rId30"/>
    <p:sldId id="471" r:id="rId31"/>
    <p:sldId id="472" r:id="rId32"/>
    <p:sldId id="527" r:id="rId33"/>
    <p:sldId id="528" r:id="rId34"/>
    <p:sldId id="473" r:id="rId35"/>
    <p:sldId id="474" r:id="rId36"/>
    <p:sldId id="475" r:id="rId37"/>
    <p:sldId id="476" r:id="rId38"/>
    <p:sldId id="477" r:id="rId39"/>
    <p:sldId id="478" r:id="rId40"/>
    <p:sldId id="479" r:id="rId41"/>
    <p:sldId id="480" r:id="rId42"/>
    <p:sldId id="541" r:id="rId43"/>
    <p:sldId id="500" r:id="rId44"/>
  </p:sldIdLst>
  <p:sldSz cx="9144000" cy="6858000" type="screen4x3"/>
  <p:notesSz cx="7099300" cy="10234613"/>
  <p:embeddedFontLst>
    <p:embeddedFont>
      <p:font typeface="Corbel" panose="020B0503020204020204" pitchFamily="34" charset="0"/>
      <p:regular r:id="rId47"/>
      <p:bold r:id="rId48"/>
      <p:italic r:id="rId49"/>
      <p:boldItalic r:id="rId50"/>
    </p:embeddedFont>
    <p:embeddedFont>
      <p:font typeface="Rdg Vesta" panose="020B0604020202020204" charset="0"/>
      <p:regular r:id="rId51"/>
      <p:bold r:id="rId52"/>
      <p:italic r:id="rId53"/>
      <p:boldItalic r:id="rId54"/>
    </p:embeddedFont>
    <p:embeddedFont>
      <p:font typeface="Times" panose="02020603050405020304" pitchFamily="18" charset="0"/>
      <p:regular r:id="rId55"/>
      <p:bold r:id="rId56"/>
      <p:italic r:id="rId57"/>
      <p:boldItalic r:id="rId58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EAF35"/>
    <a:srgbClr val="D799A1"/>
    <a:srgbClr val="000000"/>
    <a:srgbClr val="BF0071"/>
    <a:srgbClr val="F3F3F3"/>
    <a:srgbClr val="F0F0F0"/>
    <a:srgbClr val="EEEEEE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D2DBD6-5845-4563-8A5B-66A367E59665}" v="16" dt="2026-03-17T15:51:30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81"/>
    <p:restoredTop sz="94670"/>
  </p:normalViewPr>
  <p:slideViewPr>
    <p:cSldViewPr snapToGrid="0">
      <p:cViewPr varScale="1">
        <p:scale>
          <a:sx n="96" d="100"/>
          <a:sy n="96" d="100"/>
        </p:scale>
        <p:origin x="855" y="-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c714d19a-e50d-439a-876c-0e1be1458f92" providerId="ADAL" clId="{61970166-0281-46AC-89FE-13EE8402E3D7}"/>
    <pc:docChg chg="custSel addSld delSld modSld">
      <pc:chgData name="James Hallett" userId="c714d19a-e50d-439a-876c-0e1be1458f92" providerId="ADAL" clId="{61970166-0281-46AC-89FE-13EE8402E3D7}" dt="2026-03-17T15:51:27.563" v="38"/>
      <pc:docMkLst>
        <pc:docMk/>
      </pc:docMkLst>
      <pc:sldChg chg="addSp modSp">
        <pc:chgData name="James Hallett" userId="c714d19a-e50d-439a-876c-0e1be1458f92" providerId="ADAL" clId="{61970166-0281-46AC-89FE-13EE8402E3D7}" dt="2026-03-17T15:50:40.956" v="31"/>
        <pc:sldMkLst>
          <pc:docMk/>
          <pc:sldMk cId="1499039006" sldId="459"/>
        </pc:sldMkLst>
        <pc:spChg chg="add mod">
          <ac:chgData name="James Hallett" userId="c714d19a-e50d-439a-876c-0e1be1458f92" providerId="ADAL" clId="{61970166-0281-46AC-89FE-13EE8402E3D7}" dt="2026-03-17T15:50:40.956" v="31"/>
          <ac:spMkLst>
            <pc:docMk/>
            <pc:sldMk cId="1499039006" sldId="459"/>
            <ac:spMk id="2" creationId="{096E3524-B60E-8EE3-2A8B-992EF5C26C73}"/>
          </ac:spMkLst>
        </pc:spChg>
      </pc:sldChg>
      <pc:sldChg chg="addSp modSp">
        <pc:chgData name="James Hallett" userId="c714d19a-e50d-439a-876c-0e1be1458f92" providerId="ADAL" clId="{61970166-0281-46AC-89FE-13EE8402E3D7}" dt="2026-03-17T15:51:27.563" v="38"/>
        <pc:sldMkLst>
          <pc:docMk/>
          <pc:sldMk cId="3485262372" sldId="473"/>
        </pc:sldMkLst>
        <pc:spChg chg="add mod">
          <ac:chgData name="James Hallett" userId="c714d19a-e50d-439a-876c-0e1be1458f92" providerId="ADAL" clId="{61970166-0281-46AC-89FE-13EE8402E3D7}" dt="2026-03-17T15:51:27.563" v="38"/>
          <ac:spMkLst>
            <pc:docMk/>
            <pc:sldMk cId="3485262372" sldId="473"/>
            <ac:spMk id="35" creationId="{6AE431C5-AEC5-0A5B-A3FE-B29857155E9A}"/>
          </ac:spMkLst>
        </pc:spChg>
      </pc:sldChg>
      <pc:sldChg chg="addSp modSp">
        <pc:chgData name="James Hallett" userId="c714d19a-e50d-439a-876c-0e1be1458f92" providerId="ADAL" clId="{61970166-0281-46AC-89FE-13EE8402E3D7}" dt="2026-03-17T15:51:23.945" v="36"/>
        <pc:sldMkLst>
          <pc:docMk/>
          <pc:sldMk cId="821004075" sldId="527"/>
        </pc:sldMkLst>
        <pc:spChg chg="add mod">
          <ac:chgData name="James Hallett" userId="c714d19a-e50d-439a-876c-0e1be1458f92" providerId="ADAL" clId="{61970166-0281-46AC-89FE-13EE8402E3D7}" dt="2026-03-17T15:51:23.945" v="36"/>
          <ac:spMkLst>
            <pc:docMk/>
            <pc:sldMk cId="821004075" sldId="527"/>
            <ac:spMk id="3" creationId="{06FDE82B-476F-1674-3D8B-7A895FAA3D88}"/>
          </ac:spMkLst>
        </pc:spChg>
      </pc:sldChg>
      <pc:sldChg chg="addSp modSp">
        <pc:chgData name="James Hallett" userId="c714d19a-e50d-439a-876c-0e1be1458f92" providerId="ADAL" clId="{61970166-0281-46AC-89FE-13EE8402E3D7}" dt="2026-03-17T15:51:25.761" v="37"/>
        <pc:sldMkLst>
          <pc:docMk/>
          <pc:sldMk cId="3680109358" sldId="528"/>
        </pc:sldMkLst>
        <pc:spChg chg="add mod">
          <ac:chgData name="James Hallett" userId="c714d19a-e50d-439a-876c-0e1be1458f92" providerId="ADAL" clId="{61970166-0281-46AC-89FE-13EE8402E3D7}" dt="2026-03-17T15:51:25.761" v="37"/>
          <ac:spMkLst>
            <pc:docMk/>
            <pc:sldMk cId="3680109358" sldId="528"/>
            <ac:spMk id="3" creationId="{785948C3-0295-00B8-FBA2-34F502E94463}"/>
          </ac:spMkLst>
        </pc:spChg>
      </pc:sldChg>
      <pc:sldChg chg="addSp modSp mod">
        <pc:chgData name="James Hallett" userId="c714d19a-e50d-439a-876c-0e1be1458f92" providerId="ADAL" clId="{61970166-0281-46AC-89FE-13EE8402E3D7}" dt="2026-03-17T15:50:22.501" v="25" actId="1076"/>
        <pc:sldMkLst>
          <pc:docMk/>
          <pc:sldMk cId="150554233" sldId="532"/>
        </pc:sldMkLst>
        <pc:spChg chg="add mod">
          <ac:chgData name="James Hallett" userId="c714d19a-e50d-439a-876c-0e1be1458f92" providerId="ADAL" clId="{61970166-0281-46AC-89FE-13EE8402E3D7}" dt="2026-03-17T15:50:22.501" v="25" actId="1076"/>
          <ac:spMkLst>
            <pc:docMk/>
            <pc:sldMk cId="150554233" sldId="532"/>
            <ac:spMk id="3" creationId="{3AA0F3DA-9514-1EF5-3F8A-391B8DF7DED6}"/>
          </ac:spMkLst>
        </pc:spChg>
      </pc:sldChg>
      <pc:sldChg chg="addSp modSp">
        <pc:chgData name="James Hallett" userId="c714d19a-e50d-439a-876c-0e1be1458f92" providerId="ADAL" clId="{61970166-0281-46AC-89FE-13EE8402E3D7}" dt="2026-03-17T15:50:24.830" v="26"/>
        <pc:sldMkLst>
          <pc:docMk/>
          <pc:sldMk cId="1961880082" sldId="533"/>
        </pc:sldMkLst>
        <pc:spChg chg="add mod">
          <ac:chgData name="James Hallett" userId="c714d19a-e50d-439a-876c-0e1be1458f92" providerId="ADAL" clId="{61970166-0281-46AC-89FE-13EE8402E3D7}" dt="2026-03-17T15:50:24.830" v="26"/>
          <ac:spMkLst>
            <pc:docMk/>
            <pc:sldMk cId="1961880082" sldId="533"/>
            <ac:spMk id="2" creationId="{38B6D891-088E-821C-55B1-95088BDDD321}"/>
          </ac:spMkLst>
        </pc:spChg>
      </pc:sldChg>
      <pc:sldChg chg="addSp modSp">
        <pc:chgData name="James Hallett" userId="c714d19a-e50d-439a-876c-0e1be1458f92" providerId="ADAL" clId="{61970166-0281-46AC-89FE-13EE8402E3D7}" dt="2026-03-17T15:50:26.657" v="27"/>
        <pc:sldMkLst>
          <pc:docMk/>
          <pc:sldMk cId="3506904220" sldId="534"/>
        </pc:sldMkLst>
        <pc:spChg chg="add mod">
          <ac:chgData name="James Hallett" userId="c714d19a-e50d-439a-876c-0e1be1458f92" providerId="ADAL" clId="{61970166-0281-46AC-89FE-13EE8402E3D7}" dt="2026-03-17T15:50:26.657" v="27"/>
          <ac:spMkLst>
            <pc:docMk/>
            <pc:sldMk cId="3506904220" sldId="534"/>
            <ac:spMk id="6" creationId="{0877A6FC-5B67-BC6C-9E2D-9207702B004E}"/>
          </ac:spMkLst>
        </pc:spChg>
      </pc:sldChg>
      <pc:sldChg chg="addSp modSp">
        <pc:chgData name="James Hallett" userId="c714d19a-e50d-439a-876c-0e1be1458f92" providerId="ADAL" clId="{61970166-0281-46AC-89FE-13EE8402E3D7}" dt="2026-03-17T15:50:32.558" v="28"/>
        <pc:sldMkLst>
          <pc:docMk/>
          <pc:sldMk cId="1542905830" sldId="535"/>
        </pc:sldMkLst>
        <pc:spChg chg="add mod">
          <ac:chgData name="James Hallett" userId="c714d19a-e50d-439a-876c-0e1be1458f92" providerId="ADAL" clId="{61970166-0281-46AC-89FE-13EE8402E3D7}" dt="2026-03-17T15:50:32.558" v="28"/>
          <ac:spMkLst>
            <pc:docMk/>
            <pc:sldMk cId="1542905830" sldId="535"/>
            <ac:spMk id="2" creationId="{0B1A778F-16DB-47E7-DAEB-1249E866DC1E}"/>
          </ac:spMkLst>
        </pc:spChg>
      </pc:sldChg>
      <pc:sldChg chg="addSp modSp">
        <pc:chgData name="James Hallett" userId="c714d19a-e50d-439a-876c-0e1be1458f92" providerId="ADAL" clId="{61970166-0281-46AC-89FE-13EE8402E3D7}" dt="2026-03-17T15:50:37.304" v="29"/>
        <pc:sldMkLst>
          <pc:docMk/>
          <pc:sldMk cId="908392293" sldId="537"/>
        </pc:sldMkLst>
        <pc:spChg chg="add mod">
          <ac:chgData name="James Hallett" userId="c714d19a-e50d-439a-876c-0e1be1458f92" providerId="ADAL" clId="{61970166-0281-46AC-89FE-13EE8402E3D7}" dt="2026-03-17T15:50:37.304" v="29"/>
          <ac:spMkLst>
            <pc:docMk/>
            <pc:sldMk cId="908392293" sldId="537"/>
            <ac:spMk id="2" creationId="{39EC047F-D42D-11A5-91C6-56420B07332B}"/>
          </ac:spMkLst>
        </pc:spChg>
      </pc:sldChg>
      <pc:sldChg chg="addSp modSp">
        <pc:chgData name="James Hallett" userId="c714d19a-e50d-439a-876c-0e1be1458f92" providerId="ADAL" clId="{61970166-0281-46AC-89FE-13EE8402E3D7}" dt="2026-03-17T15:50:39.470" v="30"/>
        <pc:sldMkLst>
          <pc:docMk/>
          <pc:sldMk cId="2161338612" sldId="538"/>
        </pc:sldMkLst>
        <pc:spChg chg="add mod">
          <ac:chgData name="James Hallett" userId="c714d19a-e50d-439a-876c-0e1be1458f92" providerId="ADAL" clId="{61970166-0281-46AC-89FE-13EE8402E3D7}" dt="2026-03-17T15:50:39.470" v="30"/>
          <ac:spMkLst>
            <pc:docMk/>
            <pc:sldMk cId="2161338612" sldId="538"/>
            <ac:spMk id="2" creationId="{976790E2-05CC-57E6-340D-583E264742E3}"/>
          </ac:spMkLst>
        </pc:spChg>
      </pc:sldChg>
      <pc:sldChg chg="addSp modSp">
        <pc:chgData name="James Hallett" userId="c714d19a-e50d-439a-876c-0e1be1458f92" providerId="ADAL" clId="{61970166-0281-46AC-89FE-13EE8402E3D7}" dt="2026-03-17T15:50:56.450" v="34"/>
        <pc:sldMkLst>
          <pc:docMk/>
          <pc:sldMk cId="2622491681" sldId="539"/>
        </pc:sldMkLst>
        <pc:spChg chg="add mod">
          <ac:chgData name="James Hallett" userId="c714d19a-e50d-439a-876c-0e1be1458f92" providerId="ADAL" clId="{61970166-0281-46AC-89FE-13EE8402E3D7}" dt="2026-03-17T15:50:56.450" v="34"/>
          <ac:spMkLst>
            <pc:docMk/>
            <pc:sldMk cId="2622491681" sldId="539"/>
            <ac:spMk id="2" creationId="{3A4CC410-0F97-06A4-38D6-35236C18D8B9}"/>
          </ac:spMkLst>
        </pc:spChg>
      </pc:sldChg>
      <pc:sldChg chg="addSp modSp">
        <pc:chgData name="James Hallett" userId="c714d19a-e50d-439a-876c-0e1be1458f92" providerId="ADAL" clId="{61970166-0281-46AC-89FE-13EE8402E3D7}" dt="2026-03-17T15:50:59.628" v="35"/>
        <pc:sldMkLst>
          <pc:docMk/>
          <pc:sldMk cId="867813109" sldId="540"/>
        </pc:sldMkLst>
        <pc:spChg chg="add mod">
          <ac:chgData name="James Hallett" userId="c714d19a-e50d-439a-876c-0e1be1458f92" providerId="ADAL" clId="{61970166-0281-46AC-89FE-13EE8402E3D7}" dt="2026-03-17T15:50:59.628" v="35"/>
          <ac:spMkLst>
            <pc:docMk/>
            <pc:sldMk cId="867813109" sldId="540"/>
            <ac:spMk id="6" creationId="{4879ABE1-5D02-6570-5DB4-AE39E1D28500}"/>
          </ac:spMkLst>
        </pc:spChg>
      </pc:sldChg>
      <pc:sldChg chg="add del">
        <pc:chgData name="James Hallett" userId="c714d19a-e50d-439a-876c-0e1be1458f92" providerId="ADAL" clId="{61970166-0281-46AC-89FE-13EE8402E3D7}" dt="2026-03-17T15:50:50.222" v="33"/>
        <pc:sldMkLst>
          <pc:docMk/>
          <pc:sldMk cId="1114650071" sldId="5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46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Fast and slow methods e.g. absorbance as a function of t, spectra, versus titration, </a:t>
            </a:r>
            <a:r>
              <a:rPr lang="en-GB"/>
              <a:t>mass spec, NMR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00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985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215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352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Ice bath quench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28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DD51C1-4D67-4CA6-AF3C-AA2A26AAD01E}" type="slidenum">
              <a:rPr lang="en-US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700" y="685800"/>
            <a:ext cx="4562475" cy="342106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357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739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719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808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80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53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703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531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877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3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5572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977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68421-F605-4F39-AC7A-D9C6C2FEFB2D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31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1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17 March 2026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6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6" y="2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4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6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4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1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8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1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2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_V-iSOOTBAs?feature=oembed" TargetMode="Externa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_ScOUNAdlM?start=101&amp;feature=oembed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Chemical Kinetics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/>
              <a:t>Dr. James Hallett</a:t>
            </a:r>
          </a:p>
          <a:p>
            <a:r>
              <a:rPr lang="en-US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CH2PH2: Chemical Kinetics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FD320F-82DA-48B8-9458-270A411CD0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0530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B254-BA79-49B6-885F-7BA26F04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reaction kinetics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0CC0B-8C43-4DAA-9156-96ED2BC93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77360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Studying reaction kinetics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2057401"/>
            <a:ext cx="8631435" cy="3394472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GB" dirty="0"/>
              <a:t>We typically need:</a:t>
            </a:r>
          </a:p>
          <a:p>
            <a:r>
              <a:rPr lang="en-GB" dirty="0"/>
              <a:t>Analytical techniques to measure the reaction</a:t>
            </a:r>
          </a:p>
          <a:p>
            <a:r>
              <a:rPr lang="en-GB" dirty="0"/>
              <a:t>Some method to mix our sample effectively</a:t>
            </a:r>
          </a:p>
          <a:p>
            <a:r>
              <a:rPr lang="en-GB" dirty="0"/>
              <a:t>We could use some other method to initiate the reaction in </a:t>
            </a:r>
            <a:r>
              <a:rPr lang="en-GB"/>
              <a:t>situ</a:t>
            </a:r>
            <a:endParaRPr lang="en-GB" dirty="0"/>
          </a:p>
          <a:p>
            <a:r>
              <a:rPr lang="en-GB" dirty="0"/>
              <a:t>Need to think about the timescale of the reaction and analytical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7863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Analytical techniques for </a:t>
            </a:r>
            <a:br>
              <a:rPr lang="en-GB" dirty="0"/>
            </a:br>
            <a:r>
              <a:rPr lang="en-GB" dirty="0"/>
              <a:t>kinetics measurements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ED6761-154B-1D37-8790-F97CB3DFF879}"/>
              </a:ext>
            </a:extLst>
          </p:cNvPr>
          <p:cNvCxnSpPr/>
          <p:nvPr/>
        </p:nvCxnSpPr>
        <p:spPr>
          <a:xfrm>
            <a:off x="755576" y="2420888"/>
            <a:ext cx="734481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0EA5127-A6FE-8C0F-5417-F1F995ED9FCE}"/>
              </a:ext>
            </a:extLst>
          </p:cNvPr>
          <p:cNvSpPr txBox="1"/>
          <p:nvPr/>
        </p:nvSpPr>
        <p:spPr>
          <a:xfrm>
            <a:off x="3995936" y="198601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A085C-4BD6-10B6-84A7-12BBD95BD810}"/>
              </a:ext>
            </a:extLst>
          </p:cNvPr>
          <p:cNvSpPr txBox="1"/>
          <p:nvPr/>
        </p:nvSpPr>
        <p:spPr>
          <a:xfrm>
            <a:off x="457200" y="2486429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1A72-8DE4-C023-29F3-4908E65341A9}"/>
              </a:ext>
            </a:extLst>
          </p:cNvPr>
          <p:cNvSpPr txBox="1"/>
          <p:nvPr/>
        </p:nvSpPr>
        <p:spPr>
          <a:xfrm>
            <a:off x="7619132" y="2486429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20A83-6D7B-2C3B-7603-4F3360BB23DA}"/>
              </a:ext>
            </a:extLst>
          </p:cNvPr>
          <p:cNvSpPr txBox="1"/>
          <p:nvPr/>
        </p:nvSpPr>
        <p:spPr>
          <a:xfrm>
            <a:off x="1213284" y="2861724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Optical Spectroscopy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0A763-5456-BF2B-1BFF-F57C2B02D822}"/>
              </a:ext>
            </a:extLst>
          </p:cNvPr>
          <p:cNvSpPr txBox="1"/>
          <p:nvPr/>
        </p:nvSpPr>
        <p:spPr>
          <a:xfrm>
            <a:off x="3239852" y="2960766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Mass Spectroscopy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4924B-7BE5-3DD8-97FA-F52373C9DDCF}"/>
              </a:ext>
            </a:extLst>
          </p:cNvPr>
          <p:cNvSpPr txBox="1"/>
          <p:nvPr/>
        </p:nvSpPr>
        <p:spPr>
          <a:xfrm>
            <a:off x="5652122" y="3435103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NMR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718665-41E7-5CC0-350C-B968A7B1C14F}"/>
              </a:ext>
            </a:extLst>
          </p:cNvPr>
          <p:cNvSpPr txBox="1"/>
          <p:nvPr/>
        </p:nvSpPr>
        <p:spPr>
          <a:xfrm>
            <a:off x="7498668" y="2978359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Titration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26B231-E068-8631-209B-DB377C3254AF}"/>
              </a:ext>
            </a:extLst>
          </p:cNvPr>
          <p:cNvSpPr txBox="1"/>
          <p:nvPr/>
        </p:nvSpPr>
        <p:spPr>
          <a:xfrm>
            <a:off x="5724128" y="4581128"/>
            <a:ext cx="2376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Optimise sample preparation to suit technique of choice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E5EE05-039B-F8E2-9A69-26E4A21B8D38}"/>
              </a:ext>
            </a:extLst>
          </p:cNvPr>
          <p:cNvGrpSpPr/>
          <p:nvPr/>
        </p:nvGrpSpPr>
        <p:grpSpPr>
          <a:xfrm>
            <a:off x="324130" y="3909440"/>
            <a:ext cx="2376264" cy="2017613"/>
            <a:chOff x="324130" y="3052189"/>
            <a:chExt cx="2376264" cy="2017613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12488B4-607B-C458-48F4-D581646D7C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3648" y="3052189"/>
              <a:ext cx="203194" cy="36933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95C00AB-059C-E1D6-F60E-39F87237B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30" y="3485626"/>
              <a:ext cx="2376264" cy="1584176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FE42D66-01C2-DBFB-A389-376B959155E5}"/>
              </a:ext>
            </a:extLst>
          </p:cNvPr>
          <p:cNvGrpSpPr/>
          <p:nvPr/>
        </p:nvGrpSpPr>
        <p:grpSpPr>
          <a:xfrm>
            <a:off x="2624336" y="3909440"/>
            <a:ext cx="2376264" cy="2016787"/>
            <a:chOff x="2624336" y="3052189"/>
            <a:chExt cx="2376264" cy="201678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9CBBCC6-3511-1899-1B71-63A88A61471C}"/>
                </a:ext>
              </a:extLst>
            </p:cNvPr>
            <p:cNvCxnSpPr>
              <a:cxnSpLocks/>
            </p:cNvCxnSpPr>
            <p:nvPr/>
          </p:nvCxnSpPr>
          <p:spPr>
            <a:xfrm>
              <a:off x="2627784" y="3052189"/>
              <a:ext cx="408874" cy="43487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C4F2F6E-13F1-6EED-D9BD-78B46C2C5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4336" y="3484800"/>
              <a:ext cx="2376264" cy="1584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3265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Real-time</a:t>
            </a:r>
          </a:p>
          <a:p>
            <a:r>
              <a:rPr lang="en-GB" dirty="0"/>
              <a:t>Quenching</a:t>
            </a:r>
          </a:p>
          <a:p>
            <a:r>
              <a:rPr lang="en-GB" dirty="0"/>
              <a:t>Continuous flow</a:t>
            </a:r>
          </a:p>
          <a:p>
            <a:r>
              <a:rPr lang="en-GB" dirty="0"/>
              <a:t>Stopped flow</a:t>
            </a:r>
          </a:p>
        </p:txBody>
      </p:sp>
    </p:spTree>
    <p:extLst>
      <p:ext uri="{BB962C8B-B14F-4D97-AF65-F5344CB8AC3E}">
        <p14:creationId xmlns:p14="http://schemas.microsoft.com/office/powerpoint/2010/main" val="238045307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Real-time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Measure something in the reaction vessel as the reaction takes place</a:t>
            </a:r>
          </a:p>
          <a:p>
            <a:r>
              <a:rPr lang="en-GB" dirty="0"/>
              <a:t>Timescale depends on analytical technique and the speed of mixing</a:t>
            </a:r>
          </a:p>
          <a:p>
            <a:r>
              <a:rPr lang="en-GB" dirty="0"/>
              <a:t>Analytical technique must be fast compared to reaction and non-destructive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717688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Real-time monitoring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Doesn’t necessarily need special equipment</a:t>
            </a:r>
          </a:p>
          <a:p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Disadvantages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Containers might need to be specially designed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401818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28CA-6F29-6637-9A79-2D7D667B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Real-time monitoring: </a:t>
            </a:r>
            <a:br>
              <a:rPr lang="en-GB" dirty="0"/>
            </a:br>
            <a:r>
              <a:rPr lang="en-GB" dirty="0"/>
              <a:t>X-ray scattering of gold nanoparticle synthesis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570EB-F671-A27F-470D-48B1460B0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7" y="2348881"/>
            <a:ext cx="2901335" cy="278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94C8DA-EA42-EEF9-1E5F-7C15A95F1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12" y="2364606"/>
            <a:ext cx="3549659" cy="2912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7E60ED-71FC-5CBA-B0C7-D89EC0A8BABB}"/>
              </a:ext>
            </a:extLst>
          </p:cNvPr>
          <p:cNvSpPr txBox="1"/>
          <p:nvPr/>
        </p:nvSpPr>
        <p:spPr>
          <a:xfrm>
            <a:off x="3419872" y="5490889"/>
            <a:ext cx="58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Koerner, H., </a:t>
            </a:r>
            <a:r>
              <a:rPr lang="en-GB" sz="1200" dirty="0" err="1">
                <a:solidFill>
                  <a:srgbClr val="222222"/>
                </a:solidFill>
                <a:latin typeface="Corbel" panose="020B0503020204020204" pitchFamily="34" charset="0"/>
              </a:rPr>
              <a:t>MacCuspie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, R. I., Park, K., &amp; </a:t>
            </a:r>
            <a:r>
              <a:rPr lang="en-GB" sz="1200" dirty="0" err="1">
                <a:solidFill>
                  <a:srgbClr val="222222"/>
                </a:solidFill>
                <a:latin typeface="Corbel" panose="020B0503020204020204" pitchFamily="34" charset="0"/>
              </a:rPr>
              <a:t>Vaia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, R. A. (2012). In situ UV/Vis, SAXS, and TEM study of single-phase gold nanoparticle growth. </a:t>
            </a:r>
            <a:r>
              <a:rPr lang="en-GB" sz="1200" i="1" dirty="0">
                <a:solidFill>
                  <a:srgbClr val="222222"/>
                </a:solidFill>
                <a:latin typeface="Corbel" panose="020B0503020204020204" pitchFamily="34" charset="0"/>
              </a:rPr>
              <a:t>Chemistry of Materials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, </a:t>
            </a:r>
            <a:r>
              <a:rPr lang="en-GB" sz="1200" i="1" dirty="0">
                <a:solidFill>
                  <a:srgbClr val="222222"/>
                </a:solidFill>
                <a:latin typeface="Corbel" panose="020B0503020204020204" pitchFamily="34" charset="0"/>
              </a:rPr>
              <a:t>24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(6), 981-995.</a:t>
            </a:r>
            <a:endParaRPr lang="en-GB" sz="1200" dirty="0">
              <a:latin typeface="Corbel" panose="020B0503020204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D51D36-8E25-EE6A-CB3C-E6C6567D24F6}"/>
              </a:ext>
            </a:extLst>
          </p:cNvPr>
          <p:cNvGrpSpPr/>
          <p:nvPr/>
        </p:nvGrpSpPr>
        <p:grpSpPr>
          <a:xfrm>
            <a:off x="83592" y="2492896"/>
            <a:ext cx="2472184" cy="2336924"/>
            <a:chOff x="83592" y="1635646"/>
            <a:chExt cx="2472184" cy="23369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E417F3-BCA3-BF68-414C-0F13A1FA72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9032"/>
            <a:stretch/>
          </p:blipFill>
          <p:spPr>
            <a:xfrm>
              <a:off x="83592" y="1635646"/>
              <a:ext cx="2472184" cy="23369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C8801A-2EB3-3A8C-8A82-FA105D811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5696" y="3507854"/>
              <a:ext cx="508000" cy="3556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A0F3DA-9514-1EF5-3F8A-391B8DF7DED6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505542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In-situ monitoring – in practice</a:t>
            </a:r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915B22BE-4985-8F39-1B71-644ECA85C7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00"/>
          <a:stretch/>
        </p:blipFill>
        <p:spPr bwMode="auto">
          <a:xfrm>
            <a:off x="149287" y="2419873"/>
            <a:ext cx="4636895" cy="271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igure 2">
            <a:extLst>
              <a:ext uri="{FF2B5EF4-FFF2-40B4-BE49-F238E27FC236}">
                <a16:creationId xmlns:a16="http://schemas.microsoft.com/office/drawing/2014/main" id="{9BEA906C-C221-7830-06BF-A208F6977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0"/>
          <a:stretch/>
        </p:blipFill>
        <p:spPr bwMode="auto">
          <a:xfrm>
            <a:off x="4976752" y="2385287"/>
            <a:ext cx="4017963" cy="278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3551A5-8B88-E722-B835-9AE24FE6A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1638" y="5520928"/>
            <a:ext cx="4041775" cy="479822"/>
          </a:xfrm>
        </p:spPr>
        <p:txBody>
          <a:bodyPr>
            <a:normAutofit fontScale="32500" lnSpcReduction="20000"/>
          </a:bodyPr>
          <a:lstStyle/>
          <a:p>
            <a:r>
              <a:rPr lang="en-GB" b="0" dirty="0"/>
              <a:t>Hayward, D. W., </a:t>
            </a:r>
            <a:r>
              <a:rPr lang="en-GB" b="0" dirty="0" err="1"/>
              <a:t>Chiappisi</a:t>
            </a:r>
            <a:r>
              <a:rPr lang="en-GB" b="0" dirty="0"/>
              <a:t>, L., </a:t>
            </a:r>
            <a:r>
              <a:rPr lang="en-GB" b="0" dirty="0" err="1"/>
              <a:t>Prévost</a:t>
            </a:r>
            <a:r>
              <a:rPr lang="en-GB" b="0" dirty="0"/>
              <a:t>, S., </a:t>
            </a:r>
            <a:r>
              <a:rPr lang="en-GB" b="0" dirty="0" err="1"/>
              <a:t>Schweins</a:t>
            </a:r>
            <a:r>
              <a:rPr lang="en-GB" b="0" dirty="0"/>
              <a:t>, R., &amp; </a:t>
            </a:r>
            <a:r>
              <a:rPr lang="en-GB" b="0" dirty="0" err="1"/>
              <a:t>Gradzielski</a:t>
            </a:r>
            <a:r>
              <a:rPr lang="en-GB" b="0" dirty="0"/>
              <a:t>, M. (2018). A small-angle neutron scattering environment for in-situ observation of chemical processes. </a:t>
            </a:r>
            <a:r>
              <a:rPr lang="en-GB" b="0" i="1" dirty="0"/>
              <a:t>Scientific reports</a:t>
            </a:r>
            <a:r>
              <a:rPr lang="en-GB" b="0" dirty="0"/>
              <a:t>, </a:t>
            </a:r>
            <a:r>
              <a:rPr lang="en-GB" b="0" i="1" dirty="0"/>
              <a:t>8</a:t>
            </a:r>
            <a:r>
              <a:rPr lang="en-GB" b="0" dirty="0"/>
              <a:t>(1), 1-11.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6D891-088E-821C-55B1-95088BDDD321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9618800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In-situ monitoring – in 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2DD850-8C28-BB92-EC97-474B6793F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1905498"/>
            <a:ext cx="2455808" cy="408027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8328E4C-A522-1160-704D-B8FE958A215B}"/>
              </a:ext>
            </a:extLst>
          </p:cNvPr>
          <p:cNvGrpSpPr/>
          <p:nvPr/>
        </p:nvGrpSpPr>
        <p:grpSpPr>
          <a:xfrm>
            <a:off x="64065" y="2399149"/>
            <a:ext cx="5226998" cy="3241561"/>
            <a:chOff x="64065" y="1541898"/>
            <a:chExt cx="5226998" cy="324156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7D6BD71-2A27-B18B-8299-4389BF219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65" y="1541898"/>
              <a:ext cx="4651952" cy="3241561"/>
            </a:xfrm>
            <a:prstGeom prst="rect">
              <a:avLst/>
            </a:prstGeom>
          </p:spPr>
        </p:pic>
        <p:sp>
          <p:nvSpPr>
            <p:cNvPr id="8" name="Text Placeholder 13">
              <a:extLst>
                <a:ext uri="{FF2B5EF4-FFF2-40B4-BE49-F238E27FC236}">
                  <a16:creationId xmlns:a16="http://schemas.microsoft.com/office/drawing/2014/main" id="{FB5863FD-40AE-E9CB-013A-5537D15BD3A3}"/>
                </a:ext>
              </a:extLst>
            </p:cNvPr>
            <p:cNvSpPr txBox="1">
              <a:spLocks/>
            </p:cNvSpPr>
            <p:nvPr/>
          </p:nvSpPr>
          <p:spPr>
            <a:xfrm>
              <a:off x="4716017" y="2705354"/>
              <a:ext cx="575046" cy="47982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pD</a:t>
              </a:r>
              <a:endParaRPr lang="en-GB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77A6FC-5B67-BC6C-9E2D-9207702B004E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35069042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Quenching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Reaction (or an aliquot) is “quenched” after a certain amount of time (</a:t>
            </a:r>
            <a:r>
              <a:rPr lang="en-GB" dirty="0">
                <a:sym typeface="Mathematica1" pitchFamily="2" charset="2"/>
              </a:rPr>
              <a:t>≥ </a:t>
            </a:r>
            <a:r>
              <a:rPr lang="en-GB" dirty="0" err="1">
                <a:sym typeface="Mathematica1" pitchFamily="2" charset="2"/>
              </a:rPr>
              <a:t>ms</a:t>
            </a:r>
            <a:r>
              <a:rPr lang="en-GB" dirty="0">
                <a:sym typeface="Mathematica1" pitchFamily="2" charset="2"/>
              </a:rPr>
              <a:t>)</a:t>
            </a:r>
            <a:r>
              <a:rPr lang="en-GB" dirty="0"/>
              <a:t>.</a:t>
            </a:r>
          </a:p>
          <a:p>
            <a:r>
              <a:rPr lang="en-GB" dirty="0"/>
              <a:t>Quenching can be carried out by mixing, </a:t>
            </a:r>
            <a:r>
              <a:rPr lang="en-GB" dirty="0" err="1"/>
              <a:t>eg</a:t>
            </a:r>
            <a:r>
              <a:rPr lang="en-GB" dirty="0"/>
              <a:t>, sudden change in pH or dilution, or by a sudden drop in temperature.</a:t>
            </a:r>
          </a:p>
          <a:p>
            <a:r>
              <a:rPr lang="en-GB" dirty="0"/>
              <a:t>Have to be sure that quenching is fast compared to the reaction and does not cause any other changes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76123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Quenching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Analytical approaches can be slow and/or destructive</a:t>
            </a:r>
          </a:p>
          <a:p>
            <a:r>
              <a:rPr lang="en-GB" dirty="0"/>
              <a:t>Quenched samples can be stored and reanalysed using different methods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Disadvantages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Timescale limited by speed of quenching</a:t>
            </a:r>
          </a:p>
        </p:txBody>
      </p:sp>
    </p:spTree>
    <p:extLst>
      <p:ext uri="{BB962C8B-B14F-4D97-AF65-F5344CB8AC3E}">
        <p14:creationId xmlns:p14="http://schemas.microsoft.com/office/powerpoint/2010/main" val="365043192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E19C1A5-A9E6-C465-A012-00FE425AC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3229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Quenching: gold-citrate aggregates </a:t>
            </a:r>
            <a:br>
              <a:rPr lang="en-US" dirty="0"/>
            </a:br>
            <a:r>
              <a:rPr lang="en-US" dirty="0"/>
              <a:t>in gold nanoparticle synthesis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42FA6C-81E5-985C-9833-B099702C0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202" y="1932715"/>
            <a:ext cx="2973783" cy="386205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EE55B7-B840-1866-A5AA-A28FB3F9D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93" y="2544791"/>
            <a:ext cx="4006071" cy="2637904"/>
          </a:xfrm>
          <a:prstGeom prst="rect">
            <a:avLst/>
          </a:prstGeom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8C974D35-7E95-0A34-F600-37517DC3D75D}"/>
              </a:ext>
            </a:extLst>
          </p:cNvPr>
          <p:cNvSpPr txBox="1">
            <a:spLocks/>
          </p:cNvSpPr>
          <p:nvPr/>
        </p:nvSpPr>
        <p:spPr>
          <a:xfrm>
            <a:off x="8187445" y="5085184"/>
            <a:ext cx="956555" cy="4798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 min.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C4950EE-3542-2DEA-FCD7-C85DA84E2BF5}"/>
              </a:ext>
            </a:extLst>
          </p:cNvPr>
          <p:cNvSpPr txBox="1">
            <a:spLocks/>
          </p:cNvSpPr>
          <p:nvPr/>
        </p:nvSpPr>
        <p:spPr>
          <a:xfrm>
            <a:off x="8172402" y="4221088"/>
            <a:ext cx="956555" cy="4798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4 min.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68C0543-2F25-FEF2-8375-946D189BD7A3}"/>
              </a:ext>
            </a:extLst>
          </p:cNvPr>
          <p:cNvSpPr txBox="1">
            <a:spLocks/>
          </p:cNvSpPr>
          <p:nvPr/>
        </p:nvSpPr>
        <p:spPr>
          <a:xfrm>
            <a:off x="8172402" y="3429000"/>
            <a:ext cx="956554" cy="4798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20 min.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3B26AF4-ADD0-C465-BB5B-951C0A2356EA}"/>
              </a:ext>
            </a:extLst>
          </p:cNvPr>
          <p:cNvSpPr txBox="1">
            <a:spLocks/>
          </p:cNvSpPr>
          <p:nvPr/>
        </p:nvSpPr>
        <p:spPr>
          <a:xfrm>
            <a:off x="8100393" y="2581078"/>
            <a:ext cx="1028563" cy="4798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120 min.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726D49-884C-633B-5420-40754D27D45F}"/>
              </a:ext>
            </a:extLst>
          </p:cNvPr>
          <p:cNvSpPr txBox="1"/>
          <p:nvPr/>
        </p:nvSpPr>
        <p:spPr>
          <a:xfrm>
            <a:off x="0" y="5354420"/>
            <a:ext cx="4763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Doyen, M., </a:t>
            </a:r>
            <a:r>
              <a:rPr lang="en-GB" sz="1200" dirty="0" err="1">
                <a:solidFill>
                  <a:srgbClr val="222222"/>
                </a:solidFill>
                <a:latin typeface="Corbel" panose="020B0503020204020204" pitchFamily="34" charset="0"/>
              </a:rPr>
              <a:t>Bartik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, K., &amp; </a:t>
            </a:r>
            <a:r>
              <a:rPr lang="en-GB" sz="1200" dirty="0" err="1">
                <a:solidFill>
                  <a:srgbClr val="222222"/>
                </a:solidFill>
                <a:latin typeface="Corbel" panose="020B0503020204020204" pitchFamily="34" charset="0"/>
              </a:rPr>
              <a:t>Bruylants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, G. (2013). UV–Vis and NMR study of the formation of gold nanoparticles by citrate reduction: Observation of gold–citrate aggregates. </a:t>
            </a:r>
            <a:r>
              <a:rPr lang="en-GB" sz="1200" i="1" dirty="0">
                <a:solidFill>
                  <a:srgbClr val="222222"/>
                </a:solidFill>
                <a:latin typeface="Corbel" panose="020B0503020204020204" pitchFamily="34" charset="0"/>
              </a:rPr>
              <a:t>Journal of colloid and interface science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, </a:t>
            </a:r>
            <a:r>
              <a:rPr lang="en-GB" sz="1200" i="1" dirty="0">
                <a:solidFill>
                  <a:srgbClr val="222222"/>
                </a:solidFill>
                <a:latin typeface="Corbel" panose="020B0503020204020204" pitchFamily="34" charset="0"/>
              </a:rPr>
              <a:t>399</a:t>
            </a:r>
            <a:r>
              <a:rPr lang="en-GB" sz="1200" dirty="0">
                <a:solidFill>
                  <a:srgbClr val="222222"/>
                </a:solidFill>
                <a:latin typeface="Corbel" panose="020B0503020204020204" pitchFamily="34" charset="0"/>
              </a:rPr>
              <a:t>, 1-5.</a:t>
            </a:r>
            <a:endParaRPr lang="en-GB" sz="1200" dirty="0">
              <a:latin typeface="Corbel" panose="020B05030202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A778F-16DB-47E7-DAEB-1249E866DC1E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54290583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flow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Observing the composition at different positions = reaction mixtures at different times after mixing.</a:t>
            </a:r>
          </a:p>
          <a:p>
            <a:r>
              <a:rPr lang="en-GB" dirty="0"/>
              <a:t>Timescale </a:t>
            </a:r>
            <a:r>
              <a:rPr lang="en-GB" dirty="0">
                <a:latin typeface="Calibri"/>
                <a:sym typeface="Mathematica1" pitchFamily="2" charset="2"/>
              </a:rPr>
              <a:t>≥</a:t>
            </a:r>
            <a:r>
              <a:rPr lang="en-GB" dirty="0">
                <a:sym typeface="Mathematica1" pitchFamily="2" charset="2"/>
              </a:rPr>
              <a:t> </a:t>
            </a:r>
            <a:r>
              <a:rPr lang="en-GB" dirty="0" err="1"/>
              <a:t>ms</a:t>
            </a:r>
            <a:endParaRPr lang="en-GB" dirty="0"/>
          </a:p>
          <a:p>
            <a:r>
              <a:rPr lang="en-GB" dirty="0"/>
              <a:t>Analytical technique must be position specific</a:t>
            </a:r>
          </a:p>
          <a:p>
            <a:r>
              <a:rPr lang="en-GB" dirty="0"/>
              <a:t>Analytical technique can be slow compared to reaction</a:t>
            </a:r>
          </a:p>
          <a:p>
            <a:endParaRPr lang="en-GB" dirty="0"/>
          </a:p>
          <a:p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83049" y="4173630"/>
            <a:ext cx="3977901" cy="240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2885768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Conceptually simple</a:t>
            </a:r>
          </a:p>
          <a:p>
            <a:r>
              <a:rPr lang="en-GB" dirty="0"/>
              <a:t>Fast mixing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Disadvantages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Large volumes of reagents required</a:t>
            </a:r>
          </a:p>
          <a:p>
            <a:r>
              <a:rPr lang="en-GB" dirty="0"/>
              <a:t>Requires movable spectrometer</a:t>
            </a:r>
          </a:p>
        </p:txBody>
      </p:sp>
    </p:spTree>
    <p:extLst>
      <p:ext uri="{BB962C8B-B14F-4D97-AF65-F5344CB8AC3E}">
        <p14:creationId xmlns:p14="http://schemas.microsoft.com/office/powerpoint/2010/main" val="99732090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Conceptually simple</a:t>
            </a:r>
          </a:p>
          <a:p>
            <a:r>
              <a:rPr lang="en-GB" dirty="0"/>
              <a:t>Fast mixing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Disadvantages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strike="sngStrike" dirty="0"/>
              <a:t>Large volumes of reagents required</a:t>
            </a:r>
          </a:p>
          <a:p>
            <a:r>
              <a:rPr lang="en-GB" strike="sngStrike" dirty="0"/>
              <a:t>Requires movable spectrometer</a:t>
            </a:r>
          </a:p>
        </p:txBody>
      </p:sp>
    </p:spTree>
    <p:extLst>
      <p:ext uri="{BB962C8B-B14F-4D97-AF65-F5344CB8AC3E}">
        <p14:creationId xmlns:p14="http://schemas.microsoft.com/office/powerpoint/2010/main" val="307005243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41D91A7-59DF-493B-ABFB-4E8F23E937DA}"/>
              </a:ext>
            </a:extLst>
          </p:cNvPr>
          <p:cNvSpPr txBox="1"/>
          <p:nvPr/>
        </p:nvSpPr>
        <p:spPr>
          <a:xfrm>
            <a:off x="3419872" y="6126888"/>
            <a:ext cx="5724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222222"/>
                </a:solidFill>
                <a:latin typeface="+mj-lt"/>
              </a:rPr>
              <a:t>Jang, H., </a:t>
            </a:r>
            <a:r>
              <a:rPr lang="en-GB" sz="1200" dirty="0" err="1">
                <a:solidFill>
                  <a:srgbClr val="222222"/>
                </a:solidFill>
                <a:latin typeface="+mj-lt"/>
              </a:rPr>
              <a:t>Pawate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, A. S., Bhargava, R., &amp; </a:t>
            </a:r>
            <a:r>
              <a:rPr lang="en-GB" sz="1200" dirty="0" err="1">
                <a:solidFill>
                  <a:srgbClr val="222222"/>
                </a:solidFill>
                <a:latin typeface="+mj-lt"/>
              </a:rPr>
              <a:t>Kenis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, P. J. (2019). Polymeric microfluidic continuous flow mixer combined with hyperspectral FT-IR imaging for studying rapid biomolecular events. </a:t>
            </a:r>
            <a:r>
              <a:rPr lang="en-GB" sz="1200" i="1" dirty="0">
                <a:solidFill>
                  <a:srgbClr val="222222"/>
                </a:solidFill>
                <a:latin typeface="+mj-lt"/>
              </a:rPr>
              <a:t>Lab on a Chip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, </a:t>
            </a:r>
            <a:r>
              <a:rPr lang="en-GB" sz="1200" i="1" dirty="0">
                <a:solidFill>
                  <a:srgbClr val="222222"/>
                </a:solidFill>
                <a:latin typeface="+mj-lt"/>
              </a:rPr>
              <a:t>19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(15), 2598-2609.</a:t>
            </a:r>
            <a:endParaRPr lang="en-GB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0D91534-9B9C-4AC7-86DF-5965B7710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1" y="1864272"/>
            <a:ext cx="3929683" cy="3545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AB4B06-F03C-4AF3-A8A8-B677DFF1434F}"/>
              </a:ext>
            </a:extLst>
          </p:cNvPr>
          <p:cNvSpPr txBox="1"/>
          <p:nvPr/>
        </p:nvSpPr>
        <p:spPr>
          <a:xfrm>
            <a:off x="3419872" y="5328439"/>
            <a:ext cx="5542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https://www.youtube.com/watch?v=_V-iSOOTBAs</a:t>
            </a:r>
          </a:p>
        </p:txBody>
      </p:sp>
      <p:pic>
        <p:nvPicPr>
          <p:cNvPr id="5" name="Online Media 4" title="Troubleshooting Cold-Sealing Adhesives | FT-IR Microscopy | Food Packaging">
            <a:hlinkClick r:id="" action="ppaction://media"/>
            <a:extLst>
              <a:ext uri="{FF2B5EF4-FFF2-40B4-BE49-F238E27FC236}">
                <a16:creationId xmlns:a16="http://schemas.microsoft.com/office/drawing/2014/main" id="{E136C2CB-E5DD-499C-BDDD-C09C08CBF0F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192241" y="2090299"/>
            <a:ext cx="4550535" cy="257105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CBF529B-3ACC-43F1-AD70-7F2C1C12488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GB" kern="0" dirty="0"/>
              <a:t>Microfluidic FT-IR Imaging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EC047F-D42D-11A5-91C6-56420B07332B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9083922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F9825753-4F38-449A-A812-C7E6218A2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48" y="1148196"/>
            <a:ext cx="301466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4E8E2E6-06AF-4398-AE8C-EBC6F2B8D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1" b="47200"/>
          <a:stretch/>
        </p:blipFill>
        <p:spPr bwMode="auto">
          <a:xfrm>
            <a:off x="3851921" y="1808820"/>
            <a:ext cx="4796053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1D91A7-59DF-493B-ABFB-4E8F23E937DA}"/>
              </a:ext>
            </a:extLst>
          </p:cNvPr>
          <p:cNvSpPr txBox="1"/>
          <p:nvPr/>
        </p:nvSpPr>
        <p:spPr>
          <a:xfrm>
            <a:off x="3419872" y="5332102"/>
            <a:ext cx="5724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222222"/>
                </a:solidFill>
                <a:latin typeface="+mj-lt"/>
              </a:rPr>
              <a:t>Jang, H., </a:t>
            </a:r>
            <a:r>
              <a:rPr lang="en-GB" sz="1200" dirty="0" err="1">
                <a:solidFill>
                  <a:srgbClr val="222222"/>
                </a:solidFill>
                <a:latin typeface="+mj-lt"/>
              </a:rPr>
              <a:t>Pawate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, A. S., Bhargava, R., &amp; </a:t>
            </a:r>
            <a:r>
              <a:rPr lang="en-GB" sz="1200" dirty="0" err="1">
                <a:solidFill>
                  <a:srgbClr val="222222"/>
                </a:solidFill>
                <a:latin typeface="+mj-lt"/>
              </a:rPr>
              <a:t>Kenis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, P. J. (2019). Polymeric microfluidic continuous flow mixer combined with hyperspectral FT-IR imaging for studying rapid biomolecular events. </a:t>
            </a:r>
            <a:r>
              <a:rPr lang="en-GB" sz="1200" i="1" dirty="0">
                <a:solidFill>
                  <a:srgbClr val="222222"/>
                </a:solidFill>
                <a:latin typeface="+mj-lt"/>
              </a:rPr>
              <a:t>Lab on a Chip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, </a:t>
            </a:r>
            <a:r>
              <a:rPr lang="en-GB" sz="1200" i="1" dirty="0">
                <a:solidFill>
                  <a:srgbClr val="222222"/>
                </a:solidFill>
                <a:latin typeface="+mj-lt"/>
              </a:rPr>
              <a:t>19</a:t>
            </a:r>
            <a:r>
              <a:rPr lang="en-GB" sz="1200" dirty="0">
                <a:solidFill>
                  <a:srgbClr val="222222"/>
                </a:solidFill>
                <a:latin typeface="+mj-lt"/>
              </a:rPr>
              <a:t>(15), 2598-2609.</a:t>
            </a:r>
            <a:endParaRPr lang="en-GB" sz="1200" dirty="0">
              <a:latin typeface="+mj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2D11C1-FAF0-47B3-BEEE-5348EFD846F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GB" kern="0" dirty="0"/>
              <a:t>Microfluidic FT-IR Imaging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6790E2-05CC-57E6-340D-583E264742E3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216133861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Stopped flow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Fast mixing can be achieved in ~1ms with “stopped flow” technique (so appropriate if reaction is slower than this)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lum bright="18000" contrast="18000"/>
          </a:blip>
          <a:srcRect t="18797"/>
          <a:stretch>
            <a:fillRect/>
          </a:stretch>
        </p:blipFill>
        <p:spPr bwMode="auto">
          <a:xfrm>
            <a:off x="1143000" y="3699031"/>
            <a:ext cx="4051028" cy="2301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113839" y="3332095"/>
            <a:ext cx="16658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Monitoring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5397011" y="3993971"/>
            <a:ext cx="28622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solidFill>
                  <a:prstClr val="black"/>
                </a:solidFill>
              </a:rPr>
              <a:t>This can be used with liquids or gases.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6585831" y="5525997"/>
            <a:ext cx="256490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(Picture from Atkins’ Physical Chemistry 7</a:t>
            </a:r>
            <a:r>
              <a:rPr lang="en-GB" baseline="30000" dirty="0">
                <a:solidFill>
                  <a:prstClr val="black"/>
                </a:solidFill>
              </a:rPr>
              <a:t>th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ed</a:t>
            </a:r>
            <a:r>
              <a:rPr lang="en-GB" dirty="0">
                <a:solidFill>
                  <a:prstClr val="black"/>
                </a:solidFill>
              </a:rPr>
              <a:t>)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03900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Stopped 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Uses small sample volumes – particularly beneficial if your reagent is expensive/hard to produce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Disadvantages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Requires specialist kit</a:t>
            </a:r>
          </a:p>
        </p:txBody>
      </p:sp>
    </p:spTree>
    <p:extLst>
      <p:ext uri="{BB962C8B-B14F-4D97-AF65-F5344CB8AC3E}">
        <p14:creationId xmlns:p14="http://schemas.microsoft.com/office/powerpoint/2010/main" val="65051027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646" y="301980"/>
            <a:ext cx="5050904" cy="857250"/>
          </a:xfrm>
        </p:spPr>
        <p:txBody>
          <a:bodyPr/>
          <a:lstStyle/>
          <a:p>
            <a:r>
              <a:rPr lang="en-GB" dirty="0"/>
              <a:t>CRISPR DNA Editing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102226" y="5520928"/>
            <a:ext cx="4041775" cy="479822"/>
          </a:xfrm>
        </p:spPr>
        <p:txBody>
          <a:bodyPr>
            <a:normAutofit fontScale="32500" lnSpcReduction="20000"/>
          </a:bodyPr>
          <a:lstStyle/>
          <a:p>
            <a:r>
              <a:rPr lang="en-GB" b="0" i="0" dirty="0" err="1">
                <a:solidFill>
                  <a:srgbClr val="222222"/>
                </a:solidFill>
                <a:effectLst/>
                <a:latin typeface="+mj-lt"/>
              </a:rPr>
              <a:t>Raper</a:t>
            </a:r>
            <a:r>
              <a:rPr lang="en-GB" b="0" i="0" dirty="0">
                <a:solidFill>
                  <a:srgbClr val="222222"/>
                </a:solidFill>
                <a:effectLst/>
                <a:latin typeface="+mj-lt"/>
              </a:rPr>
              <a:t>, A. T., Stephenson, A. A., &amp; Suo, Z. (2018). Functional insights revealed by the kinetic mechanism of CRISPR/Cas9. </a:t>
            </a:r>
            <a:r>
              <a:rPr lang="en-GB" b="0" i="1" dirty="0">
                <a:solidFill>
                  <a:srgbClr val="222222"/>
                </a:solidFill>
                <a:effectLst/>
                <a:latin typeface="+mj-lt"/>
              </a:rPr>
              <a:t>Journal of the American Chemical Society</a:t>
            </a:r>
            <a:r>
              <a:rPr lang="en-GB" b="0" i="0" dirty="0">
                <a:solidFill>
                  <a:srgbClr val="222222"/>
                </a:solidFill>
                <a:effectLst/>
                <a:latin typeface="+mj-lt"/>
              </a:rPr>
              <a:t>, </a:t>
            </a:r>
            <a:r>
              <a:rPr lang="en-GB" b="0" i="1" dirty="0">
                <a:solidFill>
                  <a:srgbClr val="222222"/>
                </a:solidFill>
                <a:effectLst/>
                <a:latin typeface="+mj-lt"/>
              </a:rPr>
              <a:t>140</a:t>
            </a:r>
            <a:r>
              <a:rPr lang="en-GB" b="0" i="0" dirty="0">
                <a:solidFill>
                  <a:srgbClr val="222222"/>
                </a:solidFill>
                <a:effectLst/>
                <a:latin typeface="+mj-lt"/>
              </a:rPr>
              <a:t>(8), 2971-2984.</a:t>
            </a:r>
            <a:endParaRPr lang="en-GB" b="0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09DBC7-517C-4255-A7FB-AF658F69E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82" y="2060849"/>
            <a:ext cx="4041775" cy="3136093"/>
          </a:xfrm>
          <a:prstGeom prst="rect">
            <a:avLst/>
          </a:prstGeom>
        </p:spPr>
      </p:pic>
      <p:pic>
        <p:nvPicPr>
          <p:cNvPr id="1028" name="Picture 4" descr="CRISPR: Implications for materials science">
            <a:extLst>
              <a:ext uri="{FF2B5EF4-FFF2-40B4-BE49-F238E27FC236}">
                <a16:creationId xmlns:a16="http://schemas.microsoft.com/office/drawing/2014/main" id="{7E9CFCB0-4AAF-41FD-B7AD-8D2D51C8B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7" y="1730730"/>
            <a:ext cx="4394573" cy="453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4CC410-0F97-06A4-38D6-35236C18D8B9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26224916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646" y="301980"/>
            <a:ext cx="5050904" cy="857250"/>
          </a:xfrm>
        </p:spPr>
        <p:txBody>
          <a:bodyPr/>
          <a:lstStyle/>
          <a:p>
            <a:r>
              <a:rPr lang="en-GB" dirty="0"/>
              <a:t>CRISPR DNA Editing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102226" y="5520928"/>
            <a:ext cx="4041775" cy="479822"/>
          </a:xfrm>
        </p:spPr>
        <p:txBody>
          <a:bodyPr>
            <a:normAutofit fontScale="32500" lnSpcReduction="20000"/>
          </a:bodyPr>
          <a:lstStyle/>
          <a:p>
            <a:r>
              <a:rPr lang="en-GB" b="0" i="0" dirty="0" err="1">
                <a:solidFill>
                  <a:srgbClr val="222222"/>
                </a:solidFill>
                <a:effectLst/>
                <a:latin typeface="+mj-lt"/>
              </a:rPr>
              <a:t>Raper</a:t>
            </a:r>
            <a:r>
              <a:rPr lang="en-GB" b="0" i="0" dirty="0">
                <a:solidFill>
                  <a:srgbClr val="222222"/>
                </a:solidFill>
                <a:effectLst/>
                <a:latin typeface="+mj-lt"/>
              </a:rPr>
              <a:t>, A. T., Stephenson, A. A., &amp; Suo, Z. (2018). Functional insights revealed by the kinetic mechanism of CRISPR/Cas9. </a:t>
            </a:r>
            <a:r>
              <a:rPr lang="en-GB" b="0" i="1" dirty="0">
                <a:solidFill>
                  <a:srgbClr val="222222"/>
                </a:solidFill>
                <a:effectLst/>
                <a:latin typeface="+mj-lt"/>
              </a:rPr>
              <a:t>Journal of the American Chemical Society</a:t>
            </a:r>
            <a:r>
              <a:rPr lang="en-GB" b="0" i="0" dirty="0">
                <a:solidFill>
                  <a:srgbClr val="222222"/>
                </a:solidFill>
                <a:effectLst/>
                <a:latin typeface="+mj-lt"/>
              </a:rPr>
              <a:t>, </a:t>
            </a:r>
            <a:r>
              <a:rPr lang="en-GB" b="0" i="1" dirty="0">
                <a:solidFill>
                  <a:srgbClr val="222222"/>
                </a:solidFill>
                <a:effectLst/>
                <a:latin typeface="+mj-lt"/>
              </a:rPr>
              <a:t>140</a:t>
            </a:r>
            <a:r>
              <a:rPr lang="en-GB" b="0" i="0" dirty="0">
                <a:solidFill>
                  <a:srgbClr val="222222"/>
                </a:solidFill>
                <a:effectLst/>
                <a:latin typeface="+mj-lt"/>
              </a:rPr>
              <a:t>(8), 2971-2984.</a:t>
            </a:r>
            <a:endParaRPr lang="en-GB" b="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ECA04C-7323-9BC4-6F3A-8D017B29D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224" y="2514600"/>
            <a:ext cx="4220349" cy="273327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10BE298-3E05-DAA0-27C0-7BEB6D824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6" y="2219325"/>
            <a:ext cx="2031599" cy="292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71845473-2979-10C4-E7C7-7668C9B93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927" y="2514600"/>
            <a:ext cx="2471615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FE1F64E-48D8-591A-FB1B-B61CDDA29B54}"/>
              </a:ext>
            </a:extLst>
          </p:cNvPr>
          <p:cNvSpPr txBox="1">
            <a:spLocks/>
          </p:cNvSpPr>
          <p:nvPr/>
        </p:nvSpPr>
        <p:spPr bwMode="auto">
          <a:xfrm>
            <a:off x="227767" y="5760839"/>
            <a:ext cx="44227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None/>
              <a:defRPr sz="2000" b="1">
                <a:solidFill>
                  <a:schemeClr val="tx1"/>
                </a:solidFill>
                <a:latin typeface="+mn-lt"/>
              </a:defRPr>
            </a:lvl2pPr>
            <a:lvl3pPr marL="9144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None/>
              <a:defRPr sz="1800" b="1">
                <a:solidFill>
                  <a:schemeClr val="tx1"/>
                </a:solidFill>
                <a:latin typeface="+mn-lt"/>
              </a:defRPr>
            </a:lvl3pPr>
            <a:lvl4pPr marL="13716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None/>
              <a:defRPr sz="1600" b="1">
                <a:solidFill>
                  <a:schemeClr val="tx1"/>
                </a:solidFill>
                <a:latin typeface="+mn-lt"/>
              </a:defRPr>
            </a:lvl4pPr>
            <a:lvl5pPr marL="18288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None/>
              <a:defRPr sz="1600" b="1">
                <a:solidFill>
                  <a:schemeClr val="tx1"/>
                </a:solidFill>
                <a:latin typeface="+mn-lt"/>
              </a:defRPr>
            </a:lvl5pPr>
            <a:lvl6pPr marL="22860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None/>
              <a:defRPr sz="1600" b="1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None/>
              <a:defRPr sz="1600" b="1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None/>
              <a:defRPr sz="1600" b="1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None/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2200" kern="0" dirty="0"/>
              <a:t>Jennifer </a:t>
            </a:r>
            <a:r>
              <a:rPr lang="en-GB" sz="2200" kern="0" dirty="0" err="1"/>
              <a:t>Doudna</a:t>
            </a:r>
            <a:r>
              <a:rPr lang="en-GB" sz="2200" kern="0" dirty="0"/>
              <a:t> and Emmanuelle Charpentier – Nobel </a:t>
            </a:r>
            <a:r>
              <a:rPr lang="en-GB" sz="2200" kern="0"/>
              <a:t>Prize in </a:t>
            </a:r>
            <a:r>
              <a:rPr lang="en-GB" sz="2200" kern="0" dirty="0"/>
              <a:t>Chemistry 2020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9ABE1-5D02-6570-5DB4-AE39E1D28500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86781310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C9235B-8D3D-407B-B598-62F03746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ULTRAfast</a:t>
            </a:r>
            <a:r>
              <a:rPr lang="en-GB" dirty="0"/>
              <a:t> reactions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8C27B8-D82E-41F3-8CC4-DE2B63E37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CH2PH2 Chemical Kinetics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69636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Reaction time &lt;&lt; </a:t>
            </a:r>
            <a:r>
              <a:rPr lang="en-US" dirty="0" err="1"/>
              <a:t>ms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4750319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reactions with light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100" dirty="0"/>
              <a:t>Before first lasers invented (1960s), light flashes could be generated in microseconds (10</a:t>
            </a:r>
            <a:r>
              <a:rPr lang="en-GB" sz="2100" baseline="30000" dirty="0"/>
              <a:t>-6 </a:t>
            </a:r>
            <a:r>
              <a:rPr lang="en-GB" sz="2100" dirty="0"/>
              <a:t>s) 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“Flash photolysis” – developed by Norrish and Porter in the 1950s – use a flash of light to break bonds, to produce reactive species (“pump” pulse)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Monitor reaction spectroscopically with another beam (“probe”) in real time.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Nowadays, lasers can easily generate nanosecond  (10</a:t>
            </a:r>
            <a:r>
              <a:rPr lang="en-GB" sz="2100" baseline="30000" dirty="0"/>
              <a:t>-9 </a:t>
            </a:r>
            <a:r>
              <a:rPr lang="en-GB" sz="2100" dirty="0"/>
              <a:t>s) to femtosecond (10</a:t>
            </a:r>
            <a:r>
              <a:rPr lang="en-GB" sz="2100" baseline="30000" dirty="0"/>
              <a:t>-15 </a:t>
            </a:r>
            <a:r>
              <a:rPr lang="en-GB" sz="2100" dirty="0"/>
              <a:t>s) pulses 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71891660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FAD17AC-7109-4386-80FF-A8CD3C5DB018}"/>
              </a:ext>
            </a:extLst>
          </p:cNvPr>
          <p:cNvGrpSpPr/>
          <p:nvPr/>
        </p:nvGrpSpPr>
        <p:grpSpPr>
          <a:xfrm>
            <a:off x="282503" y="2109524"/>
            <a:ext cx="4558180" cy="785857"/>
            <a:chOff x="1550194" y="1970485"/>
            <a:chExt cx="4558180" cy="785857"/>
          </a:xfrm>
        </p:grpSpPr>
        <p:sp>
          <p:nvSpPr>
            <p:cNvPr id="13316" name="Text Box 4"/>
            <p:cNvSpPr txBox="1">
              <a:spLocks noChangeArrowheads="1"/>
            </p:cNvSpPr>
            <p:nvPr/>
          </p:nvSpPr>
          <p:spPr bwMode="auto">
            <a:xfrm>
              <a:off x="1902619" y="2208610"/>
              <a:ext cx="288862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C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3317" name="Text Box 5"/>
            <p:cNvSpPr txBox="1">
              <a:spLocks noChangeArrowheads="1"/>
            </p:cNvSpPr>
            <p:nvPr/>
          </p:nvSpPr>
          <p:spPr bwMode="auto">
            <a:xfrm>
              <a:off x="1902619" y="1970485"/>
              <a:ext cx="311304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O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1550194" y="2332435"/>
              <a:ext cx="473206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CH</a:t>
              </a:r>
              <a:r>
                <a:rPr lang="en-GB" sz="1350" baseline="-25000">
                  <a:solidFill>
                    <a:prstClr val="black"/>
                  </a:solidFill>
                </a:rPr>
                <a:t>3</a:t>
              </a:r>
              <a:endParaRPr lang="en-US" sz="1350" baseline="-25000">
                <a:solidFill>
                  <a:prstClr val="black"/>
                </a:solidFill>
              </a:endParaRPr>
            </a:p>
          </p:txBody>
        </p:sp>
        <p:sp>
          <p:nvSpPr>
            <p:cNvPr id="13319" name="Text Box 7"/>
            <p:cNvSpPr txBox="1">
              <a:spLocks noChangeArrowheads="1"/>
            </p:cNvSpPr>
            <p:nvPr/>
          </p:nvSpPr>
          <p:spPr bwMode="auto">
            <a:xfrm>
              <a:off x="2140744" y="2332435"/>
              <a:ext cx="473206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CH</a:t>
              </a:r>
              <a:r>
                <a:rPr lang="en-GB" sz="1350" baseline="-25000">
                  <a:solidFill>
                    <a:prstClr val="black"/>
                  </a:solidFill>
                </a:rPr>
                <a:t>3</a:t>
              </a:r>
              <a:endParaRPr lang="en-US" sz="1350" baseline="-25000">
                <a:solidFill>
                  <a:prstClr val="black"/>
                </a:solidFill>
              </a:endParaRPr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2024063" y="2190751"/>
              <a:ext cx="0" cy="66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21" name="Line 9"/>
            <p:cNvSpPr>
              <a:spLocks noChangeShapeType="1"/>
            </p:cNvSpPr>
            <p:nvPr/>
          </p:nvSpPr>
          <p:spPr bwMode="auto">
            <a:xfrm>
              <a:off x="2047875" y="2190751"/>
              <a:ext cx="0" cy="66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22" name="Line 10"/>
            <p:cNvSpPr>
              <a:spLocks noChangeShapeType="1"/>
            </p:cNvSpPr>
            <p:nvPr/>
          </p:nvSpPr>
          <p:spPr bwMode="auto">
            <a:xfrm flipV="1">
              <a:off x="1833563" y="2347914"/>
              <a:ext cx="114300" cy="28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23" name="Line 11"/>
            <p:cNvSpPr>
              <a:spLocks noChangeShapeType="1"/>
            </p:cNvSpPr>
            <p:nvPr/>
          </p:nvSpPr>
          <p:spPr bwMode="auto">
            <a:xfrm flipH="1" flipV="1">
              <a:off x="2100263" y="2347914"/>
              <a:ext cx="114300" cy="28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24" name="Line 12"/>
            <p:cNvSpPr>
              <a:spLocks noChangeShapeType="1"/>
            </p:cNvSpPr>
            <p:nvPr/>
          </p:nvSpPr>
          <p:spPr bwMode="auto">
            <a:xfrm>
              <a:off x="2752726" y="2343150"/>
              <a:ext cx="1057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25" name="AutoShape 13"/>
            <p:cNvSpPr>
              <a:spLocks noChangeArrowheads="1"/>
            </p:cNvSpPr>
            <p:nvPr/>
          </p:nvSpPr>
          <p:spPr bwMode="auto">
            <a:xfrm>
              <a:off x="2914650" y="2019300"/>
              <a:ext cx="457200" cy="285750"/>
            </a:xfrm>
            <a:prstGeom prst="lightningBol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3569495" y="2456260"/>
              <a:ext cx="524503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prstClr val="black"/>
                  </a:solidFill>
                  <a:cs typeface="Arial" pitchFamily="34" charset="0"/>
                </a:rPr>
                <a:t>·</a:t>
              </a:r>
              <a:r>
                <a:rPr lang="en-GB" sz="1350">
                  <a:solidFill>
                    <a:prstClr val="black"/>
                  </a:solidFill>
                </a:rPr>
                <a:t>CH</a:t>
              </a:r>
              <a:r>
                <a:rPr lang="en-GB" sz="1350" baseline="-25000">
                  <a:solidFill>
                    <a:prstClr val="black"/>
                  </a:solidFill>
                </a:rPr>
                <a:t>3</a:t>
              </a:r>
              <a:endParaRPr lang="en-US" sz="1350" baseline="-25000">
                <a:solidFill>
                  <a:prstClr val="black"/>
                </a:solidFill>
              </a:endParaRPr>
            </a:p>
          </p:txBody>
        </p:sp>
        <p:sp>
          <p:nvSpPr>
            <p:cNvPr id="13327" name="Text Box 15"/>
            <p:cNvSpPr txBox="1">
              <a:spLocks noChangeArrowheads="1"/>
            </p:cNvSpPr>
            <p:nvPr/>
          </p:nvSpPr>
          <p:spPr bwMode="auto">
            <a:xfrm>
              <a:off x="4026694" y="2246710"/>
              <a:ext cx="340158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prstClr val="black"/>
                  </a:solidFill>
                  <a:cs typeface="Arial" pitchFamily="34" charset="0"/>
                </a:rPr>
                <a:t>·</a:t>
              </a:r>
              <a:r>
                <a:rPr lang="en-GB" sz="1350">
                  <a:solidFill>
                    <a:prstClr val="black"/>
                  </a:solidFill>
                </a:rPr>
                <a:t>C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3328" name="Text Box 16"/>
            <p:cNvSpPr txBox="1">
              <a:spLocks noChangeArrowheads="1"/>
            </p:cNvSpPr>
            <p:nvPr/>
          </p:nvSpPr>
          <p:spPr bwMode="auto">
            <a:xfrm>
              <a:off x="4064794" y="2008585"/>
              <a:ext cx="311304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O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3329" name="Text Box 17"/>
            <p:cNvSpPr txBox="1">
              <a:spLocks noChangeArrowheads="1"/>
            </p:cNvSpPr>
            <p:nvPr/>
          </p:nvSpPr>
          <p:spPr bwMode="auto">
            <a:xfrm>
              <a:off x="4302919" y="2370535"/>
              <a:ext cx="473206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CH</a:t>
              </a:r>
              <a:r>
                <a:rPr lang="en-GB" sz="1350" baseline="-25000">
                  <a:solidFill>
                    <a:prstClr val="black"/>
                  </a:solidFill>
                </a:rPr>
                <a:t>3</a:t>
              </a:r>
              <a:endParaRPr lang="en-US" sz="1350" baseline="-25000">
                <a:solidFill>
                  <a:prstClr val="black"/>
                </a:solidFill>
              </a:endParaRPr>
            </a:p>
          </p:txBody>
        </p:sp>
        <p:sp>
          <p:nvSpPr>
            <p:cNvPr id="13330" name="Line 18"/>
            <p:cNvSpPr>
              <a:spLocks noChangeShapeType="1"/>
            </p:cNvSpPr>
            <p:nvPr/>
          </p:nvSpPr>
          <p:spPr bwMode="auto">
            <a:xfrm>
              <a:off x="4186238" y="2228851"/>
              <a:ext cx="0" cy="66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31" name="Line 19"/>
            <p:cNvSpPr>
              <a:spLocks noChangeShapeType="1"/>
            </p:cNvSpPr>
            <p:nvPr/>
          </p:nvSpPr>
          <p:spPr bwMode="auto">
            <a:xfrm>
              <a:off x="4210050" y="2228851"/>
              <a:ext cx="0" cy="66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32" name="Line 20"/>
            <p:cNvSpPr>
              <a:spLocks noChangeShapeType="1"/>
            </p:cNvSpPr>
            <p:nvPr/>
          </p:nvSpPr>
          <p:spPr bwMode="auto">
            <a:xfrm flipH="1" flipV="1">
              <a:off x="4262438" y="2386014"/>
              <a:ext cx="114300" cy="28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33" name="Line 21"/>
            <p:cNvSpPr>
              <a:spLocks noChangeShapeType="1"/>
            </p:cNvSpPr>
            <p:nvPr/>
          </p:nvSpPr>
          <p:spPr bwMode="auto">
            <a:xfrm>
              <a:off x="4457701" y="2324100"/>
              <a:ext cx="5810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34" name="Text Box 22"/>
            <p:cNvSpPr txBox="1">
              <a:spLocks noChangeArrowheads="1"/>
            </p:cNvSpPr>
            <p:nvPr/>
          </p:nvSpPr>
          <p:spPr bwMode="auto">
            <a:xfrm>
              <a:off x="5245894" y="2208610"/>
              <a:ext cx="862480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prstClr val="black"/>
                  </a:solidFill>
                  <a:cs typeface="Arial" pitchFamily="34" charset="0"/>
                </a:rPr>
                <a:t>·</a:t>
              </a:r>
              <a:r>
                <a:rPr lang="en-GB" sz="1350">
                  <a:solidFill>
                    <a:prstClr val="black"/>
                  </a:solidFill>
                </a:rPr>
                <a:t>CH</a:t>
              </a:r>
              <a:r>
                <a:rPr lang="en-GB" sz="1350" baseline="-25000">
                  <a:solidFill>
                    <a:prstClr val="black"/>
                  </a:solidFill>
                </a:rPr>
                <a:t>3</a:t>
              </a:r>
              <a:r>
                <a:rPr lang="en-GB" sz="1350">
                  <a:solidFill>
                    <a:prstClr val="black"/>
                  </a:solidFill>
                </a:rPr>
                <a:t>+CO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3335" name="Text Box 23"/>
            <p:cNvSpPr txBox="1">
              <a:spLocks noChangeArrowheads="1"/>
            </p:cNvSpPr>
            <p:nvPr/>
          </p:nvSpPr>
          <p:spPr bwMode="auto">
            <a:xfrm>
              <a:off x="4483894" y="1999060"/>
              <a:ext cx="447558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fast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3340" name="Text Box 28"/>
            <p:cNvSpPr txBox="1">
              <a:spLocks noChangeArrowheads="1"/>
            </p:cNvSpPr>
            <p:nvPr/>
          </p:nvSpPr>
          <p:spPr bwMode="auto">
            <a:xfrm>
              <a:off x="2797969" y="2332435"/>
              <a:ext cx="590226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 dirty="0">
                  <a:solidFill>
                    <a:prstClr val="black"/>
                  </a:solidFill>
                </a:rPr>
                <a:t>pump</a:t>
              </a:r>
              <a:endParaRPr lang="en-US" sz="1350" i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3E11F25-C3B3-4D41-9971-FB411D20AB2B}"/>
              </a:ext>
            </a:extLst>
          </p:cNvPr>
          <p:cNvGrpSpPr/>
          <p:nvPr/>
        </p:nvGrpSpPr>
        <p:grpSpPr>
          <a:xfrm>
            <a:off x="6317695" y="2063617"/>
            <a:ext cx="2318503" cy="784667"/>
            <a:chOff x="5093494" y="3152775"/>
            <a:chExt cx="2318503" cy="784667"/>
          </a:xfrm>
        </p:grpSpPr>
        <p:sp>
          <p:nvSpPr>
            <p:cNvPr id="13336" name="Text Box 24"/>
            <p:cNvSpPr txBox="1">
              <a:spLocks noChangeArrowheads="1"/>
            </p:cNvSpPr>
            <p:nvPr/>
          </p:nvSpPr>
          <p:spPr bwMode="auto">
            <a:xfrm>
              <a:off x="5093494" y="3256360"/>
              <a:ext cx="657552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dirty="0">
                  <a:solidFill>
                    <a:prstClr val="black"/>
                  </a:solidFill>
                </a:rPr>
                <a:t>2 </a:t>
              </a:r>
              <a:r>
                <a:rPr lang="en-US" sz="1350" dirty="0">
                  <a:solidFill>
                    <a:prstClr val="black"/>
                  </a:solidFill>
                  <a:cs typeface="Arial" pitchFamily="34" charset="0"/>
                </a:rPr>
                <a:t>·</a:t>
              </a:r>
              <a:r>
                <a:rPr lang="en-GB" sz="1350" dirty="0">
                  <a:solidFill>
                    <a:prstClr val="black"/>
                  </a:solidFill>
                </a:rPr>
                <a:t>CH</a:t>
              </a:r>
              <a:r>
                <a:rPr lang="en-GB" sz="1350" baseline="-25000" dirty="0">
                  <a:solidFill>
                    <a:prstClr val="black"/>
                  </a:solidFill>
                </a:rPr>
                <a:t>3</a:t>
              </a:r>
              <a:endParaRPr lang="en-GB" sz="1350" dirty="0">
                <a:solidFill>
                  <a:prstClr val="black"/>
                </a:solidFill>
                <a:cs typeface="Arial" pitchFamily="34" charset="0"/>
              </a:endParaRPr>
            </a:p>
          </p:txBody>
        </p:sp>
        <p:sp>
          <p:nvSpPr>
            <p:cNvPr id="13337" name="Text Box 25"/>
            <p:cNvSpPr txBox="1">
              <a:spLocks noChangeArrowheads="1"/>
            </p:cNvSpPr>
            <p:nvPr/>
          </p:nvSpPr>
          <p:spPr bwMode="auto">
            <a:xfrm>
              <a:off x="6874670" y="3256360"/>
              <a:ext cx="537327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C</a:t>
              </a:r>
              <a:r>
                <a:rPr lang="en-GB" sz="1350" baseline="-25000">
                  <a:solidFill>
                    <a:prstClr val="black"/>
                  </a:solidFill>
                </a:rPr>
                <a:t>2</a:t>
              </a:r>
              <a:r>
                <a:rPr lang="en-GB" sz="1350">
                  <a:solidFill>
                    <a:prstClr val="black"/>
                  </a:solidFill>
                </a:rPr>
                <a:t>H</a:t>
              </a:r>
              <a:r>
                <a:rPr lang="en-GB" sz="1350" baseline="-2500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13338" name="Line 26"/>
            <p:cNvSpPr>
              <a:spLocks noChangeShapeType="1"/>
            </p:cNvSpPr>
            <p:nvPr/>
          </p:nvSpPr>
          <p:spPr bwMode="auto">
            <a:xfrm>
              <a:off x="5800726" y="3394472"/>
              <a:ext cx="1057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39" name="AutoShape 27"/>
            <p:cNvSpPr>
              <a:spLocks noChangeArrowheads="1"/>
            </p:cNvSpPr>
            <p:nvPr/>
          </p:nvSpPr>
          <p:spPr bwMode="auto">
            <a:xfrm>
              <a:off x="6267450" y="3152775"/>
              <a:ext cx="76200" cy="514350"/>
            </a:xfrm>
            <a:prstGeom prst="upArrow">
              <a:avLst>
                <a:gd name="adj1" fmla="val 50000"/>
                <a:gd name="adj2" fmla="val 168750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3341" name="Text Box 29"/>
            <p:cNvSpPr txBox="1">
              <a:spLocks noChangeArrowheads="1"/>
            </p:cNvSpPr>
            <p:nvPr/>
          </p:nvSpPr>
          <p:spPr bwMode="auto">
            <a:xfrm>
              <a:off x="6026945" y="3637360"/>
              <a:ext cx="595035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</a:rPr>
                <a:t>probe</a:t>
              </a:r>
              <a:endParaRPr lang="en-US" sz="1350" i="1">
                <a:solidFill>
                  <a:prstClr val="black"/>
                </a:solidFill>
              </a:endParaRPr>
            </a:p>
          </p:txBody>
        </p:sp>
      </p:grpSp>
      <p:sp>
        <p:nvSpPr>
          <p:cNvPr id="13343" name="Rectangle 31"/>
          <p:cNvSpPr>
            <a:spLocks noChangeArrowheads="1"/>
          </p:cNvSpPr>
          <p:nvPr/>
        </p:nvSpPr>
        <p:spPr bwMode="auto">
          <a:xfrm>
            <a:off x="48546" y="3420182"/>
            <a:ext cx="9095454" cy="281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“Pump” pulse can </a:t>
            </a:r>
          </a:p>
          <a:p>
            <a:pPr marL="557213" lvl="1" indent="-214313">
              <a:spcBef>
                <a:spcPct val="20000"/>
              </a:spcBef>
              <a:buFontTx/>
              <a:buChar char="–"/>
            </a:pPr>
            <a:r>
              <a:rPr lang="en-GB" dirty="0">
                <a:solidFill>
                  <a:prstClr val="black"/>
                </a:solidFill>
              </a:rPr>
              <a:t>Break bonds to give radicals</a:t>
            </a:r>
          </a:p>
          <a:p>
            <a:pPr marL="557213" lvl="1" indent="-214313">
              <a:spcBef>
                <a:spcPct val="20000"/>
              </a:spcBef>
              <a:buFontTx/>
              <a:buChar char="–"/>
            </a:pPr>
            <a:r>
              <a:rPr lang="en-GB" dirty="0">
                <a:solidFill>
                  <a:prstClr val="black"/>
                </a:solidFill>
              </a:rPr>
              <a:t>Generate electronically excited states</a:t>
            </a:r>
          </a:p>
          <a:p>
            <a:pPr marL="557213" lvl="1" indent="-214313">
              <a:spcBef>
                <a:spcPct val="20000"/>
              </a:spcBef>
              <a:buFontTx/>
              <a:buChar char="–"/>
            </a:pPr>
            <a:r>
              <a:rPr lang="en-GB" dirty="0">
                <a:solidFill>
                  <a:prstClr val="black"/>
                </a:solidFill>
              </a:rPr>
              <a:t>Remove a (designed light-sensitive) protecting group from, e.g., an enzyme</a:t>
            </a:r>
          </a:p>
          <a:p>
            <a:pPr marL="557213" lvl="1" indent="-214313">
              <a:spcBef>
                <a:spcPct val="20000"/>
              </a:spcBef>
              <a:buFontTx/>
              <a:buChar char="–"/>
            </a:pPr>
            <a:r>
              <a:rPr lang="en-GB" dirty="0">
                <a:solidFill>
                  <a:prstClr val="black"/>
                </a:solidFill>
              </a:rPr>
              <a:t>Produce a precursor which (quickly) produces reagent </a:t>
            </a:r>
          </a:p>
          <a:p>
            <a:pPr marL="557213" lvl="1" indent="-214313">
              <a:spcBef>
                <a:spcPct val="20000"/>
              </a:spcBef>
              <a:buFontTx/>
              <a:buChar char="–"/>
            </a:pPr>
            <a:r>
              <a:rPr lang="en-GB" dirty="0">
                <a:solidFill>
                  <a:prstClr val="black"/>
                </a:solidFill>
              </a:rPr>
              <a:t>Heat; by (a) mixing a dye that absorbs at a certain wavelength, or(b) using an IR pulse tuned to, </a:t>
            </a:r>
            <a:r>
              <a:rPr lang="en-GB" dirty="0" err="1">
                <a:solidFill>
                  <a:prstClr val="black"/>
                </a:solidFill>
              </a:rPr>
              <a:t>eg</a:t>
            </a:r>
            <a:r>
              <a:rPr lang="en-GB" dirty="0">
                <a:solidFill>
                  <a:prstClr val="black"/>
                </a:solidFill>
              </a:rPr>
              <a:t>, OH stretch in water.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A36594-6960-26E5-ED03-0366E83EC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274638"/>
            <a:ext cx="6192838" cy="1143000"/>
          </a:xfrm>
        </p:spPr>
        <p:txBody>
          <a:bodyPr/>
          <a:lstStyle/>
          <a:p>
            <a:r>
              <a:rPr lang="en-GB" dirty="0"/>
              <a:t>Photolysis of Acetone </a:t>
            </a:r>
            <a:br>
              <a:rPr lang="en-GB" dirty="0"/>
            </a:br>
            <a:r>
              <a:rPr lang="en-GB" dirty="0"/>
              <a:t>to produce methyl radicals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5955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3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3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3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3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Designing a pump-probe experiment</a:t>
            </a:r>
            <a:endParaRPr lang="en-US" sz="3000" dirty="0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1600200" y="4229100"/>
            <a:ext cx="630555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84743" y="3712746"/>
            <a:ext cx="8988136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Pump beam is intense (to cause chemical change)</a:t>
            </a:r>
          </a:p>
          <a:p>
            <a:pPr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Probe beam is </a:t>
            </a:r>
            <a:r>
              <a:rPr lang="en-GB" i="1" dirty="0">
                <a:solidFill>
                  <a:prstClr val="black"/>
                </a:solidFill>
              </a:rPr>
              <a:t>not</a:t>
            </a:r>
            <a:r>
              <a:rPr lang="en-GB" dirty="0">
                <a:solidFill>
                  <a:prstClr val="black"/>
                </a:solidFill>
              </a:rPr>
              <a:t> intense (this should not cause chemical change!)</a:t>
            </a:r>
          </a:p>
          <a:p>
            <a:pPr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…so shine in different directions (so pump pulse doesn’t ruin your light detector)</a:t>
            </a:r>
          </a:p>
          <a:p>
            <a:pPr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Pump beam travels across width of cell (so ensure uniform illumination). Probe beam travels along length of cell (increase signal)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B097F6-54EC-4AC7-9291-FAFD92628DC3}"/>
              </a:ext>
            </a:extLst>
          </p:cNvPr>
          <p:cNvGrpSpPr/>
          <p:nvPr/>
        </p:nvGrpSpPr>
        <p:grpSpPr>
          <a:xfrm>
            <a:off x="1570037" y="1569666"/>
            <a:ext cx="6159790" cy="1879721"/>
            <a:chOff x="1685926" y="2113360"/>
            <a:chExt cx="6159790" cy="1879721"/>
          </a:xfrm>
        </p:grpSpPr>
        <p:sp>
          <p:nvSpPr>
            <p:cNvPr id="14340" name="Rectangle 4"/>
            <p:cNvSpPr>
              <a:spLocks noChangeArrowheads="1"/>
            </p:cNvSpPr>
            <p:nvPr/>
          </p:nvSpPr>
          <p:spPr bwMode="auto">
            <a:xfrm>
              <a:off x="3057526" y="2581276"/>
              <a:ext cx="2676525" cy="4476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41" name="Text Box 5"/>
            <p:cNvSpPr txBox="1">
              <a:spLocks noChangeArrowheads="1"/>
            </p:cNvSpPr>
            <p:nvPr/>
          </p:nvSpPr>
          <p:spPr bwMode="auto">
            <a:xfrm>
              <a:off x="4874420" y="2113360"/>
              <a:ext cx="1027845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Sample cell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4342" name="AutoShape 6"/>
            <p:cNvSpPr>
              <a:spLocks noChangeArrowheads="1"/>
            </p:cNvSpPr>
            <p:nvPr/>
          </p:nvSpPr>
          <p:spPr bwMode="auto">
            <a:xfrm>
              <a:off x="3095625" y="3076576"/>
              <a:ext cx="2686050" cy="333375"/>
            </a:xfrm>
            <a:prstGeom prst="upArrow">
              <a:avLst>
                <a:gd name="adj1" fmla="val 50000"/>
                <a:gd name="adj2" fmla="val 56431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43" name="Text Box 7"/>
            <p:cNvSpPr txBox="1">
              <a:spLocks noChangeArrowheads="1"/>
            </p:cNvSpPr>
            <p:nvPr/>
          </p:nvSpPr>
          <p:spPr bwMode="auto">
            <a:xfrm>
              <a:off x="4157664" y="3128962"/>
              <a:ext cx="617477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srgbClr val="FF0000"/>
                  </a:solidFill>
                </a:rPr>
                <a:t>Pump</a:t>
              </a:r>
              <a:endParaRPr lang="en-US" sz="1350">
                <a:solidFill>
                  <a:srgbClr val="FF0000"/>
                </a:solidFill>
              </a:endParaRPr>
            </a:p>
          </p:txBody>
        </p:sp>
        <p:sp>
          <p:nvSpPr>
            <p:cNvPr id="14344" name="Line 8"/>
            <p:cNvSpPr>
              <a:spLocks noChangeShapeType="1"/>
            </p:cNvSpPr>
            <p:nvPr/>
          </p:nvSpPr>
          <p:spPr bwMode="auto">
            <a:xfrm flipV="1">
              <a:off x="3257550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45" name="Line 9"/>
            <p:cNvSpPr>
              <a:spLocks noChangeShapeType="1"/>
            </p:cNvSpPr>
            <p:nvPr/>
          </p:nvSpPr>
          <p:spPr bwMode="auto">
            <a:xfrm flipV="1">
              <a:off x="3514725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46" name="Line 10"/>
            <p:cNvSpPr>
              <a:spLocks noChangeShapeType="1"/>
            </p:cNvSpPr>
            <p:nvPr/>
          </p:nvSpPr>
          <p:spPr bwMode="auto">
            <a:xfrm flipV="1">
              <a:off x="3771900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47" name="Line 11"/>
            <p:cNvSpPr>
              <a:spLocks noChangeShapeType="1"/>
            </p:cNvSpPr>
            <p:nvPr/>
          </p:nvSpPr>
          <p:spPr bwMode="auto">
            <a:xfrm flipV="1">
              <a:off x="4029075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48" name="Line 12"/>
            <p:cNvSpPr>
              <a:spLocks noChangeShapeType="1"/>
            </p:cNvSpPr>
            <p:nvPr/>
          </p:nvSpPr>
          <p:spPr bwMode="auto">
            <a:xfrm flipV="1">
              <a:off x="4286250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49" name="Line 13"/>
            <p:cNvSpPr>
              <a:spLocks noChangeShapeType="1"/>
            </p:cNvSpPr>
            <p:nvPr/>
          </p:nvSpPr>
          <p:spPr bwMode="auto">
            <a:xfrm flipV="1">
              <a:off x="4543425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50" name="Line 14"/>
            <p:cNvSpPr>
              <a:spLocks noChangeShapeType="1"/>
            </p:cNvSpPr>
            <p:nvPr/>
          </p:nvSpPr>
          <p:spPr bwMode="auto">
            <a:xfrm flipV="1">
              <a:off x="4800600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 flipV="1">
              <a:off x="5057775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 flipV="1">
              <a:off x="5314950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 flipV="1">
              <a:off x="5572125" y="2476500"/>
              <a:ext cx="0" cy="590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54" name="Text Box 18"/>
            <p:cNvSpPr txBox="1">
              <a:spLocks noChangeArrowheads="1"/>
            </p:cNvSpPr>
            <p:nvPr/>
          </p:nvSpPr>
          <p:spPr bwMode="auto">
            <a:xfrm>
              <a:off x="2362201" y="2500312"/>
              <a:ext cx="766763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350" b="1">
                  <a:solidFill>
                    <a:srgbClr val="4F81BD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Probe</a:t>
              </a:r>
              <a:endParaRPr lang="en-US" sz="1350" b="1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pic>
          <p:nvPicPr>
            <p:cNvPr id="14357" name="Picture 2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136481" y="2471739"/>
              <a:ext cx="471488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358" name="AutoShape 22"/>
            <p:cNvSpPr>
              <a:spLocks noChangeArrowheads="1"/>
            </p:cNvSpPr>
            <p:nvPr/>
          </p:nvSpPr>
          <p:spPr bwMode="auto">
            <a:xfrm>
              <a:off x="2376489" y="2724151"/>
              <a:ext cx="3736181" cy="142875"/>
            </a:xfrm>
            <a:prstGeom prst="rightArrow">
              <a:avLst>
                <a:gd name="adj1" fmla="val 28574"/>
                <a:gd name="adj2" fmla="val 21428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pic>
          <p:nvPicPr>
            <p:cNvPr id="14359" name="Picture 2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05000" y="2605088"/>
              <a:ext cx="471488" cy="385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360" name="Picture 2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038476" y="3438525"/>
              <a:ext cx="2728913" cy="471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361" name="Text Box 25"/>
            <p:cNvSpPr txBox="1">
              <a:spLocks noChangeArrowheads="1"/>
            </p:cNvSpPr>
            <p:nvPr/>
          </p:nvSpPr>
          <p:spPr bwMode="auto">
            <a:xfrm>
              <a:off x="3102769" y="3506391"/>
              <a:ext cx="686406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white"/>
                  </a:solidFill>
                </a:rPr>
                <a:t>Light 1</a:t>
              </a: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4362" name="Text Box 26"/>
            <p:cNvSpPr txBox="1">
              <a:spLocks noChangeArrowheads="1"/>
            </p:cNvSpPr>
            <p:nvPr/>
          </p:nvSpPr>
          <p:spPr bwMode="auto">
            <a:xfrm>
              <a:off x="1685926" y="2196703"/>
              <a:ext cx="686406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Light 2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4363" name="Freeform 27"/>
            <p:cNvSpPr>
              <a:spLocks/>
            </p:cNvSpPr>
            <p:nvPr/>
          </p:nvSpPr>
          <p:spPr bwMode="auto">
            <a:xfrm>
              <a:off x="1699023" y="2443163"/>
              <a:ext cx="172640" cy="335756"/>
            </a:xfrm>
            <a:custGeom>
              <a:avLst/>
              <a:gdLst/>
              <a:ahLst/>
              <a:cxnLst>
                <a:cxn ang="0">
                  <a:pos x="145" y="282"/>
                </a:cxn>
                <a:cxn ang="0">
                  <a:pos x="1" y="144"/>
                </a:cxn>
                <a:cxn ang="0">
                  <a:pos x="139" y="0"/>
                </a:cxn>
              </a:cxnLst>
              <a:rect l="0" t="0" r="r" b="b"/>
              <a:pathLst>
                <a:path w="145" h="282">
                  <a:moveTo>
                    <a:pt x="145" y="282"/>
                  </a:moveTo>
                  <a:cubicBezTo>
                    <a:pt x="73" y="236"/>
                    <a:pt x="2" y="191"/>
                    <a:pt x="1" y="144"/>
                  </a:cubicBezTo>
                  <a:cubicBezTo>
                    <a:pt x="0" y="97"/>
                    <a:pt x="69" y="48"/>
                    <a:pt x="13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66" name="Line 30"/>
            <p:cNvSpPr>
              <a:spLocks noChangeShapeType="1"/>
            </p:cNvSpPr>
            <p:nvPr/>
          </p:nvSpPr>
          <p:spPr bwMode="auto">
            <a:xfrm flipH="1">
              <a:off x="4648200" y="2362201"/>
              <a:ext cx="247650" cy="219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67" name="Text Box 31"/>
            <p:cNvSpPr txBox="1">
              <a:spLocks noChangeArrowheads="1"/>
            </p:cNvSpPr>
            <p:nvPr/>
          </p:nvSpPr>
          <p:spPr bwMode="auto">
            <a:xfrm>
              <a:off x="6617495" y="2427686"/>
              <a:ext cx="1228221" cy="7155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>
                  <a:solidFill>
                    <a:prstClr val="black"/>
                  </a:solidFill>
                </a:rPr>
                <a:t>Light detector</a:t>
              </a:r>
            </a:p>
            <a:p>
              <a:r>
                <a:rPr lang="en-GB" sz="1350">
                  <a:solidFill>
                    <a:prstClr val="black"/>
                  </a:solidFill>
                </a:rPr>
                <a:t>Eg</a:t>
              </a:r>
            </a:p>
            <a:p>
              <a:r>
                <a:rPr lang="en-GB" sz="1350">
                  <a:solidFill>
                    <a:prstClr val="black"/>
                  </a:solidFill>
                </a:rPr>
                <a:t>Photodiode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4368" name="Text Box 32"/>
            <p:cNvSpPr txBox="1">
              <a:spLocks noChangeArrowheads="1"/>
            </p:cNvSpPr>
            <p:nvPr/>
          </p:nvSpPr>
          <p:spPr bwMode="auto">
            <a:xfrm>
              <a:off x="1733551" y="3381375"/>
              <a:ext cx="1076325" cy="6117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350">
                  <a:solidFill>
                    <a:prstClr val="black"/>
                  </a:solidFill>
                </a:rPr>
                <a:t>Timing</a:t>
              </a:r>
            </a:p>
            <a:p>
              <a:pPr>
                <a:spcBef>
                  <a:spcPct val="50000"/>
                </a:spcBef>
              </a:pPr>
              <a:r>
                <a:rPr lang="en-GB" sz="1350">
                  <a:solidFill>
                    <a:prstClr val="black"/>
                  </a:solidFill>
                </a:rPr>
                <a:t>electronics</a:t>
              </a:r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4369" name="Line 33"/>
            <p:cNvSpPr>
              <a:spLocks noChangeShapeType="1"/>
            </p:cNvSpPr>
            <p:nvPr/>
          </p:nvSpPr>
          <p:spPr bwMode="auto">
            <a:xfrm flipH="1">
              <a:off x="2800350" y="3752850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14370" name="Line 34"/>
            <p:cNvSpPr>
              <a:spLocks noChangeShapeType="1"/>
            </p:cNvSpPr>
            <p:nvPr/>
          </p:nvSpPr>
          <p:spPr bwMode="auto">
            <a:xfrm flipV="1">
              <a:off x="2143125" y="2971800"/>
              <a:ext cx="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837049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4499-0D6C-40B3-89DF-CDEF9DCF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Laser ablation of nanoparticles</a:t>
            </a:r>
          </a:p>
        </p:txBody>
      </p:sp>
      <p:pic>
        <p:nvPicPr>
          <p:cNvPr id="4" name="Online Media 3" title="Nanoparticle Synthesis: Laser Ablation in Liquid">
            <a:hlinkClick r:id="" action="ppaction://media"/>
            <a:extLst>
              <a:ext uri="{FF2B5EF4-FFF2-40B4-BE49-F238E27FC236}">
                <a16:creationId xmlns:a16="http://schemas.microsoft.com/office/drawing/2014/main" id="{2C58A70A-E9E0-42E8-A473-3AD7D265292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35696" y="1988840"/>
            <a:ext cx="5379814" cy="30396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6DCD94-26D4-4346-ACE2-F8CCFAB4B82B}"/>
              </a:ext>
            </a:extLst>
          </p:cNvPr>
          <p:cNvSpPr txBox="1"/>
          <p:nvPr/>
        </p:nvSpPr>
        <p:spPr>
          <a:xfrm>
            <a:off x="4832251" y="5368093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https://youtu.be/m_ScOUNAdlM?t=101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DE82B-476F-1674-3D8B-7A895FAA3D88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8210040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4499-0D6C-40B3-89DF-CDEF9DCF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Laser ablation of nanoparticles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DCD94-26D4-4346-ACE2-F8CCFAB4B82B}"/>
              </a:ext>
            </a:extLst>
          </p:cNvPr>
          <p:cNvSpPr txBox="1"/>
          <p:nvPr/>
        </p:nvSpPr>
        <p:spPr>
          <a:xfrm>
            <a:off x="4419253" y="6398696"/>
            <a:ext cx="472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222222"/>
                </a:solidFill>
                <a:latin typeface="+mj-lt"/>
              </a:rPr>
              <a:t>Lam, J., Lombard, J., Dujardin, C., Ledoux, G., </a:t>
            </a:r>
            <a:r>
              <a:rPr lang="en-GB" sz="900" dirty="0" err="1">
                <a:solidFill>
                  <a:srgbClr val="222222"/>
                </a:solidFill>
                <a:latin typeface="+mj-lt"/>
              </a:rPr>
              <a:t>Merabia</a:t>
            </a:r>
            <a:r>
              <a:rPr lang="en-GB" sz="900" dirty="0">
                <a:solidFill>
                  <a:srgbClr val="222222"/>
                </a:solidFill>
                <a:latin typeface="+mj-lt"/>
              </a:rPr>
              <a:t>, S., &amp; </a:t>
            </a:r>
            <a:r>
              <a:rPr lang="en-GB" sz="900" dirty="0" err="1">
                <a:solidFill>
                  <a:srgbClr val="222222"/>
                </a:solidFill>
                <a:latin typeface="+mj-lt"/>
              </a:rPr>
              <a:t>Amans</a:t>
            </a:r>
            <a:r>
              <a:rPr lang="en-GB" sz="900" dirty="0">
                <a:solidFill>
                  <a:srgbClr val="222222"/>
                </a:solidFill>
                <a:latin typeface="+mj-lt"/>
              </a:rPr>
              <a:t>, D. (2016). Dynamical study of bubble expansion following laser ablation in liquids. </a:t>
            </a:r>
            <a:r>
              <a:rPr lang="en-GB" sz="900" i="1" dirty="0">
                <a:solidFill>
                  <a:srgbClr val="222222"/>
                </a:solidFill>
                <a:latin typeface="+mj-lt"/>
              </a:rPr>
              <a:t>Applied Physics Letters</a:t>
            </a:r>
            <a:r>
              <a:rPr lang="en-GB" sz="900" dirty="0">
                <a:solidFill>
                  <a:srgbClr val="222222"/>
                </a:solidFill>
                <a:latin typeface="+mj-lt"/>
              </a:rPr>
              <a:t>, </a:t>
            </a:r>
            <a:r>
              <a:rPr lang="en-GB" sz="900" i="1" dirty="0">
                <a:solidFill>
                  <a:srgbClr val="222222"/>
                </a:solidFill>
                <a:latin typeface="+mj-lt"/>
              </a:rPr>
              <a:t>108</a:t>
            </a:r>
            <a:r>
              <a:rPr lang="en-GB" sz="900" dirty="0">
                <a:solidFill>
                  <a:srgbClr val="222222"/>
                </a:solidFill>
                <a:latin typeface="+mj-lt"/>
              </a:rPr>
              <a:t>(7), 074104.</a:t>
            </a:r>
            <a:endParaRPr lang="en-GB" sz="9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147D40-5DCA-40F9-A8C4-38246C1C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70" y="1697833"/>
            <a:ext cx="6654061" cy="39435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5948C3-0295-00B8-FBA2-34F502E94463}"/>
              </a:ext>
            </a:extLst>
          </p:cNvPr>
          <p:cNvSpPr txBox="1"/>
          <p:nvPr/>
        </p:nvSpPr>
        <p:spPr>
          <a:xfrm>
            <a:off x="0" y="651944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368010935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64142" y="2161425"/>
            <a:ext cx="2400300" cy="1905000"/>
            <a:chOff x="1160" y="2264"/>
            <a:chExt cx="4200" cy="160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324" y="2441"/>
              <a:ext cx="1920" cy="396"/>
              <a:chOff x="820" y="2381"/>
              <a:chExt cx="2368" cy="396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820" y="2381"/>
                <a:ext cx="592" cy="396"/>
                <a:chOff x="1860" y="1595"/>
                <a:chExt cx="1681" cy="1124"/>
              </a:xfrm>
            </p:grpSpPr>
            <p:sp>
              <p:nvSpPr>
                <p:cNvPr id="35846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47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48" name="Freeform 8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49" name="Freeform 9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0" name="Freeform 10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1" name="Freeform 11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2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3" name="Freeform 13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4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5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6" name="Freeform 16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7" name="Line 17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8" name="Line 18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59" name="Line 19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0" name="Line 20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1" name="Freeform 21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2" name="Freeform 22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3" name="Freeform 23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4" name="Freeform 24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5" name="Line 25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6" name="Line 26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7" name="Line 27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8" name="Line 28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69" name="Line 29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0" name="Line 30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1" name="Line 31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2" name="Freeform 32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3" name="Line 33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4" name="Freeform 34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5" name="Freeform 35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6" name="Freeform 36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7" name="Line 37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8" name="Freeform 38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79" name="Line 39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0" name="Freeform 40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1" name="Line 41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2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3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4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5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6" name="Freeform 46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7" name="Freeform 47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8" name="Freeform 48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89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1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2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3" name="Freeform 53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4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5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5" name="Group 56"/>
              <p:cNvGrpSpPr>
                <a:grpSpLocks/>
              </p:cNvGrpSpPr>
              <p:nvPr/>
            </p:nvGrpSpPr>
            <p:grpSpPr bwMode="auto">
              <a:xfrm>
                <a:off x="1412" y="2381"/>
                <a:ext cx="592" cy="396"/>
                <a:chOff x="1860" y="1595"/>
                <a:chExt cx="1681" cy="1124"/>
              </a:xfrm>
            </p:grpSpPr>
            <p:sp>
              <p:nvSpPr>
                <p:cNvPr id="35897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8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899" name="Freeform 59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0" name="Freeform 60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1" name="Freeform 61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2" name="Freeform 62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3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4" name="Freeform 64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5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6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7" name="Freeform 67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8" name="Line 68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09" name="Line 69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0" name="Line 70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1" name="Line 71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2" name="Freeform 72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3" name="Freeform 73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4" name="Freeform 74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5" name="Freeform 75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6" name="Line 76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7" name="Line 77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8" name="Line 78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19" name="Line 79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0" name="Line 80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1" name="Line 81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2" name="Line 82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3" name="Freeform 83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4" name="Line 84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5" name="Freeform 85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6" name="Freeform 86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7" name="Freeform 87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8" name="Line 88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29" name="Freeform 89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0" name="Line 90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1" name="Freeform 91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2" name="Line 92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3" name="Line 93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4" name="Line 94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5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6" name="Line 96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7" name="Freeform 97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8" name="Freeform 98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39" name="Freeform 99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0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1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2" name="Line 102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3" name="Line 103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4" name="Freeform 104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5" name="Line 105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6" name="Line 106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6" name="Group 107"/>
              <p:cNvGrpSpPr>
                <a:grpSpLocks/>
              </p:cNvGrpSpPr>
              <p:nvPr/>
            </p:nvGrpSpPr>
            <p:grpSpPr bwMode="auto">
              <a:xfrm>
                <a:off x="2004" y="2381"/>
                <a:ext cx="592" cy="396"/>
                <a:chOff x="1860" y="1595"/>
                <a:chExt cx="1681" cy="1124"/>
              </a:xfrm>
            </p:grpSpPr>
            <p:sp>
              <p:nvSpPr>
                <p:cNvPr id="35948" name="Line 108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49" name="Line 109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0" name="Freeform 110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1" name="Freeform 111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2" name="Freeform 112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3" name="Freeform 113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4" name="Line 114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5" name="Freeform 115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6" name="Line 116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7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8" name="Freeform 118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59" name="Line 119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0" name="Line 120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1" name="Line 121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2" name="Line 122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3" name="Freeform 123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4" name="Freeform 124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5" name="Freeform 125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6" name="Freeform 126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7" name="Line 127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8" name="Line 128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69" name="Line 129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0" name="Line 130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1" name="Line 131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2" name="Line 132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3" name="Line 133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4" name="Freeform 134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5" name="Line 135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6" name="Freeform 136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7" name="Freeform 137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8" name="Freeform 138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79" name="Line 139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0" name="Freeform 140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1" name="Line 141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2" name="Freeform 142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3" name="Line 143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4" name="Line 144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5" name="Line 145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6" name="Line 146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7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8" name="Freeform 148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89" name="Freeform 149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0" name="Freeform 150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1" name="Line 151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2" name="Line 152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3" name="Line 153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4" name="Line 154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5" name="Freeform 155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6" name="Line 156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997" name="Line 157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7" name="Group 158"/>
              <p:cNvGrpSpPr>
                <a:grpSpLocks/>
              </p:cNvGrpSpPr>
              <p:nvPr/>
            </p:nvGrpSpPr>
            <p:grpSpPr bwMode="auto">
              <a:xfrm>
                <a:off x="2596" y="2381"/>
                <a:ext cx="592" cy="396"/>
                <a:chOff x="1860" y="1595"/>
                <a:chExt cx="1681" cy="1124"/>
              </a:xfrm>
            </p:grpSpPr>
            <p:sp>
              <p:nvSpPr>
                <p:cNvPr id="35999" name="Line 159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0" name="Line 160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1" name="Freeform 161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2" name="Freeform 162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3" name="Freeform 163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4" name="Freeform 164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5" name="Line 165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6" name="Freeform 166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7" name="Line 167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8" name="Line 168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09" name="Freeform 169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0" name="Line 170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1" name="Line 171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2" name="Line 172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3" name="Line 173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4" name="Freeform 174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5" name="Freeform 175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6" name="Freeform 176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7" name="Freeform 177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8" name="Line 178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19" name="Line 179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0" name="Line 180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1" name="Line 181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2" name="Line 182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3" name="Line 183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4" name="Line 184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5" name="Freeform 185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6" name="Line 186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7" name="Freeform 187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8" name="Freeform 188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29" name="Freeform 189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0" name="Line 190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1" name="Freeform 191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2" name="Line 192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3" name="Freeform 193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4" name="Line 194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5" name="Line 195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6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7" name="Line 197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8" name="Line 198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39" name="Freeform 199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0" name="Freeform 200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1" name="Freeform 201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2" name="Line 202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3" name="Line 203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4" name="Line 204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5" name="Line 205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6" name="Freeform 206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7" name="Line 207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48" name="Line 208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8" name="Group 209"/>
            <p:cNvGrpSpPr>
              <a:grpSpLocks/>
            </p:cNvGrpSpPr>
            <p:nvPr/>
          </p:nvGrpSpPr>
          <p:grpSpPr bwMode="auto">
            <a:xfrm>
              <a:off x="1324" y="3305"/>
              <a:ext cx="3864" cy="396"/>
              <a:chOff x="820" y="2381"/>
              <a:chExt cx="2368" cy="396"/>
            </a:xfrm>
          </p:grpSpPr>
          <p:grpSp>
            <p:nvGrpSpPr>
              <p:cNvPr id="9" name="Group 210"/>
              <p:cNvGrpSpPr>
                <a:grpSpLocks/>
              </p:cNvGrpSpPr>
              <p:nvPr/>
            </p:nvGrpSpPr>
            <p:grpSpPr bwMode="auto">
              <a:xfrm>
                <a:off x="820" y="2381"/>
                <a:ext cx="592" cy="396"/>
                <a:chOff x="1860" y="1595"/>
                <a:chExt cx="1681" cy="1124"/>
              </a:xfrm>
            </p:grpSpPr>
            <p:sp>
              <p:nvSpPr>
                <p:cNvPr id="36051" name="Line 211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2" name="Line 212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3" name="Freeform 213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4" name="Freeform 214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5" name="Freeform 215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6" name="Freeform 216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7" name="Line 217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8" name="Freeform 218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59" name="Line 219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0" name="Line 220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1" name="Freeform 221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2" name="Line 222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3" name="Line 223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4" name="Line 224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5" name="Line 225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6" name="Freeform 226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7" name="Freeform 227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8" name="Freeform 228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69" name="Freeform 229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0" name="Line 230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1" name="Line 231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2" name="Line 232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3" name="Line 233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4" name="Line 234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5" name="Line 235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6" name="Line 236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7" name="Freeform 237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8" name="Line 238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79" name="Freeform 239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0" name="Freeform 240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1" name="Freeform 241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2" name="Line 242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3" name="Freeform 243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4" name="Line 244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5" name="Freeform 245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6" name="Line 246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7" name="Line 247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8" name="Line 248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89" name="Line 249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0" name="Line 250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1" name="Freeform 251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2" name="Freeform 252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3" name="Freeform 253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4" name="Line 254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5" name="Line 255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6" name="Line 256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7" name="Line 257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8" name="Freeform 258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099" name="Line 259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0" name="Line 260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0" name="Group 261"/>
              <p:cNvGrpSpPr>
                <a:grpSpLocks/>
              </p:cNvGrpSpPr>
              <p:nvPr/>
            </p:nvGrpSpPr>
            <p:grpSpPr bwMode="auto">
              <a:xfrm>
                <a:off x="1412" y="2381"/>
                <a:ext cx="592" cy="396"/>
                <a:chOff x="1860" y="1595"/>
                <a:chExt cx="1681" cy="1124"/>
              </a:xfrm>
            </p:grpSpPr>
            <p:sp>
              <p:nvSpPr>
                <p:cNvPr id="36102" name="Line 262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3" name="Line 263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4" name="Freeform 264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5" name="Freeform 265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6" name="Freeform 266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7" name="Freeform 267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8" name="Line 268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09" name="Freeform 269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0" name="Line 270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1" name="Line 271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2" name="Freeform 272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3" name="Line 273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4" name="Line 274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5" name="Line 275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6" name="Line 276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7" name="Freeform 277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8" name="Freeform 278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19" name="Freeform 279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0" name="Freeform 280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1" name="Line 281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2" name="Line 282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3" name="Line 283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4" name="Line 284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5" name="Line 285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6" name="Line 286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7" name="Line 287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8" name="Freeform 288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29" name="Line 289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0" name="Freeform 290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1" name="Freeform 291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2" name="Freeform 292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3" name="Line 293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4" name="Freeform 294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5" name="Line 295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6" name="Freeform 296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7" name="Line 297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8" name="Line 298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39" name="Line 299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0" name="Line 300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1" name="Line 301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2" name="Freeform 302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3" name="Freeform 303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4" name="Freeform 304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5" name="Line 305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6" name="Line 306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7" name="Line 307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8" name="Line 308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49" name="Freeform 309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0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1" name="Line 311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1" name="Group 312"/>
              <p:cNvGrpSpPr>
                <a:grpSpLocks/>
              </p:cNvGrpSpPr>
              <p:nvPr/>
            </p:nvGrpSpPr>
            <p:grpSpPr bwMode="auto">
              <a:xfrm>
                <a:off x="2004" y="2381"/>
                <a:ext cx="592" cy="396"/>
                <a:chOff x="1860" y="1595"/>
                <a:chExt cx="1681" cy="1124"/>
              </a:xfrm>
            </p:grpSpPr>
            <p:sp>
              <p:nvSpPr>
                <p:cNvPr id="36153" name="Line 313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4" name="Line 314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5" name="Freeform 315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6" name="Freeform 316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7" name="Freeform 317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8" name="Freeform 318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59" name="Line 319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0" name="Freeform 320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1" name="Line 321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2" name="Line 322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3" name="Freeform 323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4" name="Line 324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5" name="Line 325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6" name="Line 326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7" name="Line 327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8" name="Freeform 328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69" name="Freeform 329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0" name="Freeform 330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1" name="Freeform 331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2" name="Line 332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3" name="Line 333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4" name="Line 334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5" name="Line 335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6" name="Line 336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7" name="Line 337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8" name="Line 338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79" name="Freeform 339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0" name="Line 340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1" name="Freeform 341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2" name="Freeform 342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3" name="Freeform 343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4" name="Line 344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5" name="Freeform 345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6" name="Line 346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7" name="Freeform 347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8" name="Line 348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89" name="Line 349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0" name="Line 350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1" name="Line 351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2" name="Line 352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3" name="Freeform 353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4" name="Freeform 354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5" name="Freeform 355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6" name="Line 356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7" name="Line 357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8" name="Line 358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199" name="Line 359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0" name="Freeform 360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1" name="Line 361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2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2" name="Group 363"/>
              <p:cNvGrpSpPr>
                <a:grpSpLocks/>
              </p:cNvGrpSpPr>
              <p:nvPr/>
            </p:nvGrpSpPr>
            <p:grpSpPr bwMode="auto">
              <a:xfrm>
                <a:off x="2596" y="2381"/>
                <a:ext cx="592" cy="396"/>
                <a:chOff x="1860" y="1595"/>
                <a:chExt cx="1681" cy="1124"/>
              </a:xfrm>
            </p:grpSpPr>
            <p:sp>
              <p:nvSpPr>
                <p:cNvPr id="36204" name="Line 364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5" name="Line 365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6" name="Freeform 366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7" name="Freeform 367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8" name="Freeform 368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09" name="Freeform 369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0" name="Line 370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1" name="Freeform 371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2" name="Line 372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3" name="Line 373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4" name="Freeform 374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5" name="Line 375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6" name="Line 376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7" name="Line 377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8" name="Line 378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19" name="Freeform 379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0" name="Freeform 380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1" name="Freeform 381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2" name="Freeform 382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3" name="Line 383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4" name="Line 384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5" name="Line 385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6" name="Line 386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7" name="Line 387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8" name="Line 388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29" name="Line 389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0" name="Freeform 390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1" name="Line 391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2" name="Freeform 392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3" name="Freeform 393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4" name="Freeform 394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5" name="Line 395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6" name="Freeform 396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7" name="Line 397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8" name="Freeform 398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39" name="Line 399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0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1" name="Line 401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2" name="Line 402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3" name="Line 403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4" name="Freeform 404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5" name="Freeform 405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6" name="Freeform 406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7" name="Line 407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8" name="Line 408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49" name="Line 409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50" name="Line 410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51" name="Freeform 411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52" name="Line 412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53" name="Line 413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13" name="Group 414"/>
            <p:cNvGrpSpPr>
              <a:grpSpLocks/>
            </p:cNvGrpSpPr>
            <p:nvPr/>
          </p:nvGrpSpPr>
          <p:grpSpPr bwMode="auto">
            <a:xfrm>
              <a:off x="3244" y="2441"/>
              <a:ext cx="1920" cy="396"/>
              <a:chOff x="820" y="2381"/>
              <a:chExt cx="2368" cy="396"/>
            </a:xfrm>
          </p:grpSpPr>
          <p:grpSp>
            <p:nvGrpSpPr>
              <p:cNvPr id="14" name="Group 415"/>
              <p:cNvGrpSpPr>
                <a:grpSpLocks/>
              </p:cNvGrpSpPr>
              <p:nvPr/>
            </p:nvGrpSpPr>
            <p:grpSpPr bwMode="auto">
              <a:xfrm>
                <a:off x="820" y="2381"/>
                <a:ext cx="592" cy="396"/>
                <a:chOff x="1860" y="1595"/>
                <a:chExt cx="1681" cy="1124"/>
              </a:xfrm>
            </p:grpSpPr>
            <p:sp>
              <p:nvSpPr>
                <p:cNvPr id="36256" name="Line 416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57" name="Line 417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58" name="Freeform 418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59" name="Freeform 419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0" name="Freeform 420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1" name="Freeform 421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2" name="Line 422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3" name="Freeform 423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4" name="Line 424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5" name="Line 425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6" name="Freeform 426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7" name="Line 427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8" name="Line 428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69" name="Line 429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0" name="Line 430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1" name="Freeform 431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2" name="Freeform 432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3" name="Freeform 433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4" name="Freeform 434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5" name="Line 435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6" name="Line 436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7" name="Line 437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8" name="Line 438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79" name="Line 439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0" name="Line 440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1" name="Line 441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2" name="Freeform 442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3" name="Line 443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4" name="Freeform 444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5" name="Freeform 445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6" name="Freeform 446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7" name="Line 447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8" name="Freeform 448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89" name="Line 449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0" name="Freeform 450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1" name="Line 451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2" name="Line 452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3" name="Line 453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4" name="Line 454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5" name="Line 455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6" name="Freeform 456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7" name="Freeform 457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8" name="Freeform 458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299" name="Line 459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0" name="Line 460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1" name="Line 461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2" name="Line 462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3" name="Freeform 463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4" name="Line 464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5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5" name="Group 466"/>
              <p:cNvGrpSpPr>
                <a:grpSpLocks/>
              </p:cNvGrpSpPr>
              <p:nvPr/>
            </p:nvGrpSpPr>
            <p:grpSpPr bwMode="auto">
              <a:xfrm>
                <a:off x="1412" y="2381"/>
                <a:ext cx="592" cy="396"/>
                <a:chOff x="1860" y="1595"/>
                <a:chExt cx="1681" cy="1124"/>
              </a:xfrm>
            </p:grpSpPr>
            <p:sp>
              <p:nvSpPr>
                <p:cNvPr id="36307" name="Line 467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8" name="Line 468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09" name="Freeform 469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0" name="Freeform 470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1" name="Freeform 471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2" name="Freeform 472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3" name="Line 473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4" name="Freeform 474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5" name="Line 475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6" name="Line 476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7" name="Freeform 477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8" name="Line 478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19" name="Line 479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0" name="Line 480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1" name="Line 481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2" name="Freeform 482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3" name="Freeform 483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4" name="Freeform 484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5" name="Freeform 485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6" name="Line 486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7" name="Line 487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8" name="Line 488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29" name="Line 489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0" name="Line 490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1" name="Line 491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2" name="Line 492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3" name="Freeform 493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4" name="Line 494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5" name="Freeform 495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6" name="Freeform 496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7" name="Freeform 497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8" name="Line 498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39" name="Freeform 499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0" name="Line 500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1" name="Freeform 501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2" name="Line 502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3" name="Line 503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4" name="Line 504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5" name="Line 505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6" name="Line 506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7" name="Freeform 507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8" name="Freeform 508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49" name="Freeform 509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0" name="Line 510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1" name="Line 511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2" name="Line 512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3" name="Line 513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4" name="Freeform 514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5" name="Line 515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6" name="Line 516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6" name="Group 517"/>
              <p:cNvGrpSpPr>
                <a:grpSpLocks/>
              </p:cNvGrpSpPr>
              <p:nvPr/>
            </p:nvGrpSpPr>
            <p:grpSpPr bwMode="auto">
              <a:xfrm>
                <a:off x="2004" y="2381"/>
                <a:ext cx="592" cy="396"/>
                <a:chOff x="1860" y="1595"/>
                <a:chExt cx="1681" cy="1124"/>
              </a:xfrm>
            </p:grpSpPr>
            <p:sp>
              <p:nvSpPr>
                <p:cNvPr id="36358" name="Line 518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59" name="Line 519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0" name="Freeform 520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1" name="Freeform 521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2" name="Freeform 522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3" name="Freeform 523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4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5" name="Freeform 525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6" name="Line 526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7" name="Line 527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8" name="Freeform 528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69" name="Line 529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0" name="Line 530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1" name="Line 531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2" name="Line 532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3" name="Freeform 533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4" name="Freeform 534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5" name="Freeform 535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6" name="Freeform 536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7" name="Line 537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8" name="Line 538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79" name="Line 539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0" name="Line 540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1" name="Line 541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2" name="Line 542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3" name="Line 543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4" name="Freeform 544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5" name="Line 545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6" name="Freeform 546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7" name="Freeform 547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8" name="Freeform 548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89" name="Line 549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0" name="Freeform 550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1" name="Line 551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2" name="Freeform 552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3" name="Line 553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4" name="Line 554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5" name="Line 555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6" name="Line 556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7" name="Line 557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8" name="Freeform 558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399" name="Freeform 559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0" name="Freeform 560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1" name="Line 561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2" name="Line 562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3" name="Line 563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4" name="Line 564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5" name="Freeform 565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6" name="Line 566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07" name="Line 567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7" name="Group 568"/>
              <p:cNvGrpSpPr>
                <a:grpSpLocks/>
              </p:cNvGrpSpPr>
              <p:nvPr/>
            </p:nvGrpSpPr>
            <p:grpSpPr bwMode="auto">
              <a:xfrm>
                <a:off x="2596" y="2381"/>
                <a:ext cx="592" cy="396"/>
                <a:chOff x="1860" y="1595"/>
                <a:chExt cx="1681" cy="1124"/>
              </a:xfrm>
            </p:grpSpPr>
            <p:sp>
              <p:nvSpPr>
                <p:cNvPr id="36409" name="Line 569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0" name="Line 570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1" name="Freeform 571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2" name="Freeform 572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3" name="Freeform 573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4" name="Freeform 574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5" name="Line 575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6" name="Freeform 576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7" name="Line 577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8" name="Line 578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19" name="Freeform 579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0" name="Line 580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1" name="Line 581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2" name="Line 582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3" name="Line 583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4" name="Freeform 584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5" name="Freeform 585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6" name="Freeform 586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7" name="Freeform 587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8" name="Line 588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29" name="Line 589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0" name="Line 590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1" name="Line 591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2" name="Line 592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3" name="Line 593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4" name="Line 594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5" name="Freeform 595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6" name="Line 596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7" name="Freeform 597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8" name="Freeform 598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39" name="Freeform 599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0" name="Line 600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1" name="Freeform 601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2" name="Line 602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3" name="Freeform 603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4" name="Line 604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5" name="Line 605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6" name="Line 606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7" name="Line 607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8" name="Line 608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49" name="Freeform 609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0" name="Freeform 610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1" name="Freeform 611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2" name="Line 612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3" name="Line 613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4" name="Line 614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5" name="Line 615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6" name="Freeform 616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7" name="Line 617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58" name="Line 618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18" name="Group 619"/>
            <p:cNvGrpSpPr>
              <a:grpSpLocks/>
            </p:cNvGrpSpPr>
            <p:nvPr/>
          </p:nvGrpSpPr>
          <p:grpSpPr bwMode="auto">
            <a:xfrm>
              <a:off x="1324" y="2873"/>
              <a:ext cx="3664" cy="396"/>
              <a:chOff x="1324" y="2873"/>
              <a:chExt cx="3664" cy="396"/>
            </a:xfrm>
          </p:grpSpPr>
          <p:grpSp>
            <p:nvGrpSpPr>
              <p:cNvPr id="19" name="Group 620"/>
              <p:cNvGrpSpPr>
                <a:grpSpLocks/>
              </p:cNvGrpSpPr>
              <p:nvPr/>
            </p:nvGrpSpPr>
            <p:grpSpPr bwMode="auto">
              <a:xfrm>
                <a:off x="1324" y="2873"/>
                <a:ext cx="734" cy="396"/>
                <a:chOff x="1860" y="1595"/>
                <a:chExt cx="1681" cy="1124"/>
              </a:xfrm>
            </p:grpSpPr>
            <p:sp>
              <p:nvSpPr>
                <p:cNvPr id="36461" name="Line 621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2" name="Line 622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3" name="Freeform 623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4" name="Freeform 624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5" name="Freeform 625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6" name="Freeform 626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7" name="Line 627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8" name="Freeform 628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69" name="Line 629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0" name="Line 630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1" name="Freeform 631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2" name="Line 632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3" name="Line 633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4" name="Line 634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5" name="Line 635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6" name="Freeform 636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7" name="Freeform 637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8" name="Freeform 638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79" name="Freeform 639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0" name="Line 640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1" name="Line 641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2" name="Line 642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3" name="Line 643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4" name="Line 644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5" name="Line 645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6" name="Line 646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7" name="Freeform 647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8" name="Line 648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89" name="Freeform 649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0" name="Freeform 650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1" name="Freeform 651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2" name="Line 652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3" name="Freeform 653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4" name="Line 654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5" name="Freeform 655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6" name="Line 656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7" name="Line 657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8" name="Line 658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499" name="Line 659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0" name="Line 660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1" name="Freeform 661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2" name="Freeform 662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3" name="Freeform 663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4" name="Line 664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5" name="Line 665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6" name="Line 666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7" name="Line 667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8" name="Freeform 668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09" name="Line 669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0" name="Line 670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0" name="Group 671"/>
              <p:cNvGrpSpPr>
                <a:grpSpLocks/>
              </p:cNvGrpSpPr>
              <p:nvPr/>
            </p:nvGrpSpPr>
            <p:grpSpPr bwMode="auto">
              <a:xfrm>
                <a:off x="2058" y="2873"/>
                <a:ext cx="734" cy="396"/>
                <a:chOff x="1860" y="1595"/>
                <a:chExt cx="1681" cy="1124"/>
              </a:xfrm>
            </p:grpSpPr>
            <p:sp>
              <p:nvSpPr>
                <p:cNvPr id="36512" name="Line 672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3" name="Line 673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4" name="Freeform 674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5" name="Freeform 675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6" name="Freeform 676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7" name="Freeform 677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8" name="Line 678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19" name="Freeform 679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0" name="Line 680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1" name="Line 681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2" name="Freeform 682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3" name="Line 683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4" name="Line 684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5" name="Line 685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6" name="Line 686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7" name="Freeform 687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8" name="Freeform 688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29" name="Freeform 689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0" name="Freeform 690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1" name="Line 691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2" name="Line 692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3" name="Line 693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4" name="Line 694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5" name="Line 695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6" name="Line 696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7" name="Line 697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8" name="Freeform 698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39" name="Line 699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0" name="Freeform 700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1" name="Freeform 701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2" name="Freeform 702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3" name="Line 703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4" name="Freeform 704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5" name="Line 705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6" name="Freeform 706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7" name="Line 707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8" name="Line 708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49" name="Line 709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0" name="Line 710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1" name="Line 711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2" name="Freeform 712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3" name="Freeform 713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4" name="Freeform 714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5" name="Line 715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6" name="Line 716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7" name="Line 717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8" name="Line 718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59" name="Freeform 719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0" name="Line 720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1" name="Line 721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1" name="Group 722"/>
              <p:cNvGrpSpPr>
                <a:grpSpLocks/>
              </p:cNvGrpSpPr>
              <p:nvPr/>
            </p:nvGrpSpPr>
            <p:grpSpPr bwMode="auto">
              <a:xfrm>
                <a:off x="2792" y="2873"/>
                <a:ext cx="734" cy="396"/>
                <a:chOff x="1860" y="1595"/>
                <a:chExt cx="1681" cy="1124"/>
              </a:xfrm>
            </p:grpSpPr>
            <p:sp>
              <p:nvSpPr>
                <p:cNvPr id="36563" name="Line 723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4" name="Line 724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5" name="Freeform 725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6" name="Freeform 726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7" name="Freeform 727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8" name="Freeform 728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69" name="Line 729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0" name="Freeform 730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1" name="Line 731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2" name="Line 732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3" name="Freeform 733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4" name="Line 734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5" name="Line 735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6" name="Line 736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7" name="Line 737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8" name="Freeform 738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79" name="Freeform 739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0" name="Freeform 740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1" name="Freeform 741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2" name="Line 742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3" name="Line 743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4" name="Line 744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5" name="Line 745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6" name="Line 746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7" name="Line 747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8" name="Line 748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89" name="Freeform 749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0" name="Line 750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1" name="Freeform 751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2" name="Freeform 752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3" name="Freeform 753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4" name="Line 754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5" name="Freeform 755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6" name="Line 756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7" name="Freeform 757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8" name="Line 758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599" name="Line 759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0" name="Line 760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1" name="Line 761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2" name="Line 762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3" name="Freeform 763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4" name="Freeform 764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5" name="Freeform 765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6" name="Line 766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7" name="Line 767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8" name="Line 768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09" name="Line 769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0" name="Freeform 770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1" name="Line 771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2" name="Line 772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2" name="Group 773"/>
              <p:cNvGrpSpPr>
                <a:grpSpLocks/>
              </p:cNvGrpSpPr>
              <p:nvPr/>
            </p:nvGrpSpPr>
            <p:grpSpPr bwMode="auto">
              <a:xfrm>
                <a:off x="3526" y="2873"/>
                <a:ext cx="734" cy="396"/>
                <a:chOff x="1860" y="1595"/>
                <a:chExt cx="1681" cy="1124"/>
              </a:xfrm>
            </p:grpSpPr>
            <p:sp>
              <p:nvSpPr>
                <p:cNvPr id="36614" name="Line 774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5" name="Line 775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6" name="Freeform 776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7" name="Freeform 777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8" name="Freeform 778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19" name="Freeform 779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0" name="Line 780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1" name="Freeform 781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2" name="Line 782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3" name="Line 783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4" name="Freeform 784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5" name="Line 785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6" name="Line 786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7" name="Line 787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8" name="Line 788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29" name="Freeform 789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0" name="Freeform 790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1" name="Freeform 791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2" name="Freeform 792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3" name="Line 793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4" name="Line 794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5" name="Line 795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6" name="Line 796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7" name="Line 797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8" name="Line 798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39" name="Line 799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0" name="Freeform 800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1" name="Line 801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2" name="Freeform 802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3" name="Freeform 803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4" name="Freeform 804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5" name="Line 805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6" name="Freeform 806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7" name="Line 807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8" name="Freeform 808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49" name="Line 809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0" name="Line 810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1" name="Line 811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2" name="Line 812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3" name="Line 813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4" name="Freeform 814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5" name="Freeform 815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6" name="Freeform 816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7" name="Line 817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8" name="Line 818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59" name="Line 819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0" name="Line 820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1" name="Freeform 821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2" name="Line 822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3" name="Line 823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" name="Group 824"/>
              <p:cNvGrpSpPr>
                <a:grpSpLocks/>
              </p:cNvGrpSpPr>
              <p:nvPr/>
            </p:nvGrpSpPr>
            <p:grpSpPr bwMode="auto">
              <a:xfrm>
                <a:off x="4254" y="2873"/>
                <a:ext cx="734" cy="396"/>
                <a:chOff x="1860" y="1595"/>
                <a:chExt cx="1681" cy="1124"/>
              </a:xfrm>
            </p:grpSpPr>
            <p:sp>
              <p:nvSpPr>
                <p:cNvPr id="36665" name="Line 825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6" name="Line 826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7" name="Freeform 827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8" name="Freeform 828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69" name="Freeform 829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0" name="Freeform 830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1" name="Line 831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2" name="Freeform 832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3" name="Line 833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4" name="Line 834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5" name="Freeform 835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6" name="Line 836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7" name="Line 837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8" name="Line 838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79" name="Line 839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0" name="Freeform 840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1" name="Freeform 841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2" name="Freeform 842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3" name="Freeform 843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4" name="Line 844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5" name="Line 845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6" name="Line 846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7" name="Line 847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8" name="Line 848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89" name="Line 849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0" name="Line 850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1" name="Freeform 851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2" name="Line 852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3" name="Freeform 853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4" name="Freeform 854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5" name="Freeform 855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6" name="Line 856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7" name="Freeform 857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8" name="Line 858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699" name="Freeform 859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0" name="Line 860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1" name="Line 861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2" name="Line 862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3" name="Line 863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4" name="Line 864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5" name="Freeform 865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6" name="Freeform 866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7" name="Freeform 867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8" name="Line 868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09" name="Line 869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10" name="Line 870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11" name="Line 871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12" name="Freeform 872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13" name="Line 873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14" name="Line 874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36715" name="Rectangle 875"/>
            <p:cNvSpPr>
              <a:spLocks noChangeArrowheads="1"/>
            </p:cNvSpPr>
            <p:nvPr/>
          </p:nvSpPr>
          <p:spPr bwMode="auto">
            <a:xfrm>
              <a:off x="1160" y="2264"/>
              <a:ext cx="4200" cy="1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</p:grpSp>
      <p:sp>
        <p:nvSpPr>
          <p:cNvPr id="36716" name="Text Box 876"/>
          <p:cNvSpPr txBox="1">
            <a:spLocks noChangeArrowheads="1"/>
          </p:cNvSpPr>
          <p:nvPr/>
        </p:nvSpPr>
        <p:spPr bwMode="auto">
          <a:xfrm>
            <a:off x="0" y="2225993"/>
            <a:ext cx="369354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solidFill>
                  <a:prstClr val="black"/>
                </a:solidFill>
              </a:rPr>
              <a:t>Probe can be white (or, in general, “polychromatic”)  - contains a mixture of different wavelengths.</a:t>
            </a: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52D77B-F4E9-4E18-8271-E90A08A70068}"/>
              </a:ext>
            </a:extLst>
          </p:cNvPr>
          <p:cNvGrpSpPr/>
          <p:nvPr/>
        </p:nvGrpSpPr>
        <p:grpSpPr>
          <a:xfrm>
            <a:off x="3976118" y="4550315"/>
            <a:ext cx="2400300" cy="1905000"/>
            <a:chOff x="732807" y="4459503"/>
            <a:chExt cx="2400300" cy="1905000"/>
          </a:xfrm>
        </p:grpSpPr>
        <p:grpSp>
          <p:nvGrpSpPr>
            <p:cNvPr id="25" name="Group 878"/>
            <p:cNvGrpSpPr>
              <a:grpSpLocks/>
            </p:cNvGrpSpPr>
            <p:nvPr/>
          </p:nvGrpSpPr>
          <p:grpSpPr bwMode="auto">
            <a:xfrm>
              <a:off x="871738" y="5193877"/>
              <a:ext cx="2093810" cy="471487"/>
              <a:chOff x="1324" y="2873"/>
              <a:chExt cx="3664" cy="396"/>
            </a:xfrm>
          </p:grpSpPr>
          <p:grpSp>
            <p:nvGrpSpPr>
              <p:cNvPr id="26" name="Group 879"/>
              <p:cNvGrpSpPr>
                <a:grpSpLocks/>
              </p:cNvGrpSpPr>
              <p:nvPr/>
            </p:nvGrpSpPr>
            <p:grpSpPr bwMode="auto">
              <a:xfrm>
                <a:off x="1324" y="2873"/>
                <a:ext cx="734" cy="396"/>
                <a:chOff x="1860" y="1595"/>
                <a:chExt cx="1681" cy="1124"/>
              </a:xfrm>
            </p:grpSpPr>
            <p:sp>
              <p:nvSpPr>
                <p:cNvPr id="36720" name="Line 880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1" name="Line 881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2" name="Freeform 882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3" name="Freeform 883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4" name="Freeform 884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5" name="Freeform 885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6" name="Line 886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7" name="Freeform 887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8" name="Line 888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29" name="Line 889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0" name="Freeform 890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1" name="Line 891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2" name="Line 892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3" name="Line 893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4" name="Line 894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5" name="Freeform 895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6" name="Freeform 896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7" name="Freeform 897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8" name="Freeform 898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39" name="Line 899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0" name="Line 900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1" name="Line 901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2" name="Line 902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3" name="Line 903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4" name="Line 904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5" name="Line 905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6" name="Freeform 906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7" name="Line 907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8" name="Freeform 908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49" name="Freeform 909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0" name="Freeform 910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1" name="Line 911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2" name="Freeform 912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3" name="Line 913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4" name="Freeform 914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5" name="Line 915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6" name="Line 916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7" name="Line 917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8" name="Line 918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59" name="Line 919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0" name="Freeform 920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1" name="Freeform 921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2" name="Freeform 922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3" name="Line 923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4" name="Line 924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5" name="Line 925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6" name="Line 926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7" name="Freeform 927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8" name="Line 928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69" name="Line 929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7" name="Group 930"/>
              <p:cNvGrpSpPr>
                <a:grpSpLocks/>
              </p:cNvGrpSpPr>
              <p:nvPr/>
            </p:nvGrpSpPr>
            <p:grpSpPr bwMode="auto">
              <a:xfrm>
                <a:off x="2058" y="2873"/>
                <a:ext cx="734" cy="396"/>
                <a:chOff x="1860" y="1595"/>
                <a:chExt cx="1681" cy="1124"/>
              </a:xfrm>
            </p:grpSpPr>
            <p:sp>
              <p:nvSpPr>
                <p:cNvPr id="36771" name="Line 931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2" name="Line 932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3" name="Freeform 933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4" name="Freeform 934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5" name="Freeform 935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6" name="Freeform 936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7" name="Line 937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8" name="Freeform 938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79" name="Line 939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0" name="Line 940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1" name="Freeform 941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2" name="Line 942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3" name="Line 943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4" name="Line 944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5" name="Line 945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6" name="Freeform 946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7" name="Freeform 947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8" name="Freeform 948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89" name="Freeform 949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0" name="Line 950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1" name="Line 951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2" name="Line 952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3" name="Line 953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4" name="Line 954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5" name="Line 955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6" name="Line 956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7" name="Freeform 957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8" name="Line 958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799" name="Freeform 959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0" name="Freeform 960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1" name="Freeform 961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2" name="Line 962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3" name="Freeform 963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4" name="Line 964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5" name="Freeform 965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6" name="Line 966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7" name="Line 967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8" name="Line 968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09" name="Line 969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0" name="Line 970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1" name="Freeform 971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2" name="Freeform 972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3" name="Freeform 973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4" name="Line 974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5" name="Line 975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6" name="Line 976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7" name="Line 977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8" name="Freeform 978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19" name="Line 979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0" name="Line 980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8" name="Group 981"/>
              <p:cNvGrpSpPr>
                <a:grpSpLocks/>
              </p:cNvGrpSpPr>
              <p:nvPr/>
            </p:nvGrpSpPr>
            <p:grpSpPr bwMode="auto">
              <a:xfrm>
                <a:off x="2792" y="2873"/>
                <a:ext cx="734" cy="396"/>
                <a:chOff x="1860" y="1595"/>
                <a:chExt cx="1681" cy="1124"/>
              </a:xfrm>
            </p:grpSpPr>
            <p:sp>
              <p:nvSpPr>
                <p:cNvPr id="36822" name="Line 982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3" name="Line 983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4" name="Freeform 984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5" name="Freeform 985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6" name="Freeform 986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7" name="Freeform 987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8" name="Line 988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29" name="Freeform 989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0" name="Line 990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1" name="Line 991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2" name="Freeform 992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3" name="Line 993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4" name="Line 994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5" name="Line 995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6" name="Line 996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7" name="Freeform 997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8" name="Freeform 998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39" name="Freeform 999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0" name="Freeform 1000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1" name="Line 1001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2" name="Line 1002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3" name="Line 1003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4" name="Line 1004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5" name="Line 1005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6" name="Line 1006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7" name="Line 1007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8" name="Freeform 1008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49" name="Line 1009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0" name="Freeform 1010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1" name="Freeform 1011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2" name="Freeform 1012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3" name="Line 1013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4" name="Freeform 1014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5" name="Line 1015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6" name="Freeform 1016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7" name="Line 1017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8" name="Line 1018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59" name="Line 1019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0" name="Line 1020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1" name="Line 1021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2" name="Freeform 1022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3" name="Freeform 1023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4" name="Freeform 1024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5" name="Line 1025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6" name="Line 1026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7" name="Line 1027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8" name="Line 1028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69" name="Freeform 1029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0" name="Line 1030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1" name="Line 1031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9" name="Group 1032"/>
              <p:cNvGrpSpPr>
                <a:grpSpLocks/>
              </p:cNvGrpSpPr>
              <p:nvPr/>
            </p:nvGrpSpPr>
            <p:grpSpPr bwMode="auto">
              <a:xfrm>
                <a:off x="3526" y="2873"/>
                <a:ext cx="734" cy="396"/>
                <a:chOff x="1860" y="1595"/>
                <a:chExt cx="1681" cy="1124"/>
              </a:xfrm>
            </p:grpSpPr>
            <p:sp>
              <p:nvSpPr>
                <p:cNvPr id="36873" name="Line 1033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4" name="Line 1034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5" name="Freeform 1035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6" name="Freeform 1036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7" name="Freeform 1037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8" name="Freeform 1038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79" name="Line 1039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0" name="Freeform 1040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1" name="Line 1041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2" name="Line 1042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3" name="Freeform 1043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4" name="Line 1044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5" name="Line 1045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6" name="Line 1046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7" name="Line 1047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8" name="Freeform 1048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89" name="Freeform 1049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0" name="Freeform 1050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1" name="Freeform 1051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2" name="Line 1052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3" name="Line 1053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4" name="Line 1054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5" name="Line 1055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6" name="Line 1056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7" name="Line 1057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8" name="Line 1058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899" name="Freeform 1059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0" name="Line 1060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1" name="Freeform 1061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2" name="Freeform 1062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3" name="Freeform 1063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4" name="Line 1064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5" name="Freeform 1065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6" name="Line 1066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7" name="Freeform 1067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8" name="Line 1068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09" name="Line 1069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0" name="Line 1070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1" name="Line 1071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2" name="Line 1072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3" name="Freeform 1073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4" name="Freeform 1074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5" name="Freeform 1075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6" name="Line 1076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7" name="Line 1077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8" name="Line 1078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19" name="Line 1079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0" name="Freeform 1080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1" name="Line 1081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2" name="Line 1082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0" name="Group 1083"/>
              <p:cNvGrpSpPr>
                <a:grpSpLocks/>
              </p:cNvGrpSpPr>
              <p:nvPr/>
            </p:nvGrpSpPr>
            <p:grpSpPr bwMode="auto">
              <a:xfrm>
                <a:off x="4254" y="2873"/>
                <a:ext cx="734" cy="396"/>
                <a:chOff x="1860" y="1595"/>
                <a:chExt cx="1681" cy="1124"/>
              </a:xfrm>
            </p:grpSpPr>
            <p:sp>
              <p:nvSpPr>
                <p:cNvPr id="36924" name="Line 1084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5" name="Line 1085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6" name="Freeform 1086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7" name="Freeform 1087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8" name="Freeform 1088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29" name="Freeform 1089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0" name="Line 1090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1" name="Freeform 1091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2" name="Line 1092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3" name="Line 1093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4" name="Freeform 1094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5" name="Line 1095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6" name="Line 1096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7" name="Line 1097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8" name="Line 1098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39" name="Freeform 1099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0" name="Freeform 1100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1" name="Freeform 1101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2" name="Freeform 1102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3" name="Line 1103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4" name="Line 1104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5" name="Line 1105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6" name="Line 1106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7" name="Line 1107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8" name="Line 1108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49" name="Line 1109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0" name="Freeform 1110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1" name="Line 1111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2" name="Freeform 1112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3" name="Freeform 1113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4" name="Freeform 1114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5" name="Line 1115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6" name="Freeform 1116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7" name="Line 1117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8" name="Freeform 1118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59" name="Line 1119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0" name="Line 1120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1" name="Line 1121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2" name="Line 1122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3" name="Line 1123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4" name="Freeform 1124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5" name="Freeform 1125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6" name="Freeform 1126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7" name="Line 1127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8" name="Line 1128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69" name="Line 1129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70" name="Line 1130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71" name="Freeform 1131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72" name="Line 1132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73" name="Line 1133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36974" name="Rectangle 1134"/>
            <p:cNvSpPr>
              <a:spLocks noChangeArrowheads="1"/>
            </p:cNvSpPr>
            <p:nvPr/>
          </p:nvSpPr>
          <p:spPr bwMode="auto">
            <a:xfrm>
              <a:off x="732807" y="4459503"/>
              <a:ext cx="2400300" cy="1905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grpSp>
          <p:nvGrpSpPr>
            <p:cNvPr id="31" name="Group 1135"/>
            <p:cNvGrpSpPr>
              <a:grpSpLocks/>
            </p:cNvGrpSpPr>
            <p:nvPr/>
          </p:nvGrpSpPr>
          <p:grpSpPr bwMode="auto">
            <a:xfrm>
              <a:off x="871738" y="5774902"/>
              <a:ext cx="2093810" cy="471487"/>
              <a:chOff x="1324" y="2873"/>
              <a:chExt cx="3664" cy="396"/>
            </a:xfrm>
          </p:grpSpPr>
          <p:grpSp>
            <p:nvGrpSpPr>
              <p:cNvPr id="36770" name="Group 1136"/>
              <p:cNvGrpSpPr>
                <a:grpSpLocks/>
              </p:cNvGrpSpPr>
              <p:nvPr/>
            </p:nvGrpSpPr>
            <p:grpSpPr bwMode="auto">
              <a:xfrm>
                <a:off x="1324" y="2873"/>
                <a:ext cx="734" cy="396"/>
                <a:chOff x="1860" y="1595"/>
                <a:chExt cx="1681" cy="1124"/>
              </a:xfrm>
            </p:grpSpPr>
            <p:sp>
              <p:nvSpPr>
                <p:cNvPr id="36977" name="Line 1137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78" name="Line 1138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79" name="Freeform 1139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0" name="Freeform 1140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1" name="Freeform 1141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2" name="Freeform 1142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3" name="Line 1143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4" name="Freeform 1144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5" name="Line 1145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6" name="Line 1146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7" name="Freeform 1147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8" name="Line 1148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89" name="Line 1149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0" name="Line 1150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1" name="Line 1151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2" name="Freeform 1152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3" name="Freeform 1153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4" name="Freeform 1154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5" name="Freeform 1155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6" name="Line 1156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7" name="Line 1157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8" name="Line 1158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999" name="Line 1159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0" name="Line 1160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1" name="Line 1161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2" name="Line 1162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3" name="Freeform 1163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4" name="Line 1164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5" name="Freeform 1165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6" name="Freeform 1166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7" name="Freeform 1167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8" name="Line 1168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09" name="Freeform 1169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0" name="Line 1170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1" name="Freeform 1171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2" name="Line 1172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3" name="Line 1173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4" name="Line 1174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5" name="Line 1175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6" name="Line 1176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7" name="Freeform 1177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8" name="Freeform 1178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19" name="Freeform 1179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0" name="Line 1180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1" name="Line 1181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2" name="Line 1182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3" name="Line 1183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4" name="Freeform 1184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5" name="Line 1185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6" name="Line 1186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6821" name="Group 1187"/>
              <p:cNvGrpSpPr>
                <a:grpSpLocks/>
              </p:cNvGrpSpPr>
              <p:nvPr/>
            </p:nvGrpSpPr>
            <p:grpSpPr bwMode="auto">
              <a:xfrm>
                <a:off x="2058" y="2873"/>
                <a:ext cx="734" cy="396"/>
                <a:chOff x="1860" y="1595"/>
                <a:chExt cx="1681" cy="1124"/>
              </a:xfrm>
            </p:grpSpPr>
            <p:sp>
              <p:nvSpPr>
                <p:cNvPr id="37028" name="Line 1188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29" name="Line 1189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0" name="Freeform 1190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1" name="Freeform 1191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2" name="Freeform 1192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3" name="Freeform 1193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4" name="Line 1194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5" name="Freeform 1195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6" name="Line 1196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7" name="Line 1197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8" name="Freeform 1198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39" name="Line 1199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0" name="Line 1200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1" name="Line 1201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2" name="Line 1202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3" name="Freeform 1203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4" name="Freeform 1204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5" name="Freeform 1205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6" name="Freeform 1206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7" name="Line 1207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8" name="Line 1208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49" name="Line 1209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0" name="Line 1210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1" name="Line 1211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2" name="Line 1212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3" name="Line 1213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4" name="Freeform 1214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5" name="Line 1215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6" name="Freeform 1216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7" name="Freeform 1217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8" name="Freeform 1218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59" name="Line 1219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0" name="Freeform 1220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1" name="Line 1221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2" name="Freeform 1222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3" name="Line 1223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4" name="Line 1224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5" name="Line 1225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6" name="Line 1226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7" name="Line 1227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8" name="Freeform 1228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69" name="Freeform 1229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0" name="Freeform 1230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1" name="Line 1231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2" name="Line 1232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3" name="Line 1233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4" name="Line 1234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5" name="Freeform 1235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6" name="Line 1236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77" name="Line 1237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6872" name="Group 1238"/>
              <p:cNvGrpSpPr>
                <a:grpSpLocks/>
              </p:cNvGrpSpPr>
              <p:nvPr/>
            </p:nvGrpSpPr>
            <p:grpSpPr bwMode="auto">
              <a:xfrm>
                <a:off x="2792" y="2873"/>
                <a:ext cx="734" cy="396"/>
                <a:chOff x="1860" y="1595"/>
                <a:chExt cx="1681" cy="1124"/>
              </a:xfrm>
            </p:grpSpPr>
            <p:sp>
              <p:nvSpPr>
                <p:cNvPr id="37079" name="Line 1239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0" name="Line 1240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1" name="Freeform 1241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2" name="Freeform 1242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3" name="Freeform 1243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4" name="Freeform 1244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5" name="Line 1245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6" name="Freeform 1246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7" name="Line 1247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8" name="Line 1248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89" name="Freeform 1249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0" name="Line 1250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1" name="Line 1251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2" name="Line 1252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3" name="Line 1253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4" name="Freeform 1254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5" name="Freeform 1255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6" name="Freeform 1256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7" name="Freeform 1257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8" name="Line 1258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099" name="Line 1259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0" name="Line 1260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1" name="Line 1261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2" name="Line 1262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3" name="Line 1263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4" name="Line 1264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5" name="Freeform 1265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6" name="Line 1266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7" name="Freeform 1267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8" name="Freeform 1268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09" name="Freeform 1269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0" name="Line 1270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1" name="Freeform 1271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2" name="Line 1272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3" name="Freeform 1273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4" name="Line 1274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5" name="Line 1275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6" name="Line 1276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7" name="Line 1277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8" name="Line 1278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19" name="Freeform 1279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0" name="Freeform 1280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1" name="Freeform 1281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2" name="Line 1282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3" name="Line 1283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4" name="Line 1284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5" name="Line 1285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6" name="Freeform 1286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7" name="Line 1287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28" name="Line 1288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6923" name="Group 1289"/>
              <p:cNvGrpSpPr>
                <a:grpSpLocks/>
              </p:cNvGrpSpPr>
              <p:nvPr/>
            </p:nvGrpSpPr>
            <p:grpSpPr bwMode="auto">
              <a:xfrm>
                <a:off x="3526" y="2873"/>
                <a:ext cx="734" cy="396"/>
                <a:chOff x="1860" y="1595"/>
                <a:chExt cx="1681" cy="1124"/>
              </a:xfrm>
            </p:grpSpPr>
            <p:sp>
              <p:nvSpPr>
                <p:cNvPr id="37130" name="Line 1290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1" name="Line 1291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2" name="Freeform 1292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3" name="Freeform 1293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4" name="Freeform 1294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5" name="Freeform 1295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6" name="Line 1296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7" name="Freeform 1297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8" name="Line 1298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39" name="Line 1299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0" name="Freeform 1300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1" name="Line 1301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2" name="Line 1302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3" name="Line 1303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4" name="Line 1304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5" name="Freeform 1305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6" name="Freeform 1306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7" name="Freeform 1307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8" name="Freeform 1308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49" name="Line 1309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0" name="Line 1310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1" name="Line 1311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2" name="Line 1312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3" name="Line 1313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4" name="Line 1314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5" name="Line 1315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6" name="Freeform 1316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7" name="Line 1317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8" name="Freeform 1318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59" name="Freeform 1319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0" name="Freeform 1320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1" name="Line 1321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2" name="Freeform 1322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3" name="Line 1323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4" name="Freeform 1324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5" name="Line 1325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6" name="Line 1326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7" name="Line 1327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8" name="Line 1328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69" name="Line 1329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0" name="Freeform 1330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1" name="Freeform 1331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2" name="Freeform 1332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3" name="Line 1333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4" name="Line 1334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5" name="Line 1335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6" name="Line 1336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7" name="Freeform 1337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8" name="Line 1338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79" name="Line 1339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6975" name="Group 1340"/>
              <p:cNvGrpSpPr>
                <a:grpSpLocks/>
              </p:cNvGrpSpPr>
              <p:nvPr/>
            </p:nvGrpSpPr>
            <p:grpSpPr bwMode="auto">
              <a:xfrm>
                <a:off x="4254" y="2873"/>
                <a:ext cx="734" cy="396"/>
                <a:chOff x="1860" y="1595"/>
                <a:chExt cx="1681" cy="1124"/>
              </a:xfrm>
            </p:grpSpPr>
            <p:sp>
              <p:nvSpPr>
                <p:cNvPr id="37181" name="Line 1341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2" name="Line 1342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3" name="Freeform 1343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4" name="Freeform 1344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5" name="Freeform 1345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6" name="Freeform 1346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7" name="Line 1347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8" name="Freeform 1348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89" name="Line 1349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0" name="Line 1350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1" name="Freeform 1351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2" name="Line 1352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3" name="Line 1353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4" name="Line 1354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5" name="Line 1355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6" name="Freeform 1356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7" name="Freeform 1357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8" name="Freeform 1358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199" name="Freeform 1359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0" name="Line 1360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1" name="Line 1361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2" name="Line 1362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3" name="Line 1363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4" name="Line 1364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5" name="Line 1365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6" name="Line 1366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7" name="Freeform 1367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8" name="Line 1368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09" name="Freeform 1369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0" name="Freeform 1370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1" name="Freeform 1371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2" name="Line 1372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3" name="Freeform 1373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4" name="Line 1374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5" name="Freeform 1375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6" name="Line 1376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7" name="Line 1377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8" name="Line 1378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19" name="Line 1379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0" name="Line 1380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1" name="Freeform 1381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2" name="Freeform 1382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3" name="Freeform 1383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4" name="Line 1384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5" name="Line 1385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6" name="Line 1386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7" name="Line 1387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8" name="Freeform 1388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29" name="Line 1389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30" name="Line 1390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36976" name="Group 1391"/>
            <p:cNvGrpSpPr>
              <a:grpSpLocks/>
            </p:cNvGrpSpPr>
            <p:nvPr/>
          </p:nvGrpSpPr>
          <p:grpSpPr bwMode="auto">
            <a:xfrm>
              <a:off x="871738" y="4612852"/>
              <a:ext cx="2093810" cy="471487"/>
              <a:chOff x="1324" y="2873"/>
              <a:chExt cx="3664" cy="396"/>
            </a:xfrm>
          </p:grpSpPr>
          <p:grpSp>
            <p:nvGrpSpPr>
              <p:cNvPr id="37027" name="Group 1392"/>
              <p:cNvGrpSpPr>
                <a:grpSpLocks/>
              </p:cNvGrpSpPr>
              <p:nvPr/>
            </p:nvGrpSpPr>
            <p:grpSpPr bwMode="auto">
              <a:xfrm>
                <a:off x="1324" y="2873"/>
                <a:ext cx="734" cy="396"/>
                <a:chOff x="1860" y="1595"/>
                <a:chExt cx="1681" cy="1124"/>
              </a:xfrm>
            </p:grpSpPr>
            <p:sp>
              <p:nvSpPr>
                <p:cNvPr id="37233" name="Line 1393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34" name="Line 1394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35" name="Freeform 1395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36" name="Freeform 1396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37" name="Freeform 1397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38" name="Freeform 1398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39" name="Line 1399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0" name="Freeform 1400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1" name="Line 1401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2" name="Line 1402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3" name="Freeform 1403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4" name="Line 1404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5" name="Line 1405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6" name="Line 1406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7" name="Line 1407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8" name="Freeform 1408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49" name="Freeform 1409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0" name="Freeform 1410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1" name="Freeform 1411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2" name="Line 1412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3" name="Line 1413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4" name="Line 1414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5" name="Line 1415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6" name="Line 1416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7" name="Line 1417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8" name="Line 1418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59" name="Freeform 1419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0" name="Line 1420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1" name="Freeform 1421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2" name="Freeform 1422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3" name="Freeform 1423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4" name="Line 1424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5" name="Freeform 1425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6" name="Line 1426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7" name="Freeform 1427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8" name="Line 1428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69" name="Line 1429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0" name="Line 1430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1" name="Line 1431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2" name="Line 1432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3" name="Freeform 1433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4" name="Freeform 1434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5" name="Freeform 1435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6" name="Line 1436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7" name="Line 1437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8" name="Line 1438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79" name="Line 1439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0" name="Freeform 1440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1" name="Line 1441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2" name="Line 1442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7078" name="Group 1443"/>
              <p:cNvGrpSpPr>
                <a:grpSpLocks/>
              </p:cNvGrpSpPr>
              <p:nvPr/>
            </p:nvGrpSpPr>
            <p:grpSpPr bwMode="auto">
              <a:xfrm>
                <a:off x="2058" y="2873"/>
                <a:ext cx="734" cy="396"/>
                <a:chOff x="1860" y="1595"/>
                <a:chExt cx="1681" cy="1124"/>
              </a:xfrm>
            </p:grpSpPr>
            <p:sp>
              <p:nvSpPr>
                <p:cNvPr id="37284" name="Line 1444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5" name="Line 1445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6" name="Freeform 1446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7" name="Freeform 1447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8" name="Freeform 1448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89" name="Freeform 1449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0" name="Line 1450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1" name="Freeform 1451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2" name="Line 1452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3" name="Line 1453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4" name="Freeform 1454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5" name="Line 1455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6" name="Line 1456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7" name="Line 1457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8" name="Line 1458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299" name="Freeform 1459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0" name="Freeform 1460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1" name="Freeform 1461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2" name="Freeform 1462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3" name="Line 1463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4" name="Line 1464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5" name="Line 1465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6" name="Line 1466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7" name="Line 1467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8" name="Line 1468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09" name="Line 1469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0" name="Freeform 1470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1" name="Line 1471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2" name="Freeform 1472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3" name="Freeform 1473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4" name="Freeform 1474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5" name="Line 1475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6" name="Freeform 1476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7" name="Line 1477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8" name="Freeform 1478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19" name="Line 1479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0" name="Line 1480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1" name="Line 1481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2" name="Line 1482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3" name="Line 1483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4" name="Freeform 1484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5" name="Freeform 1485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6" name="Freeform 1486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7" name="Line 1487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8" name="Line 1488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29" name="Line 1489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0" name="Line 1490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1" name="Freeform 1491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2" name="Line 1492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3" name="Line 1493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7129" name="Group 1494"/>
              <p:cNvGrpSpPr>
                <a:grpSpLocks/>
              </p:cNvGrpSpPr>
              <p:nvPr/>
            </p:nvGrpSpPr>
            <p:grpSpPr bwMode="auto">
              <a:xfrm>
                <a:off x="2792" y="2873"/>
                <a:ext cx="734" cy="396"/>
                <a:chOff x="1860" y="1595"/>
                <a:chExt cx="1681" cy="1124"/>
              </a:xfrm>
            </p:grpSpPr>
            <p:sp>
              <p:nvSpPr>
                <p:cNvPr id="37335" name="Line 1495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6" name="Line 1496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7" name="Freeform 1497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8" name="Freeform 1498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39" name="Freeform 1499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0" name="Freeform 1500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1" name="Line 1501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2" name="Freeform 1502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3" name="Line 1503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4" name="Line 1504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5" name="Freeform 1505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6" name="Line 1506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7" name="Line 1507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8" name="Line 1508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49" name="Line 1509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0" name="Freeform 1510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1" name="Freeform 1511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2" name="Freeform 1512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3" name="Freeform 1513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4" name="Line 1514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5" name="Line 1515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6" name="Line 1516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7" name="Line 1517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8" name="Line 1518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59" name="Line 1519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0" name="Line 1520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1" name="Freeform 1521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2" name="Line 1522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3" name="Freeform 1523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4" name="Freeform 1524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5" name="Freeform 1525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6" name="Line 1526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7" name="Freeform 1527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8" name="Line 1528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69" name="Freeform 1529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0" name="Line 1530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1" name="Line 1531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2" name="Line 1532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3" name="Line 1533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4" name="Line 1534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5" name="Freeform 1535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6" name="Freeform 1536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7" name="Freeform 1537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8" name="Line 1538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79" name="Line 1539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0" name="Line 1540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1" name="Line 1541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2" name="Freeform 1542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3" name="Line 1543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4" name="Line 1544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7180" name="Group 1545"/>
              <p:cNvGrpSpPr>
                <a:grpSpLocks/>
              </p:cNvGrpSpPr>
              <p:nvPr/>
            </p:nvGrpSpPr>
            <p:grpSpPr bwMode="auto">
              <a:xfrm>
                <a:off x="3526" y="2873"/>
                <a:ext cx="734" cy="396"/>
                <a:chOff x="1860" y="1595"/>
                <a:chExt cx="1681" cy="1124"/>
              </a:xfrm>
            </p:grpSpPr>
            <p:sp>
              <p:nvSpPr>
                <p:cNvPr id="37386" name="Line 1546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7" name="Line 1547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8" name="Freeform 1548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89" name="Freeform 1549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0" name="Freeform 1550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1" name="Freeform 1551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2" name="Line 1552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3" name="Freeform 1553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4" name="Line 1554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5" name="Line 1555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6" name="Freeform 1556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7" name="Line 1557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8" name="Line 1558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399" name="Line 1559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0" name="Line 1560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1" name="Freeform 1561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2" name="Freeform 1562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3" name="Freeform 1563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4" name="Freeform 1564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5" name="Line 1565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6" name="Line 1566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7" name="Line 1567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8" name="Line 1568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09" name="Line 1569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0" name="Line 1570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1" name="Line 1571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2" name="Freeform 1572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3" name="Line 1573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4" name="Freeform 1574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5" name="Freeform 1575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6" name="Freeform 1576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7" name="Line 1577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8" name="Freeform 1578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19" name="Line 1579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0" name="Freeform 1580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1" name="Line 1581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2" name="Line 1582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3" name="Line 1583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4" name="Line 1584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5" name="Line 1585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6" name="Freeform 1586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7" name="Freeform 1587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8" name="Freeform 1588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29" name="Line 1589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0" name="Line 1590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1" name="Line 1591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2" name="Line 1592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3" name="Freeform 1593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4" name="Line 1594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5" name="Line 1595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5840" name="Group 1596"/>
              <p:cNvGrpSpPr>
                <a:grpSpLocks/>
              </p:cNvGrpSpPr>
              <p:nvPr/>
            </p:nvGrpSpPr>
            <p:grpSpPr bwMode="auto">
              <a:xfrm>
                <a:off x="4254" y="2873"/>
                <a:ext cx="734" cy="396"/>
                <a:chOff x="1860" y="1595"/>
                <a:chExt cx="1681" cy="1124"/>
              </a:xfrm>
            </p:grpSpPr>
            <p:sp>
              <p:nvSpPr>
                <p:cNvPr id="37437" name="Line 1597"/>
                <p:cNvSpPr>
                  <a:spLocks noChangeShapeType="1"/>
                </p:cNvSpPr>
                <p:nvPr/>
              </p:nvSpPr>
              <p:spPr bwMode="auto">
                <a:xfrm flipV="1">
                  <a:off x="1860" y="1978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8" name="Line 1598"/>
                <p:cNvSpPr>
                  <a:spLocks noChangeShapeType="1"/>
                </p:cNvSpPr>
                <p:nvPr/>
              </p:nvSpPr>
              <p:spPr bwMode="auto">
                <a:xfrm flipV="1">
                  <a:off x="1896" y="1912"/>
                  <a:ext cx="29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39" name="Freeform 1599"/>
                <p:cNvSpPr>
                  <a:spLocks/>
                </p:cNvSpPr>
                <p:nvPr/>
              </p:nvSpPr>
              <p:spPr bwMode="auto">
                <a:xfrm>
                  <a:off x="1925" y="185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0">
                      <a:moveTo>
                        <a:pt x="0" y="60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0" name="Freeform 1600"/>
                <p:cNvSpPr>
                  <a:spLocks/>
                </p:cNvSpPr>
                <p:nvPr/>
              </p:nvSpPr>
              <p:spPr bwMode="auto">
                <a:xfrm>
                  <a:off x="1961" y="1792"/>
                  <a:ext cx="3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2" y="30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60">
                      <a:moveTo>
                        <a:pt x="0" y="60"/>
                      </a:moveTo>
                      <a:lnTo>
                        <a:pt x="12" y="30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1" name="Freeform 1601"/>
                <p:cNvSpPr>
                  <a:spLocks/>
                </p:cNvSpPr>
                <p:nvPr/>
              </p:nvSpPr>
              <p:spPr bwMode="auto">
                <a:xfrm>
                  <a:off x="1991" y="1744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2" name="Freeform 1602"/>
                <p:cNvSpPr>
                  <a:spLocks/>
                </p:cNvSpPr>
                <p:nvPr/>
              </p:nvSpPr>
              <p:spPr bwMode="auto">
                <a:xfrm>
                  <a:off x="2027" y="1696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18" y="24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8">
                      <a:moveTo>
                        <a:pt x="0" y="48"/>
                      </a:moveTo>
                      <a:lnTo>
                        <a:pt x="18" y="2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3" name="Line 1603"/>
                <p:cNvSpPr>
                  <a:spLocks noChangeShapeType="1"/>
                </p:cNvSpPr>
                <p:nvPr/>
              </p:nvSpPr>
              <p:spPr bwMode="auto">
                <a:xfrm flipV="1">
                  <a:off x="2063" y="1661"/>
                  <a:ext cx="30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4" name="Freeform 1604"/>
                <p:cNvSpPr>
                  <a:spLocks/>
                </p:cNvSpPr>
                <p:nvPr/>
              </p:nvSpPr>
              <p:spPr bwMode="auto">
                <a:xfrm>
                  <a:off x="2093" y="1631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18" y="12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30">
                      <a:moveTo>
                        <a:pt x="0" y="30"/>
                      </a:moveTo>
                      <a:lnTo>
                        <a:pt x="18" y="1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5" name="Line 1605"/>
                <p:cNvSpPr>
                  <a:spLocks noChangeShapeType="1"/>
                </p:cNvSpPr>
                <p:nvPr/>
              </p:nvSpPr>
              <p:spPr bwMode="auto">
                <a:xfrm flipV="1">
                  <a:off x="2129" y="1613"/>
                  <a:ext cx="36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6" name="Line 1606"/>
                <p:cNvSpPr>
                  <a:spLocks noChangeShapeType="1"/>
                </p:cNvSpPr>
                <p:nvPr/>
              </p:nvSpPr>
              <p:spPr bwMode="auto">
                <a:xfrm flipV="1">
                  <a:off x="2165" y="1601"/>
                  <a:ext cx="30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7" name="Freeform 1607"/>
                <p:cNvSpPr>
                  <a:spLocks/>
                </p:cNvSpPr>
                <p:nvPr/>
              </p:nvSpPr>
              <p:spPr bwMode="auto">
                <a:xfrm>
                  <a:off x="2195" y="1595"/>
                  <a:ext cx="36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8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6">
                      <a:moveTo>
                        <a:pt x="0" y="6"/>
                      </a:moveTo>
                      <a:lnTo>
                        <a:pt x="18" y="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8" name="Line 1608"/>
                <p:cNvSpPr>
                  <a:spLocks noChangeShapeType="1"/>
                </p:cNvSpPr>
                <p:nvPr/>
              </p:nvSpPr>
              <p:spPr bwMode="auto">
                <a:xfrm>
                  <a:off x="2231" y="1595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49" name="Line 1609"/>
                <p:cNvSpPr>
                  <a:spLocks noChangeShapeType="1"/>
                </p:cNvSpPr>
                <p:nvPr/>
              </p:nvSpPr>
              <p:spPr bwMode="auto">
                <a:xfrm>
                  <a:off x="2261" y="16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0" name="Line 1610"/>
                <p:cNvSpPr>
                  <a:spLocks noChangeShapeType="1"/>
                </p:cNvSpPr>
                <p:nvPr/>
              </p:nvSpPr>
              <p:spPr bwMode="auto">
                <a:xfrm>
                  <a:off x="2297" y="1613"/>
                  <a:ext cx="35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1" name="Line 1611"/>
                <p:cNvSpPr>
                  <a:spLocks noChangeShapeType="1"/>
                </p:cNvSpPr>
                <p:nvPr/>
              </p:nvSpPr>
              <p:spPr bwMode="auto">
                <a:xfrm>
                  <a:off x="2332" y="1637"/>
                  <a:ext cx="30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2" name="Freeform 1612"/>
                <p:cNvSpPr>
                  <a:spLocks/>
                </p:cNvSpPr>
                <p:nvPr/>
              </p:nvSpPr>
              <p:spPr bwMode="auto">
                <a:xfrm>
                  <a:off x="2362" y="1667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1"/>
                    </a:cxn>
                  </a:cxnLst>
                  <a:rect l="0" t="0" r="r" b="b"/>
                  <a:pathLst>
                    <a:path w="36" h="41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1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3" name="Freeform 1613"/>
                <p:cNvSpPr>
                  <a:spLocks/>
                </p:cNvSpPr>
                <p:nvPr/>
              </p:nvSpPr>
              <p:spPr bwMode="auto">
                <a:xfrm>
                  <a:off x="2398" y="1708"/>
                  <a:ext cx="36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42"/>
                    </a:cxn>
                  </a:cxnLst>
                  <a:rect l="0" t="0" r="r" b="b"/>
                  <a:pathLst>
                    <a:path w="36" h="42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4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4" name="Freeform 1614"/>
                <p:cNvSpPr>
                  <a:spLocks/>
                </p:cNvSpPr>
                <p:nvPr/>
              </p:nvSpPr>
              <p:spPr bwMode="auto">
                <a:xfrm>
                  <a:off x="2434" y="1750"/>
                  <a:ext cx="3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54"/>
                    </a:cxn>
                  </a:cxnLst>
                  <a:rect l="0" t="0" r="r" b="b"/>
                  <a:pathLst>
                    <a:path w="30" h="54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54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5" name="Freeform 1615"/>
                <p:cNvSpPr>
                  <a:spLocks/>
                </p:cNvSpPr>
                <p:nvPr/>
              </p:nvSpPr>
              <p:spPr bwMode="auto">
                <a:xfrm>
                  <a:off x="2464" y="1804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6" name="Line 1616"/>
                <p:cNvSpPr>
                  <a:spLocks noChangeShapeType="1"/>
                </p:cNvSpPr>
                <p:nvPr/>
              </p:nvSpPr>
              <p:spPr bwMode="auto">
                <a:xfrm>
                  <a:off x="2500" y="1864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7" name="Line 1617"/>
                <p:cNvSpPr>
                  <a:spLocks noChangeShapeType="1"/>
                </p:cNvSpPr>
                <p:nvPr/>
              </p:nvSpPr>
              <p:spPr bwMode="auto">
                <a:xfrm>
                  <a:off x="2530" y="19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8" name="Line 1618"/>
                <p:cNvSpPr>
                  <a:spLocks noChangeShapeType="1"/>
                </p:cNvSpPr>
                <p:nvPr/>
              </p:nvSpPr>
              <p:spPr bwMode="auto">
                <a:xfrm>
                  <a:off x="2566" y="1990"/>
                  <a:ext cx="36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59" name="Line 1619"/>
                <p:cNvSpPr>
                  <a:spLocks noChangeShapeType="1"/>
                </p:cNvSpPr>
                <p:nvPr/>
              </p:nvSpPr>
              <p:spPr bwMode="auto">
                <a:xfrm>
                  <a:off x="2602" y="205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0" name="Line 1620"/>
                <p:cNvSpPr>
                  <a:spLocks noChangeShapeType="1"/>
                </p:cNvSpPr>
                <p:nvPr/>
              </p:nvSpPr>
              <p:spPr bwMode="auto">
                <a:xfrm>
                  <a:off x="2632" y="2127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1" name="Line 1621"/>
                <p:cNvSpPr>
                  <a:spLocks noChangeShapeType="1"/>
                </p:cNvSpPr>
                <p:nvPr/>
              </p:nvSpPr>
              <p:spPr bwMode="auto">
                <a:xfrm>
                  <a:off x="2668" y="2199"/>
                  <a:ext cx="35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2" name="Line 1622"/>
                <p:cNvSpPr>
                  <a:spLocks noChangeShapeType="1"/>
                </p:cNvSpPr>
                <p:nvPr/>
              </p:nvSpPr>
              <p:spPr bwMode="auto">
                <a:xfrm>
                  <a:off x="2703" y="2271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3" name="Freeform 1623"/>
                <p:cNvSpPr>
                  <a:spLocks/>
                </p:cNvSpPr>
                <p:nvPr/>
              </p:nvSpPr>
              <p:spPr bwMode="auto">
                <a:xfrm>
                  <a:off x="2733" y="2336"/>
                  <a:ext cx="36" cy="6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6"/>
                    </a:cxn>
                    <a:cxn ang="0">
                      <a:pos x="36" y="66"/>
                    </a:cxn>
                  </a:cxnLst>
                  <a:rect l="0" t="0" r="r" b="b"/>
                  <a:pathLst>
                    <a:path w="36" h="6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36" y="66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4" name="Line 1624"/>
                <p:cNvSpPr>
                  <a:spLocks noChangeShapeType="1"/>
                </p:cNvSpPr>
                <p:nvPr/>
              </p:nvSpPr>
              <p:spPr bwMode="auto">
                <a:xfrm>
                  <a:off x="2769" y="2402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5" name="Freeform 1625"/>
                <p:cNvSpPr>
                  <a:spLocks/>
                </p:cNvSpPr>
                <p:nvPr/>
              </p:nvSpPr>
              <p:spPr bwMode="auto">
                <a:xfrm>
                  <a:off x="2799" y="2462"/>
                  <a:ext cx="36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30"/>
                    </a:cxn>
                    <a:cxn ang="0">
                      <a:pos x="36" y="60"/>
                    </a:cxn>
                  </a:cxnLst>
                  <a:rect l="0" t="0" r="r" b="b"/>
                  <a:pathLst>
                    <a:path w="36" h="60">
                      <a:moveTo>
                        <a:pt x="0" y="0"/>
                      </a:moveTo>
                      <a:lnTo>
                        <a:pt x="18" y="30"/>
                      </a:lnTo>
                      <a:lnTo>
                        <a:pt x="36" y="6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6" name="Freeform 1626"/>
                <p:cNvSpPr>
                  <a:spLocks/>
                </p:cNvSpPr>
                <p:nvPr/>
              </p:nvSpPr>
              <p:spPr bwMode="auto">
                <a:xfrm>
                  <a:off x="2835" y="2522"/>
                  <a:ext cx="36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24"/>
                    </a:cxn>
                    <a:cxn ang="0">
                      <a:pos x="36" y="48"/>
                    </a:cxn>
                  </a:cxnLst>
                  <a:rect l="0" t="0" r="r" b="b"/>
                  <a:pathLst>
                    <a:path w="36" h="48">
                      <a:moveTo>
                        <a:pt x="0" y="0"/>
                      </a:moveTo>
                      <a:lnTo>
                        <a:pt x="18" y="24"/>
                      </a:lnTo>
                      <a:lnTo>
                        <a:pt x="36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7" name="Freeform 1627"/>
                <p:cNvSpPr>
                  <a:spLocks/>
                </p:cNvSpPr>
                <p:nvPr/>
              </p:nvSpPr>
              <p:spPr bwMode="auto">
                <a:xfrm>
                  <a:off x="2871" y="2570"/>
                  <a:ext cx="30" cy="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" y="24"/>
                    </a:cxn>
                    <a:cxn ang="0">
                      <a:pos x="30" y="48"/>
                    </a:cxn>
                  </a:cxnLst>
                  <a:rect l="0" t="0" r="r" b="b"/>
                  <a:pathLst>
                    <a:path w="30" h="48">
                      <a:moveTo>
                        <a:pt x="0" y="0"/>
                      </a:moveTo>
                      <a:lnTo>
                        <a:pt x="12" y="24"/>
                      </a:lnTo>
                      <a:lnTo>
                        <a:pt x="30" y="48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8" name="Line 1628"/>
                <p:cNvSpPr>
                  <a:spLocks noChangeShapeType="1"/>
                </p:cNvSpPr>
                <p:nvPr/>
              </p:nvSpPr>
              <p:spPr bwMode="auto">
                <a:xfrm>
                  <a:off x="2901" y="2618"/>
                  <a:ext cx="36" cy="3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69" name="Freeform 1629"/>
                <p:cNvSpPr>
                  <a:spLocks/>
                </p:cNvSpPr>
                <p:nvPr/>
              </p:nvSpPr>
              <p:spPr bwMode="auto">
                <a:xfrm>
                  <a:off x="2937" y="2653"/>
                  <a:ext cx="36" cy="3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18"/>
                    </a:cxn>
                    <a:cxn ang="0">
                      <a:pos x="36" y="30"/>
                    </a:cxn>
                  </a:cxnLst>
                  <a:rect l="0" t="0" r="r" b="b"/>
                  <a:pathLst>
                    <a:path w="36" h="30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36" y="3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0" name="Line 1630"/>
                <p:cNvSpPr>
                  <a:spLocks noChangeShapeType="1"/>
                </p:cNvSpPr>
                <p:nvPr/>
              </p:nvSpPr>
              <p:spPr bwMode="auto">
                <a:xfrm>
                  <a:off x="2973" y="2683"/>
                  <a:ext cx="30" cy="18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1" name="Freeform 1631"/>
                <p:cNvSpPr>
                  <a:spLocks/>
                </p:cNvSpPr>
                <p:nvPr/>
              </p:nvSpPr>
              <p:spPr bwMode="auto">
                <a:xfrm>
                  <a:off x="3003" y="2701"/>
                  <a:ext cx="36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6"/>
                    </a:cxn>
                    <a:cxn ang="0">
                      <a:pos x="36" y="12"/>
                    </a:cxn>
                  </a:cxnLst>
                  <a:rect l="0" t="0" r="r" b="b"/>
                  <a:pathLst>
                    <a:path w="36" h="12">
                      <a:moveTo>
                        <a:pt x="0" y="0"/>
                      </a:moveTo>
                      <a:lnTo>
                        <a:pt x="18" y="6"/>
                      </a:lnTo>
                      <a:lnTo>
                        <a:pt x="36" y="12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2" name="Line 1632"/>
                <p:cNvSpPr>
                  <a:spLocks noChangeShapeType="1"/>
                </p:cNvSpPr>
                <p:nvPr/>
              </p:nvSpPr>
              <p:spPr bwMode="auto">
                <a:xfrm>
                  <a:off x="3039" y="2713"/>
                  <a:ext cx="30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3" name="Line 1633"/>
                <p:cNvSpPr>
                  <a:spLocks noChangeShapeType="1"/>
                </p:cNvSpPr>
                <p:nvPr/>
              </p:nvSpPr>
              <p:spPr bwMode="auto">
                <a:xfrm flipV="1">
                  <a:off x="3069" y="2713"/>
                  <a:ext cx="35" cy="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4" name="Line 1634"/>
                <p:cNvSpPr>
                  <a:spLocks noChangeShapeType="1"/>
                </p:cNvSpPr>
                <p:nvPr/>
              </p:nvSpPr>
              <p:spPr bwMode="auto">
                <a:xfrm flipV="1">
                  <a:off x="3104" y="2701"/>
                  <a:ext cx="36" cy="1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5" name="Line 1635"/>
                <p:cNvSpPr>
                  <a:spLocks noChangeShapeType="1"/>
                </p:cNvSpPr>
                <p:nvPr/>
              </p:nvSpPr>
              <p:spPr bwMode="auto">
                <a:xfrm flipV="1">
                  <a:off x="3140" y="2677"/>
                  <a:ext cx="30" cy="24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6" name="Line 1636"/>
                <p:cNvSpPr>
                  <a:spLocks noChangeShapeType="1"/>
                </p:cNvSpPr>
                <p:nvPr/>
              </p:nvSpPr>
              <p:spPr bwMode="auto">
                <a:xfrm flipV="1">
                  <a:off x="3170" y="2647"/>
                  <a:ext cx="36" cy="3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7" name="Freeform 1637"/>
                <p:cNvSpPr>
                  <a:spLocks/>
                </p:cNvSpPr>
                <p:nvPr/>
              </p:nvSpPr>
              <p:spPr bwMode="auto">
                <a:xfrm>
                  <a:off x="3206" y="2606"/>
                  <a:ext cx="36" cy="41"/>
                </a:xfrm>
                <a:custGeom>
                  <a:avLst/>
                  <a:gdLst/>
                  <a:ahLst/>
                  <a:cxnLst>
                    <a:cxn ang="0">
                      <a:pos x="0" y="41"/>
                    </a:cxn>
                    <a:cxn ang="0">
                      <a:pos x="18" y="23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41">
                      <a:moveTo>
                        <a:pt x="0" y="41"/>
                      </a:moveTo>
                      <a:lnTo>
                        <a:pt x="18" y="2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8" name="Freeform 1638"/>
                <p:cNvSpPr>
                  <a:spLocks/>
                </p:cNvSpPr>
                <p:nvPr/>
              </p:nvSpPr>
              <p:spPr bwMode="auto">
                <a:xfrm>
                  <a:off x="3242" y="2564"/>
                  <a:ext cx="30" cy="42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12" y="24"/>
                    </a:cxn>
                    <a:cxn ang="0">
                      <a:pos x="30" y="0"/>
                    </a:cxn>
                  </a:cxnLst>
                  <a:rect l="0" t="0" r="r" b="b"/>
                  <a:pathLst>
                    <a:path w="30" h="42">
                      <a:moveTo>
                        <a:pt x="0" y="42"/>
                      </a:moveTo>
                      <a:lnTo>
                        <a:pt x="12" y="24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79" name="Freeform 1639"/>
                <p:cNvSpPr>
                  <a:spLocks/>
                </p:cNvSpPr>
                <p:nvPr/>
              </p:nvSpPr>
              <p:spPr bwMode="auto">
                <a:xfrm>
                  <a:off x="3272" y="2510"/>
                  <a:ext cx="36" cy="54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8" y="3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54">
                      <a:moveTo>
                        <a:pt x="0" y="54"/>
                      </a:moveTo>
                      <a:lnTo>
                        <a:pt x="18" y="3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80" name="Line 1640"/>
                <p:cNvSpPr>
                  <a:spLocks noChangeShapeType="1"/>
                </p:cNvSpPr>
                <p:nvPr/>
              </p:nvSpPr>
              <p:spPr bwMode="auto">
                <a:xfrm flipV="1">
                  <a:off x="3308" y="2450"/>
                  <a:ext cx="30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81" name="Line 1641"/>
                <p:cNvSpPr>
                  <a:spLocks noChangeShapeType="1"/>
                </p:cNvSpPr>
                <p:nvPr/>
              </p:nvSpPr>
              <p:spPr bwMode="auto">
                <a:xfrm flipV="1">
                  <a:off x="3338" y="2390"/>
                  <a:ext cx="36" cy="6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82" name="Line 1642"/>
                <p:cNvSpPr>
                  <a:spLocks noChangeShapeType="1"/>
                </p:cNvSpPr>
                <p:nvPr/>
              </p:nvSpPr>
              <p:spPr bwMode="auto">
                <a:xfrm flipV="1">
                  <a:off x="3374" y="2324"/>
                  <a:ext cx="36" cy="66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83" name="Line 1643"/>
                <p:cNvSpPr>
                  <a:spLocks noChangeShapeType="1"/>
                </p:cNvSpPr>
                <p:nvPr/>
              </p:nvSpPr>
              <p:spPr bwMode="auto">
                <a:xfrm flipV="1">
                  <a:off x="3410" y="2259"/>
                  <a:ext cx="30" cy="65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84" name="Freeform 1644"/>
                <p:cNvSpPr>
                  <a:spLocks/>
                </p:cNvSpPr>
                <p:nvPr/>
              </p:nvSpPr>
              <p:spPr bwMode="auto">
                <a:xfrm>
                  <a:off x="3440" y="2187"/>
                  <a:ext cx="35" cy="72"/>
                </a:xfrm>
                <a:custGeom>
                  <a:avLst/>
                  <a:gdLst/>
                  <a:ahLst/>
                  <a:cxnLst>
                    <a:cxn ang="0">
                      <a:pos x="0" y="72"/>
                    </a:cxn>
                    <a:cxn ang="0">
                      <a:pos x="18" y="36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72">
                      <a:moveTo>
                        <a:pt x="0" y="72"/>
                      </a:moveTo>
                      <a:lnTo>
                        <a:pt x="18" y="36"/>
                      </a:lnTo>
                      <a:lnTo>
                        <a:pt x="35" y="0"/>
                      </a:lnTo>
                    </a:path>
                  </a:pathLst>
                </a:custGeom>
                <a:noFill/>
                <a:ln w="9525">
                  <a:solidFill>
                    <a:srgbClr val="00FF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85" name="Line 1645"/>
                <p:cNvSpPr>
                  <a:spLocks noChangeShapeType="1"/>
                </p:cNvSpPr>
                <p:nvPr/>
              </p:nvSpPr>
              <p:spPr bwMode="auto">
                <a:xfrm flipV="1">
                  <a:off x="3475" y="2115"/>
                  <a:ext cx="30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486" name="Line 1646"/>
                <p:cNvSpPr>
                  <a:spLocks noChangeShapeType="1"/>
                </p:cNvSpPr>
                <p:nvPr/>
              </p:nvSpPr>
              <p:spPr bwMode="auto">
                <a:xfrm flipV="1">
                  <a:off x="3505" y="2043"/>
                  <a:ext cx="36" cy="72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350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sp>
        <p:nvSpPr>
          <p:cNvPr id="37487" name="Text Box 1647"/>
          <p:cNvSpPr txBox="1">
            <a:spLocks noChangeArrowheads="1"/>
          </p:cNvSpPr>
          <p:nvPr/>
        </p:nvSpPr>
        <p:spPr bwMode="auto">
          <a:xfrm>
            <a:off x="59206" y="4541436"/>
            <a:ext cx="400263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solidFill>
                  <a:prstClr val="black"/>
                </a:solidFill>
              </a:rPr>
              <a:t>…or can be monochromatic: all the light has the same wavelength, usually: absorption by a species of interest. </a:t>
            </a: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AB2FC9-A512-4BA3-A03D-6053BAB54C5C}"/>
              </a:ext>
            </a:extLst>
          </p:cNvPr>
          <p:cNvGrpSpPr/>
          <p:nvPr/>
        </p:nvGrpSpPr>
        <p:grpSpPr>
          <a:xfrm>
            <a:off x="6525969" y="2084215"/>
            <a:ext cx="2284064" cy="2044309"/>
            <a:chOff x="5602637" y="2083292"/>
            <a:chExt cx="2284064" cy="2044309"/>
          </a:xfrm>
        </p:grpSpPr>
        <p:sp>
          <p:nvSpPr>
            <p:cNvPr id="37488" name="Freeform 1648"/>
            <p:cNvSpPr>
              <a:spLocks/>
            </p:cNvSpPr>
            <p:nvPr/>
          </p:nvSpPr>
          <p:spPr bwMode="auto">
            <a:xfrm>
              <a:off x="5972176" y="2362200"/>
              <a:ext cx="1914525" cy="1295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88"/>
                </a:cxn>
                <a:cxn ang="0">
                  <a:pos x="1424" y="1088"/>
                </a:cxn>
              </a:cxnLst>
              <a:rect l="0" t="0" r="r" b="b"/>
              <a:pathLst>
                <a:path w="1424" h="1088">
                  <a:moveTo>
                    <a:pt x="0" y="0"/>
                  </a:moveTo>
                  <a:lnTo>
                    <a:pt x="0" y="1088"/>
                  </a:lnTo>
                  <a:lnTo>
                    <a:pt x="1424" y="10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37489" name="Freeform 1649"/>
            <p:cNvSpPr>
              <a:spLocks/>
            </p:cNvSpPr>
            <p:nvPr/>
          </p:nvSpPr>
          <p:spPr bwMode="auto">
            <a:xfrm>
              <a:off x="6010276" y="2940844"/>
              <a:ext cx="1800225" cy="602456"/>
            </a:xfrm>
            <a:custGeom>
              <a:avLst/>
              <a:gdLst/>
              <a:ahLst/>
              <a:cxnLst>
                <a:cxn ang="0">
                  <a:pos x="0" y="506"/>
                </a:cxn>
                <a:cxn ang="0">
                  <a:pos x="352" y="426"/>
                </a:cxn>
                <a:cxn ang="0">
                  <a:pos x="504" y="98"/>
                </a:cxn>
                <a:cxn ang="0">
                  <a:pos x="808" y="2"/>
                </a:cxn>
                <a:cxn ang="0">
                  <a:pos x="1112" y="108"/>
                </a:cxn>
                <a:cxn ang="0">
                  <a:pos x="1208" y="418"/>
                </a:cxn>
                <a:cxn ang="0">
                  <a:pos x="1512" y="506"/>
                </a:cxn>
              </a:cxnLst>
              <a:rect l="0" t="0" r="r" b="b"/>
              <a:pathLst>
                <a:path w="1512" h="506">
                  <a:moveTo>
                    <a:pt x="0" y="506"/>
                  </a:moveTo>
                  <a:cubicBezTo>
                    <a:pt x="133" y="502"/>
                    <a:pt x="268" y="494"/>
                    <a:pt x="352" y="426"/>
                  </a:cubicBezTo>
                  <a:cubicBezTo>
                    <a:pt x="436" y="358"/>
                    <a:pt x="428" y="169"/>
                    <a:pt x="504" y="98"/>
                  </a:cubicBezTo>
                  <a:cubicBezTo>
                    <a:pt x="580" y="27"/>
                    <a:pt x="707" y="0"/>
                    <a:pt x="808" y="2"/>
                  </a:cubicBezTo>
                  <a:cubicBezTo>
                    <a:pt x="909" y="4"/>
                    <a:pt x="1045" y="39"/>
                    <a:pt x="1112" y="108"/>
                  </a:cubicBezTo>
                  <a:cubicBezTo>
                    <a:pt x="1179" y="177"/>
                    <a:pt x="1141" y="352"/>
                    <a:pt x="1208" y="418"/>
                  </a:cubicBezTo>
                  <a:cubicBezTo>
                    <a:pt x="1275" y="484"/>
                    <a:pt x="1449" y="488"/>
                    <a:pt x="1512" y="50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37492" name="Text Box 1652"/>
            <p:cNvSpPr txBox="1">
              <a:spLocks noChangeArrowheads="1"/>
            </p:cNvSpPr>
            <p:nvPr/>
          </p:nvSpPr>
          <p:spPr bwMode="auto">
            <a:xfrm>
              <a:off x="5905321" y="3665936"/>
              <a:ext cx="175144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Wavelength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37494" name="Text Box 1654"/>
            <p:cNvSpPr txBox="1">
              <a:spLocks noChangeArrowheads="1"/>
            </p:cNvSpPr>
            <p:nvPr/>
          </p:nvSpPr>
          <p:spPr bwMode="auto">
            <a:xfrm rot="-5400000">
              <a:off x="5169987" y="2515942"/>
              <a:ext cx="1326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Intensity</a:t>
              </a:r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9317D7-85F0-4BAD-AAC3-A3FA527A3912}"/>
              </a:ext>
            </a:extLst>
          </p:cNvPr>
          <p:cNvGrpSpPr/>
          <p:nvPr/>
        </p:nvGrpSpPr>
        <p:grpSpPr>
          <a:xfrm>
            <a:off x="6526585" y="4759586"/>
            <a:ext cx="2668365" cy="1892183"/>
            <a:chOff x="5550843" y="4276446"/>
            <a:chExt cx="2668365" cy="1892183"/>
          </a:xfrm>
        </p:grpSpPr>
        <p:sp>
          <p:nvSpPr>
            <p:cNvPr id="37490" name="Freeform 1650"/>
            <p:cNvSpPr>
              <a:spLocks/>
            </p:cNvSpPr>
            <p:nvPr/>
          </p:nvSpPr>
          <p:spPr bwMode="auto">
            <a:xfrm>
              <a:off x="5972176" y="4371975"/>
              <a:ext cx="1914525" cy="1295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88"/>
                </a:cxn>
                <a:cxn ang="0">
                  <a:pos x="1424" y="1088"/>
                </a:cxn>
              </a:cxnLst>
              <a:rect l="0" t="0" r="r" b="b"/>
              <a:pathLst>
                <a:path w="1424" h="1088">
                  <a:moveTo>
                    <a:pt x="0" y="0"/>
                  </a:moveTo>
                  <a:lnTo>
                    <a:pt x="0" y="1088"/>
                  </a:lnTo>
                  <a:lnTo>
                    <a:pt x="1424" y="10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37491" name="Freeform 1651"/>
            <p:cNvSpPr>
              <a:spLocks/>
            </p:cNvSpPr>
            <p:nvPr/>
          </p:nvSpPr>
          <p:spPr bwMode="auto">
            <a:xfrm>
              <a:off x="6076950" y="4448176"/>
              <a:ext cx="1733550" cy="1152525"/>
            </a:xfrm>
            <a:custGeom>
              <a:avLst/>
              <a:gdLst/>
              <a:ahLst/>
              <a:cxnLst>
                <a:cxn ang="0">
                  <a:pos x="0" y="968"/>
                </a:cxn>
                <a:cxn ang="0">
                  <a:pos x="656" y="968"/>
                </a:cxn>
                <a:cxn ang="0">
                  <a:pos x="664" y="0"/>
                </a:cxn>
                <a:cxn ang="0">
                  <a:pos x="680" y="968"/>
                </a:cxn>
                <a:cxn ang="0">
                  <a:pos x="1456" y="968"/>
                </a:cxn>
              </a:cxnLst>
              <a:rect l="0" t="0" r="r" b="b"/>
              <a:pathLst>
                <a:path w="1456" h="968">
                  <a:moveTo>
                    <a:pt x="0" y="968"/>
                  </a:moveTo>
                  <a:lnTo>
                    <a:pt x="656" y="968"/>
                  </a:lnTo>
                  <a:lnTo>
                    <a:pt x="664" y="0"/>
                  </a:lnTo>
                  <a:lnTo>
                    <a:pt x="680" y="968"/>
                  </a:lnTo>
                  <a:lnTo>
                    <a:pt x="1456" y="9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37493" name="Text Box 1653"/>
            <p:cNvSpPr txBox="1">
              <a:spLocks noChangeArrowheads="1"/>
            </p:cNvSpPr>
            <p:nvPr/>
          </p:nvSpPr>
          <p:spPr bwMode="auto">
            <a:xfrm>
              <a:off x="6019801" y="5706964"/>
              <a:ext cx="175144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Wavelength</a:t>
              </a:r>
              <a:endParaRPr lang="en-US" sz="1350" dirty="0">
                <a:solidFill>
                  <a:prstClr val="black"/>
                </a:solidFill>
              </a:endParaRPr>
            </a:p>
          </p:txBody>
        </p:sp>
        <p:sp>
          <p:nvSpPr>
            <p:cNvPr id="37495" name="Text Box 1655"/>
            <p:cNvSpPr txBox="1">
              <a:spLocks noChangeArrowheads="1"/>
            </p:cNvSpPr>
            <p:nvPr/>
          </p:nvSpPr>
          <p:spPr bwMode="auto">
            <a:xfrm rot="-5400000">
              <a:off x="5118193" y="4796960"/>
              <a:ext cx="1326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Intensity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37498" name="Freeform 1658"/>
            <p:cNvSpPr>
              <a:spLocks/>
            </p:cNvSpPr>
            <p:nvPr/>
          </p:nvSpPr>
          <p:spPr bwMode="auto">
            <a:xfrm>
              <a:off x="6019801" y="4939903"/>
              <a:ext cx="1800225" cy="613172"/>
            </a:xfrm>
            <a:custGeom>
              <a:avLst/>
              <a:gdLst/>
              <a:ahLst/>
              <a:cxnLst>
                <a:cxn ang="0">
                  <a:pos x="0" y="515"/>
                </a:cxn>
                <a:cxn ang="0">
                  <a:pos x="420" y="463"/>
                </a:cxn>
                <a:cxn ang="0">
                  <a:pos x="560" y="355"/>
                </a:cxn>
                <a:cxn ang="0">
                  <a:pos x="716" y="7"/>
                </a:cxn>
                <a:cxn ang="0">
                  <a:pos x="832" y="315"/>
                </a:cxn>
                <a:cxn ang="0">
                  <a:pos x="956" y="459"/>
                </a:cxn>
                <a:cxn ang="0">
                  <a:pos x="1512" y="515"/>
                </a:cxn>
              </a:cxnLst>
              <a:rect l="0" t="0" r="r" b="b"/>
              <a:pathLst>
                <a:path w="1512" h="515">
                  <a:moveTo>
                    <a:pt x="0" y="515"/>
                  </a:moveTo>
                  <a:cubicBezTo>
                    <a:pt x="70" y="506"/>
                    <a:pt x="327" y="490"/>
                    <a:pt x="420" y="463"/>
                  </a:cubicBezTo>
                  <a:cubicBezTo>
                    <a:pt x="513" y="436"/>
                    <a:pt x="511" y="431"/>
                    <a:pt x="560" y="355"/>
                  </a:cubicBezTo>
                  <a:cubicBezTo>
                    <a:pt x="609" y="279"/>
                    <a:pt x="671" y="14"/>
                    <a:pt x="716" y="7"/>
                  </a:cubicBezTo>
                  <a:cubicBezTo>
                    <a:pt x="761" y="0"/>
                    <a:pt x="792" y="240"/>
                    <a:pt x="832" y="315"/>
                  </a:cubicBezTo>
                  <a:cubicBezTo>
                    <a:pt x="872" y="390"/>
                    <a:pt x="843" y="426"/>
                    <a:pt x="956" y="459"/>
                  </a:cubicBezTo>
                  <a:cubicBezTo>
                    <a:pt x="1069" y="492"/>
                    <a:pt x="1396" y="503"/>
                    <a:pt x="1512" y="515"/>
                  </a:cubicBezTo>
                </a:path>
              </a:pathLst>
            </a:custGeom>
            <a:noFill/>
            <a:ln w="9525" cap="flat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37499" name="Text Box 1659"/>
            <p:cNvSpPr txBox="1">
              <a:spLocks noChangeArrowheads="1"/>
            </p:cNvSpPr>
            <p:nvPr/>
          </p:nvSpPr>
          <p:spPr bwMode="auto">
            <a:xfrm>
              <a:off x="6838949" y="4276446"/>
              <a:ext cx="1380259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GB" sz="1500" dirty="0">
                  <a:solidFill>
                    <a:srgbClr val="FF0000"/>
                  </a:solidFill>
                </a:rPr>
                <a:t>Spectrum of intermediate</a:t>
              </a:r>
              <a:endParaRPr lang="en-US" sz="1500" dirty="0">
                <a:solidFill>
                  <a:srgbClr val="FF0000"/>
                </a:solidFill>
              </a:endParaRPr>
            </a:p>
          </p:txBody>
        </p:sp>
        <p:sp>
          <p:nvSpPr>
            <p:cNvPr id="37500" name="Line 1660"/>
            <p:cNvSpPr>
              <a:spLocks noChangeShapeType="1"/>
            </p:cNvSpPr>
            <p:nvPr/>
          </p:nvSpPr>
          <p:spPr bwMode="auto">
            <a:xfrm flipH="1">
              <a:off x="7048501" y="4810125"/>
              <a:ext cx="352425" cy="6286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A6C1B745-A48D-A95F-90A5-2C28177A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274638"/>
            <a:ext cx="6192838" cy="1143000"/>
          </a:xfrm>
        </p:spPr>
        <p:txBody>
          <a:bodyPr/>
          <a:lstStyle/>
          <a:p>
            <a:r>
              <a:rPr lang="en-GB" dirty="0"/>
              <a:t>Changing probe wavelength</a:t>
            </a:r>
          </a:p>
        </p:txBody>
      </p:sp>
    </p:spTree>
    <p:extLst>
      <p:ext uri="{BB962C8B-B14F-4D97-AF65-F5344CB8AC3E}">
        <p14:creationId xmlns:p14="http://schemas.microsoft.com/office/powerpoint/2010/main" val="348526237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white light as the probe</a:t>
            </a: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26" y="1619250"/>
            <a:ext cx="9206345" cy="1651397"/>
          </a:xfrm>
          <a:noFill/>
          <a:ln/>
        </p:spPr>
        <p:txBody>
          <a:bodyPr/>
          <a:lstStyle/>
          <a:p>
            <a:r>
              <a:rPr lang="en-GB" dirty="0"/>
              <a:t>White light can be split up using a prism or diffraction grating.</a:t>
            </a:r>
          </a:p>
          <a:p>
            <a:pPr>
              <a:buFontTx/>
              <a:buNone/>
            </a:pPr>
            <a:r>
              <a:rPr lang="en-GB" dirty="0"/>
              <a:t>	The light can then be detected with an array of detectors, to give a spectrum.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191435" y="5826995"/>
            <a:ext cx="90152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Alternatively, you can use a “monochromator” with a single detector, to pick a single wavelength at a time.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3829051" y="3690938"/>
            <a:ext cx="600075" cy="7286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 flipV="1">
            <a:off x="4429125" y="3448051"/>
            <a:ext cx="1039416" cy="600075"/>
          </a:xfrm>
          <a:prstGeom prst="line">
            <a:avLst/>
          </a:prstGeom>
          <a:noFill/>
          <a:ln w="57150">
            <a:solidFill>
              <a:srgbClr val="9696FA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 rot="718021" flipV="1">
            <a:off x="4493420" y="3620691"/>
            <a:ext cx="960835" cy="517922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 rot="1741494" flipV="1">
            <a:off x="4501754" y="3770710"/>
            <a:ext cx="915590" cy="528638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 rot="2946953" flipV="1">
            <a:off x="4508898" y="3867151"/>
            <a:ext cx="866775" cy="614363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rot="3555459" flipV="1">
            <a:off x="4428531" y="4038006"/>
            <a:ext cx="1038225" cy="59888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pic>
        <p:nvPicPr>
          <p:cNvPr id="34832" name="Picture 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8782" y="4529138"/>
            <a:ext cx="404813" cy="22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33" name="Picture 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8782" y="3614738"/>
            <a:ext cx="404813" cy="22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34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8782" y="3919538"/>
            <a:ext cx="404813" cy="22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35" name="Picture 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8782" y="4224338"/>
            <a:ext cx="404813" cy="22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36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8782" y="3309938"/>
            <a:ext cx="404813" cy="22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838" name="Freeform 22"/>
          <p:cNvSpPr>
            <a:spLocks/>
          </p:cNvSpPr>
          <p:nvPr/>
        </p:nvSpPr>
        <p:spPr bwMode="auto">
          <a:xfrm rot="5400000">
            <a:off x="5943601" y="3352800"/>
            <a:ext cx="1704975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088"/>
              </a:cxn>
              <a:cxn ang="0">
                <a:pos x="1424" y="1088"/>
              </a:cxn>
            </a:cxnLst>
            <a:rect l="0" t="0" r="r" b="b"/>
            <a:pathLst>
              <a:path w="1424" h="1088">
                <a:moveTo>
                  <a:pt x="0" y="0"/>
                </a:moveTo>
                <a:lnTo>
                  <a:pt x="0" y="1088"/>
                </a:lnTo>
                <a:lnTo>
                  <a:pt x="1424" y="108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41" name="Freeform 25"/>
          <p:cNvSpPr>
            <a:spLocks/>
          </p:cNvSpPr>
          <p:nvPr/>
        </p:nvSpPr>
        <p:spPr bwMode="auto">
          <a:xfrm>
            <a:off x="6296025" y="3143251"/>
            <a:ext cx="666750" cy="1781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" y="200"/>
              </a:cxn>
              <a:cxn ang="0">
                <a:pos x="160" y="472"/>
              </a:cxn>
              <a:cxn ang="0">
                <a:pos x="560" y="720"/>
              </a:cxn>
              <a:cxn ang="0">
                <a:pos x="40" y="976"/>
              </a:cxn>
              <a:cxn ang="0">
                <a:pos x="224" y="1232"/>
              </a:cxn>
              <a:cxn ang="0">
                <a:pos x="32" y="1496"/>
              </a:cxn>
            </a:cxnLst>
            <a:rect l="0" t="0" r="r" b="b"/>
            <a:pathLst>
              <a:path w="560" h="1496">
                <a:moveTo>
                  <a:pt x="0" y="0"/>
                </a:moveTo>
                <a:lnTo>
                  <a:pt x="8" y="200"/>
                </a:lnTo>
                <a:lnTo>
                  <a:pt x="160" y="472"/>
                </a:lnTo>
                <a:lnTo>
                  <a:pt x="560" y="720"/>
                </a:lnTo>
                <a:lnTo>
                  <a:pt x="40" y="976"/>
                </a:lnTo>
                <a:lnTo>
                  <a:pt x="224" y="1232"/>
                </a:lnTo>
                <a:lnTo>
                  <a:pt x="32" y="14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>
            <a:off x="5905500" y="3390900"/>
            <a:ext cx="400050" cy="0"/>
          </a:xfrm>
          <a:prstGeom prst="line">
            <a:avLst/>
          </a:prstGeom>
          <a:noFill/>
          <a:ln w="9525">
            <a:solidFill>
              <a:srgbClr val="9696C8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5905500" y="3714750"/>
            <a:ext cx="5715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5915025" y="4000500"/>
            <a:ext cx="1009650" cy="0"/>
          </a:xfrm>
          <a:prstGeom prst="line">
            <a:avLst/>
          </a:prstGeom>
          <a:noFill/>
          <a:ln w="9525">
            <a:solidFill>
              <a:srgbClr val="00FF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5905500" y="4314825"/>
            <a:ext cx="43815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5895975" y="4629150"/>
            <a:ext cx="66675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47" name="Text Box 31"/>
          <p:cNvSpPr txBox="1">
            <a:spLocks noChangeArrowheads="1"/>
          </p:cNvSpPr>
          <p:nvPr/>
        </p:nvSpPr>
        <p:spPr bwMode="auto">
          <a:xfrm>
            <a:off x="14464" y="3420071"/>
            <a:ext cx="15859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Probe beam of white light</a:t>
            </a: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304925" y="3962401"/>
            <a:ext cx="1066800" cy="161925"/>
            <a:chOff x="408" y="3648"/>
            <a:chExt cx="1728" cy="136"/>
          </a:xfrm>
        </p:grpSpPr>
        <p:sp>
          <p:nvSpPr>
            <p:cNvPr id="34849" name="Line 33"/>
            <p:cNvSpPr>
              <a:spLocks noChangeShapeType="1"/>
            </p:cNvSpPr>
            <p:nvPr/>
          </p:nvSpPr>
          <p:spPr bwMode="auto">
            <a:xfrm>
              <a:off x="408" y="364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34850" name="Line 34"/>
            <p:cNvSpPr>
              <a:spLocks noChangeShapeType="1"/>
            </p:cNvSpPr>
            <p:nvPr/>
          </p:nvSpPr>
          <p:spPr bwMode="auto">
            <a:xfrm>
              <a:off x="408" y="378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</p:grpSp>
      <p:sp>
        <p:nvSpPr>
          <p:cNvPr id="34851" name="AutoShape 35"/>
          <p:cNvSpPr>
            <a:spLocks noChangeArrowheads="1"/>
          </p:cNvSpPr>
          <p:nvPr/>
        </p:nvSpPr>
        <p:spPr bwMode="auto">
          <a:xfrm>
            <a:off x="2733675" y="3914775"/>
            <a:ext cx="1085850" cy="285750"/>
          </a:xfrm>
          <a:prstGeom prst="rightArrow">
            <a:avLst>
              <a:gd name="adj1" fmla="val 50000"/>
              <a:gd name="adj2" fmla="val 9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52" name="Rectangle 36"/>
          <p:cNvSpPr>
            <a:spLocks noChangeArrowheads="1"/>
          </p:cNvSpPr>
          <p:nvPr/>
        </p:nvSpPr>
        <p:spPr bwMode="auto">
          <a:xfrm>
            <a:off x="2352675" y="3810000"/>
            <a:ext cx="438150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53" name="Line 37"/>
          <p:cNvSpPr>
            <a:spLocks noChangeShapeType="1"/>
          </p:cNvSpPr>
          <p:nvPr/>
        </p:nvSpPr>
        <p:spPr bwMode="auto">
          <a:xfrm flipH="1" flipV="1">
            <a:off x="2609850" y="4295776"/>
            <a:ext cx="15240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4854" name="Text Box 38"/>
          <p:cNvSpPr txBox="1">
            <a:spLocks noChangeArrowheads="1"/>
          </p:cNvSpPr>
          <p:nvPr/>
        </p:nvSpPr>
        <p:spPr bwMode="auto">
          <a:xfrm>
            <a:off x="2590800" y="4494610"/>
            <a:ext cx="77628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350">
                <a:solidFill>
                  <a:prstClr val="black"/>
                </a:solidFill>
              </a:rPr>
              <a:t>Sample</a:t>
            </a:r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29208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Pump and probe lasers</a:t>
            </a:r>
            <a:endParaRPr lang="en-US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Pump and probe are usually different lasers / light sources.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Pump has to be intense but exact wavelength less important; probe has to be “</a:t>
            </a:r>
            <a:r>
              <a:rPr lang="en-GB" sz="2400" dirty="0" err="1"/>
              <a:t>tunable</a:t>
            </a:r>
            <a:r>
              <a:rPr lang="en-GB" sz="2400" dirty="0"/>
              <a:t>” so you can vary the wavelength to probe the specific species that you want to look at</a:t>
            </a:r>
          </a:p>
          <a:p>
            <a:pPr>
              <a:lnSpc>
                <a:spcPct val="90000"/>
              </a:lnSpc>
            </a:pPr>
            <a:r>
              <a:rPr lang="en-GB" dirty="0"/>
              <a:t>Can have pulse and probe from same laser (see later slide)</a:t>
            </a:r>
          </a:p>
          <a:p>
            <a:pPr>
              <a:lnSpc>
                <a:spcPct val="90000"/>
              </a:lnSpc>
            </a:pPr>
            <a:r>
              <a:rPr lang="en-GB" dirty="0"/>
              <a:t>Each pump pulse usually only makes a small fraction of (pre-) reactant react, so probe only detects a very small signal. The reaction can therefore be repeated many times, adding all of the probe data, to increase the signal.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338589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GB" dirty="0"/>
              <a:t>Option 1: Timing of probe light is</a:t>
            </a:r>
          </a:p>
          <a:p>
            <a:pPr marL="556895" lvl="1" indent="-213995"/>
            <a:r>
              <a:rPr lang="en-GB" sz="2400" dirty="0"/>
              <a:t>On continuously (detector system records absorption throughout reaction; triggered by pump pulse)</a:t>
            </a:r>
          </a:p>
          <a:p>
            <a:pPr marL="556895" lvl="1" indent="-213995"/>
            <a:r>
              <a:rPr lang="en-GB" sz="2400" dirty="0"/>
              <a:t>Real-time data acquired through a computer. (Note: maximum computer speed – we can only study phenomena as fast as we can save the data)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GB" sz="3000" dirty="0"/>
              <a:t>Probe Timing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5928537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54832" y="-35462"/>
            <a:ext cx="6172200" cy="857250"/>
          </a:xfrm>
        </p:spPr>
        <p:txBody>
          <a:bodyPr/>
          <a:lstStyle/>
          <a:p>
            <a:r>
              <a:rPr lang="en-GB" dirty="0"/>
              <a:t>Continuous Laser Absorption</a:t>
            </a:r>
            <a:endParaRPr lang="en-US" dirty="0"/>
          </a:p>
        </p:txBody>
      </p:sp>
      <p:sp>
        <p:nvSpPr>
          <p:cNvPr id="97283" name="AutoShape 3"/>
          <p:cNvSpPr>
            <a:spLocks noChangeArrowheads="1"/>
          </p:cNvSpPr>
          <p:nvPr/>
        </p:nvSpPr>
        <p:spPr bwMode="auto">
          <a:xfrm>
            <a:off x="3022635" y="2108567"/>
            <a:ext cx="66675" cy="657225"/>
          </a:xfrm>
          <a:prstGeom prst="downArrow">
            <a:avLst>
              <a:gd name="adj1" fmla="val 50000"/>
              <a:gd name="adj2" fmla="val 2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27235" y="2413367"/>
            <a:ext cx="4848225" cy="1400175"/>
            <a:chOff x="578" y="1233"/>
            <a:chExt cx="4072" cy="1872"/>
          </a:xfrm>
        </p:grpSpPr>
        <p:sp>
          <p:nvSpPr>
            <p:cNvPr id="97285" name="Freeform 5"/>
            <p:cNvSpPr>
              <a:spLocks/>
            </p:cNvSpPr>
            <p:nvPr/>
          </p:nvSpPr>
          <p:spPr bwMode="auto">
            <a:xfrm>
              <a:off x="578" y="1233"/>
              <a:ext cx="4072" cy="18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360"/>
                </a:cxn>
                <a:cxn ang="0">
                  <a:pos x="2752" y="1360"/>
                </a:cxn>
              </a:cxnLst>
              <a:rect l="0" t="0" r="r" b="b"/>
              <a:pathLst>
                <a:path w="2752" h="1360">
                  <a:moveTo>
                    <a:pt x="0" y="0"/>
                  </a:moveTo>
                  <a:lnTo>
                    <a:pt x="0" y="1360"/>
                  </a:lnTo>
                  <a:lnTo>
                    <a:pt x="2752" y="13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286" name="Freeform 6"/>
            <p:cNvSpPr>
              <a:spLocks/>
            </p:cNvSpPr>
            <p:nvPr/>
          </p:nvSpPr>
          <p:spPr bwMode="auto">
            <a:xfrm>
              <a:off x="1730" y="1617"/>
              <a:ext cx="2832" cy="14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72" y="1088"/>
                </a:cxn>
                <a:cxn ang="0">
                  <a:pos x="1712" y="1392"/>
                </a:cxn>
                <a:cxn ang="0">
                  <a:pos x="2832" y="1432"/>
                </a:cxn>
              </a:cxnLst>
              <a:rect l="0" t="0" r="r" b="b"/>
              <a:pathLst>
                <a:path w="2832" h="1449">
                  <a:moveTo>
                    <a:pt x="0" y="0"/>
                  </a:moveTo>
                  <a:cubicBezTo>
                    <a:pt x="113" y="181"/>
                    <a:pt x="387" y="856"/>
                    <a:pt x="672" y="1088"/>
                  </a:cubicBezTo>
                  <a:cubicBezTo>
                    <a:pt x="957" y="1320"/>
                    <a:pt x="1352" y="1335"/>
                    <a:pt x="1712" y="1392"/>
                  </a:cubicBezTo>
                  <a:cubicBezTo>
                    <a:pt x="2072" y="1449"/>
                    <a:pt x="2599" y="1424"/>
                    <a:pt x="2832" y="143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287" name="Freeform 7"/>
            <p:cNvSpPr>
              <a:spLocks/>
            </p:cNvSpPr>
            <p:nvPr/>
          </p:nvSpPr>
          <p:spPr bwMode="auto">
            <a:xfrm>
              <a:off x="642" y="1617"/>
              <a:ext cx="1080" cy="1400"/>
            </a:xfrm>
            <a:custGeom>
              <a:avLst/>
              <a:gdLst/>
              <a:ahLst/>
              <a:cxnLst>
                <a:cxn ang="0">
                  <a:pos x="1080" y="0"/>
                </a:cxn>
                <a:cxn ang="0">
                  <a:pos x="1024" y="1376"/>
                </a:cxn>
                <a:cxn ang="0">
                  <a:pos x="0" y="1376"/>
                </a:cxn>
              </a:cxnLst>
              <a:rect l="0" t="0" r="r" b="b"/>
              <a:pathLst>
                <a:path w="1080" h="1376">
                  <a:moveTo>
                    <a:pt x="1080" y="0"/>
                  </a:moveTo>
                  <a:lnTo>
                    <a:pt x="1024" y="1376"/>
                  </a:lnTo>
                  <a:lnTo>
                    <a:pt x="0" y="137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288" name="Line 8"/>
            <p:cNvSpPr>
              <a:spLocks noChangeShapeType="1"/>
            </p:cNvSpPr>
            <p:nvPr/>
          </p:nvSpPr>
          <p:spPr bwMode="auto">
            <a:xfrm flipV="1">
              <a:off x="1658" y="1617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289" name="Line 9"/>
            <p:cNvSpPr>
              <a:spLocks noChangeShapeType="1"/>
            </p:cNvSpPr>
            <p:nvPr/>
          </p:nvSpPr>
          <p:spPr bwMode="auto">
            <a:xfrm flipV="1">
              <a:off x="1730" y="1625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</p:grpSp>
      <p:sp>
        <p:nvSpPr>
          <p:cNvPr id="97290" name="Text Box 10"/>
          <p:cNvSpPr txBox="1">
            <a:spLocks noChangeArrowheads="1"/>
          </p:cNvSpPr>
          <p:nvPr/>
        </p:nvSpPr>
        <p:spPr bwMode="auto">
          <a:xfrm rot="-5400000">
            <a:off x="90814" y="2230215"/>
            <a:ext cx="175736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r>
              <a:rPr lang="en-GB" dirty="0"/>
              <a:t>Absorption of probe by unstable reactant</a:t>
            </a:r>
            <a:endParaRPr lang="en-US" dirty="0"/>
          </a:p>
        </p:txBody>
      </p:sp>
      <p:sp>
        <p:nvSpPr>
          <p:cNvPr id="97291" name="Text Box 11"/>
          <p:cNvSpPr txBox="1">
            <a:spLocks noChangeArrowheads="1"/>
          </p:cNvSpPr>
          <p:nvPr/>
        </p:nvSpPr>
        <p:spPr bwMode="auto">
          <a:xfrm>
            <a:off x="6556409" y="3570280"/>
            <a:ext cx="11946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Time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3638484" y="2437179"/>
            <a:ext cx="402779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Reactive species disappears through reaction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7293" name="Text Box 13"/>
          <p:cNvSpPr txBox="1">
            <a:spLocks noChangeArrowheads="1"/>
          </p:cNvSpPr>
          <p:nvPr/>
        </p:nvSpPr>
        <p:spPr bwMode="auto">
          <a:xfrm>
            <a:off x="0" y="1208850"/>
            <a:ext cx="893618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Probe wavelength set to absorption by reactant (generated by pump)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7294" name="Text Box 14"/>
          <p:cNvSpPr txBox="1">
            <a:spLocks noChangeArrowheads="1"/>
          </p:cNvSpPr>
          <p:nvPr/>
        </p:nvSpPr>
        <p:spPr bwMode="auto">
          <a:xfrm rot="-5400000">
            <a:off x="107841" y="5095754"/>
            <a:ext cx="1955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/>
              <a:t>Absorption of probe by intermediate</a:t>
            </a:r>
            <a:endParaRPr lang="en-US" dirty="0"/>
          </a:p>
        </p:txBody>
      </p:sp>
      <p:sp>
        <p:nvSpPr>
          <p:cNvPr id="97295" name="Text Box 15"/>
          <p:cNvSpPr txBox="1">
            <a:spLocks noChangeArrowheads="1"/>
          </p:cNvSpPr>
          <p:nvPr/>
        </p:nvSpPr>
        <p:spPr bwMode="auto">
          <a:xfrm>
            <a:off x="6044358" y="6414114"/>
            <a:ext cx="11946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Time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7296" name="Text Box 16"/>
          <p:cNvSpPr txBox="1">
            <a:spLocks noChangeArrowheads="1"/>
          </p:cNvSpPr>
          <p:nvPr/>
        </p:nvSpPr>
        <p:spPr bwMode="auto">
          <a:xfrm>
            <a:off x="4258953" y="5280420"/>
            <a:ext cx="344090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Intermediate appears then disappears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7297" name="Text Box 17"/>
          <p:cNvSpPr txBox="1">
            <a:spLocks noChangeArrowheads="1"/>
          </p:cNvSpPr>
          <p:nvPr/>
        </p:nvSpPr>
        <p:spPr bwMode="auto">
          <a:xfrm>
            <a:off x="124879" y="3981559"/>
            <a:ext cx="6992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Probe wavelength set to absorption by intermediate</a:t>
            </a: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727234" y="5107372"/>
            <a:ext cx="4848225" cy="1456134"/>
            <a:chOff x="682" y="2997"/>
            <a:chExt cx="4072" cy="1223"/>
          </a:xfrm>
        </p:grpSpPr>
        <p:sp>
          <p:nvSpPr>
            <p:cNvPr id="97299" name="AutoShape 19"/>
            <p:cNvSpPr>
              <a:spLocks noChangeArrowheads="1"/>
            </p:cNvSpPr>
            <p:nvPr/>
          </p:nvSpPr>
          <p:spPr bwMode="auto">
            <a:xfrm>
              <a:off x="1770" y="2997"/>
              <a:ext cx="56" cy="343"/>
            </a:xfrm>
            <a:prstGeom prst="downArrow">
              <a:avLst>
                <a:gd name="adj1" fmla="val 50000"/>
                <a:gd name="adj2" fmla="val 1531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300" name="Freeform 20"/>
            <p:cNvSpPr>
              <a:spLocks/>
            </p:cNvSpPr>
            <p:nvPr/>
          </p:nvSpPr>
          <p:spPr bwMode="auto">
            <a:xfrm>
              <a:off x="682" y="3044"/>
              <a:ext cx="4072" cy="11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360"/>
                </a:cxn>
                <a:cxn ang="0">
                  <a:pos x="2752" y="1360"/>
                </a:cxn>
              </a:cxnLst>
              <a:rect l="0" t="0" r="r" b="b"/>
              <a:pathLst>
                <a:path w="2752" h="1360">
                  <a:moveTo>
                    <a:pt x="0" y="0"/>
                  </a:moveTo>
                  <a:lnTo>
                    <a:pt x="0" y="1360"/>
                  </a:lnTo>
                  <a:lnTo>
                    <a:pt x="2752" y="13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301" name="Line 21"/>
            <p:cNvSpPr>
              <a:spLocks noChangeShapeType="1"/>
            </p:cNvSpPr>
            <p:nvPr/>
          </p:nvSpPr>
          <p:spPr bwMode="auto">
            <a:xfrm flipV="1">
              <a:off x="1762" y="3285"/>
              <a:ext cx="0" cy="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302" name="Line 22"/>
            <p:cNvSpPr>
              <a:spLocks noChangeShapeType="1"/>
            </p:cNvSpPr>
            <p:nvPr/>
          </p:nvSpPr>
          <p:spPr bwMode="auto">
            <a:xfrm flipV="1">
              <a:off x="1834" y="3290"/>
              <a:ext cx="0" cy="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303" name="Freeform 23"/>
            <p:cNvSpPr>
              <a:spLocks/>
            </p:cNvSpPr>
            <p:nvPr/>
          </p:nvSpPr>
          <p:spPr bwMode="auto">
            <a:xfrm>
              <a:off x="1784" y="3728"/>
              <a:ext cx="2890" cy="447"/>
            </a:xfrm>
            <a:custGeom>
              <a:avLst/>
              <a:gdLst/>
              <a:ahLst/>
              <a:cxnLst>
                <a:cxn ang="0">
                  <a:pos x="0" y="824"/>
                </a:cxn>
                <a:cxn ang="0">
                  <a:pos x="112" y="720"/>
                </a:cxn>
                <a:cxn ang="0">
                  <a:pos x="592" y="16"/>
                </a:cxn>
                <a:cxn ang="0">
                  <a:pos x="1328" y="624"/>
                </a:cxn>
                <a:cxn ang="0">
                  <a:pos x="2000" y="816"/>
                </a:cxn>
                <a:cxn ang="0">
                  <a:pos x="2890" y="849"/>
                </a:cxn>
              </a:cxnLst>
              <a:rect l="0" t="0" r="r" b="b"/>
              <a:pathLst>
                <a:path w="2890" h="855">
                  <a:moveTo>
                    <a:pt x="0" y="824"/>
                  </a:moveTo>
                  <a:cubicBezTo>
                    <a:pt x="19" y="807"/>
                    <a:pt x="13" y="855"/>
                    <a:pt x="112" y="720"/>
                  </a:cubicBezTo>
                  <a:cubicBezTo>
                    <a:pt x="211" y="585"/>
                    <a:pt x="389" y="32"/>
                    <a:pt x="592" y="16"/>
                  </a:cubicBezTo>
                  <a:cubicBezTo>
                    <a:pt x="795" y="0"/>
                    <a:pt x="1093" y="491"/>
                    <a:pt x="1328" y="624"/>
                  </a:cubicBezTo>
                  <a:cubicBezTo>
                    <a:pt x="1563" y="757"/>
                    <a:pt x="1740" y="778"/>
                    <a:pt x="2000" y="816"/>
                  </a:cubicBezTo>
                  <a:cubicBezTo>
                    <a:pt x="2260" y="854"/>
                    <a:pt x="2705" y="842"/>
                    <a:pt x="2890" y="84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7304" name="Line 24"/>
            <p:cNvSpPr>
              <a:spLocks noChangeShapeType="1"/>
            </p:cNvSpPr>
            <p:nvPr/>
          </p:nvSpPr>
          <p:spPr bwMode="auto">
            <a:xfrm flipH="1">
              <a:off x="744" y="4156"/>
              <a:ext cx="1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</p:grpSp>
      <p:sp>
        <p:nvSpPr>
          <p:cNvPr id="97305" name="Text Box 25"/>
          <p:cNvSpPr txBox="1">
            <a:spLocks noChangeArrowheads="1"/>
          </p:cNvSpPr>
          <p:nvPr/>
        </p:nvSpPr>
        <p:spPr bwMode="auto">
          <a:xfrm>
            <a:off x="1989697" y="2098823"/>
            <a:ext cx="101983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Pump </a:t>
            </a:r>
          </a:p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pulse</a:t>
            </a:r>
            <a:endParaRPr lang="en-US" dirty="0">
              <a:solidFill>
                <a:srgbClr val="4F81BD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306" name="Text Box 26"/>
          <p:cNvSpPr txBox="1">
            <a:spLocks noChangeArrowheads="1"/>
          </p:cNvSpPr>
          <p:nvPr/>
        </p:nvSpPr>
        <p:spPr bwMode="auto">
          <a:xfrm>
            <a:off x="1987757" y="5273538"/>
            <a:ext cx="101983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Pump </a:t>
            </a:r>
          </a:p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pulse</a:t>
            </a:r>
            <a:endParaRPr lang="en-US" dirty="0">
              <a:solidFill>
                <a:srgbClr val="4F81BD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207867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Option 2: Timing of probe light may be </a:t>
            </a:r>
          </a:p>
          <a:p>
            <a:pPr lvl="1"/>
            <a:r>
              <a:rPr lang="en-GB" dirty="0"/>
              <a:t>Pulsed, with a fixed delay after the pump pulse. (You repeat the experiment varying the delay)</a:t>
            </a:r>
          </a:p>
          <a:p>
            <a:pPr lvl="1"/>
            <a:r>
              <a:rPr lang="en-GB" dirty="0"/>
              <a:t>Data acquired continuously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GB" sz="3000" dirty="0"/>
              <a:t>Probe Timing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1083591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483" y="406772"/>
            <a:ext cx="6172200" cy="857250"/>
          </a:xfrm>
        </p:spPr>
        <p:txBody>
          <a:bodyPr/>
          <a:lstStyle/>
          <a:p>
            <a:r>
              <a:rPr lang="en-GB" dirty="0"/>
              <a:t>Pulsed laser absorption</a:t>
            </a:r>
            <a:endParaRPr lang="en-US" dirty="0"/>
          </a:p>
        </p:txBody>
      </p:sp>
      <p:sp>
        <p:nvSpPr>
          <p:cNvPr id="98307" name="AutoShape 3"/>
          <p:cNvSpPr>
            <a:spLocks noChangeArrowheads="1"/>
          </p:cNvSpPr>
          <p:nvPr/>
        </p:nvSpPr>
        <p:spPr bwMode="auto">
          <a:xfrm>
            <a:off x="2750540" y="2133202"/>
            <a:ext cx="66675" cy="657225"/>
          </a:xfrm>
          <a:prstGeom prst="downArrow">
            <a:avLst>
              <a:gd name="adj1" fmla="val 50000"/>
              <a:gd name="adj2" fmla="val 2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08" name="Freeform 4"/>
          <p:cNvSpPr>
            <a:spLocks/>
          </p:cNvSpPr>
          <p:nvPr/>
        </p:nvSpPr>
        <p:spPr bwMode="auto">
          <a:xfrm>
            <a:off x="1455140" y="2438002"/>
            <a:ext cx="4848225" cy="1400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360"/>
              </a:cxn>
              <a:cxn ang="0">
                <a:pos x="2752" y="1360"/>
              </a:cxn>
            </a:cxnLst>
            <a:rect l="0" t="0" r="r" b="b"/>
            <a:pathLst>
              <a:path w="2752" h="1360">
                <a:moveTo>
                  <a:pt x="0" y="0"/>
                </a:moveTo>
                <a:lnTo>
                  <a:pt x="0" y="1360"/>
                </a:lnTo>
                <a:lnTo>
                  <a:pt x="2752" y="1360"/>
                </a:lnTo>
              </a:path>
            </a:pathLst>
          </a:custGeom>
          <a:noFill/>
          <a:ln w="9525" cap="flat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09" name="Freeform 5"/>
          <p:cNvSpPr>
            <a:spLocks/>
          </p:cNvSpPr>
          <p:nvPr/>
        </p:nvSpPr>
        <p:spPr bwMode="auto">
          <a:xfrm>
            <a:off x="2826739" y="2724942"/>
            <a:ext cx="3371850" cy="108466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72" y="1088"/>
              </a:cxn>
              <a:cxn ang="0">
                <a:pos x="1712" y="1392"/>
              </a:cxn>
              <a:cxn ang="0">
                <a:pos x="2832" y="1432"/>
              </a:cxn>
            </a:cxnLst>
            <a:rect l="0" t="0" r="r" b="b"/>
            <a:pathLst>
              <a:path w="2832" h="1449">
                <a:moveTo>
                  <a:pt x="0" y="0"/>
                </a:moveTo>
                <a:cubicBezTo>
                  <a:pt x="113" y="181"/>
                  <a:pt x="387" y="856"/>
                  <a:pt x="672" y="1088"/>
                </a:cubicBezTo>
                <a:cubicBezTo>
                  <a:pt x="957" y="1320"/>
                  <a:pt x="1352" y="1335"/>
                  <a:pt x="1712" y="1392"/>
                </a:cubicBezTo>
                <a:cubicBezTo>
                  <a:pt x="2072" y="1449"/>
                  <a:pt x="2599" y="1424"/>
                  <a:pt x="2832" y="1432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10" name="Freeform 6"/>
          <p:cNvSpPr>
            <a:spLocks/>
          </p:cNvSpPr>
          <p:nvPr/>
        </p:nvSpPr>
        <p:spPr bwMode="auto">
          <a:xfrm>
            <a:off x="1531340" y="2724941"/>
            <a:ext cx="1285875" cy="1047750"/>
          </a:xfrm>
          <a:custGeom>
            <a:avLst/>
            <a:gdLst/>
            <a:ahLst/>
            <a:cxnLst>
              <a:cxn ang="0">
                <a:pos x="1080" y="0"/>
              </a:cxn>
              <a:cxn ang="0">
                <a:pos x="1024" y="1376"/>
              </a:cxn>
              <a:cxn ang="0">
                <a:pos x="0" y="1376"/>
              </a:cxn>
            </a:cxnLst>
            <a:rect l="0" t="0" r="r" b="b"/>
            <a:pathLst>
              <a:path w="1080" h="1376">
                <a:moveTo>
                  <a:pt x="1080" y="0"/>
                </a:moveTo>
                <a:lnTo>
                  <a:pt x="1024" y="1376"/>
                </a:lnTo>
                <a:lnTo>
                  <a:pt x="0" y="1376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11" name="Text Box 7"/>
          <p:cNvSpPr txBox="1">
            <a:spLocks noChangeArrowheads="1"/>
          </p:cNvSpPr>
          <p:nvPr/>
        </p:nvSpPr>
        <p:spPr bwMode="auto">
          <a:xfrm rot="-5400000">
            <a:off x="27581" y="2293728"/>
            <a:ext cx="175736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Absorption of probe by unstable reactant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8312" name="Text Box 8"/>
          <p:cNvSpPr txBox="1">
            <a:spLocks noChangeArrowheads="1"/>
          </p:cNvSpPr>
          <p:nvPr/>
        </p:nvSpPr>
        <p:spPr bwMode="auto">
          <a:xfrm>
            <a:off x="7143750" y="3680224"/>
            <a:ext cx="75723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500">
                <a:solidFill>
                  <a:prstClr val="black"/>
                </a:solidFill>
              </a:rPr>
              <a:t>Time</a:t>
            </a:r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98313" name="Text Box 9"/>
          <p:cNvSpPr txBox="1">
            <a:spLocks noChangeArrowheads="1"/>
          </p:cNvSpPr>
          <p:nvPr/>
        </p:nvSpPr>
        <p:spPr bwMode="auto">
          <a:xfrm>
            <a:off x="208913" y="1297670"/>
            <a:ext cx="70179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AutoNum type="arabicParenBoth"/>
            </a:pPr>
            <a:r>
              <a:rPr lang="en-GB" dirty="0">
                <a:solidFill>
                  <a:prstClr val="black"/>
                </a:solidFill>
              </a:rPr>
              <a:t>Probe wavelength set to absorption by reactant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8314" name="Text Box 10"/>
          <p:cNvSpPr txBox="1">
            <a:spLocks noChangeArrowheads="1"/>
          </p:cNvSpPr>
          <p:nvPr/>
        </p:nvSpPr>
        <p:spPr bwMode="auto">
          <a:xfrm>
            <a:off x="1806908" y="2179396"/>
            <a:ext cx="101983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Pump </a:t>
            </a:r>
          </a:p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pulse</a:t>
            </a:r>
            <a:endParaRPr lang="en-US" dirty="0">
              <a:solidFill>
                <a:srgbClr val="4F81BD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8315" name="Text Box 11"/>
          <p:cNvSpPr txBox="1">
            <a:spLocks noChangeArrowheads="1"/>
          </p:cNvSpPr>
          <p:nvPr/>
        </p:nvSpPr>
        <p:spPr bwMode="auto">
          <a:xfrm rot="-5400000">
            <a:off x="-19364" y="4981554"/>
            <a:ext cx="175736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Absorption of probe by intermediate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8316" name="Text Box 12"/>
          <p:cNvSpPr txBox="1">
            <a:spLocks noChangeArrowheads="1"/>
          </p:cNvSpPr>
          <p:nvPr/>
        </p:nvSpPr>
        <p:spPr bwMode="auto">
          <a:xfrm>
            <a:off x="6368338" y="6356935"/>
            <a:ext cx="75723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500">
                <a:solidFill>
                  <a:prstClr val="black"/>
                </a:solidFill>
              </a:rPr>
              <a:t>Time</a:t>
            </a:r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98317" name="Text Box 13"/>
          <p:cNvSpPr txBox="1">
            <a:spLocks noChangeArrowheads="1"/>
          </p:cNvSpPr>
          <p:nvPr/>
        </p:nvSpPr>
        <p:spPr bwMode="auto">
          <a:xfrm>
            <a:off x="208913" y="4301235"/>
            <a:ext cx="74620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(2) Probe wavelength set to absorption by intermediate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8318" name="AutoShape 14"/>
          <p:cNvSpPr>
            <a:spLocks noChangeArrowheads="1"/>
          </p:cNvSpPr>
          <p:nvPr/>
        </p:nvSpPr>
        <p:spPr bwMode="auto">
          <a:xfrm>
            <a:off x="2694070" y="5069869"/>
            <a:ext cx="66675" cy="408384"/>
          </a:xfrm>
          <a:prstGeom prst="downArrow">
            <a:avLst>
              <a:gd name="adj1" fmla="val 50000"/>
              <a:gd name="adj2" fmla="val 1531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19" name="Freeform 15"/>
          <p:cNvSpPr>
            <a:spLocks/>
          </p:cNvSpPr>
          <p:nvPr/>
        </p:nvSpPr>
        <p:spPr bwMode="auto">
          <a:xfrm>
            <a:off x="1398670" y="5125829"/>
            <a:ext cx="4848225" cy="1400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360"/>
              </a:cxn>
              <a:cxn ang="0">
                <a:pos x="2752" y="1360"/>
              </a:cxn>
            </a:cxnLst>
            <a:rect l="0" t="0" r="r" b="b"/>
            <a:pathLst>
              <a:path w="2752" h="1360">
                <a:moveTo>
                  <a:pt x="0" y="0"/>
                </a:moveTo>
                <a:lnTo>
                  <a:pt x="0" y="1360"/>
                </a:lnTo>
                <a:lnTo>
                  <a:pt x="2752" y="136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472489" y="5940215"/>
            <a:ext cx="4679156" cy="532210"/>
            <a:chOff x="1024" y="3728"/>
            <a:chExt cx="3930" cy="447"/>
          </a:xfrm>
        </p:grpSpPr>
        <p:sp>
          <p:nvSpPr>
            <p:cNvPr id="98321" name="Freeform 17"/>
            <p:cNvSpPr>
              <a:spLocks/>
            </p:cNvSpPr>
            <p:nvPr/>
          </p:nvSpPr>
          <p:spPr bwMode="auto">
            <a:xfrm>
              <a:off x="2064" y="3728"/>
              <a:ext cx="2890" cy="447"/>
            </a:xfrm>
            <a:custGeom>
              <a:avLst/>
              <a:gdLst/>
              <a:ahLst/>
              <a:cxnLst>
                <a:cxn ang="0">
                  <a:pos x="0" y="824"/>
                </a:cxn>
                <a:cxn ang="0">
                  <a:pos x="112" y="720"/>
                </a:cxn>
                <a:cxn ang="0">
                  <a:pos x="592" y="16"/>
                </a:cxn>
                <a:cxn ang="0">
                  <a:pos x="1328" y="624"/>
                </a:cxn>
                <a:cxn ang="0">
                  <a:pos x="2000" y="816"/>
                </a:cxn>
                <a:cxn ang="0">
                  <a:pos x="2890" y="849"/>
                </a:cxn>
              </a:cxnLst>
              <a:rect l="0" t="0" r="r" b="b"/>
              <a:pathLst>
                <a:path w="2890" h="855">
                  <a:moveTo>
                    <a:pt x="0" y="824"/>
                  </a:moveTo>
                  <a:cubicBezTo>
                    <a:pt x="19" y="807"/>
                    <a:pt x="13" y="855"/>
                    <a:pt x="112" y="720"/>
                  </a:cubicBezTo>
                  <a:cubicBezTo>
                    <a:pt x="211" y="585"/>
                    <a:pt x="389" y="32"/>
                    <a:pt x="592" y="16"/>
                  </a:cubicBezTo>
                  <a:cubicBezTo>
                    <a:pt x="795" y="0"/>
                    <a:pt x="1093" y="491"/>
                    <a:pt x="1328" y="624"/>
                  </a:cubicBezTo>
                  <a:cubicBezTo>
                    <a:pt x="1563" y="757"/>
                    <a:pt x="1740" y="778"/>
                    <a:pt x="2000" y="816"/>
                  </a:cubicBezTo>
                  <a:cubicBezTo>
                    <a:pt x="2260" y="854"/>
                    <a:pt x="2705" y="842"/>
                    <a:pt x="2890" y="849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  <p:sp>
          <p:nvSpPr>
            <p:cNvPr id="98322" name="Line 18"/>
            <p:cNvSpPr>
              <a:spLocks noChangeShapeType="1"/>
            </p:cNvSpPr>
            <p:nvPr/>
          </p:nvSpPr>
          <p:spPr bwMode="auto">
            <a:xfrm flipH="1">
              <a:off x="1024" y="4156"/>
              <a:ext cx="1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</a:endParaRPr>
            </a:p>
          </p:txBody>
        </p:sp>
      </p:grpSp>
      <p:sp>
        <p:nvSpPr>
          <p:cNvPr id="98323" name="Freeform 19"/>
          <p:cNvSpPr>
            <a:spLocks/>
          </p:cNvSpPr>
          <p:nvPr/>
        </p:nvSpPr>
        <p:spPr bwMode="auto">
          <a:xfrm>
            <a:off x="3481583" y="3475036"/>
            <a:ext cx="76200" cy="276225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0" y="0"/>
              </a:cxn>
              <a:cxn ang="0">
                <a:pos x="80" y="0"/>
              </a:cxn>
              <a:cxn ang="0">
                <a:pos x="80" y="432"/>
              </a:cxn>
            </a:cxnLst>
            <a:rect l="0" t="0" r="r" b="b"/>
            <a:pathLst>
              <a:path w="80" h="432">
                <a:moveTo>
                  <a:pt x="0" y="432"/>
                </a:moveTo>
                <a:lnTo>
                  <a:pt x="0" y="0"/>
                </a:lnTo>
                <a:lnTo>
                  <a:pt x="80" y="0"/>
                </a:lnTo>
                <a:lnTo>
                  <a:pt x="80" y="432"/>
                </a:lnTo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24" name="Line 20"/>
          <p:cNvSpPr>
            <a:spLocks noChangeShapeType="1"/>
          </p:cNvSpPr>
          <p:nvPr/>
        </p:nvSpPr>
        <p:spPr bwMode="auto">
          <a:xfrm>
            <a:off x="2805308" y="2855910"/>
            <a:ext cx="72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25" name="Text Box 21"/>
          <p:cNvSpPr txBox="1">
            <a:spLocks noChangeArrowheads="1"/>
          </p:cNvSpPr>
          <p:nvPr/>
        </p:nvSpPr>
        <p:spPr bwMode="auto">
          <a:xfrm>
            <a:off x="2858894" y="1979013"/>
            <a:ext cx="13610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Variable delay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8326" name="Text Box 22"/>
          <p:cNvSpPr txBox="1">
            <a:spLocks noChangeArrowheads="1"/>
          </p:cNvSpPr>
          <p:nvPr/>
        </p:nvSpPr>
        <p:spPr bwMode="auto">
          <a:xfrm>
            <a:off x="3593615" y="2937194"/>
            <a:ext cx="9573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Probe</a:t>
            </a:r>
          </a:p>
          <a:p>
            <a:r>
              <a:rPr lang="en-GB" dirty="0">
                <a:solidFill>
                  <a:srgbClr val="FF0000"/>
                </a:solidFill>
              </a:rPr>
              <a:t>pulse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8327" name="Freeform 23"/>
          <p:cNvSpPr>
            <a:spLocks/>
          </p:cNvSpPr>
          <p:nvPr/>
        </p:nvSpPr>
        <p:spPr bwMode="auto">
          <a:xfrm>
            <a:off x="3510838" y="5968790"/>
            <a:ext cx="90488" cy="47625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0" y="0"/>
              </a:cxn>
              <a:cxn ang="0">
                <a:pos x="80" y="0"/>
              </a:cxn>
              <a:cxn ang="0">
                <a:pos x="80" y="432"/>
              </a:cxn>
            </a:cxnLst>
            <a:rect l="0" t="0" r="r" b="b"/>
            <a:pathLst>
              <a:path w="80" h="432">
                <a:moveTo>
                  <a:pt x="0" y="432"/>
                </a:moveTo>
                <a:lnTo>
                  <a:pt x="0" y="0"/>
                </a:lnTo>
                <a:lnTo>
                  <a:pt x="80" y="0"/>
                </a:lnTo>
                <a:lnTo>
                  <a:pt x="80" y="432"/>
                </a:lnTo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28" name="Line 24"/>
          <p:cNvSpPr>
            <a:spLocks noChangeShapeType="1"/>
          </p:cNvSpPr>
          <p:nvPr/>
        </p:nvSpPr>
        <p:spPr bwMode="auto">
          <a:xfrm flipH="1">
            <a:off x="2701213" y="5492540"/>
            <a:ext cx="19050" cy="971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29" name="Line 25"/>
          <p:cNvSpPr>
            <a:spLocks noChangeShapeType="1"/>
          </p:cNvSpPr>
          <p:nvPr/>
        </p:nvSpPr>
        <p:spPr bwMode="auto">
          <a:xfrm>
            <a:off x="2663113" y="5864015"/>
            <a:ext cx="87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98330" name="Text Box 26"/>
          <p:cNvSpPr txBox="1">
            <a:spLocks noChangeArrowheads="1"/>
          </p:cNvSpPr>
          <p:nvPr/>
        </p:nvSpPr>
        <p:spPr bwMode="auto">
          <a:xfrm>
            <a:off x="2817215" y="4961366"/>
            <a:ext cx="137754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Variable delay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8331" name="Text Box 27"/>
          <p:cNvSpPr txBox="1">
            <a:spLocks noChangeArrowheads="1"/>
          </p:cNvSpPr>
          <p:nvPr/>
        </p:nvSpPr>
        <p:spPr bwMode="auto">
          <a:xfrm>
            <a:off x="3682511" y="5361683"/>
            <a:ext cx="9573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Probe</a:t>
            </a:r>
          </a:p>
          <a:p>
            <a:r>
              <a:rPr lang="en-GB" dirty="0">
                <a:solidFill>
                  <a:srgbClr val="FF0000"/>
                </a:solidFill>
              </a:rPr>
              <a:t>pulse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8332" name="Text Box 28"/>
          <p:cNvSpPr txBox="1">
            <a:spLocks noChangeArrowheads="1"/>
          </p:cNvSpPr>
          <p:nvPr/>
        </p:nvSpPr>
        <p:spPr bwMode="auto">
          <a:xfrm>
            <a:off x="1643715" y="4946185"/>
            <a:ext cx="101983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Pump </a:t>
            </a:r>
          </a:p>
          <a:p>
            <a:r>
              <a:rPr lang="en-GB" dirty="0">
                <a:solidFill>
                  <a:srgbClr val="4F81B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pulse</a:t>
            </a:r>
            <a:endParaRPr lang="en-US" dirty="0">
              <a:solidFill>
                <a:srgbClr val="4F81BD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719159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Using the same light source</a:t>
            </a:r>
            <a:endParaRPr lang="en-US" sz="30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>
            <a:lum bright="-12000" contrast="30000"/>
          </a:blip>
          <a:srcRect/>
          <a:stretch>
            <a:fillRect/>
          </a:stretch>
        </p:blipFill>
        <p:spPr bwMode="auto">
          <a:xfrm>
            <a:off x="1169622" y="2765823"/>
            <a:ext cx="4000500" cy="3049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814814" y="4623625"/>
            <a:ext cx="1280219" cy="5539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500" dirty="0">
                <a:solidFill>
                  <a:prstClr val="black"/>
                </a:solidFill>
              </a:rPr>
              <a:t>White light generation</a:t>
            </a:r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5479685" y="4038601"/>
            <a:ext cx="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5248703" y="4323543"/>
            <a:ext cx="26161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i="1">
                <a:solidFill>
                  <a:prstClr val="black"/>
                </a:solidFill>
                <a:latin typeface="Times" pitchFamily="18" charset="0"/>
              </a:rPr>
              <a:t>x</a:t>
            </a:r>
            <a:endParaRPr lang="en-US" sz="1350" i="1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4487769" y="3065651"/>
            <a:ext cx="1364706" cy="7848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500" dirty="0">
                <a:solidFill>
                  <a:prstClr val="black"/>
                </a:solidFill>
              </a:rPr>
              <a:t>Mono-chromatic pump beam</a:t>
            </a:r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 flipH="1">
            <a:off x="3869960" y="3679031"/>
            <a:ext cx="557213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4175536" y="4591050"/>
            <a:ext cx="1225566" cy="5539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500" dirty="0">
                <a:solidFill>
                  <a:prstClr val="black"/>
                </a:solidFill>
              </a:rPr>
              <a:t>White probe beam</a:t>
            </a:r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 flipH="1" flipV="1">
            <a:off x="4081891" y="4405312"/>
            <a:ext cx="235744" cy="185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350">
              <a:solidFill>
                <a:prstClr val="black"/>
              </a:solidFill>
            </a:endParaRP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6391100" y="2814101"/>
            <a:ext cx="2297906" cy="253915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500" dirty="0" err="1">
                <a:solidFill>
                  <a:prstClr val="black"/>
                </a:solidFill>
              </a:rPr>
              <a:t>Eg.</a:t>
            </a:r>
            <a:r>
              <a:rPr lang="en-GB" sz="1500" dirty="0">
                <a:solidFill>
                  <a:prstClr val="black"/>
                </a:solidFill>
              </a:rPr>
              <a:t> If </a:t>
            </a:r>
            <a:r>
              <a:rPr lang="en-GB" i="1" dirty="0">
                <a:solidFill>
                  <a:prstClr val="black"/>
                </a:solidFill>
                <a:latin typeface="Times" pitchFamily="18" charset="0"/>
              </a:rPr>
              <a:t>x</a:t>
            </a:r>
            <a:r>
              <a:rPr lang="en-GB" sz="1500" dirty="0">
                <a:solidFill>
                  <a:prstClr val="black"/>
                </a:solidFill>
              </a:rPr>
              <a:t> = 15cm = 0.15m</a:t>
            </a:r>
          </a:p>
          <a:p>
            <a:r>
              <a:rPr lang="en-GB" sz="1500" dirty="0">
                <a:solidFill>
                  <a:prstClr val="black"/>
                </a:solidFill>
              </a:rPr>
              <a:t>Probe pulse travels 2</a:t>
            </a:r>
            <a:r>
              <a:rPr lang="en-GB" sz="1350" i="1" dirty="0">
                <a:solidFill>
                  <a:prstClr val="black"/>
                </a:solidFill>
                <a:latin typeface="Times" pitchFamily="18" charset="0"/>
              </a:rPr>
              <a:t>x</a:t>
            </a:r>
            <a:endParaRPr lang="en-US" sz="1350" i="1" dirty="0">
              <a:solidFill>
                <a:prstClr val="black"/>
              </a:solidFill>
              <a:latin typeface="Times" pitchFamily="18" charset="0"/>
            </a:endParaRPr>
          </a:p>
          <a:p>
            <a:r>
              <a:rPr lang="en-GB" sz="1500" dirty="0">
                <a:solidFill>
                  <a:prstClr val="black"/>
                </a:solidFill>
              </a:rPr>
              <a:t> = 0.3m further than pump pulse.</a:t>
            </a:r>
          </a:p>
          <a:p>
            <a:r>
              <a:rPr lang="en-GB" sz="1500" dirty="0">
                <a:solidFill>
                  <a:prstClr val="black"/>
                </a:solidFill>
              </a:rPr>
              <a:t>It therefore arrives at the sample</a:t>
            </a:r>
          </a:p>
          <a:p>
            <a:r>
              <a:rPr lang="en-GB" sz="1500" dirty="0">
                <a:solidFill>
                  <a:prstClr val="black"/>
                </a:solidFill>
              </a:rPr>
              <a:t>0.3 / (3 x 10</a:t>
            </a:r>
            <a:r>
              <a:rPr lang="en-GB" sz="1500" baseline="30000" dirty="0">
                <a:solidFill>
                  <a:prstClr val="black"/>
                </a:solidFill>
              </a:rPr>
              <a:t>8</a:t>
            </a:r>
            <a:r>
              <a:rPr lang="en-GB" sz="1500" dirty="0">
                <a:solidFill>
                  <a:prstClr val="black"/>
                </a:solidFill>
              </a:rPr>
              <a:t> ms</a:t>
            </a:r>
            <a:r>
              <a:rPr lang="en-GB" sz="1500" baseline="30000" dirty="0">
                <a:solidFill>
                  <a:prstClr val="black"/>
                </a:solidFill>
              </a:rPr>
              <a:t>-1</a:t>
            </a:r>
            <a:r>
              <a:rPr lang="en-GB" sz="1500" dirty="0">
                <a:solidFill>
                  <a:prstClr val="black"/>
                </a:solidFill>
              </a:rPr>
              <a:t>) = 1ns later than the pump pulse. (Time = distance / speed) </a:t>
            </a:r>
            <a:endParaRPr lang="en-US" sz="15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96721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EC1F-66A5-503A-6622-433E0036B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EFE3-AF73-DF11-1229-40ACAC071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have:</a:t>
            </a:r>
            <a:br>
              <a:rPr lang="en-US" dirty="0"/>
            </a:br>
            <a:r>
              <a:rPr lang="en-US" dirty="0"/>
              <a:t>Reviewed various methods for measuring kinetics in real experiments</a:t>
            </a:r>
            <a:br>
              <a:rPr lang="en-US" dirty="0"/>
            </a:br>
            <a:r>
              <a:rPr lang="en-US" dirty="0"/>
              <a:t>Described methods for in situ monitoring</a:t>
            </a:r>
            <a:br>
              <a:rPr lang="en-US" dirty="0"/>
            </a:br>
            <a:r>
              <a:rPr lang="en-US" dirty="0"/>
              <a:t>Described methods for measuring very fast kinetics processes.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5E156-9197-09AD-13E4-204672FBD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7048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in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During this lecture course we </a:t>
            </a:r>
            <a:r>
              <a:rPr lang="en-GB"/>
              <a:t>have covered:</a:t>
            </a:r>
          </a:p>
          <a:p>
            <a:r>
              <a:rPr lang="en-GB" dirty="0"/>
              <a:t>Multi-step kinetics</a:t>
            </a:r>
          </a:p>
          <a:p>
            <a:r>
              <a:rPr lang="en-GB" dirty="0"/>
              <a:t>Steady-state approximation</a:t>
            </a:r>
          </a:p>
          <a:p>
            <a:r>
              <a:rPr lang="en-GB" dirty="0"/>
              <a:t>Chain reactions</a:t>
            </a:r>
          </a:p>
          <a:p>
            <a:r>
              <a:rPr lang="en-GB" dirty="0"/>
              <a:t>Branching reactions and explosions</a:t>
            </a:r>
          </a:p>
          <a:p>
            <a:r>
              <a:rPr lang="en-GB" dirty="0"/>
              <a:t>Practical kinetics</a:t>
            </a:r>
          </a:p>
        </p:txBody>
      </p:sp>
    </p:spTree>
    <p:extLst>
      <p:ext uri="{BB962C8B-B14F-4D97-AF65-F5344CB8AC3E}">
        <p14:creationId xmlns:p14="http://schemas.microsoft.com/office/powerpoint/2010/main" val="41909375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Custom 1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881222930B44B81C1568F36C77FDA" ma:contentTypeVersion="13" ma:contentTypeDescription="Create a new document." ma:contentTypeScope="" ma:versionID="d4477ea23f4783088fda36cf7f63ac4c">
  <xsd:schema xmlns:xsd="http://www.w3.org/2001/XMLSchema" xmlns:xs="http://www.w3.org/2001/XMLSchema" xmlns:p="http://schemas.microsoft.com/office/2006/metadata/properties" xmlns:ns3="fb559037-4165-4a9e-8f16-1975300428b9" xmlns:ns4="ef4b941a-e2aa-4a0c-b5ee-9460c3e03c49" targetNamespace="http://schemas.microsoft.com/office/2006/metadata/properties" ma:root="true" ma:fieldsID="3e83be21e9964a9da75c45f035671791" ns3:_="" ns4:_="">
    <xsd:import namespace="fb559037-4165-4a9e-8f16-1975300428b9"/>
    <xsd:import namespace="ef4b941a-e2aa-4a0c-b5ee-9460c3e03c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59037-4165-4a9e-8f16-1975300428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4b941a-e2aa-4a0c-b5ee-9460c3e03c4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355681-7D01-4FE3-A0E4-657FBC8464B7}">
  <ds:schemaRefs>
    <ds:schemaRef ds:uri="ef4b941a-e2aa-4a0c-b5ee-9460c3e03c49"/>
    <ds:schemaRef ds:uri="fb559037-4165-4a9e-8f16-1975300428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EDECFB1-561F-4050-9DD5-8EE50BCDF076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fb559037-4165-4a9e-8f16-1975300428b9"/>
    <ds:schemaRef ds:uri="http://schemas.microsoft.com/office/infopath/2007/PartnerControls"/>
    <ds:schemaRef ds:uri="http://schemas.openxmlformats.org/package/2006/metadata/core-properties"/>
    <ds:schemaRef ds:uri="ef4b941a-e2aa-4a0c-b5ee-9460c3e03c49"/>
  </ds:schemaRefs>
</ds:datastoreItem>
</file>

<file path=customXml/itemProps3.xml><?xml version="1.0" encoding="utf-8"?>
<ds:datastoreItem xmlns:ds="http://schemas.openxmlformats.org/officeDocument/2006/customXml" ds:itemID="{77FB979C-D942-49AF-8F9C-A1A8DBAEF5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0</TotalTime>
  <Words>1732</Words>
  <Application>Microsoft Office PowerPoint</Application>
  <PresentationFormat>On-screen Show (4:3)</PresentationFormat>
  <Paragraphs>254</Paragraphs>
  <Slides>40</Slides>
  <Notes>20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Mathematica1</vt:lpstr>
      <vt:lpstr>Corbel</vt:lpstr>
      <vt:lpstr>Arial</vt:lpstr>
      <vt:lpstr>Calibri</vt:lpstr>
      <vt:lpstr>Times</vt:lpstr>
      <vt:lpstr>Rdg Vesta</vt:lpstr>
      <vt:lpstr>Bright colours jl</vt:lpstr>
      <vt:lpstr>CH2PH2:  Chemical Kinetics </vt:lpstr>
      <vt:lpstr>Lecture 5</vt:lpstr>
      <vt:lpstr>experimental reaction kinetics</vt:lpstr>
      <vt:lpstr>Studying reaction kinetics</vt:lpstr>
      <vt:lpstr>Analytical techniques for  kinetics measurements</vt:lpstr>
      <vt:lpstr>Experimental Approaches</vt:lpstr>
      <vt:lpstr>Real-time monitoring</vt:lpstr>
      <vt:lpstr>Real-time monitoring</vt:lpstr>
      <vt:lpstr>Real-time monitoring:  X-ray scattering of gold nanoparticle synthesis</vt:lpstr>
      <vt:lpstr>In-situ monitoring – in practice</vt:lpstr>
      <vt:lpstr>In-situ monitoring – in practice</vt:lpstr>
      <vt:lpstr>Quenching</vt:lpstr>
      <vt:lpstr>Quenching</vt:lpstr>
      <vt:lpstr>Quenching: gold-citrate aggregates  in gold nanoparticle synthesis</vt:lpstr>
      <vt:lpstr>Continuous flow</vt:lpstr>
      <vt:lpstr>Continuous flow</vt:lpstr>
      <vt:lpstr>Continuous flow</vt:lpstr>
      <vt:lpstr>PowerPoint Presentation</vt:lpstr>
      <vt:lpstr>PowerPoint Presentation</vt:lpstr>
      <vt:lpstr>Stopped flow</vt:lpstr>
      <vt:lpstr>Stopped flow</vt:lpstr>
      <vt:lpstr>CRISPR DNA Editing</vt:lpstr>
      <vt:lpstr>CRISPR DNA Editing</vt:lpstr>
      <vt:lpstr>ULTRAfast reactions</vt:lpstr>
      <vt:lpstr>Reaction time &lt;&lt; ms?</vt:lpstr>
      <vt:lpstr>Starting reactions with light</vt:lpstr>
      <vt:lpstr>Photolysis of Acetone  to produce methyl radicals</vt:lpstr>
      <vt:lpstr>Designing a pump-probe experiment</vt:lpstr>
      <vt:lpstr>Laser ablation of nanoparticles</vt:lpstr>
      <vt:lpstr>Laser ablation of nanoparticles</vt:lpstr>
      <vt:lpstr>Changing probe wavelength</vt:lpstr>
      <vt:lpstr>Using white light as the probe</vt:lpstr>
      <vt:lpstr>Pump and probe lasers</vt:lpstr>
      <vt:lpstr>Probe Timing</vt:lpstr>
      <vt:lpstr>Continuous Laser Absorption</vt:lpstr>
      <vt:lpstr>Probe Timing</vt:lpstr>
      <vt:lpstr>Pulsed laser absorption</vt:lpstr>
      <vt:lpstr>Using the same light source</vt:lpstr>
      <vt:lpstr>Learning outcomes</vt:lpstr>
      <vt:lpstr>And in summary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2</cp:revision>
  <cp:lastPrinted>2006-09-19T14:59:33Z</cp:lastPrinted>
  <dcterms:created xsi:type="dcterms:W3CDTF">2009-08-10T15:23:00Z</dcterms:created>
  <dcterms:modified xsi:type="dcterms:W3CDTF">2026-03-17T15:51:33Z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0x01010064A881222930B44B81C1568F36C77FDA</vt:lpwstr>
  </property>
</Properties>
</file>