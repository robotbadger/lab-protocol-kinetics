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402" r:id="rId2"/>
    <p:sldId id="516" r:id="rId3"/>
    <p:sldId id="540" r:id="rId4"/>
    <p:sldId id="542" r:id="rId5"/>
    <p:sldId id="535" r:id="rId6"/>
    <p:sldId id="536" r:id="rId7"/>
    <p:sldId id="539" r:id="rId8"/>
    <p:sldId id="538" r:id="rId9"/>
    <p:sldId id="544" r:id="rId10"/>
    <p:sldId id="550" r:id="rId11"/>
    <p:sldId id="257" r:id="rId12"/>
    <p:sldId id="546" r:id="rId13"/>
    <p:sldId id="258" r:id="rId14"/>
    <p:sldId id="259" r:id="rId15"/>
    <p:sldId id="545" r:id="rId16"/>
    <p:sldId id="260" r:id="rId17"/>
    <p:sldId id="261" r:id="rId18"/>
    <p:sldId id="552" r:id="rId19"/>
    <p:sldId id="551" r:id="rId20"/>
    <p:sldId id="547" r:id="rId21"/>
    <p:sldId id="262" r:id="rId22"/>
    <p:sldId id="263" r:id="rId23"/>
    <p:sldId id="264" r:id="rId24"/>
    <p:sldId id="270" r:id="rId25"/>
    <p:sldId id="549" r:id="rId26"/>
    <p:sldId id="269" r:id="rId27"/>
    <p:sldId id="265" r:id="rId28"/>
    <p:sldId id="266" r:id="rId29"/>
    <p:sldId id="548" r:id="rId30"/>
    <p:sldId id="268" r:id="rId31"/>
    <p:sldId id="267" r:id="rId32"/>
    <p:sldId id="553" r:id="rId33"/>
  </p:sldIdLst>
  <p:sldSz cx="9144000" cy="6858000" type="screen4x3"/>
  <p:notesSz cx="7099300" cy="10234613"/>
  <p:embeddedFontLst>
    <p:embeddedFont>
      <p:font typeface="Cambria Math" panose="02040503050406030204" pitchFamily="18" charset="0"/>
      <p:regular r:id="rId36"/>
    </p:embeddedFont>
    <p:embeddedFont>
      <p:font typeface="Rdg Vesta" panose="020B0604020202020204" charset="0"/>
      <p:regular r:id="rId37"/>
      <p:bold r:id="rId38"/>
      <p:italic r:id="rId39"/>
      <p:boldItalic r:id="rId40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AF35"/>
    <a:srgbClr val="FFFFCC"/>
    <a:srgbClr val="D799A1"/>
    <a:srgbClr val="000000"/>
    <a:srgbClr val="BF0071"/>
    <a:srgbClr val="F3F3F3"/>
    <a:srgbClr val="F0F0F0"/>
    <a:srgbClr val="EEEEEE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D823E-CCF3-43D8-B57E-9B3B3EC2D0A9}" v="174" dt="2026-02-10T12:11:21.296"/>
    <p1510:client id="{77E1D5E8-54BE-8E4A-AE88-A08CA0A10F97}" v="2" dt="2026-02-10T12:05:05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 autoAdjust="0"/>
    <p:restoredTop sz="92686" autoAdjust="0"/>
  </p:normalViewPr>
  <p:slideViewPr>
    <p:cSldViewPr>
      <p:cViewPr varScale="1">
        <p:scale>
          <a:sx n="114" d="100"/>
          <a:sy n="114" d="100"/>
        </p:scale>
        <p:origin x="7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S::je925493@reading.ac.uk::c714d19a-e50d-439a-876c-0e1be1458f92" providerId="AD" clId="Web-{2C5D823E-CCF3-43D8-B57E-9B3B3EC2D0A9}"/>
    <pc:docChg chg="addSld modSld">
      <pc:chgData name="James Hallett" userId="S::je925493@reading.ac.uk::c714d19a-e50d-439a-876c-0e1be1458f92" providerId="AD" clId="Web-{2C5D823E-CCF3-43D8-B57E-9B3B3EC2D0A9}" dt="2026-02-10T12:11:17.827" v="167" actId="20577"/>
      <pc:docMkLst>
        <pc:docMk/>
      </pc:docMkLst>
      <pc:sldChg chg="modSp">
        <pc:chgData name="James Hallett" userId="S::je925493@reading.ac.uk::c714d19a-e50d-439a-876c-0e1be1458f92" providerId="AD" clId="Web-{2C5D823E-CCF3-43D8-B57E-9B3B3EC2D0A9}" dt="2026-02-10T12:06:30.260" v="2" actId="20577"/>
        <pc:sldMkLst>
          <pc:docMk/>
          <pc:sldMk cId="323433404" sldId="535"/>
        </pc:sldMkLst>
        <pc:spChg chg="mod">
          <ac:chgData name="James Hallett" userId="S::je925493@reading.ac.uk::c714d19a-e50d-439a-876c-0e1be1458f92" providerId="AD" clId="Web-{2C5D823E-CCF3-43D8-B57E-9B3B3EC2D0A9}" dt="2026-02-10T12:06:30.260" v="2" actId="20577"/>
          <ac:spMkLst>
            <pc:docMk/>
            <pc:sldMk cId="323433404" sldId="535"/>
            <ac:spMk id="3" creationId="{714B0BA4-9A79-D8F1-80AB-A115ED1F7817}"/>
          </ac:spMkLst>
        </pc:spChg>
      </pc:sldChg>
      <pc:sldChg chg="addSp modSp new mod modClrScheme chgLayout">
        <pc:chgData name="James Hallett" userId="S::je925493@reading.ac.uk::c714d19a-e50d-439a-876c-0e1be1458f92" providerId="AD" clId="Web-{2C5D823E-CCF3-43D8-B57E-9B3B3EC2D0A9}" dt="2026-02-10T12:11:17.827" v="167" actId="20577"/>
        <pc:sldMkLst>
          <pc:docMk/>
          <pc:sldMk cId="1887938505" sldId="553"/>
        </pc:sldMkLst>
        <pc:spChg chg="mod ord">
          <ac:chgData name="James Hallett" userId="S::je925493@reading.ac.uk::c714d19a-e50d-439a-876c-0e1be1458f92" providerId="AD" clId="Web-{2C5D823E-CCF3-43D8-B57E-9B3B3EC2D0A9}" dt="2026-02-10T12:08:22.035" v="4"/>
          <ac:spMkLst>
            <pc:docMk/>
            <pc:sldMk cId="1887938505" sldId="553"/>
            <ac:spMk id="2" creationId="{0CB07A8E-A75D-D140-AD9F-FD4934D0B79E}"/>
          </ac:spMkLst>
        </pc:spChg>
        <pc:spChg chg="add mod ord">
          <ac:chgData name="James Hallett" userId="S::je925493@reading.ac.uk::c714d19a-e50d-439a-876c-0e1be1458f92" providerId="AD" clId="Web-{2C5D823E-CCF3-43D8-B57E-9B3B3EC2D0A9}" dt="2026-02-10T12:08:26.551" v="7" actId="20577"/>
          <ac:spMkLst>
            <pc:docMk/>
            <pc:sldMk cId="1887938505" sldId="553"/>
            <ac:spMk id="3" creationId="{9B63B51B-F7E3-006C-1DA8-A5DBBC731D19}"/>
          </ac:spMkLst>
        </pc:spChg>
        <pc:spChg chg="add mod ord">
          <ac:chgData name="James Hallett" userId="S::je925493@reading.ac.uk::c714d19a-e50d-439a-876c-0e1be1458f92" providerId="AD" clId="Web-{2C5D823E-CCF3-43D8-B57E-9B3B3EC2D0A9}" dt="2026-02-10T12:11:17.827" v="167" actId="20577"/>
          <ac:spMkLst>
            <pc:docMk/>
            <pc:sldMk cId="1887938505" sldId="553"/>
            <ac:spMk id="4" creationId="{06C80EF1-8DB4-B55B-00C1-A276599EB473}"/>
          </ac:spMkLst>
        </pc:spChg>
      </pc:sldChg>
    </pc:docChg>
  </pc:docChgLst>
  <pc:docChgLst>
    <pc:chgData name="James Hallett" userId="c714d19a-e50d-439a-876c-0e1be1458f92" providerId="ADAL" clId="{9E63729E-F98D-59AE-8FA6-FDDC881E90FE}"/>
    <pc:docChg chg="modSld">
      <pc:chgData name="James Hallett" userId="c714d19a-e50d-439a-876c-0e1be1458f92" providerId="ADAL" clId="{9E63729E-F98D-59AE-8FA6-FDDC881E90FE}" dt="2026-02-10T12:05:05.553" v="1" actId="767"/>
      <pc:docMkLst>
        <pc:docMk/>
      </pc:docMkLst>
      <pc:sldChg chg="addSp modSp">
        <pc:chgData name="James Hallett" userId="c714d19a-e50d-439a-876c-0e1be1458f92" providerId="ADAL" clId="{9E63729E-F98D-59AE-8FA6-FDDC881E90FE}" dt="2026-02-10T12:05:05.553" v="1" actId="767"/>
        <pc:sldMkLst>
          <pc:docMk/>
          <pc:sldMk cId="0" sldId="262"/>
        </pc:sldMkLst>
        <pc:spChg chg="add mod">
          <ac:chgData name="James Hallett" userId="c714d19a-e50d-439a-876c-0e1be1458f92" providerId="ADAL" clId="{9E63729E-F98D-59AE-8FA6-FDDC881E90FE}" dt="2026-02-10T12:05:05.187" v="0" actId="767"/>
          <ac:spMkLst>
            <pc:docMk/>
            <pc:sldMk cId="0" sldId="262"/>
            <ac:spMk id="2" creationId="{4C966691-681E-D579-C575-4CBDF42AC7BF}"/>
          </ac:spMkLst>
        </pc:spChg>
        <pc:spChg chg="add mod">
          <ac:chgData name="James Hallett" userId="c714d19a-e50d-439a-876c-0e1be1458f92" providerId="ADAL" clId="{9E63729E-F98D-59AE-8FA6-FDDC881E90FE}" dt="2026-02-10T12:05:05.553" v="1" actId="767"/>
          <ac:spMkLst>
            <pc:docMk/>
            <pc:sldMk cId="0" sldId="262"/>
            <ac:spMk id="3" creationId="{CD15080A-DFF6-AFA0-17F1-FAD1F0C5CAA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70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/E_KH3FNtOIw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12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youtu.be</a:t>
            </a:r>
            <a:r>
              <a:rPr lang="en-GB" dirty="0"/>
              <a:t>/</a:t>
            </a:r>
            <a:r>
              <a:rPr lang="en-GB" dirty="0" err="1"/>
              <a:t>SIiv-hkRvZE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00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1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10 February 2026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6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6" y="2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4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6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4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1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8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1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 dirty="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2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H_qPWZbxFl8?feature=oembe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5.wmf"/><Relationship Id="rId7" Type="http://schemas.openxmlformats.org/officeDocument/2006/relationships/image" Target="../media/image22.wmf"/><Relationship Id="rId12" Type="http://schemas.openxmlformats.org/officeDocument/2006/relationships/image" Target="../media/image2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21.wmf"/><Relationship Id="rId10" Type="http://schemas.openxmlformats.org/officeDocument/2006/relationships/image" Target="../media/image23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2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ogle.com/url?sa=i&amp;rct=j&amp;q=&amp;esrc=s&amp;frm=1&amp;source=images&amp;cd=&amp;cad=rja&amp;uact=8&amp;docid=FfsrYVvNQ-knvM&amp;tbnid=U86AMHpu5MhMWM:&amp;ved=0CAUQjRw&amp;url=http%3A%2F%2Fwww.dreamstime.com%2Fstock-photography-bubbles-turquoise-liquid-soap-image12609462&amp;ei=SIA0U-rCMNXHsATYv4CwCQ&amp;bvm=bv.63808443,d.b2I&amp;psig=AFQjCNGoazOC_Is38lYkgu0IFNkRb00GDw&amp;ust=1396035928996042" TargetMode="External"/><Relationship Id="rId3" Type="http://schemas.openxmlformats.org/officeDocument/2006/relationships/image" Target="../media/image25.wmf"/><Relationship Id="rId7" Type="http://schemas.openxmlformats.org/officeDocument/2006/relationships/image" Target="../media/image27.jpe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google.com/url?sa=i&amp;rct=j&amp;q=&amp;esrc=s&amp;frm=1&amp;source=images&amp;cd=&amp;cad=rja&amp;uact=8&amp;docid=5mxxK1I2HePZkM&amp;tbnid=FSBqrP3UYffirM:&amp;ved=0CAUQjRw&amp;url=http%3A%2F%2Fwww.ronmarquardt.com%2F2012%2F08%2F22%2Fbubbles%2F&amp;ei=eH80U_DTEInjsATQs4IQ&amp;bvm=bv.63808443,d.b2I&amp;psig=AFQjCNF9KkI7n_ewDPhp0VMQ2XiIQ_DxFw&amp;ust=1396035781073344" TargetMode="External"/><Relationship Id="rId5" Type="http://schemas.openxmlformats.org/officeDocument/2006/relationships/image" Target="../media/image26.wmf"/><Relationship Id="rId10" Type="http://schemas.openxmlformats.org/officeDocument/2006/relationships/image" Target="../media/image29.jpe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_KH3FNtOIw?feature=oembed" TargetMode="External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36.wmf"/><Relationship Id="rId18" Type="http://schemas.openxmlformats.org/officeDocument/2006/relationships/image" Target="../media/image38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16.bin"/><Relationship Id="rId17" Type="http://schemas.openxmlformats.org/officeDocument/2006/relationships/oleObject" Target="../embeddings/oleObject19.bin"/><Relationship Id="rId2" Type="http://schemas.openxmlformats.org/officeDocument/2006/relationships/oleObject" Target="../embeddings/oleObject11.bin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18.bin"/><Relationship Id="rId10" Type="http://schemas.openxmlformats.org/officeDocument/2006/relationships/oleObject" Target="../embeddings/oleObject15.bin"/><Relationship Id="rId19" Type="http://schemas.openxmlformats.org/officeDocument/2006/relationships/oleObject" Target="../embeddings/oleObject20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ogle.com/url?sa=i&amp;rct=j&amp;q=&amp;esrc=s&amp;frm=1&amp;source=images&amp;cd=&amp;cad=rja&amp;uact=8&amp;docid=FfsrYVvNQ-knvM&amp;tbnid=U86AMHpu5MhMWM:&amp;ved=0CAUQjRw&amp;url=http%3A%2F%2Fwww.dreamstime.com%2Fstock-photography-bubbles-turquoise-liquid-soap-image12609462&amp;ei=SIA0U-rCMNXHsATYv4CwCQ&amp;bvm=bv.63808443,d.b2I&amp;psig=AFQjCNGoazOC_Is38lYkgu0IFNkRb00GDw&amp;ust=1396035928996042" TargetMode="External"/><Relationship Id="rId3" Type="http://schemas.openxmlformats.org/officeDocument/2006/relationships/image" Target="../media/image41.wmf"/><Relationship Id="rId7" Type="http://schemas.openxmlformats.org/officeDocument/2006/relationships/image" Target="../media/image46.png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dESN-ndzwFc?feature=o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hyperlink" Target="http://www.google.com/url?sa=i&amp;rct=j&amp;q=&amp;esrc=s&amp;frm=1&amp;source=images&amp;cd=&amp;cad=rja&amp;uact=8&amp;docid=Hc3MzqggXLIkkM&amp;tbnid=f7WTXaUdjV7FqM:&amp;ved=0CAUQjRw&amp;url=http%3A%2F%2Fhumboldtsentinel.com%2Fcategory%2Flocalnews%2F&amp;ei=04M0U867OOmqsQSc0YC4Bw&amp;bvm=bv.63808443,d.b2I&amp;psig=AFQjCNFOZgaMb26tqQz70OxbwGi-SmL8Tw&amp;ust=1396036928770573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2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hyperlink" Target="http://www.google.com/url?sa=i&amp;rct=j&amp;q=&amp;esrc=s&amp;frm=1&amp;source=images&amp;cd=&amp;cad=rja&amp;uact=8&amp;docid=Qwcr8qhQ7JYtMM&amp;tbnid=LGYUh7bgbxLgEM:&amp;ved=0CAUQjRw&amp;url=http%3A%2F%2Fwww.azonano.com%2Farticle.aspx%3FArticleID%3D983&amp;ei=z4s0U92UBajMsQSo6oHIBQ&amp;bvm=bv.63808443,d.b2I&amp;psig=AFQjCNFoKLY26k3zHCbnr208LhsBGXq4NQ&amp;ust=1396038953663143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gif"/><Relationship Id="rId4" Type="http://schemas.openxmlformats.org/officeDocument/2006/relationships/hyperlink" Target="http://www.google.com/url?sa=i&amp;rct=j&amp;q=&amp;esrc=s&amp;frm=1&amp;source=images&amp;cd=&amp;cad=rja&amp;uact=8&amp;docid=GfkaZuxRhq5oYM&amp;tbnid=c39o4cQKlxlJjM:&amp;ved=0CAUQjRw&amp;url=http%3A%2F%2Fweb-japan.org%2Fkidsweb%2Fhitech%2Felevator%2F&amp;ei=HIw0U9GUMvS3sAS0h4EQ&amp;bvm=bv.63808443,d.b2I&amp;psig=AFQjCNFCIb0oorIdRm0rPI1N5EDHPutmMA&amp;ust=1396039053574541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Iiv-hkRvZE?feature=oembed" TargetMode="External"/><Relationship Id="rId4" Type="http://schemas.openxmlformats.org/officeDocument/2006/relationships/image" Target="../media/image60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Surfaces and Interfaces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 dirty="0"/>
              <a:t>Dr. James Hallett</a:t>
            </a:r>
          </a:p>
          <a:p>
            <a:r>
              <a:rPr lang="en-US" dirty="0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5E50-8371-4403-86EB-215EEB5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 module overlap with:</a:t>
            </a: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714B0BA4-9A79-D8F1-80AB-A115ED1F7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276" y="1988840"/>
            <a:ext cx="9234772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600" dirty="0">
                <a:latin typeface="Rdg Vesta"/>
              </a:rPr>
              <a:t>CH2PRAC/X – relevant to 2 experiments in physical section</a:t>
            </a:r>
            <a:endParaRPr lang="en-GB" sz="2600" b="1" dirty="0"/>
          </a:p>
          <a:p>
            <a:pPr lvl="1" algn="l"/>
            <a:r>
              <a:rPr lang="en-GB" sz="2600" b="1" dirty="0"/>
              <a:t>CH2CS2 - the physical chemistry that underpins all formulations!</a:t>
            </a:r>
          </a:p>
          <a:p>
            <a:pPr lvl="1" algn="l"/>
            <a:endParaRPr lang="en-GB" sz="2600" b="1" dirty="0"/>
          </a:p>
          <a:p>
            <a:pPr lvl="1"/>
            <a:r>
              <a:rPr lang="en-GB" sz="2600" dirty="0">
                <a:latin typeface="Rdg Vesta"/>
              </a:rPr>
              <a:t>And next year...</a:t>
            </a:r>
            <a:br>
              <a:rPr lang="en-GB" sz="2600" dirty="0">
                <a:latin typeface="Rdg Vesta"/>
              </a:rPr>
            </a:br>
            <a:r>
              <a:rPr lang="en-GB" sz="2600" dirty="0">
                <a:latin typeface="Rdg Vesta"/>
              </a:rPr>
              <a:t>CH3CC1, CH3CC2, CH3PRO, CH3PR1, CH3CS2, CH3PC2...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8632169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5E50-8371-4403-86EB-215EEB5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Relevant to research in:</a:t>
            </a: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714B0BA4-9A79-D8F1-80AB-A115ED1F7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530" y="1808820"/>
            <a:ext cx="9234772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600" dirty="0">
                <a:latin typeface="Rdg Vesta"/>
              </a:rPr>
              <a:t>Pharmacology or medicinal chemistry – new ways of encapsulating drugs, understanding the "physical chemistry" of the interactions between cells membranes and drugs etc.</a:t>
            </a:r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</p:txBody>
      </p:sp>
      <p:pic>
        <p:nvPicPr>
          <p:cNvPr id="4" name="Picture 4" descr="A graph of a diagram&#10;&#10;Description automatically generated">
            <a:extLst>
              <a:ext uri="{FF2B5EF4-FFF2-40B4-BE49-F238E27FC236}">
                <a16:creationId xmlns:a16="http://schemas.microsoft.com/office/drawing/2014/main" id="{3996F023-168A-650C-7E25-1367919AD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022" y="3408644"/>
            <a:ext cx="3565220" cy="2586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89A3D2-A234-EA50-8B8D-75932C79AF82}"/>
              </a:ext>
            </a:extLst>
          </p:cNvPr>
          <p:cNvSpPr txBox="1"/>
          <p:nvPr/>
        </p:nvSpPr>
        <p:spPr>
          <a:xfrm>
            <a:off x="5367716" y="5996226"/>
            <a:ext cx="37718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Hu, J., Liu, H., Xu, P., Shang, Y., &amp; Liu, H. (2019). Investigation of drug for pulmonary administration–model pulmonary surfactant monolayer interactions using Langmuir–Blodgett monolayer and molecular dynamics simulation: a case study of Ketoprofen. </a:t>
            </a:r>
            <a:r>
              <a:rPr lang="en-GB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Langmuir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35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(41), 13452-13460.</a:t>
            </a:r>
            <a:endParaRPr lang="en-US" sz="1000" dirty="0"/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05C638DB-39BA-9BDA-387E-70EF95A7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8" y="3378489"/>
            <a:ext cx="4919816" cy="264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840572-9963-D2A1-1B1F-75B24A72D2C4}"/>
              </a:ext>
            </a:extLst>
          </p:cNvPr>
          <p:cNvSpPr txBox="1"/>
          <p:nvPr/>
        </p:nvSpPr>
        <p:spPr>
          <a:xfrm>
            <a:off x="107758" y="6150114"/>
            <a:ext cx="4670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Pramanik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Xu, Z., Shamsuddin, S. H., Khaled, Y. S., Ingram, N., </a:t>
            </a:r>
            <a:r>
              <a:rPr lang="en-GB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Maisey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... &amp; Millner, P. A. (2022). </a:t>
            </a:r>
            <a:r>
              <a:rPr lang="en-GB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Affimer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tagged </a:t>
            </a:r>
            <a:r>
              <a:rPr lang="en-GB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cubosomes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Targeting of carcinoembryonic antigen expressing colorectal cancer cells using in vitro and in vivo models. </a:t>
            </a:r>
            <a:r>
              <a:rPr lang="en-GB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ACS Applied Materials &amp; Interfaces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14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(9), 11078-11091.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5655063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5E50-8371-4403-86EB-215EEB5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Relevant to research in:</a:t>
            </a: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714B0BA4-9A79-D8F1-80AB-A115ED1F7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530" y="1808820"/>
            <a:ext cx="9234772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600" dirty="0">
                <a:latin typeface="Rdg Vesta"/>
              </a:rPr>
              <a:t>Cosmetic chemistry – designing new formulations that are more environmentally friendly, have new properties, better shelf life etc.</a:t>
            </a:r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E8B19-0E02-9993-4A72-6734AB53E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50" y="3248980"/>
            <a:ext cx="3886200" cy="24547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BE9A5F-14A9-4A63-D7FD-05F6E16D0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252" y="3237474"/>
            <a:ext cx="3886200" cy="24662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35E42C-EC7F-8B2A-DA47-5F5F628B434F}"/>
              </a:ext>
            </a:extLst>
          </p:cNvPr>
          <p:cNvSpPr txBox="1"/>
          <p:nvPr/>
        </p:nvSpPr>
        <p:spPr>
          <a:xfrm>
            <a:off x="543025" y="5858404"/>
            <a:ext cx="4670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Kapoor, M. S., D’Souza, A., </a:t>
            </a:r>
            <a:r>
              <a:rPr lang="en-GB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Aibani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N., Nair, S. S., </a:t>
            </a:r>
            <a:r>
              <a:rPr lang="en-GB" sz="10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Sandbhor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P., Kumari, D., &amp; Banerjee, R. (2018). Stable Liposome in Cosmetic Platforms for Transdermal Folic acid delivery for fortification and treatment of micronutrient deficiencies. </a:t>
            </a:r>
            <a:r>
              <a:rPr lang="en-GB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Scientific reports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GB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16122.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3997584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5E50-8371-4403-86EB-215EEB5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(project) overlap with:</a:t>
            </a: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714B0BA4-9A79-D8F1-80AB-A115ED1F7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276" y="1988840"/>
            <a:ext cx="9234772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2600" dirty="0"/>
          </a:p>
          <a:p>
            <a:pPr lvl="1"/>
            <a:r>
              <a:rPr lang="en-GB" sz="2600" dirty="0">
                <a:latin typeface="Rdg Vesta"/>
              </a:rPr>
              <a:t>If this series of lectures interests you, staff in the department with research in relevant areas include: James Hallett, James Cooper, Ian Hamley...</a:t>
            </a:r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  <a:p>
            <a:pPr lvl="1"/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2343340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5E50-8371-4403-86EB-215EEB5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Recommended </a:t>
            </a:r>
            <a:r>
              <a:rPr lang="en-GB"/>
              <a:t>texts</a:t>
            </a:r>
            <a:r>
              <a:rPr lang="en-GB" dirty="0"/>
              <a:t>:</a:t>
            </a: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714B0BA4-9A79-D8F1-80AB-A115ED1F7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276" y="1988840"/>
            <a:ext cx="9234772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600" dirty="0">
                <a:latin typeface="Rdg Vesta"/>
              </a:rPr>
              <a:t>As always, Atkins Physical Chemistry (12th edition)</a:t>
            </a:r>
          </a:p>
          <a:p>
            <a:pPr lvl="1"/>
            <a:r>
              <a:rPr lang="en-GB" sz="2600" dirty="0">
                <a:latin typeface="Rdg Vesta"/>
              </a:rPr>
              <a:t>Get it out of the library, read it online (via the library), read it in G50.</a:t>
            </a:r>
            <a:endParaRPr lang="en-GB" sz="2600" dirty="0"/>
          </a:p>
        </p:txBody>
      </p:sp>
      <p:pic>
        <p:nvPicPr>
          <p:cNvPr id="4" name="Picture 4" descr="A screenshot of a book&#10;&#10;Description automatically generated">
            <a:extLst>
              <a:ext uri="{FF2B5EF4-FFF2-40B4-BE49-F238E27FC236}">
                <a16:creationId xmlns:a16="http://schemas.microsoft.com/office/drawing/2014/main" id="{7F01DF0E-FAF5-8389-DE2D-C18B3DA58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132" y="3738947"/>
            <a:ext cx="4465443" cy="2682105"/>
          </a:xfrm>
          <a:prstGeom prst="rect">
            <a:avLst/>
          </a:prstGeom>
        </p:spPr>
      </p:pic>
      <p:pic>
        <p:nvPicPr>
          <p:cNvPr id="6" name="Picture 6" descr="A screenshot of a book&#10;&#10;Description automatically generated">
            <a:extLst>
              <a:ext uri="{FF2B5EF4-FFF2-40B4-BE49-F238E27FC236}">
                <a16:creationId xmlns:a16="http://schemas.microsoft.com/office/drawing/2014/main" id="{A88D0B58-9D47-911E-3469-75682A783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2" y="3740909"/>
            <a:ext cx="3591931" cy="269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978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5E50-8371-4403-86EB-215EEB5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Recommended texts:</a:t>
            </a:r>
          </a:p>
        </p:txBody>
      </p:sp>
      <p:pic>
        <p:nvPicPr>
          <p:cNvPr id="5" name="Picture 6" descr="A screenshot of a book&#10;&#10;Description automatically generated">
            <a:extLst>
              <a:ext uri="{FF2B5EF4-FFF2-40B4-BE49-F238E27FC236}">
                <a16:creationId xmlns:a16="http://schemas.microsoft.com/office/drawing/2014/main" id="{EED4FEE4-14CE-4221-7DB7-C7B1B68A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8" y="3607233"/>
            <a:ext cx="4747365" cy="1632041"/>
          </a:xfrm>
          <a:prstGeom prst="rect">
            <a:avLst/>
          </a:prstGeom>
        </p:spPr>
      </p:pic>
      <p:pic>
        <p:nvPicPr>
          <p:cNvPr id="7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74F9803-D9EC-4F15-7373-1CC2F158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27" y="1632510"/>
            <a:ext cx="8207679" cy="151053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3EF27B8-7503-E91A-FCFC-96968B1DB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736" y="3642657"/>
            <a:ext cx="3706138" cy="236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7219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338315-65F1-B703-0501-FFBC45DCB4F9}"/>
              </a:ext>
            </a:extLst>
          </p:cNvPr>
          <p:cNvSpPr txBox="1"/>
          <p:nvPr/>
        </p:nvSpPr>
        <p:spPr>
          <a:xfrm>
            <a:off x="476545" y="1481026"/>
            <a:ext cx="7650849" cy="3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800" dirty="0"/>
              <a:t>Outline: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altLang="en-US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Surface and interfacial tension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 err="1"/>
              <a:t>Surfactancy</a:t>
            </a:r>
            <a:endParaRPr lang="en-GB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Gibbs adsorption isotherms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Micellization and surface activity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Critical micelle concentration as equilibrium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Thermodynamics of micellization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dirty="0"/>
              <a:t>Liquid crystal phases</a:t>
            </a:r>
          </a:p>
          <a:p>
            <a:pPr algn="l">
              <a:lnSpc>
                <a:spcPct val="80000"/>
              </a:lnSpc>
            </a:pP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95828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2">
            <a:extLst>
              <a:ext uri="{FF2B5EF4-FFF2-40B4-BE49-F238E27FC236}">
                <a16:creationId xmlns:a16="http://schemas.microsoft.com/office/drawing/2014/main" id="{0D04A04C-36B0-0E2A-EE44-2F9980532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Physical Chemistry of Surfaces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98EC6-BAB9-3599-4093-E160050B5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60450"/>
            <a:ext cx="807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j-lt"/>
              </a:rPr>
              <a:t>The physical chemistry of surfaces can be used to describe many phenomena: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DA23D-5D4C-B2D3-AB2E-D4B6CCAFC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1450"/>
            <a:ext cx="7391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The size and </a:t>
            </a:r>
            <a:r>
              <a:rPr lang="en-GB" altLang="en-US" sz="1800" dirty="0">
                <a:latin typeface="+mj-lt"/>
              </a:rPr>
              <a:t>behaviour</a:t>
            </a:r>
            <a:r>
              <a:rPr lang="en-US" altLang="en-US" sz="1800" dirty="0">
                <a:latin typeface="+mj-lt"/>
              </a:rPr>
              <a:t> of liquid drops.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Water flow in plants.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The shapes of cell membranes and bubbles.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47CD8-3555-617B-1738-5A8ADE149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2743200"/>
            <a:ext cx="3552825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55391B-3478-9BC3-23ED-F28E41BA4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743200"/>
            <a:ext cx="45720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We will begin by examining the tendency of liquids to want to </a:t>
            </a:r>
            <a:r>
              <a:rPr lang="en-US" altLang="en-US" sz="1800" i="1" dirty="0">
                <a:latin typeface="+mj-lt"/>
              </a:rPr>
              <a:t>minimize their surfaces.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Let’s look at the work needed to change the surface area of a substance: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DC1A4B0-EE67-B0F1-7E9D-C26000B21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532894"/>
              </p:ext>
            </p:extLst>
          </p:nvPr>
        </p:nvGraphicFramePr>
        <p:xfrm>
          <a:off x="5292080" y="4256088"/>
          <a:ext cx="2019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300" imgH="203200" progId="Equation.3">
                  <p:embed/>
                </p:oleObj>
              </mc:Choice>
              <mc:Fallback>
                <p:oleObj name="Equation" r:id="rId4" imgW="876300" imgH="20320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DC1A4B0-EE67-B0F1-7E9D-C26000B21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4256088"/>
                        <a:ext cx="20193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C5954A-5902-2B36-0CC2-220BF2C4D716}"/>
              </a:ext>
            </a:extLst>
          </p:cNvPr>
          <p:cNvCxnSpPr/>
          <p:nvPr/>
        </p:nvCxnSpPr>
        <p:spPr>
          <a:xfrm flipV="1">
            <a:off x="4606280" y="4713288"/>
            <a:ext cx="16383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26A966-3B62-9435-1C38-F287235C5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246688"/>
            <a:ext cx="407288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j-lt"/>
              </a:rPr>
              <a:t>The work in this case is physical work and so is equal to the Helmholtz energy of the process. CAUTION: sometimes this is labelled 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751E4A-6FDA-8D53-DBE2-D110CF4F23F0}"/>
              </a:ext>
            </a:extLst>
          </p:cNvPr>
          <p:cNvCxnSpPr/>
          <p:nvPr/>
        </p:nvCxnSpPr>
        <p:spPr>
          <a:xfrm flipV="1">
            <a:off x="6244580" y="4789488"/>
            <a:ext cx="4953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5B454CE-C4E8-2F68-6E24-BFE5FD28B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880" y="5322888"/>
            <a:ext cx="2057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+mj-lt"/>
              </a:rPr>
              <a:t>Surface tension; how strongly a surface holds together.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F3E051-155F-1BD8-D023-35097CCB0630}"/>
              </a:ext>
            </a:extLst>
          </p:cNvPr>
          <p:cNvCxnSpPr/>
          <p:nvPr/>
        </p:nvCxnSpPr>
        <p:spPr>
          <a:xfrm flipH="1" flipV="1">
            <a:off x="7273280" y="4713288"/>
            <a:ext cx="381000" cy="342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0FE542-8394-D1A4-EFA7-193523C5E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3780" y="5056188"/>
            <a:ext cx="16764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j-lt"/>
              </a:rPr>
              <a:t>The surface area of the substance.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j-lt"/>
              </a:rPr>
              <a:t>CAUTION: sometimes this is labelled </a:t>
            </a:r>
            <a:r>
              <a:rPr lang="en-US" altLang="en-US" sz="1800" dirty="0" err="1">
                <a:latin typeface="+mj-lt"/>
              </a:rPr>
              <a:t>dA</a:t>
            </a:r>
            <a:endParaRPr lang="en-US" alt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60445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7" grpId="0" build="p"/>
      <p:bldP spid="12" grpId="0"/>
      <p:bldP spid="15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3AD33-D6EB-7412-9455-C432405D8D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92DB9-ABC9-8200-C752-54CFF447AF50}"/>
              </a:ext>
            </a:extLst>
          </p:cNvPr>
          <p:cNvSpPr txBox="1"/>
          <p:nvPr/>
        </p:nvSpPr>
        <p:spPr>
          <a:xfrm>
            <a:off x="-10683" y="602262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https://youtu.be/H_qPWZbxFl8?feature=shared</a:t>
            </a:r>
          </a:p>
        </p:txBody>
      </p:sp>
      <p:pic>
        <p:nvPicPr>
          <p:cNvPr id="5" name="Online Media 4" title="Moving Water in Space - 8K Ultra HD">
            <a:hlinkClick r:id="" action="ppaction://media"/>
            <a:extLst>
              <a:ext uri="{FF2B5EF4-FFF2-40B4-BE49-F238E27FC236}">
                <a16:creationId xmlns:a16="http://schemas.microsoft.com/office/drawing/2014/main" id="{1F8D0FA9-5A42-0617-BAA5-EB578FD4E1B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07876" y="1583795"/>
            <a:ext cx="6929974" cy="391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:a16="http://schemas.microsoft.com/office/drawing/2014/main" id="{83A5FCBD-509F-4985-4BAF-BEBD0A09F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Surface 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47C80-1FC9-B97C-9045-E9F3FCC3E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7467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Surface tension depends strongly on </a:t>
            </a:r>
            <a:r>
              <a:rPr lang="en-US" altLang="en-US" sz="1800" i="1">
                <a:latin typeface="+mj-lt"/>
              </a:rPr>
              <a:t>intermolecular forces</a:t>
            </a:r>
            <a:r>
              <a:rPr lang="en-US" altLang="en-US" sz="1800">
                <a:latin typeface="+mj-lt"/>
              </a:rPr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Stronger forces hold a surface together strongly, and </a:t>
            </a:r>
            <a:r>
              <a:rPr lang="en-US" altLang="en-US" sz="1800" i="1">
                <a:latin typeface="+mj-lt"/>
              </a:rPr>
              <a:t>vice versa</a:t>
            </a:r>
            <a:r>
              <a:rPr lang="en-US" altLang="en-US" sz="1800">
                <a:latin typeface="+mj-lt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EEAB90-EC54-E647-4EB4-3B8CEDE68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507570"/>
              </p:ext>
            </p:extLst>
          </p:nvPr>
        </p:nvGraphicFramePr>
        <p:xfrm>
          <a:off x="914400" y="3089275"/>
          <a:ext cx="22098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sz="1800" dirty="0"/>
                        <a:t> (N/m)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  <a:r>
                        <a:rPr lang="en-US" sz="1800" baseline="-25000" dirty="0"/>
                        <a:t>6</a:t>
                      </a:r>
                      <a:r>
                        <a:rPr lang="en-US" sz="1800" dirty="0"/>
                        <a:t>H</a:t>
                      </a:r>
                      <a:r>
                        <a:rPr lang="en-US" sz="1800" baseline="-25000" dirty="0"/>
                        <a:t>6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0.029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CH</a:t>
                      </a:r>
                      <a:r>
                        <a:rPr lang="en-US" sz="1800" baseline="-25000" dirty="0"/>
                        <a:t>3</a:t>
                      </a:r>
                      <a:r>
                        <a:rPr lang="en-US" sz="1800" dirty="0"/>
                        <a:t>OH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0.023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  <a:r>
                        <a:rPr lang="en-US" sz="1800" baseline="-25000" dirty="0"/>
                        <a:t>2</a:t>
                      </a:r>
                      <a:r>
                        <a:rPr lang="en-US" sz="1800" dirty="0"/>
                        <a:t>O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0.073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5A33AD6-191D-14C6-F9D1-377FBF199D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64607"/>
              </p:ext>
            </p:extLst>
          </p:nvPr>
        </p:nvGraphicFramePr>
        <p:xfrm>
          <a:off x="5105400" y="2209800"/>
          <a:ext cx="72072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20461" imgH="921594" progId="ChemDraw.Document.6.0">
                  <p:embed/>
                </p:oleObj>
              </mc:Choice>
              <mc:Fallback>
                <p:oleObj name="CS ChemDraw Drawing" r:id="rId2" imgW="720461" imgH="921594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5A33AD6-191D-14C6-F9D1-377FBF199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209800"/>
                        <a:ext cx="72072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2E1659-C14D-D865-A831-2F4DF543ECC4}"/>
              </a:ext>
            </a:extLst>
          </p:cNvPr>
          <p:cNvCxnSpPr/>
          <p:nvPr/>
        </p:nvCxnSpPr>
        <p:spPr>
          <a:xfrm flipH="1">
            <a:off x="3276600" y="2667000"/>
            <a:ext cx="1676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CEFDC-D6E3-1E79-381D-E545A19C0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189163"/>
            <a:ext cx="2590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p-stacking: an </a:t>
            </a:r>
            <a:r>
              <a:rPr lang="en-US" altLang="en-US" sz="1800" i="1">
                <a:latin typeface="+mj-lt"/>
              </a:rPr>
              <a:t>induction</a:t>
            </a:r>
            <a:r>
              <a:rPr lang="en-US" altLang="en-US" sz="1800">
                <a:latin typeface="+mj-lt"/>
              </a:rPr>
              <a:t> force that relies on polarizability.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D7D5A6-3258-CE6B-B376-2C61329DC24E}"/>
              </a:ext>
            </a:extLst>
          </p:cNvPr>
          <p:cNvCxnSpPr/>
          <p:nvPr/>
        </p:nvCxnSpPr>
        <p:spPr>
          <a:xfrm flipH="1" flipV="1">
            <a:off x="3276600" y="4572000"/>
            <a:ext cx="15240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F5A4C01-D8F3-2837-8A91-08227A346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629241"/>
              </p:ext>
            </p:extLst>
          </p:nvPr>
        </p:nvGraphicFramePr>
        <p:xfrm>
          <a:off x="4819650" y="5562600"/>
          <a:ext cx="10668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066530" imgH="1060468" progId="ChemDraw.Document.6.0">
                  <p:embed/>
                </p:oleObj>
              </mc:Choice>
              <mc:Fallback>
                <p:oleObj name="CS ChemDraw Drawing" r:id="rId4" imgW="1066530" imgH="1060468" progId="ChemDraw.Document.6.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F5A4C01-D8F3-2837-8A91-08227A3462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5562600"/>
                        <a:ext cx="10668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4AB3C94-81FB-8079-A66D-B7F9CF5E3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754688"/>
            <a:ext cx="2590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Hydrogen bonds: a dipole/</a:t>
            </a:r>
            <a:r>
              <a:rPr lang="en-US" altLang="en-US" sz="1800" dirty="0">
                <a:latin typeface="+mj-lt"/>
              </a:rPr>
              <a:t>dipole</a:t>
            </a:r>
            <a:r>
              <a:rPr lang="en-US" altLang="en-US" sz="1800">
                <a:latin typeface="+mj-lt"/>
              </a:rPr>
              <a:t> force.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FF7B9C-9D41-EFF8-ED09-73993B603C18}"/>
              </a:ext>
            </a:extLst>
          </p:cNvPr>
          <p:cNvCxnSpPr/>
          <p:nvPr/>
        </p:nvCxnSpPr>
        <p:spPr>
          <a:xfrm flipH="1">
            <a:off x="3276600" y="3962400"/>
            <a:ext cx="1524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E7B5627-2FBA-8EDB-1471-A157D13B0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11900"/>
              </p:ext>
            </p:extLst>
          </p:nvPr>
        </p:nvGraphicFramePr>
        <p:xfrm>
          <a:off x="4824413" y="3505200"/>
          <a:ext cx="181610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816122" imgH="1518968" progId="ChemDraw.Document.6.0">
                  <p:embed/>
                </p:oleObj>
              </mc:Choice>
              <mc:Fallback>
                <p:oleObj name="CS ChemDraw Drawing" r:id="rId6" imgW="1816122" imgH="1518968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1E7B5627-2FBA-8EDB-1471-A157D13B06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3505200"/>
                        <a:ext cx="1816100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BE9BC13-0328-5344-1ABC-5FC7F64FA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505200"/>
            <a:ext cx="1752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Hydrogen bonds, but with steric hindrance.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2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:a16="http://schemas.microsoft.com/office/drawing/2014/main" id="{83A5FCBD-509F-4985-4BAF-BEBD0A09F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Surface tension</a:t>
            </a:r>
          </a:p>
        </p:txBody>
      </p:sp>
      <p:pic>
        <p:nvPicPr>
          <p:cNvPr id="6" name="Picture 3" descr="FG11_27">
            <a:extLst>
              <a:ext uri="{FF2B5EF4-FFF2-40B4-BE49-F238E27FC236}">
                <a16:creationId xmlns:a16="http://schemas.microsoft.com/office/drawing/2014/main" id="{BFCBDC27-9045-C16D-B063-7E30B260E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98600"/>
            <a:ext cx="8283575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71584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2">
            <a:extLst>
              <a:ext uri="{FF2B5EF4-FFF2-40B4-BE49-F238E27FC236}">
                <a16:creationId xmlns:a16="http://schemas.microsoft.com/office/drawing/2014/main" id="{05A2B5A5-7142-6DD1-90BB-71EE04FA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Surface tension and work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585076-587B-1B44-245F-70FC137A9F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422250"/>
              </p:ext>
            </p:extLst>
          </p:nvPr>
        </p:nvGraphicFramePr>
        <p:xfrm>
          <a:off x="914400" y="1828800"/>
          <a:ext cx="2019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300" imgH="203200" progId="Equation.3">
                  <p:embed/>
                </p:oleObj>
              </mc:Choice>
              <mc:Fallback>
                <p:oleObj name="Equation" r:id="rId2" imgW="876300" imgH="203200" progId="Equation.3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E585076-587B-1B44-245F-70FC137A9F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28800"/>
                        <a:ext cx="20193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231F30-980F-032A-1148-964D44697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19200"/>
            <a:ext cx="777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We would like to know the spontaneous direction of this surface work: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BB11DE9-EF13-5A1A-4A4F-8935638C5A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470674"/>
              </p:ext>
            </p:extLst>
          </p:nvPr>
        </p:nvGraphicFramePr>
        <p:xfrm>
          <a:off x="938213" y="2514600"/>
          <a:ext cx="99536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425" imgH="177646" progId="Equation.3">
                  <p:embed/>
                </p:oleObj>
              </mc:Choice>
              <mc:Fallback>
                <p:oleObj name="Equation" r:id="rId4" imgW="431425" imgH="177646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BB11DE9-EF13-5A1A-4A4F-8935638C5A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2514600"/>
                        <a:ext cx="99536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3C20AA-7295-DCD1-A944-73B088E5F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25201"/>
              </p:ext>
            </p:extLst>
          </p:nvPr>
        </p:nvGraphicFramePr>
        <p:xfrm>
          <a:off x="914400" y="3733800"/>
          <a:ext cx="9366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5872" imgH="177569" progId="Equation.3">
                  <p:embed/>
                </p:oleObj>
              </mc:Choice>
              <mc:Fallback>
                <p:oleObj name="Equation" r:id="rId6" imgW="405872" imgH="177569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F3C20AA-7295-DCD1-A944-73B088E5F3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33800"/>
                        <a:ext cx="9366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0985F4-B1AB-5F5E-CFF2-0CD56F242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105150"/>
            <a:ext cx="739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The surface tension is generally a positive number, so: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CB826D6-7430-D409-3215-0B75C2A5DE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656923"/>
              </p:ext>
            </p:extLst>
          </p:nvPr>
        </p:nvGraphicFramePr>
        <p:xfrm>
          <a:off x="4648200" y="2125663"/>
          <a:ext cx="1082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696" imgH="203112" progId="Equation.3">
                  <p:embed/>
                </p:oleObj>
              </mc:Choice>
              <mc:Fallback>
                <p:oleObj name="Equation" r:id="rId8" imgW="469696" imgH="203112" progId="Equation.3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CB826D6-7430-D409-3215-0B75C2A5DE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125663"/>
                        <a:ext cx="1082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ight Arrow 11">
            <a:extLst>
              <a:ext uri="{FF2B5EF4-FFF2-40B4-BE49-F238E27FC236}">
                <a16:creationId xmlns:a16="http://schemas.microsoft.com/office/drawing/2014/main" id="{768C86D3-B330-4CB7-C35C-A8AB7A04BD2C}"/>
              </a:ext>
            </a:extLst>
          </p:cNvPr>
          <p:cNvSpPr/>
          <p:nvPr/>
        </p:nvSpPr>
        <p:spPr>
          <a:xfrm>
            <a:off x="3429000" y="2247900"/>
            <a:ext cx="609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D4CC8-6E21-7BBF-84B1-51F22592E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657600"/>
            <a:ext cx="6019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This implies that the spontaneous direction of surface work is for surface area </a:t>
            </a:r>
            <a:r>
              <a:rPr lang="en-US" altLang="en-US" sz="1800" i="1">
                <a:latin typeface="+mj-lt"/>
              </a:rPr>
              <a:t>to decrease</a:t>
            </a:r>
            <a:r>
              <a:rPr lang="en-US" altLang="en-US" sz="1800">
                <a:latin typeface="+mj-lt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E647F-8877-BE3B-9CDE-C7D6867D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419600"/>
            <a:ext cx="7620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Let us look more closely at surface area: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For a sphere, we have: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DD5C6817-2F4A-FA27-C207-8976C1A33CF2}"/>
                  </a:ext>
                </a:extLst>
              </p:cNvPr>
              <p:cNvSpPr txBox="1"/>
              <p:nvPr/>
            </p:nvSpPr>
            <p:spPr bwMode="auto">
              <a:xfrm>
                <a:off x="990600" y="5207794"/>
                <a:ext cx="1404938" cy="915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DD5C6817-2F4A-FA27-C207-8976C1A33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600" y="5207794"/>
                <a:ext cx="1404938" cy="915988"/>
              </a:xfrm>
              <a:prstGeom prst="rect">
                <a:avLst/>
              </a:prstGeom>
              <a:blipFill>
                <a:blip r:embed="rId10"/>
                <a:stretch>
                  <a:fillRect l="-9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74FA42C-93E0-B29D-7BCC-8A4D99E17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679233"/>
              </p:ext>
            </p:extLst>
          </p:nvPr>
        </p:nvGraphicFramePr>
        <p:xfrm>
          <a:off x="2813050" y="5334000"/>
          <a:ext cx="12319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33169" imgH="203112" progId="Equation.3">
                  <p:embed/>
                </p:oleObj>
              </mc:Choice>
              <mc:Fallback>
                <p:oleObj name="Equation" r:id="rId11" imgW="533169" imgH="203112" progId="Equation.3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B74FA42C-93E0-B29D-7BCC-8A4D99E17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5334000"/>
                        <a:ext cx="12319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7F0580A-40E4-8048-9832-143E8C597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0100" y="5065713"/>
            <a:ext cx="4152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We are often interested in the surface to volume ratio (s/V): this tells how much of a substance is surface compared to how much is bulk.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2" grpId="0" animBg="1"/>
      <p:bldP spid="13" grpId="0"/>
      <p:bldP spid="14" grpId="0" build="p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2">
            <a:extLst>
              <a:ext uri="{FF2B5EF4-FFF2-40B4-BE49-F238E27FC236}">
                <a16:creationId xmlns:a16="http://schemas.microsoft.com/office/drawing/2014/main" id="{D56FCEF5-34FC-A672-83BB-FE1C79AF9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Bubble stability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753522E-D487-9324-F5E0-0F8B39F6BF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391171"/>
              </p:ext>
            </p:extLst>
          </p:nvPr>
        </p:nvGraphicFramePr>
        <p:xfrm>
          <a:off x="1066800" y="1666875"/>
          <a:ext cx="16129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419100" progId="Equation.3">
                  <p:embed/>
                </p:oleObj>
              </mc:Choice>
              <mc:Fallback>
                <p:oleObj name="Equation" r:id="rId2" imgW="698500" imgH="419100" progId="Equation.3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753522E-D487-9324-F5E0-0F8B39F6BF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66875"/>
                        <a:ext cx="16129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D8BD6F9-EC34-FF8F-FA1E-3F268FEEB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762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For a sphere we get: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5336F4-163B-9983-DA54-61F4D45C9B1B}"/>
              </a:ext>
            </a:extLst>
          </p:cNvPr>
          <p:cNvCxnSpPr/>
          <p:nvPr/>
        </p:nvCxnSpPr>
        <p:spPr>
          <a:xfrm>
            <a:off x="3009900" y="21463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3C73858-73ED-C6FF-C555-DBD9C8EAFC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079866"/>
              </p:ext>
            </p:extLst>
          </p:nvPr>
        </p:nvGraphicFramePr>
        <p:xfrm>
          <a:off x="4354513" y="1689100"/>
          <a:ext cx="96837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918" imgH="393529" progId="Equation.3">
                  <p:embed/>
                </p:oleObj>
              </mc:Choice>
              <mc:Fallback>
                <p:oleObj name="Equation" r:id="rId4" imgW="418918" imgH="393529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3C73858-73ED-C6FF-C555-DBD9C8EAFC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1689100"/>
                        <a:ext cx="96837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B974D7-42A2-C82D-A993-ACC450A07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619250"/>
            <a:ext cx="289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For a small radius, we get relatively more surface.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For a large radius, we get relatively less surface.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5C722-0EC8-F6AB-5759-39DB69C8C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048000"/>
            <a:ext cx="8001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One type of process where we can look at surface work is bubble formation.</a:t>
            </a:r>
          </a:p>
        </p:txBody>
      </p:sp>
      <p:pic>
        <p:nvPicPr>
          <p:cNvPr id="4102" name="Picture 6" descr="http://www.ronmarquardt.com/wp-content/uploads/2012/08/green_bubble1.jpg">
            <a:hlinkClick r:id="rId6"/>
            <a:extLst>
              <a:ext uri="{FF2B5EF4-FFF2-40B4-BE49-F238E27FC236}">
                <a16:creationId xmlns:a16="http://schemas.microsoft.com/office/drawing/2014/main" id="{486917CF-96D3-F649-D600-90D3ED9D7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6" r="15138"/>
          <a:stretch>
            <a:fillRect/>
          </a:stretch>
        </p:blipFill>
        <p:spPr bwMode="auto">
          <a:xfrm>
            <a:off x="228600" y="3505200"/>
            <a:ext cx="1958135" cy="2020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 descr="http://thumbs.dreamstime.com/z/bubbles-turquoise-liquid-soap-12609462.jpg">
            <a:hlinkClick r:id="rId8"/>
            <a:extLst>
              <a:ext uri="{FF2B5EF4-FFF2-40B4-BE49-F238E27FC236}">
                <a16:creationId xmlns:a16="http://schemas.microsoft.com/office/drawing/2014/main" id="{DACE2274-23C6-8743-F056-08B34B103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36"/>
          <a:stretch>
            <a:fillRect/>
          </a:stretch>
        </p:blipFill>
        <p:spPr bwMode="auto">
          <a:xfrm>
            <a:off x="2490284" y="3505200"/>
            <a:ext cx="3020432" cy="224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Soap bubble - Wikipedia">
            <a:extLst>
              <a:ext uri="{FF2B5EF4-FFF2-40B4-BE49-F238E27FC236}">
                <a16:creationId xmlns:a16="http://schemas.microsoft.com/office/drawing/2014/main" id="{8810E8A0-B455-55D0-8BE7-1AB30CF64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913" y="3429000"/>
            <a:ext cx="3020432" cy="226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98E55B-E227-377D-A06E-29D2038D0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3" name="Online Media 2" descr="Minimum energy surfaces with soap films: Cube, Octahedron, Helicoid">
            <a:hlinkClick r:id="" action="ppaction://media"/>
            <a:extLst>
              <a:ext uri="{FF2B5EF4-FFF2-40B4-BE49-F238E27FC236}">
                <a16:creationId xmlns:a16="http://schemas.microsoft.com/office/drawing/2014/main" id="{AEFC40C5-4E20-6EEC-037D-320EE02D6E7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11560" y="1718810"/>
            <a:ext cx="7403425" cy="4182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F07568-9901-289C-D40B-DAD0FAC064FA}"/>
              </a:ext>
            </a:extLst>
          </p:cNvPr>
          <p:cNvSpPr txBox="1"/>
          <p:nvPr/>
        </p:nvSpPr>
        <p:spPr>
          <a:xfrm>
            <a:off x="881589" y="6281738"/>
            <a:ext cx="6075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/E_KH3FNtOIw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24321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2">
            <a:extLst>
              <a:ext uri="{FF2B5EF4-FFF2-40B4-BE49-F238E27FC236}">
                <a16:creationId xmlns:a16="http://schemas.microsoft.com/office/drawing/2014/main" id="{416F562E-34DF-29D4-C405-180D37821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Bubble stability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42163-FAA2-A837-C997-6A18F5FC4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7543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What governs bubble stability and size?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We can balance the forces acting inside and outside the bubble: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A4B23-9B8D-8789-AA04-44F728987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1905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j-lt"/>
              </a:rPr>
              <a:t>External forces: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EF60A-7030-B936-8D0F-FE2D8F474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703513"/>
            <a:ext cx="1066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+mj-lt"/>
              </a:rPr>
              <a:t>From air pressure: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165F5FB-7003-A12E-0ADF-F95A0F82C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03048"/>
              </p:ext>
            </p:extLst>
          </p:nvPr>
        </p:nvGraphicFramePr>
        <p:xfrm>
          <a:off x="1846263" y="2720975"/>
          <a:ext cx="13747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641" imgH="165028" progId="Equation.3">
                  <p:embed/>
                </p:oleObj>
              </mc:Choice>
              <mc:Fallback>
                <p:oleObj name="Equation" r:id="rId2" imgW="596641" imgH="165028" progId="Equation.3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165F5FB-7003-A12E-0ADF-F95A0F82C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2720975"/>
                        <a:ext cx="137477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35BD1ED-A8E3-DBDE-137F-8961F5C27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082433"/>
              </p:ext>
            </p:extLst>
          </p:nvPr>
        </p:nvGraphicFramePr>
        <p:xfrm>
          <a:off x="1866900" y="4060825"/>
          <a:ext cx="12874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558" imgH="203112" progId="Equation.3">
                  <p:embed/>
                </p:oleObj>
              </mc:Choice>
              <mc:Fallback>
                <p:oleObj name="Equation" r:id="rId4" imgW="558558" imgH="203112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35BD1ED-A8E3-DBDE-137F-8961F5C27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4060825"/>
                        <a:ext cx="12874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2FBC347-8368-3EDB-D701-F4644B54DD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792050"/>
              </p:ext>
            </p:extLst>
          </p:nvPr>
        </p:nvGraphicFramePr>
        <p:xfrm>
          <a:off x="1824038" y="3200400"/>
          <a:ext cx="198913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25" imgH="241195" progId="Equation.3">
                  <p:embed/>
                </p:oleObj>
              </mc:Choice>
              <mc:Fallback>
                <p:oleObj name="Equation" r:id="rId6" imgW="863225" imgH="241195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2FBC347-8368-3EDB-D701-F4644B54DD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3200400"/>
                        <a:ext cx="198913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1CDE761-C728-6EA1-6803-37FD0893B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38600"/>
            <a:ext cx="1066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+mj-lt"/>
              </a:rPr>
              <a:t>From surface tension: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4E6A70C-5FB4-96AD-83E3-3C846815D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398084"/>
              </p:ext>
            </p:extLst>
          </p:nvPr>
        </p:nvGraphicFramePr>
        <p:xfrm>
          <a:off x="1827213" y="4572000"/>
          <a:ext cx="20780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309" imgH="228501" progId="Equation.3">
                  <p:embed/>
                </p:oleObj>
              </mc:Choice>
              <mc:Fallback>
                <p:oleObj name="Equation" r:id="rId8" imgW="901309" imgH="228501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4E6A70C-5FB4-96AD-83E3-3C846815DF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213" y="4572000"/>
                        <a:ext cx="207803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9806039-FAD8-692D-3505-9279FB638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421510"/>
              </p:ext>
            </p:extLst>
          </p:nvPr>
        </p:nvGraphicFramePr>
        <p:xfrm>
          <a:off x="1828800" y="5181600"/>
          <a:ext cx="22240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200" imgH="203200" progId="Equation.3">
                  <p:embed/>
                </p:oleObj>
              </mc:Choice>
              <mc:Fallback>
                <p:oleObj name="Equation" r:id="rId10" imgW="965200" imgH="203200" progId="Equation.3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9806039-FAD8-692D-3505-9279FB638F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181600"/>
                        <a:ext cx="22240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3E7DDA8-796A-FC66-4751-97FD911B4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788586"/>
              </p:ext>
            </p:extLst>
          </p:nvPr>
        </p:nvGraphicFramePr>
        <p:xfrm>
          <a:off x="1857375" y="5715000"/>
          <a:ext cx="213518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6698" imgH="393529" progId="Equation.3">
                  <p:embed/>
                </p:oleObj>
              </mc:Choice>
              <mc:Fallback>
                <p:oleObj name="Equation" r:id="rId12" imgW="926698" imgH="393529" progId="Equation.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B3E7DDA8-796A-FC66-4751-97FD911B41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5715000"/>
                        <a:ext cx="2135188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D3765F-1EDA-B6F7-60C7-469BA6CCC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2057400"/>
            <a:ext cx="1905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+mj-lt"/>
              </a:rPr>
              <a:t>Internal forces: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23418-21D2-49F5-1138-9C8F94DC6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2703513"/>
            <a:ext cx="1066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+mj-lt"/>
              </a:rPr>
              <a:t>From air pressure: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9F6B7B9A-E46B-9622-EC13-F668CF94EF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557833"/>
              </p:ext>
            </p:extLst>
          </p:nvPr>
        </p:nvGraphicFramePr>
        <p:xfrm>
          <a:off x="6454775" y="2720975"/>
          <a:ext cx="13747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641" imgH="165028" progId="Equation.3">
                  <p:embed/>
                </p:oleObj>
              </mc:Choice>
              <mc:Fallback>
                <p:oleObj name="Equation" r:id="rId14" imgW="596641" imgH="165028" progId="Equation.3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9F6B7B9A-E46B-9622-EC13-F668CF94E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775" y="2720975"/>
                        <a:ext cx="137477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6BE3E220-804C-2A23-4AAE-2A97EF415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24040"/>
              </p:ext>
            </p:extLst>
          </p:nvPr>
        </p:nvGraphicFramePr>
        <p:xfrm>
          <a:off x="6446838" y="3200400"/>
          <a:ext cx="19605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50531" imgH="241195" progId="Equation.3">
                  <p:embed/>
                </p:oleObj>
              </mc:Choice>
              <mc:Fallback>
                <p:oleObj name="Equation" r:id="rId15" imgW="850531" imgH="241195" progId="Equation.3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BE3E220-804C-2A23-4AAE-2A97EF4156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838" y="3200400"/>
                        <a:ext cx="19605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53E92A8-14B1-E6AC-F790-1B1423BFC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176713"/>
            <a:ext cx="3657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+mj-lt"/>
              </a:rPr>
              <a:t>At equilibrium the internal and external forces will balance: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F416C744-6F7C-E783-82B1-9A8BCC86C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308878"/>
              </p:ext>
            </p:extLst>
          </p:nvPr>
        </p:nvGraphicFramePr>
        <p:xfrm>
          <a:off x="4883150" y="5638800"/>
          <a:ext cx="39497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14500" imgH="241300" progId="Equation.3">
                  <p:embed/>
                </p:oleObj>
              </mc:Choice>
              <mc:Fallback>
                <p:oleObj name="Equation" r:id="rId17" imgW="1714500" imgH="241300" progId="Equation.3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F416C744-6F7C-E783-82B1-9A8BCC86C5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5638800"/>
                        <a:ext cx="39497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6D08B1B9-1056-4D01-27F3-F6D5E11F92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569836"/>
              </p:ext>
            </p:extLst>
          </p:nvPr>
        </p:nvGraphicFramePr>
        <p:xfrm>
          <a:off x="5943600" y="4954588"/>
          <a:ext cx="13747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96900" imgH="228600" progId="Equation.3">
                  <p:embed/>
                </p:oleObj>
              </mc:Choice>
              <mc:Fallback>
                <p:oleObj name="Equation" r:id="rId19" imgW="596900" imgH="228600" progId="Equation.3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6D08B1B9-1056-4D01-27F3-F6D5E11F92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954588"/>
                        <a:ext cx="13747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  <p:bldP spid="10" grpId="0"/>
      <p:bldP spid="14" grpId="0"/>
      <p:bldP spid="15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2">
            <a:extLst>
              <a:ext uri="{FF2B5EF4-FFF2-40B4-BE49-F238E27FC236}">
                <a16:creationId xmlns:a16="http://schemas.microsoft.com/office/drawing/2014/main" id="{B73F9167-8CF9-9DDC-EF34-9758B1A9B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Laplace pressure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7BF233D-622C-D1E0-5A92-F7ECCE27A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71120"/>
              </p:ext>
            </p:extLst>
          </p:nvPr>
        </p:nvGraphicFramePr>
        <p:xfrm>
          <a:off x="919163" y="1676400"/>
          <a:ext cx="21066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393700" progId="Equation.3">
                  <p:embed/>
                </p:oleObj>
              </mc:Choice>
              <mc:Fallback>
                <p:oleObj name="Equation" r:id="rId2" imgW="914400" imgH="393700" progId="Equation.3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47BF233D-622C-D1E0-5A92-F7ECCE27AD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1676400"/>
                        <a:ext cx="210661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F687A1-9D74-48B0-7E62-43AE55136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7467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We can rearrange this expression: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4BAEA3-E43D-A384-950D-AE799D242046}"/>
              </a:ext>
            </a:extLst>
          </p:cNvPr>
          <p:cNvCxnSpPr/>
          <p:nvPr/>
        </p:nvCxnSpPr>
        <p:spPr>
          <a:xfrm>
            <a:off x="3352800" y="21336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9F1ED46-C052-2BB6-7AD0-A158CBFFA5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286372"/>
              </p:ext>
            </p:extLst>
          </p:nvPr>
        </p:nvGraphicFramePr>
        <p:xfrm>
          <a:off x="4525963" y="1673225"/>
          <a:ext cx="289718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6755" imgH="393529" progId="Equation.3">
                  <p:embed/>
                </p:oleObj>
              </mc:Choice>
              <mc:Fallback>
                <p:oleObj name="Equation" r:id="rId4" imgW="1256755" imgH="393529" progId="Equation.3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9F1ED46-C052-2BB6-7AD0-A158CBFFA5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1673225"/>
                        <a:ext cx="289718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80377EF-5029-F9D0-420B-7C0CCEB08E64}"/>
              </a:ext>
            </a:extLst>
          </p:cNvPr>
          <p:cNvSpPr/>
          <p:nvPr/>
        </p:nvSpPr>
        <p:spPr>
          <a:xfrm>
            <a:off x="6096000" y="1600200"/>
            <a:ext cx="14478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26460-522C-BF45-E228-E933DBA4D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769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A smaller pressure difference is most stable, thus this equation shows that bubbles favor </a:t>
            </a:r>
            <a:r>
              <a:rPr lang="en-US" altLang="en-US" sz="1800" i="1" dirty="0">
                <a:latin typeface="+mj-lt"/>
              </a:rPr>
              <a:t>large radii</a:t>
            </a:r>
            <a:r>
              <a:rPr lang="en-US" altLang="en-US" sz="1800" dirty="0">
                <a:latin typeface="+mj-lt"/>
              </a:rPr>
              <a:t>. This pressure difference is the </a:t>
            </a:r>
            <a:r>
              <a:rPr lang="en-US" altLang="en-US" sz="1800" i="1" dirty="0">
                <a:latin typeface="+mj-lt"/>
              </a:rPr>
              <a:t>Laplace pressure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0D5EA6-D139-35A4-ECDE-55D44E59D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770" y="3698423"/>
            <a:ext cx="3796190" cy="296635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CC653C-6E63-565C-965E-20DB051DD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71526CE-F17F-74F6-CCEB-B2A2CE102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Laplace pressure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E17FCDA-5CD2-AAA6-58C2-70085DDE6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424992"/>
              </p:ext>
            </p:extLst>
          </p:nvPr>
        </p:nvGraphicFramePr>
        <p:xfrm>
          <a:off x="986944" y="2211953"/>
          <a:ext cx="289718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6755" imgH="393529" progId="Equation.3">
                  <p:embed/>
                </p:oleObj>
              </mc:Choice>
              <mc:Fallback>
                <p:oleObj name="Equation" r:id="rId2" imgW="1256755" imgH="393529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E17FCDA-5CD2-AAA6-58C2-70085DDE67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944" y="2211953"/>
                        <a:ext cx="289718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9F44298-A3CE-1DB2-C1C4-2BA5EB7FE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065" y="4178130"/>
            <a:ext cx="2869813" cy="25798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97EFD5-D4E7-70EE-64F2-052880368D6C}"/>
                  </a:ext>
                </a:extLst>
              </p:cNvPr>
              <p:cNvSpPr txBox="1"/>
              <p:nvPr/>
            </p:nvSpPr>
            <p:spPr>
              <a:xfrm>
                <a:off x="1303465" y="4315956"/>
                <a:ext cx="2264146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int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film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97EFD5-D4E7-70EE-64F2-052880368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65" y="4315956"/>
                <a:ext cx="2264146" cy="691471"/>
              </a:xfrm>
              <a:prstGeom prst="rect">
                <a:avLst/>
              </a:prstGeom>
              <a:blipFill>
                <a:blip r:embed="rId5"/>
                <a:stretch>
                  <a:fillRect l="-2793" r="-2793" b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FF137C-A886-6D50-2E13-73EE890B8C92}"/>
                  </a:ext>
                </a:extLst>
              </p:cNvPr>
              <p:cNvSpPr txBox="1"/>
              <p:nvPr/>
            </p:nvSpPr>
            <p:spPr>
              <a:xfrm>
                <a:off x="1286634" y="5195833"/>
                <a:ext cx="2297809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film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FF137C-A886-6D50-2E13-73EE890B8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34" y="5195833"/>
                <a:ext cx="2297809" cy="691471"/>
              </a:xfrm>
              <a:prstGeom prst="rect">
                <a:avLst/>
              </a:prstGeom>
              <a:blipFill>
                <a:blip r:embed="rId6"/>
                <a:stretch>
                  <a:fillRect l="-2747" r="-2198" b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6EFBBF-EF97-7BE6-6E1D-75612DA1C525}"/>
                  </a:ext>
                </a:extLst>
              </p:cNvPr>
              <p:cNvSpPr txBox="1"/>
              <p:nvPr/>
            </p:nvSpPr>
            <p:spPr>
              <a:xfrm>
                <a:off x="1286634" y="6075710"/>
                <a:ext cx="2147704" cy="690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int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6EFBBF-EF97-7BE6-6E1D-75612DA1C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34" y="6075710"/>
                <a:ext cx="2147704" cy="690125"/>
              </a:xfrm>
              <a:prstGeom prst="rect">
                <a:avLst/>
              </a:prstGeom>
              <a:blipFill>
                <a:blip r:embed="rId7"/>
                <a:stretch>
                  <a:fillRect l="-2941" r="-2353" b="-1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8" descr="http://thumbs.dreamstime.com/z/bubbles-turquoise-liquid-soap-12609462.jpg">
            <a:hlinkClick r:id="rId8"/>
            <a:extLst>
              <a:ext uri="{FF2B5EF4-FFF2-40B4-BE49-F238E27FC236}">
                <a16:creationId xmlns:a16="http://schemas.microsoft.com/office/drawing/2014/main" id="{D1993744-C0EE-6D98-92CF-B25862C3D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36"/>
          <a:stretch>
            <a:fillRect/>
          </a:stretch>
        </p:blipFill>
        <p:spPr bwMode="auto">
          <a:xfrm>
            <a:off x="5067055" y="1455527"/>
            <a:ext cx="2959823" cy="2198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7A530D-2768-0C3F-A8B8-0B6ADD9D9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121" y="1487886"/>
            <a:ext cx="35114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j-lt"/>
              </a:rPr>
              <a:t>For a Cavity (e.g. gas in liquid)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E93A6D-B66E-201A-821A-C0DED3894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282" y="3429000"/>
            <a:ext cx="28698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+mj-lt"/>
              </a:rPr>
              <a:t>For a Bubble (e.g. gas in thin liquid film in gas)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80710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CD47DC-22EF-484D-0B59-1D5F76811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E7F48-A539-4F29-BA67-1E327AC5B341}"/>
              </a:ext>
            </a:extLst>
          </p:cNvPr>
          <p:cNvSpPr txBox="1"/>
          <p:nvPr/>
        </p:nvSpPr>
        <p:spPr>
          <a:xfrm>
            <a:off x="0" y="602700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</a:t>
            </a:r>
            <a:r>
              <a:rPr lang="en-US" dirty="0" err="1"/>
              <a:t>dESN-ndzwFc?si</a:t>
            </a:r>
            <a:r>
              <a:rPr lang="en-US" dirty="0"/>
              <a:t>=Qw3jQp6LuJvR4bZ6</a:t>
            </a:r>
          </a:p>
        </p:txBody>
      </p:sp>
      <p:pic>
        <p:nvPicPr>
          <p:cNvPr id="7" name="Online Media 6" descr="Balloon in a Vacuum: Testing Experiment">
            <a:hlinkClick r:id="" action="ppaction://media"/>
            <a:extLst>
              <a:ext uri="{FF2B5EF4-FFF2-40B4-BE49-F238E27FC236}">
                <a16:creationId xmlns:a16="http://schemas.microsoft.com/office/drawing/2014/main" id="{FE6CD0B2-8839-8AAA-5EDD-3E7EB6452A4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16605" y="1718810"/>
            <a:ext cx="6821245" cy="385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81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226460-522C-BF45-E228-E933DBA4D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85" y="1943835"/>
            <a:ext cx="769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One more related question: how does water climb from the roots of a redwood to the top?</a:t>
            </a:r>
          </a:p>
        </p:txBody>
      </p:sp>
      <p:pic>
        <p:nvPicPr>
          <p:cNvPr id="6150" name="Picture 6" descr="http://oldphotoguy.com/img/s4/v12/p710243424-3.jpg">
            <a:hlinkClick r:id="rId2"/>
            <a:extLst>
              <a:ext uri="{FF2B5EF4-FFF2-40B4-BE49-F238E27FC236}">
                <a16:creationId xmlns:a16="http://schemas.microsoft.com/office/drawing/2014/main" id="{7D90F9A0-B39E-DCBA-7B23-9F98FA31E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610" y="3010635"/>
            <a:ext cx="3962400" cy="253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801247-35EA-BB06-AA70-96DCB6139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85" y="3513873"/>
            <a:ext cx="32004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What are the vessels that take water up a plant?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We can examine these by considering a tube in liquid, like a straw in a soft drink.</a:t>
            </a:r>
          </a:p>
        </p:txBody>
      </p:sp>
    </p:spTree>
    <p:extLst>
      <p:ext uri="{BB962C8B-B14F-4D97-AF65-F5344CB8AC3E}">
        <p14:creationId xmlns:p14="http://schemas.microsoft.com/office/powerpoint/2010/main" val="283395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">
            <a:extLst>
              <a:ext uri="{FF2B5EF4-FFF2-40B4-BE49-F238E27FC236}">
                <a16:creationId xmlns:a16="http://schemas.microsoft.com/office/drawing/2014/main" id="{8113F338-04A8-FF27-AB63-4A4A8D3D4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Capillary action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DB5B3E-37FA-531B-EC55-C9CBBA10C395}"/>
              </a:ext>
            </a:extLst>
          </p:cNvPr>
          <p:cNvSpPr/>
          <p:nvPr/>
        </p:nvSpPr>
        <p:spPr>
          <a:xfrm>
            <a:off x="914400" y="2740025"/>
            <a:ext cx="1828800" cy="259080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E5F2CC-94A9-DE47-2CC3-492699D8B7AF}"/>
              </a:ext>
            </a:extLst>
          </p:cNvPr>
          <p:cNvGrpSpPr>
            <a:grpSpLocks/>
          </p:cNvGrpSpPr>
          <p:nvPr/>
        </p:nvGrpSpPr>
        <p:grpSpPr bwMode="auto">
          <a:xfrm>
            <a:off x="1687513" y="1600200"/>
            <a:ext cx="228600" cy="2209800"/>
            <a:chOff x="1447800" y="1600200"/>
            <a:chExt cx="228600" cy="2209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69A67F4-74DF-36A1-B126-8D861219DB7C}"/>
                </a:ext>
              </a:extLst>
            </p:cNvPr>
            <p:cNvCxnSpPr/>
            <p:nvPr/>
          </p:nvCxnSpPr>
          <p:spPr>
            <a:xfrm>
              <a:off x="1447800" y="1600200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EB7934-F502-6B46-20FA-1FDD3C17A26C}"/>
                </a:ext>
              </a:extLst>
            </p:cNvPr>
            <p:cNvCxnSpPr/>
            <p:nvPr/>
          </p:nvCxnSpPr>
          <p:spPr>
            <a:xfrm>
              <a:off x="1676400" y="1600200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Freeform 10">
            <a:extLst>
              <a:ext uri="{FF2B5EF4-FFF2-40B4-BE49-F238E27FC236}">
                <a16:creationId xmlns:a16="http://schemas.microsoft.com/office/drawing/2014/main" id="{2CE9721B-5488-16C2-FCBD-1DA66AC0C7E4}"/>
              </a:ext>
            </a:extLst>
          </p:cNvPr>
          <p:cNvSpPr/>
          <p:nvPr/>
        </p:nvSpPr>
        <p:spPr>
          <a:xfrm>
            <a:off x="1687513" y="2624138"/>
            <a:ext cx="228600" cy="68262"/>
          </a:xfrm>
          <a:custGeom>
            <a:avLst/>
            <a:gdLst>
              <a:gd name="connsiteX0" fmla="*/ 0 w 336884"/>
              <a:gd name="connsiteY0" fmla="*/ 0 h 135621"/>
              <a:gd name="connsiteX1" fmla="*/ 96253 w 336884"/>
              <a:gd name="connsiteY1" fmla="*/ 125128 h 135621"/>
              <a:gd name="connsiteX2" fmla="*/ 269508 w 336884"/>
              <a:gd name="connsiteY2" fmla="*/ 115503 h 135621"/>
              <a:gd name="connsiteX3" fmla="*/ 336884 w 336884"/>
              <a:gd name="connsiteY3" fmla="*/ 9625 h 135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884" h="135621">
                <a:moveTo>
                  <a:pt x="0" y="0"/>
                </a:moveTo>
                <a:cubicBezTo>
                  <a:pt x="25667" y="52938"/>
                  <a:pt x="51335" y="105877"/>
                  <a:pt x="96253" y="125128"/>
                </a:cubicBezTo>
                <a:cubicBezTo>
                  <a:pt x="141171" y="144379"/>
                  <a:pt x="229403" y="134753"/>
                  <a:pt x="269508" y="115503"/>
                </a:cubicBezTo>
                <a:cubicBezTo>
                  <a:pt x="309613" y="96253"/>
                  <a:pt x="304800" y="17646"/>
                  <a:pt x="336884" y="96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E000A0-BB62-9CF4-75F6-06BBEFA35EC0}"/>
              </a:ext>
            </a:extLst>
          </p:cNvPr>
          <p:cNvCxnSpPr/>
          <p:nvPr/>
        </p:nvCxnSpPr>
        <p:spPr>
          <a:xfrm flipH="1">
            <a:off x="2057400" y="2286000"/>
            <a:ext cx="685800" cy="37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6C1791BF-815C-3040-67D7-669FE20E12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178445"/>
              </p:ext>
            </p:extLst>
          </p:nvPr>
        </p:nvGraphicFramePr>
        <p:xfrm>
          <a:off x="2743200" y="1947863"/>
          <a:ext cx="527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228600" progId="Equation.3">
                  <p:embed/>
                </p:oleObj>
              </mc:Choice>
              <mc:Fallback>
                <p:oleObj name="Equation" r:id="rId2" imgW="228600" imgH="228600" progId="Equation.3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6C1791BF-815C-3040-67D7-669FE20E12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47863"/>
                        <a:ext cx="527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4ED99E4-5C33-71C6-4410-A26E8169D4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987755"/>
              </p:ext>
            </p:extLst>
          </p:nvPr>
        </p:nvGraphicFramePr>
        <p:xfrm>
          <a:off x="2098675" y="3517900"/>
          <a:ext cx="527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28600" progId="Equation.3">
                  <p:embed/>
                </p:oleObj>
              </mc:Choice>
              <mc:Fallback>
                <p:oleObj name="Equation" r:id="rId4" imgW="228600" imgH="228600" progId="Equation.3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14ED99E4-5C33-71C6-4410-A26E8169D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517900"/>
                        <a:ext cx="527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EEB9EF-E937-8AFA-4EA8-B858D4214C22}"/>
              </a:ext>
            </a:extLst>
          </p:cNvPr>
          <p:cNvCxnSpPr/>
          <p:nvPr/>
        </p:nvCxnSpPr>
        <p:spPr>
          <a:xfrm flipH="1" flipV="1">
            <a:off x="2057400" y="2895600"/>
            <a:ext cx="2286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19C6C0-DD70-208B-1402-305140BDE405}"/>
              </a:ext>
            </a:extLst>
          </p:cNvPr>
          <p:cNvCxnSpPr/>
          <p:nvPr/>
        </p:nvCxnSpPr>
        <p:spPr>
          <a:xfrm>
            <a:off x="3429000" y="3429000"/>
            <a:ext cx="1981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46F4DE-33BC-9F29-67A4-54C4572A0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105150"/>
            <a:ext cx="144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+mj-lt"/>
              </a:rPr>
              <a:t>Capillary action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66AB0FC-C651-4A06-411C-D9B442AFFB5C}"/>
              </a:ext>
            </a:extLst>
          </p:cNvPr>
          <p:cNvSpPr/>
          <p:nvPr/>
        </p:nvSpPr>
        <p:spPr>
          <a:xfrm>
            <a:off x="6096000" y="2740025"/>
            <a:ext cx="1828800" cy="259080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76AC90-14D9-9CE9-7361-B03CD3C5E8AE}"/>
              </a:ext>
            </a:extLst>
          </p:cNvPr>
          <p:cNvGrpSpPr>
            <a:grpSpLocks/>
          </p:cNvGrpSpPr>
          <p:nvPr/>
        </p:nvGrpSpPr>
        <p:grpSpPr bwMode="auto">
          <a:xfrm>
            <a:off x="6869113" y="1600200"/>
            <a:ext cx="228600" cy="2209800"/>
            <a:chOff x="1447800" y="1600200"/>
            <a:chExt cx="228600" cy="22098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7ACAE5D-D4CE-13D1-AEEF-F3963AB587D0}"/>
                </a:ext>
              </a:extLst>
            </p:cNvPr>
            <p:cNvCxnSpPr/>
            <p:nvPr/>
          </p:nvCxnSpPr>
          <p:spPr>
            <a:xfrm>
              <a:off x="1447800" y="1600200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26D0779-B240-8B93-8263-3A169DF0A074}"/>
                </a:ext>
              </a:extLst>
            </p:cNvPr>
            <p:cNvCxnSpPr/>
            <p:nvPr/>
          </p:nvCxnSpPr>
          <p:spPr>
            <a:xfrm>
              <a:off x="1676400" y="1600200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Freeform 25">
            <a:extLst>
              <a:ext uri="{FF2B5EF4-FFF2-40B4-BE49-F238E27FC236}">
                <a16:creationId xmlns:a16="http://schemas.microsoft.com/office/drawing/2014/main" id="{FD9DE7DA-2F6C-87B0-BA04-78A87A383DC6}"/>
              </a:ext>
            </a:extLst>
          </p:cNvPr>
          <p:cNvSpPr/>
          <p:nvPr/>
        </p:nvSpPr>
        <p:spPr>
          <a:xfrm>
            <a:off x="6869113" y="2209800"/>
            <a:ext cx="228600" cy="68263"/>
          </a:xfrm>
          <a:custGeom>
            <a:avLst/>
            <a:gdLst>
              <a:gd name="connsiteX0" fmla="*/ 0 w 336884"/>
              <a:gd name="connsiteY0" fmla="*/ 0 h 135621"/>
              <a:gd name="connsiteX1" fmla="*/ 96253 w 336884"/>
              <a:gd name="connsiteY1" fmla="*/ 125128 h 135621"/>
              <a:gd name="connsiteX2" fmla="*/ 269508 w 336884"/>
              <a:gd name="connsiteY2" fmla="*/ 115503 h 135621"/>
              <a:gd name="connsiteX3" fmla="*/ 336884 w 336884"/>
              <a:gd name="connsiteY3" fmla="*/ 9625 h 135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884" h="135621">
                <a:moveTo>
                  <a:pt x="0" y="0"/>
                </a:moveTo>
                <a:cubicBezTo>
                  <a:pt x="25667" y="52938"/>
                  <a:pt x="51335" y="105877"/>
                  <a:pt x="96253" y="125128"/>
                </a:cubicBezTo>
                <a:cubicBezTo>
                  <a:pt x="141171" y="144379"/>
                  <a:pt x="229403" y="134753"/>
                  <a:pt x="269508" y="115503"/>
                </a:cubicBezTo>
                <a:cubicBezTo>
                  <a:pt x="309613" y="96253"/>
                  <a:pt x="304800" y="17646"/>
                  <a:pt x="336884" y="96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1F9CADA-532A-F01A-B3E8-E2DF9F586013}"/>
              </a:ext>
            </a:extLst>
          </p:cNvPr>
          <p:cNvSpPr/>
          <p:nvPr/>
        </p:nvSpPr>
        <p:spPr>
          <a:xfrm>
            <a:off x="6869113" y="2286000"/>
            <a:ext cx="228600" cy="454025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20D2CB9C-5687-4EB0-3914-4DEF0E50E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005532"/>
              </p:ext>
            </p:extLst>
          </p:nvPr>
        </p:nvGraphicFramePr>
        <p:xfrm>
          <a:off x="4953000" y="1836738"/>
          <a:ext cx="14636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725" imgH="203112" progId="Equation.3">
                  <p:embed/>
                </p:oleObj>
              </mc:Choice>
              <mc:Fallback>
                <p:oleObj name="Equation" r:id="rId6" imgW="634725" imgH="203112" progId="Equation.3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20D2CB9C-5687-4EB0-3914-4DEF0E50E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836738"/>
                        <a:ext cx="14636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35815EA-DF11-1DBD-942D-8B0AD3EAC226}"/>
              </a:ext>
            </a:extLst>
          </p:cNvPr>
          <p:cNvCxnSpPr/>
          <p:nvPr/>
        </p:nvCxnSpPr>
        <p:spPr>
          <a:xfrm>
            <a:off x="5334000" y="2243138"/>
            <a:ext cx="1371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3A09C1D-3027-0476-58C4-DE407C4B0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638800"/>
            <a:ext cx="7620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The extra pressure on the liquid inside the straw is equal to the hydrostatic pressure applied by the column of liquid that rises up.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66691-681E-D579-C575-4CBDF42AC7BF}"/>
              </a:ext>
            </a:extLst>
          </p:cNvPr>
          <p:cNvSpPr txBox="1"/>
          <p:nvPr/>
        </p:nvSpPr>
        <p:spPr>
          <a:xfrm>
            <a:off x="4036741" y="349033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5080A-DFF6-AFA0-17F1-FAD1F0C5CAAB}"/>
              </a:ext>
            </a:extLst>
          </p:cNvPr>
          <p:cNvSpPr txBox="1"/>
          <p:nvPr/>
        </p:nvSpPr>
        <p:spPr>
          <a:xfrm>
            <a:off x="4036741" y="349033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/>
      <p:bldP spid="22" grpId="0" animBg="1"/>
      <p:bldP spid="27" grpId="0" animBg="1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2">
            <a:extLst>
              <a:ext uri="{FF2B5EF4-FFF2-40B4-BE49-F238E27FC236}">
                <a16:creationId xmlns:a16="http://schemas.microsoft.com/office/drawing/2014/main" id="{4B297AD9-0015-6F29-9BB6-F35D38C7E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Capillary action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9FF20C3-AA70-0C51-7F63-52579B813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578936"/>
              </p:ext>
            </p:extLst>
          </p:nvPr>
        </p:nvGraphicFramePr>
        <p:xfrm>
          <a:off x="914400" y="1884363"/>
          <a:ext cx="2252663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476" imgH="393529" progId="Equation.3">
                  <p:embed/>
                </p:oleObj>
              </mc:Choice>
              <mc:Fallback>
                <p:oleObj name="Equation" r:id="rId2" imgW="977476" imgH="393529" progId="Equation.3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9FF20C3-AA70-0C51-7F63-52579B813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84363"/>
                        <a:ext cx="2252663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33BA023-47F7-0925-9F78-455F89270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19200"/>
            <a:ext cx="7620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We can find the relationship between how high the liquid rises and the radius of the straw (or tube):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D681528-7740-210D-255F-D715CF0F6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602226"/>
              </p:ext>
            </p:extLst>
          </p:nvPr>
        </p:nvGraphicFramePr>
        <p:xfrm>
          <a:off x="914400" y="2895600"/>
          <a:ext cx="12287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9" imgH="418918" progId="Equation.3">
                  <p:embed/>
                </p:oleObj>
              </mc:Choice>
              <mc:Fallback>
                <p:oleObj name="Equation" r:id="rId4" imgW="533169" imgH="418918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D681528-7740-210D-255F-D715CF0F65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95600"/>
                        <a:ext cx="12287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7E7D519-C5A8-38C8-F331-E7A7C50462F0}"/>
              </a:ext>
            </a:extLst>
          </p:cNvPr>
          <p:cNvSpPr/>
          <p:nvPr/>
        </p:nvSpPr>
        <p:spPr>
          <a:xfrm>
            <a:off x="762000" y="2895600"/>
            <a:ext cx="1447800" cy="1143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9FD92-890A-C0D7-E00C-2A7F95B53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895600"/>
            <a:ext cx="5029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We can use this to examine the redwood.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The xylem has a radius of 2 x 10</a:t>
            </a:r>
            <a:r>
              <a:rPr lang="en-US" altLang="en-US" sz="1800" baseline="30000">
                <a:latin typeface="+mj-lt"/>
              </a:rPr>
              <a:t>-5</a:t>
            </a:r>
            <a:r>
              <a:rPr lang="en-US" altLang="en-US" sz="1800">
                <a:latin typeface="+mj-lt"/>
              </a:rPr>
              <a:t> m, so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If we use the surface tension and density of water, the height that capillary action can raise the water is 0.74 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22C13-9E1D-520A-9D0A-E8EC2826F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495800"/>
            <a:ext cx="7772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Can capillary action take water to the top of a redwood?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What other mechanisms can be involved.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Key: water has a high </a:t>
            </a:r>
            <a:r>
              <a:rPr lang="en-US" altLang="en-US" sz="1800" i="1">
                <a:latin typeface="+mj-lt"/>
              </a:rPr>
              <a:t>tensile strength</a:t>
            </a:r>
            <a:r>
              <a:rPr lang="en-US" altLang="en-US" sz="1800">
                <a:latin typeface="+mj-lt"/>
              </a:rPr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+mj-lt"/>
              </a:rPr>
              <a:t>Why does water have a high tensile strength?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build="p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2">
            <a:extLst>
              <a:ext uri="{FF2B5EF4-FFF2-40B4-BE49-F238E27FC236}">
                <a16:creationId xmlns:a16="http://schemas.microsoft.com/office/drawing/2014/main" id="{E8396D8D-73B0-2072-086B-F4A926C31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</a:rPr>
              <a:t>Physical Chemistry of Surfaces</a:t>
            </a:r>
          </a:p>
        </p:txBody>
      </p:sp>
      <p:pic>
        <p:nvPicPr>
          <p:cNvPr id="9218" name="Picture 2" descr="http://www.azonano.com/work/xIHuUJk6DJ5vaJ66Y33V_files/image002.jpg">
            <a:hlinkClick r:id="rId2"/>
            <a:extLst>
              <a:ext uri="{FF2B5EF4-FFF2-40B4-BE49-F238E27FC236}">
                <a16:creationId xmlns:a16="http://schemas.microsoft.com/office/drawing/2014/main" id="{6DA89DEC-5508-6022-D779-F5DAB5C9E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362200"/>
            <a:ext cx="4179887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93951F-7C2F-B6E9-1AC7-9E6F8689C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70815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Carbon nanotubes.</a:t>
            </a:r>
          </a:p>
        </p:txBody>
      </p:sp>
      <p:pic>
        <p:nvPicPr>
          <p:cNvPr id="9220" name="Picture 4" descr="http://web-japan.org/kidsweb/hitech/elevator/images/001.gif">
            <a:hlinkClick r:id="rId4"/>
            <a:extLst>
              <a:ext uri="{FF2B5EF4-FFF2-40B4-BE49-F238E27FC236}">
                <a16:creationId xmlns:a16="http://schemas.microsoft.com/office/drawing/2014/main" id="{E6EA9057-E4A9-5012-40DA-7A36F154410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757363"/>
            <a:ext cx="28575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895A70-62F3-FB59-E0BC-6AE9DC7A3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Measuring surface tension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B6ABC-A3E9-F7A0-770F-B61AC3200032}"/>
              </a:ext>
            </a:extLst>
          </p:cNvPr>
          <p:cNvSpPr txBox="1"/>
          <p:nvPr/>
        </p:nvSpPr>
        <p:spPr>
          <a:xfrm>
            <a:off x="609600" y="11430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How to measure surface tension: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9FD82-7BBC-0790-CFE5-74DB4707545D}"/>
              </a:ext>
            </a:extLst>
          </p:cNvPr>
          <p:cNvSpPr txBox="1"/>
          <p:nvPr/>
        </p:nvSpPr>
        <p:spPr>
          <a:xfrm>
            <a:off x="206515" y="1676400"/>
            <a:ext cx="9046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Wilhelmy plate – thin platinum plate/piece of filter paper  is suspended from the arm of a balance and dipped into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Displaced liquid will push the plate upwards (buoyancy)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6AAAF-B871-71A4-3EE0-76139B35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03153"/>
            <a:ext cx="7772400" cy="2063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BD0704-4C17-D9EB-8914-C93439673856}"/>
              </a:ext>
            </a:extLst>
          </p:cNvPr>
          <p:cNvSpPr txBox="1"/>
          <p:nvPr/>
        </p:nvSpPr>
        <p:spPr>
          <a:xfrm>
            <a:off x="71500" y="4953000"/>
            <a:ext cx="8462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Detachment method: Pull on the balance and note the point of detachment. </a:t>
            </a:r>
            <a:r>
              <a:rPr lang="en-GB" dirty="0" err="1">
                <a:latin typeface="+mj-lt"/>
              </a:rPr>
              <a:t>w</a:t>
            </a:r>
            <a:r>
              <a:rPr lang="en-GB" baseline="-25000" dirty="0" err="1">
                <a:latin typeface="+mj-lt"/>
              </a:rPr>
              <a:t>det</a:t>
            </a:r>
            <a:r>
              <a:rPr lang="en-GB" dirty="0">
                <a:latin typeface="+mj-lt"/>
              </a:rPr>
              <a:t> – w = 2(</a:t>
            </a:r>
            <a:r>
              <a:rPr lang="en-GB" dirty="0" err="1">
                <a:latin typeface="+mj-lt"/>
              </a:rPr>
              <a:t>x+y</a:t>
            </a:r>
            <a:r>
              <a:rPr lang="en-GB" dirty="0">
                <a:latin typeface="+mj-lt"/>
              </a:rPr>
              <a:t>)𝛾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Static method: Keep the plate in contact with the liquid – the change in force required to maintain constant immersion is measured.</a:t>
            </a:r>
          </a:p>
        </p:txBody>
      </p:sp>
    </p:spTree>
    <p:extLst>
      <p:ext uri="{BB962C8B-B14F-4D97-AF65-F5344CB8AC3E}">
        <p14:creationId xmlns:p14="http://schemas.microsoft.com/office/powerpoint/2010/main" val="1337821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895A70-62F3-FB59-E0BC-6AE9DC7A3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Agnes Pockels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B6ABC-A3E9-F7A0-770F-B61AC3200032}"/>
              </a:ext>
            </a:extLst>
          </p:cNvPr>
          <p:cNvSpPr txBox="1"/>
          <p:nvPr/>
        </p:nvSpPr>
        <p:spPr>
          <a:xfrm>
            <a:off x="431540" y="1143935"/>
            <a:ext cx="5613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Self-taught German chemist (1862-1935)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9FD82-7BBC-0790-CFE5-74DB4707545D}"/>
              </a:ext>
            </a:extLst>
          </p:cNvPr>
          <p:cNvSpPr txBox="1"/>
          <p:nvPr/>
        </p:nvSpPr>
        <p:spPr>
          <a:xfrm>
            <a:off x="71500" y="1617529"/>
            <a:ext cx="5400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Became interested in surface tension through doing domestic chores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Invented her own instrument for measuring surface tension – a metal tray with a button connected to a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Used to determine the effect of surfactants on surface tension, and determine the molecule size (the “</a:t>
            </a:r>
            <a:r>
              <a:rPr lang="en-GB" sz="2200" dirty="0" err="1">
                <a:latin typeface="+mj-lt"/>
              </a:rPr>
              <a:t>Pockel</a:t>
            </a:r>
            <a:r>
              <a:rPr lang="en-GB" sz="2200" dirty="0">
                <a:latin typeface="+mj-lt"/>
              </a:rPr>
              <a:t> point”)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Contacted Lord Rayleigh (1904 Nobel prize winner) with her results – he helped publish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First woman to receive an honorary doctorate</a:t>
            </a:r>
          </a:p>
        </p:txBody>
      </p:sp>
      <p:pic>
        <p:nvPicPr>
          <p:cNvPr id="1026" name="Picture 2" descr="Agnes Pockels - Wikipedia">
            <a:extLst>
              <a:ext uri="{FF2B5EF4-FFF2-40B4-BE49-F238E27FC236}">
                <a16:creationId xmlns:a16="http://schemas.microsoft.com/office/drawing/2014/main" id="{4A2288A0-5AFA-AEC5-AECB-77DFD8FD8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612" y="953725"/>
            <a:ext cx="2451116" cy="368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ngmuir-Pockels Trough with Double Wall Couette for Measuring Interfacial  Rheology of Insoluble Surfactants by Christine Turner">
            <a:extLst>
              <a:ext uri="{FF2B5EF4-FFF2-40B4-BE49-F238E27FC236}">
                <a16:creationId xmlns:a16="http://schemas.microsoft.com/office/drawing/2014/main" id="{ED19FEDD-9BC3-EB15-D3CD-083E822CC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150" y="5054220"/>
            <a:ext cx="2913475" cy="145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0995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D5CB4-500F-706D-7173-8ACE9908B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Measuring surface 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8A496-0115-4613-F067-879A6AFB4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143000"/>
            <a:ext cx="3810000" cy="25880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CD1D8A-906D-4D4A-CB12-AE25A3413C12}"/>
              </a:ext>
            </a:extLst>
          </p:cNvPr>
          <p:cNvSpPr txBox="1"/>
          <p:nvPr/>
        </p:nvSpPr>
        <p:spPr>
          <a:xfrm>
            <a:off x="571500" y="1254405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Platinum ring method: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2295F-AE0E-0B4E-9E35-ADDAC0A20AB0}"/>
              </a:ext>
            </a:extLst>
          </p:cNvPr>
          <p:cNvSpPr txBox="1"/>
          <p:nvPr/>
        </p:nvSpPr>
        <p:spPr>
          <a:xfrm>
            <a:off x="609600" y="2514600"/>
            <a:ext cx="3733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The force required to detach the ring from the surface is measure and is related to the surface tension by: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654939-8DAB-A4E5-BECB-F8225FFB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030" y="3842473"/>
            <a:ext cx="2209800" cy="9071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17DDE2-6E64-70FD-FCEC-456D01C8792F}"/>
              </a:ext>
            </a:extLst>
          </p:cNvPr>
          <p:cNvSpPr txBox="1"/>
          <p:nvPr/>
        </p:nvSpPr>
        <p:spPr>
          <a:xfrm>
            <a:off x="609600" y="5042927"/>
            <a:ext cx="777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beta is a correction factor which allows for the non-vertical direction of the tension forces and for the complex shape of the liquid supported by the ring at point of detachment</a:t>
            </a:r>
          </a:p>
        </p:txBody>
      </p:sp>
    </p:spTree>
    <p:extLst>
      <p:ext uri="{BB962C8B-B14F-4D97-AF65-F5344CB8AC3E}">
        <p14:creationId xmlns:p14="http://schemas.microsoft.com/office/powerpoint/2010/main" val="23159984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40198-08F9-FC01-00E8-97E9A9166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Wetting versus non-wetting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EEA5DB-DD10-6F01-A82E-9B4B524D7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60" y="1924061"/>
            <a:ext cx="7105650" cy="2171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C82AFD-8840-E5AF-1A6E-DA6F0D74956B}"/>
              </a:ext>
            </a:extLst>
          </p:cNvPr>
          <p:cNvSpPr txBox="1"/>
          <p:nvPr/>
        </p:nvSpPr>
        <p:spPr>
          <a:xfrm>
            <a:off x="611560" y="126876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contact angle is between the surface and the liquid/gas interface: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35953-E39A-E8F9-57DF-E5144C237E0B}"/>
              </a:ext>
            </a:extLst>
          </p:cNvPr>
          <p:cNvSpPr txBox="1"/>
          <p:nvPr/>
        </p:nvSpPr>
        <p:spPr>
          <a:xfrm>
            <a:off x="547665" y="4097839"/>
            <a:ext cx="8229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Contact angles depend on the chemical composition/intermolecular forces of/between the three phases involved.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limiting case is </a:t>
            </a:r>
            <a:r>
              <a:rPr lang="en-GB" dirty="0">
                <a:latin typeface="Symbol" panose="05050102010706020507" pitchFamily="18" charset="2"/>
              </a:rPr>
              <a:t>q</a:t>
            </a:r>
            <a:r>
              <a:rPr lang="en-GB" dirty="0"/>
              <a:t> = 0° when the liquid spreads over the solid surface.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The cases of </a:t>
            </a:r>
            <a:r>
              <a:rPr lang="en-GB" dirty="0">
                <a:latin typeface="Symbol" panose="05050102010706020507" pitchFamily="18" charset="2"/>
              </a:rPr>
              <a:t>q</a:t>
            </a:r>
            <a:r>
              <a:rPr lang="en-GB" dirty="0"/>
              <a:t> &gt; 0° are divided, by convention, into wetting and non-wetting conditions</a:t>
            </a:r>
          </a:p>
        </p:txBody>
      </p:sp>
    </p:spTree>
    <p:extLst>
      <p:ext uri="{BB962C8B-B14F-4D97-AF65-F5344CB8AC3E}">
        <p14:creationId xmlns:p14="http://schemas.microsoft.com/office/powerpoint/2010/main" val="28923891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9A85FC-A9C9-4841-CD1D-C6A74DDA9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200"/>
            <a:ext cx="9144000" cy="3098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815B7F-AE56-1819-9A6A-C225AC71E78D}"/>
              </a:ext>
            </a:extLst>
          </p:cNvPr>
          <p:cNvSpPr txBox="1"/>
          <p:nvPr/>
        </p:nvSpPr>
        <p:spPr>
          <a:xfrm>
            <a:off x="762000" y="1628741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Wetting:</a:t>
            </a:r>
          </a:p>
          <a:p>
            <a:pPr algn="ctr"/>
            <a:r>
              <a:rPr lang="en-GB" dirty="0"/>
              <a:t>0 &lt; </a:t>
            </a:r>
            <a:r>
              <a:rPr lang="en-GB" dirty="0">
                <a:latin typeface="Symbol" panose="05050102010706020507" pitchFamily="18" charset="2"/>
              </a:rPr>
              <a:t>q &lt; 90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D64F8-847F-56BE-24CD-06EE3CD20122}"/>
              </a:ext>
            </a:extLst>
          </p:cNvPr>
          <p:cNvSpPr txBox="1"/>
          <p:nvPr/>
        </p:nvSpPr>
        <p:spPr>
          <a:xfrm>
            <a:off x="4495800" y="1628741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Non-wetting:</a:t>
            </a:r>
          </a:p>
          <a:p>
            <a:pPr algn="ctr"/>
            <a:r>
              <a:rPr lang="en-GB" dirty="0"/>
              <a:t>90 &lt; </a:t>
            </a:r>
            <a:r>
              <a:rPr lang="en-GB" dirty="0">
                <a:latin typeface="Symbol" panose="05050102010706020507" pitchFamily="18" charset="2"/>
              </a:rPr>
              <a:t>q &lt; 180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23A9F4-260B-39A9-4EA9-CB02F59AF1ED}"/>
              </a:ext>
            </a:extLst>
          </p:cNvPr>
          <p:cNvCxnSpPr/>
          <p:nvPr/>
        </p:nvCxnSpPr>
        <p:spPr>
          <a:xfrm flipV="1">
            <a:off x="3048000" y="4800600"/>
            <a:ext cx="1905000" cy="1066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68BD68-E8D7-2409-614A-AF754271AE77}"/>
              </a:ext>
            </a:extLst>
          </p:cNvPr>
          <p:cNvSpPr txBox="1"/>
          <p:nvPr/>
        </p:nvSpPr>
        <p:spPr>
          <a:xfrm>
            <a:off x="1830946" y="5943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get this?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8B57A-3486-BB41-38DA-DAECD5766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Wetting versus non-wetting</a:t>
            </a:r>
          </a:p>
        </p:txBody>
      </p:sp>
    </p:spTree>
    <p:extLst>
      <p:ext uri="{BB962C8B-B14F-4D97-AF65-F5344CB8AC3E}">
        <p14:creationId xmlns:p14="http://schemas.microsoft.com/office/powerpoint/2010/main" val="42646700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19512E-4D1A-72BD-E9B1-97EDAAAA4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3" name="Online Media 2" descr="Engineers bounce water off superhydrophobic surfaces">
            <a:hlinkClick r:id="" action="ppaction://media"/>
            <a:extLst>
              <a:ext uri="{FF2B5EF4-FFF2-40B4-BE49-F238E27FC236}">
                <a16:creationId xmlns:a16="http://schemas.microsoft.com/office/drawing/2014/main" id="{4C740EBC-6D44-1105-F5D5-2DF179F7CCD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30768" y="1493785"/>
            <a:ext cx="7682463" cy="4340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8A8DA-F129-0083-D0ED-B927B339CA8E}"/>
              </a:ext>
            </a:extLst>
          </p:cNvPr>
          <p:cNvSpPr txBox="1"/>
          <p:nvPr/>
        </p:nvSpPr>
        <p:spPr>
          <a:xfrm>
            <a:off x="1016605" y="6174305"/>
            <a:ext cx="450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youtu.be</a:t>
            </a:r>
            <a:r>
              <a:rPr lang="en-GB" dirty="0"/>
              <a:t>/</a:t>
            </a:r>
            <a:r>
              <a:rPr lang="en-GB" dirty="0" err="1"/>
              <a:t>SIiv-hkRvZE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64260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E8E0E-E50F-BEC5-E5D7-7D55A16A6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7467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800" dirty="0">
                <a:latin typeface="+mj-lt"/>
              </a:rPr>
              <a:t>Interfacial tension: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1A109-7421-A6A8-8D6C-53AC76FACE02}"/>
              </a:ext>
            </a:extLst>
          </p:cNvPr>
          <p:cNvSpPr txBox="1"/>
          <p:nvPr/>
        </p:nvSpPr>
        <p:spPr>
          <a:xfrm>
            <a:off x="914400" y="1500500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forces are making the liquid form a drop rather than spread?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DB733-C349-3D91-7A73-86907CDF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82" y="2372487"/>
            <a:ext cx="7848600" cy="248765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829A8-6053-69B6-ECF0-4F022E207437}"/>
              </a:ext>
            </a:extLst>
          </p:cNvPr>
          <p:cNvCxnSpPr>
            <a:cxnSpLocks/>
          </p:cNvCxnSpPr>
          <p:nvPr/>
        </p:nvCxnSpPr>
        <p:spPr>
          <a:xfrm flipV="1">
            <a:off x="4099282" y="3839893"/>
            <a:ext cx="228600" cy="667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55EE33-F1E6-5EEA-0D64-AD10D7119DA7}"/>
              </a:ext>
            </a:extLst>
          </p:cNvPr>
          <p:cNvSpPr txBox="1"/>
          <p:nvPr/>
        </p:nvSpPr>
        <p:spPr>
          <a:xfrm>
            <a:off x="3946881" y="4507327"/>
            <a:ext cx="4691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Forces on each side of this point balance each other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DEDD4-A6A1-22B3-A9FD-93D343B1E587}"/>
              </a:ext>
            </a:extLst>
          </p:cNvPr>
          <p:cNvSpPr txBox="1"/>
          <p:nvPr/>
        </p:nvSpPr>
        <p:spPr>
          <a:xfrm>
            <a:off x="990600" y="5345668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Water has a contact angle </a:t>
            </a:r>
            <a:r>
              <a:rPr lang="en-GB" dirty="0">
                <a:latin typeface="Symbol" panose="05050102010706020507" pitchFamily="18" charset="2"/>
              </a:rPr>
              <a:t>q</a:t>
            </a:r>
            <a:r>
              <a:rPr lang="en-GB" dirty="0"/>
              <a:t> of approximately 112° on polyethylene surfaces and is termed non-wetting.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 many clean inorganic solids, minerals, oxides and metals, </a:t>
            </a:r>
            <a:r>
              <a:rPr lang="en-GB" dirty="0">
                <a:latin typeface="Symbol" panose="05050102010706020507" pitchFamily="18" charset="2"/>
              </a:rPr>
              <a:t>q</a:t>
            </a:r>
            <a:r>
              <a:rPr lang="en-GB" dirty="0"/>
              <a:t> = 0° and water spreads.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156A50-68FB-1A02-2E86-C1F9A0EED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Wetting versus non-wetting</a:t>
            </a:r>
          </a:p>
        </p:txBody>
      </p:sp>
    </p:spTree>
    <p:extLst>
      <p:ext uri="{BB962C8B-B14F-4D97-AF65-F5344CB8AC3E}">
        <p14:creationId xmlns:p14="http://schemas.microsoft.com/office/powerpoint/2010/main" val="3954279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7283BF-4440-A9D4-34AF-933EFBE42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Wetting versus non-wetting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6F8C9-B2AF-622B-7632-C882F60F8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7467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j-lt"/>
              </a:rPr>
              <a:t>We can determine whether a surface will allow liquids to spread or form a definite contact angle using the critical surface tension: 𝛾</a:t>
            </a:r>
            <a:r>
              <a:rPr lang="en-US" altLang="en-US" sz="1800" baseline="-25000" dirty="0">
                <a:latin typeface="+mj-lt"/>
              </a:rPr>
              <a:t>C</a:t>
            </a:r>
            <a:endParaRPr lang="en-US" altLang="en-US" sz="1800" dirty="0">
              <a:latin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3E04EE-422E-3080-2B67-0B0B1ED1F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748772"/>
              </p:ext>
            </p:extLst>
          </p:nvPr>
        </p:nvGraphicFramePr>
        <p:xfrm>
          <a:off x="2209800" y="1905218"/>
          <a:ext cx="4267200" cy="1752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sz="1800" b="0" baseline="-25000" dirty="0" err="1">
                          <a:latin typeface="+mn-lt"/>
                        </a:rPr>
                        <a:t>C</a:t>
                      </a:r>
                      <a:r>
                        <a:rPr lang="en-US" sz="1800" dirty="0"/>
                        <a:t> (N/m)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polyethylene 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0.031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Polyvinyl chloride (PVC)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0.039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Polytetrafluoroethylene (PTFE)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0.018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79A6CD-4FC1-6F6A-F37E-29CDF2C9B5A9}"/>
              </a:ext>
            </a:extLst>
          </p:cNvPr>
          <p:cNvSpPr txBox="1"/>
          <p:nvPr/>
        </p:nvSpPr>
        <p:spPr>
          <a:xfrm>
            <a:off x="915510" y="3674486"/>
            <a:ext cx="806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j-lt"/>
              </a:rPr>
              <a:t>If a liquid’s value of </a:t>
            </a:r>
            <a:r>
              <a:rPr lang="en-US" altLang="en-US" sz="1800" dirty="0"/>
              <a:t>𝛾</a:t>
            </a:r>
            <a:r>
              <a:rPr lang="en-GB" sz="1800" dirty="0">
                <a:latin typeface="+mj-lt"/>
              </a:rPr>
              <a:t> is less than the critical </a:t>
            </a:r>
            <a:r>
              <a:rPr lang="en-US" altLang="en-US" sz="1800" dirty="0"/>
              <a:t>𝛾</a:t>
            </a:r>
            <a:r>
              <a:rPr lang="en-GB" sz="1800" dirty="0">
                <a:latin typeface="+mj-lt"/>
              </a:rPr>
              <a:t>, it will wet the surface.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C9170D-82B8-2BB5-A10E-5551C4416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14728"/>
              </p:ext>
            </p:extLst>
          </p:nvPr>
        </p:nvGraphicFramePr>
        <p:xfrm>
          <a:off x="3238500" y="4343400"/>
          <a:ext cx="22098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sz="1800" dirty="0"/>
                        <a:t> (N/m)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  <a:r>
                        <a:rPr lang="en-US" sz="1800" baseline="-25000" dirty="0"/>
                        <a:t>6</a:t>
                      </a:r>
                      <a:r>
                        <a:rPr lang="en-US" sz="1800" dirty="0"/>
                        <a:t>H</a:t>
                      </a:r>
                      <a:r>
                        <a:rPr lang="en-US" sz="1800" baseline="-25000" dirty="0"/>
                        <a:t>6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0.029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CH</a:t>
                      </a:r>
                      <a:r>
                        <a:rPr lang="en-US" sz="1800" baseline="-25000" dirty="0"/>
                        <a:t>3</a:t>
                      </a:r>
                      <a:r>
                        <a:rPr lang="en-US" sz="1800" dirty="0"/>
                        <a:t>OH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0.023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  <a:r>
                        <a:rPr lang="en-US" sz="1800" baseline="-25000" dirty="0"/>
                        <a:t>2</a:t>
                      </a:r>
                      <a:r>
                        <a:rPr lang="en-US" sz="1800" dirty="0"/>
                        <a:t>O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0.073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908AAC-E048-BED5-C9B5-6547804241F3}"/>
              </a:ext>
            </a:extLst>
          </p:cNvPr>
          <p:cNvSpPr txBox="1"/>
          <p:nvPr/>
        </p:nvSpPr>
        <p:spPr>
          <a:xfrm>
            <a:off x="914400" y="5956577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+mj-lt"/>
              </a:rPr>
              <a:t>Wetting can be improved/ </a:t>
            </a:r>
            <a:r>
              <a:rPr lang="en-US" altLang="en-US" sz="1800" dirty="0"/>
              <a:t>𝛾</a:t>
            </a:r>
            <a:r>
              <a:rPr lang="en-GB" sz="1800" dirty="0">
                <a:latin typeface="+mj-lt"/>
              </a:rPr>
              <a:t> increased by treating the surface, as with flaming. Why?</a:t>
            </a:r>
          </a:p>
        </p:txBody>
      </p:sp>
    </p:spTree>
    <p:extLst>
      <p:ext uri="{BB962C8B-B14F-4D97-AF65-F5344CB8AC3E}">
        <p14:creationId xmlns:p14="http://schemas.microsoft.com/office/powerpoint/2010/main" val="12178586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63B51B-F7E3-006C-1DA8-A5DBBC73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80EF1-8DB4-B55B-00C1-A276599EB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session we have:</a:t>
            </a:r>
            <a:br>
              <a:rPr lang="en-GB" dirty="0"/>
            </a:br>
            <a:r>
              <a:rPr lang="en-GB" dirty="0"/>
              <a:t>Described the origin of surface tension</a:t>
            </a:r>
            <a:br>
              <a:rPr lang="en-GB" dirty="0"/>
            </a:br>
            <a:r>
              <a:rPr lang="en-GB" dirty="0"/>
              <a:t>Derived the Laplace pressure (and subsequently the capillary height)</a:t>
            </a:r>
            <a:br>
              <a:rPr lang="en-GB" dirty="0"/>
            </a:br>
            <a:r>
              <a:rPr lang="en-GB" dirty="0"/>
              <a:t>Described methods to measure surface tension</a:t>
            </a:r>
            <a:br>
              <a:rPr lang="en-GB" dirty="0"/>
            </a:br>
            <a:r>
              <a:rPr lang="en-GB" dirty="0"/>
              <a:t>Described the contact angle and how it varies for different surfaces, solvents and structures.</a:t>
            </a:r>
            <a:br>
              <a:rPr lang="en-GB" dirty="0"/>
            </a:b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07A8E-A75D-D140-AD9F-FD4934D0B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6FD51-1015-4304-9645-AC62F2AE25BF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93850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Bright colours jl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52</TotalTime>
  <Words>1607</Words>
  <Application>Microsoft Office PowerPoint</Application>
  <PresentationFormat>On-screen Show (4:3)</PresentationFormat>
  <Paragraphs>177</Paragraphs>
  <Slides>32</Slides>
  <Notes>4</Notes>
  <HiddenSlides>1</HiddenSlides>
  <MMClips>4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Bright colours jl</vt:lpstr>
      <vt:lpstr>CH2PH2:  Surfaces and Interfaces </vt:lpstr>
      <vt:lpstr>Strong module overlap with:</vt:lpstr>
      <vt:lpstr>Relevant to research in:</vt:lpstr>
      <vt:lpstr>Relevant to research in:</vt:lpstr>
      <vt:lpstr>Research (project) overlap with:</vt:lpstr>
      <vt:lpstr>Recommended texts:</vt:lpstr>
      <vt:lpstr>Recommended texts: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394</cp:revision>
  <cp:lastPrinted>2006-09-19T14:59:33Z</cp:lastPrinted>
  <dcterms:created xsi:type="dcterms:W3CDTF">2009-08-10T15:23:00Z</dcterms:created>
  <dcterms:modified xsi:type="dcterms:W3CDTF">2026-02-10T12:11:22Z</dcterms:modified>
</cp:coreProperties>
</file>