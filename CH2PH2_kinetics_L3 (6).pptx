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39"/>
  </p:notesMasterIdLst>
  <p:handoutMasterIdLst>
    <p:handoutMasterId r:id="rId40"/>
  </p:handoutMasterIdLst>
  <p:sldIdLst>
    <p:sldId id="402" r:id="rId5"/>
    <p:sldId id="324" r:id="rId6"/>
    <p:sldId id="515" r:id="rId7"/>
    <p:sldId id="506" r:id="rId8"/>
    <p:sldId id="507" r:id="rId9"/>
    <p:sldId id="508" r:id="rId10"/>
    <p:sldId id="509" r:id="rId11"/>
    <p:sldId id="516" r:id="rId12"/>
    <p:sldId id="325" r:id="rId13"/>
    <p:sldId id="326" r:id="rId14"/>
    <p:sldId id="327" r:id="rId15"/>
    <p:sldId id="328" r:id="rId16"/>
    <p:sldId id="329" r:id="rId17"/>
    <p:sldId id="429" r:id="rId18"/>
    <p:sldId id="330" r:id="rId19"/>
    <p:sldId id="331" r:id="rId20"/>
    <p:sldId id="333" r:id="rId21"/>
    <p:sldId id="334" r:id="rId22"/>
    <p:sldId id="335" r:id="rId23"/>
    <p:sldId id="336" r:id="rId24"/>
    <p:sldId id="337" r:id="rId25"/>
    <p:sldId id="338" r:id="rId26"/>
    <p:sldId id="339" r:id="rId27"/>
    <p:sldId id="340" r:id="rId28"/>
    <p:sldId id="341" r:id="rId29"/>
    <p:sldId id="342" r:id="rId30"/>
    <p:sldId id="343" r:id="rId31"/>
    <p:sldId id="344" r:id="rId32"/>
    <p:sldId id="345" r:id="rId33"/>
    <p:sldId id="346" r:id="rId34"/>
    <p:sldId id="347" r:id="rId35"/>
    <p:sldId id="518" r:id="rId36"/>
    <p:sldId id="517" r:id="rId37"/>
    <p:sldId id="519" r:id="rId38"/>
  </p:sldIdLst>
  <p:sldSz cx="9144000" cy="6858000" type="screen4x3"/>
  <p:notesSz cx="7099300" cy="10234613"/>
  <p:embeddedFontLst>
    <p:embeddedFont>
      <p:font typeface="Cambria Math" panose="02040503050406030204" pitchFamily="18" charset="0"/>
      <p:regular r:id="rId41"/>
    </p:embeddedFont>
    <p:embeddedFont>
      <p:font typeface="Rdg Vesta" panose="02000503060000020004" pitchFamily="2" charset="0"/>
      <p:regular r:id="rId42"/>
      <p:bold r:id="rId43"/>
      <p:italic r:id="rId44"/>
      <p:boldItalic r:id="rId45"/>
    </p:embeddedFont>
    <p:embeddedFont>
      <p:font typeface="Times" panose="02020603050405020304" pitchFamily="18" charset="0"/>
      <p:regular r:id="rId46"/>
      <p:bold r:id="rId47"/>
      <p:italic r:id="rId48"/>
      <p:boldItalic r:id="rId49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AF35"/>
    <a:srgbClr val="FFFFCC"/>
    <a:srgbClr val="D799A1"/>
    <a:srgbClr val="000000"/>
    <a:srgbClr val="BF0071"/>
    <a:srgbClr val="F3F3F3"/>
    <a:srgbClr val="F0F0F0"/>
    <a:srgbClr val="EEEEEE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78"/>
    <p:restoredTop sz="94763"/>
  </p:normalViewPr>
  <p:slideViewPr>
    <p:cSldViewPr snapToGrid="0">
      <p:cViewPr varScale="1">
        <p:scale>
          <a:sx n="114" d="100"/>
          <a:sy n="114" d="100"/>
        </p:scale>
        <p:origin x="744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openxmlformats.org/officeDocument/2006/relationships/font" Target="fonts/font5.fntdata"/><Relationship Id="rId53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4.fntdata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4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6.fntdata"/><Relationship Id="rId20" Type="http://schemas.openxmlformats.org/officeDocument/2006/relationships/slide" Target="slides/slide16.xml"/><Relationship Id="rId41" Type="http://schemas.openxmlformats.org/officeDocument/2006/relationships/font" Target="fonts/font1.fntdata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9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Hallett" userId="c714d19a-e50d-439a-876c-0e1be1458f92" providerId="ADAL" clId="{9E63729E-F98D-59AE-8FA6-FDDC881E90FE}"/>
    <pc:docChg chg="addSld modSld">
      <pc:chgData name="James Hallett" userId="c714d19a-e50d-439a-876c-0e1be1458f92" providerId="ADAL" clId="{9E63729E-F98D-59AE-8FA6-FDDC881E90FE}" dt="2026-02-10T10:03:21.380" v="430" actId="20577"/>
      <pc:docMkLst>
        <pc:docMk/>
      </pc:docMkLst>
      <pc:sldChg chg="modSp new mod">
        <pc:chgData name="James Hallett" userId="c714d19a-e50d-439a-876c-0e1be1458f92" providerId="ADAL" clId="{9E63729E-F98D-59AE-8FA6-FDDC881E90FE}" dt="2026-02-10T10:03:21.380" v="430" actId="20577"/>
        <pc:sldMkLst>
          <pc:docMk/>
          <pc:sldMk cId="2551805150" sldId="519"/>
        </pc:sldMkLst>
        <pc:spChg chg="mod">
          <ac:chgData name="James Hallett" userId="c714d19a-e50d-439a-876c-0e1be1458f92" providerId="ADAL" clId="{9E63729E-F98D-59AE-8FA6-FDDC881E90FE}" dt="2026-02-10T10:01:18.931" v="23" actId="20577"/>
          <ac:spMkLst>
            <pc:docMk/>
            <pc:sldMk cId="2551805150" sldId="519"/>
            <ac:spMk id="2" creationId="{CA6B64CC-4643-2551-7556-7F386BF8FF71}"/>
          </ac:spMkLst>
        </pc:spChg>
        <pc:spChg chg="mod">
          <ac:chgData name="James Hallett" userId="c714d19a-e50d-439a-876c-0e1be1458f92" providerId="ADAL" clId="{9E63729E-F98D-59AE-8FA6-FDDC881E90FE}" dt="2026-02-10T10:03:21.380" v="430" actId="20577"/>
          <ac:spMkLst>
            <pc:docMk/>
            <pc:sldMk cId="2551805150" sldId="519"/>
            <ac:spMk id="3" creationId="{4B478669-764D-5EFE-F209-9A443F2E9D7E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'Michaelis-Menten'!$B$1</c:f>
              <c:strCache>
                <c:ptCount val="1"/>
                <c:pt idx="0">
                  <c:v>Rate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'Michaelis-Menten'!$A$2:$A$102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'Michaelis-Menten'!$B$2:$B$102</c:f>
              <c:numCache>
                <c:formatCode>General</c:formatCode>
                <c:ptCount val="101"/>
                <c:pt idx="0">
                  <c:v>0</c:v>
                </c:pt>
                <c:pt idx="1">
                  <c:v>0.90909090909090906</c:v>
                </c:pt>
                <c:pt idx="2">
                  <c:v>1.6666666666666667</c:v>
                </c:pt>
                <c:pt idx="3">
                  <c:v>2.3076923076923075</c:v>
                </c:pt>
                <c:pt idx="4">
                  <c:v>2.8571428571428572</c:v>
                </c:pt>
                <c:pt idx="5">
                  <c:v>3.3333333333333335</c:v>
                </c:pt>
                <c:pt idx="6">
                  <c:v>3.7499999999999996</c:v>
                </c:pt>
                <c:pt idx="7">
                  <c:v>4.117647058823529</c:v>
                </c:pt>
                <c:pt idx="8">
                  <c:v>4.4444444444444446</c:v>
                </c:pt>
                <c:pt idx="9">
                  <c:v>4.7368421052631575</c:v>
                </c:pt>
                <c:pt idx="10">
                  <c:v>5</c:v>
                </c:pt>
                <c:pt idx="11">
                  <c:v>5.2380952380952381</c:v>
                </c:pt>
                <c:pt idx="12">
                  <c:v>5.4545454545454541</c:v>
                </c:pt>
                <c:pt idx="13">
                  <c:v>5.6521739130434785</c:v>
                </c:pt>
                <c:pt idx="14">
                  <c:v>5.833333333333333</c:v>
                </c:pt>
                <c:pt idx="15">
                  <c:v>6.0000000000000009</c:v>
                </c:pt>
                <c:pt idx="16">
                  <c:v>6.1538461538461542</c:v>
                </c:pt>
                <c:pt idx="17">
                  <c:v>6.2962962962962958</c:v>
                </c:pt>
                <c:pt idx="18">
                  <c:v>6.4285714285714288</c:v>
                </c:pt>
                <c:pt idx="19">
                  <c:v>6.5517241379310347</c:v>
                </c:pt>
                <c:pt idx="20">
                  <c:v>6.666666666666667</c:v>
                </c:pt>
                <c:pt idx="21">
                  <c:v>6.7741935483870961</c:v>
                </c:pt>
                <c:pt idx="22">
                  <c:v>6.875</c:v>
                </c:pt>
                <c:pt idx="23">
                  <c:v>6.9696969696969697</c:v>
                </c:pt>
                <c:pt idx="24">
                  <c:v>7.0588235294117645</c:v>
                </c:pt>
                <c:pt idx="25">
                  <c:v>7.1428571428571432</c:v>
                </c:pt>
                <c:pt idx="26">
                  <c:v>7.2222222222222223</c:v>
                </c:pt>
                <c:pt idx="27">
                  <c:v>7.2972972972972983</c:v>
                </c:pt>
                <c:pt idx="28">
                  <c:v>7.3684210526315788</c:v>
                </c:pt>
                <c:pt idx="29">
                  <c:v>7.4358974358974361</c:v>
                </c:pt>
                <c:pt idx="30">
                  <c:v>7.5</c:v>
                </c:pt>
                <c:pt idx="31">
                  <c:v>7.5609756097560981</c:v>
                </c:pt>
                <c:pt idx="32">
                  <c:v>7.6190476190476186</c:v>
                </c:pt>
                <c:pt idx="33">
                  <c:v>7.6744186046511631</c:v>
                </c:pt>
                <c:pt idx="34">
                  <c:v>7.7272727272727266</c:v>
                </c:pt>
                <c:pt idx="35">
                  <c:v>7.7777777777777786</c:v>
                </c:pt>
                <c:pt idx="36">
                  <c:v>7.8260869565217401</c:v>
                </c:pt>
                <c:pt idx="37">
                  <c:v>7.8723404255319158</c:v>
                </c:pt>
                <c:pt idx="38">
                  <c:v>7.916666666666667</c:v>
                </c:pt>
                <c:pt idx="39">
                  <c:v>7.9591836734693882</c:v>
                </c:pt>
                <c:pt idx="40">
                  <c:v>8</c:v>
                </c:pt>
                <c:pt idx="41">
                  <c:v>8.0392156862745097</c:v>
                </c:pt>
                <c:pt idx="42">
                  <c:v>8.0769230769230766</c:v>
                </c:pt>
                <c:pt idx="43">
                  <c:v>8.1132075471698109</c:v>
                </c:pt>
                <c:pt idx="44">
                  <c:v>8.1481481481481488</c:v>
                </c:pt>
                <c:pt idx="45">
                  <c:v>8.1818181818181817</c:v>
                </c:pt>
                <c:pt idx="46">
                  <c:v>8.2142857142857135</c:v>
                </c:pt>
                <c:pt idx="47">
                  <c:v>8.2456140350877192</c:v>
                </c:pt>
                <c:pt idx="48">
                  <c:v>8.2758620689655178</c:v>
                </c:pt>
                <c:pt idx="49">
                  <c:v>8.3050847457627111</c:v>
                </c:pt>
                <c:pt idx="50">
                  <c:v>8.3333333333333339</c:v>
                </c:pt>
                <c:pt idx="51">
                  <c:v>8.3606557377049189</c:v>
                </c:pt>
                <c:pt idx="52">
                  <c:v>8.387096774193548</c:v>
                </c:pt>
                <c:pt idx="53">
                  <c:v>8.412698412698413</c:v>
                </c:pt>
                <c:pt idx="54">
                  <c:v>8.4375</c:v>
                </c:pt>
                <c:pt idx="55">
                  <c:v>8.4615384615384617</c:v>
                </c:pt>
                <c:pt idx="56">
                  <c:v>8.4848484848484844</c:v>
                </c:pt>
                <c:pt idx="57">
                  <c:v>8.5074626865671643</c:v>
                </c:pt>
                <c:pt idx="58">
                  <c:v>8.5294117647058822</c:v>
                </c:pt>
                <c:pt idx="59">
                  <c:v>8.5507246376811601</c:v>
                </c:pt>
                <c:pt idx="60">
                  <c:v>8.5714285714285712</c:v>
                </c:pt>
                <c:pt idx="61">
                  <c:v>8.591549295774648</c:v>
                </c:pt>
                <c:pt idx="62">
                  <c:v>8.6111111111111107</c:v>
                </c:pt>
                <c:pt idx="63">
                  <c:v>8.6301369863013715</c:v>
                </c:pt>
                <c:pt idx="64">
                  <c:v>8.6486486486486491</c:v>
                </c:pt>
                <c:pt idx="65">
                  <c:v>8.6666666666666679</c:v>
                </c:pt>
                <c:pt idx="66">
                  <c:v>8.6842105263157894</c:v>
                </c:pt>
                <c:pt idx="67">
                  <c:v>8.7012987012987022</c:v>
                </c:pt>
                <c:pt idx="68">
                  <c:v>8.717948717948719</c:v>
                </c:pt>
                <c:pt idx="69">
                  <c:v>8.7341772151898738</c:v>
                </c:pt>
                <c:pt idx="70">
                  <c:v>8.75</c:v>
                </c:pt>
                <c:pt idx="71">
                  <c:v>8.7654320987654319</c:v>
                </c:pt>
                <c:pt idx="72">
                  <c:v>8.7804878048780495</c:v>
                </c:pt>
                <c:pt idx="73">
                  <c:v>8.7951807228915655</c:v>
                </c:pt>
                <c:pt idx="74">
                  <c:v>8.8095238095238102</c:v>
                </c:pt>
                <c:pt idx="75">
                  <c:v>8.8235294117647065</c:v>
                </c:pt>
                <c:pt idx="76">
                  <c:v>8.8372093023255811</c:v>
                </c:pt>
                <c:pt idx="77">
                  <c:v>8.8505747126436773</c:v>
                </c:pt>
                <c:pt idx="78">
                  <c:v>8.8636363636363633</c:v>
                </c:pt>
                <c:pt idx="79">
                  <c:v>8.8764044943820224</c:v>
                </c:pt>
                <c:pt idx="80">
                  <c:v>8.8888888888888893</c:v>
                </c:pt>
                <c:pt idx="81">
                  <c:v>8.9010989010988997</c:v>
                </c:pt>
                <c:pt idx="82">
                  <c:v>8.9130434782608692</c:v>
                </c:pt>
                <c:pt idx="83">
                  <c:v>8.9247311827956999</c:v>
                </c:pt>
                <c:pt idx="84">
                  <c:v>8.9361702127659566</c:v>
                </c:pt>
                <c:pt idx="85">
                  <c:v>8.9473684210526319</c:v>
                </c:pt>
                <c:pt idx="86">
                  <c:v>8.9583333333333339</c:v>
                </c:pt>
                <c:pt idx="87">
                  <c:v>8.9690721649484537</c:v>
                </c:pt>
                <c:pt idx="88">
                  <c:v>8.979591836734695</c:v>
                </c:pt>
                <c:pt idx="89">
                  <c:v>8.9898989898989896</c:v>
                </c:pt>
                <c:pt idx="90">
                  <c:v>9</c:v>
                </c:pt>
                <c:pt idx="91">
                  <c:v>9.009900990099009</c:v>
                </c:pt>
                <c:pt idx="92">
                  <c:v>9.0196078431372548</c:v>
                </c:pt>
                <c:pt idx="93">
                  <c:v>9.0291262135922334</c:v>
                </c:pt>
                <c:pt idx="94">
                  <c:v>9.0384615384615383</c:v>
                </c:pt>
                <c:pt idx="95">
                  <c:v>9.0476190476190492</c:v>
                </c:pt>
                <c:pt idx="96">
                  <c:v>9.0566037735849054</c:v>
                </c:pt>
                <c:pt idx="97">
                  <c:v>9.065420560747663</c:v>
                </c:pt>
                <c:pt idx="98">
                  <c:v>9.0740740740740744</c:v>
                </c:pt>
                <c:pt idx="99">
                  <c:v>9.0825688073394488</c:v>
                </c:pt>
                <c:pt idx="100">
                  <c:v>9.0909090909090899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D28-47AB-A55C-060115AAC742}"/>
            </c:ext>
          </c:extLst>
        </c:ser>
        <c:ser>
          <c:idx val="1"/>
          <c:order val="1"/>
          <c:tx>
            <c:strRef>
              <c:f>'Michaelis-Menten'!$C$1</c:f>
              <c:strCache>
                <c:ptCount val="1"/>
                <c:pt idx="0">
                  <c:v>Max rate</c:v>
                </c:pt>
              </c:strCache>
            </c:strRef>
          </c:tx>
          <c:spPr>
            <a:ln w="19050" cap="rnd">
              <a:solidFill>
                <a:schemeClr val="tx2"/>
              </a:solidFill>
              <a:prstDash val="sysDot"/>
              <a:round/>
            </a:ln>
            <a:effectLst/>
          </c:spPr>
          <c:marker>
            <c:symbol val="none"/>
          </c:marker>
          <c:xVal>
            <c:numRef>
              <c:f>'Michaelis-Menten'!$A$2:$A$102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'Michaelis-Menten'!$C$2:$C$102</c:f>
              <c:numCache>
                <c:formatCode>General</c:formatCode>
                <c:ptCount val="101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  <c:pt idx="7">
                  <c:v>10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10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10</c:v>
                </c:pt>
                <c:pt idx="16">
                  <c:v>10</c:v>
                </c:pt>
                <c:pt idx="17">
                  <c:v>10</c:v>
                </c:pt>
                <c:pt idx="18">
                  <c:v>10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  <c:pt idx="22">
                  <c:v>10</c:v>
                </c:pt>
                <c:pt idx="23">
                  <c:v>10</c:v>
                </c:pt>
                <c:pt idx="24">
                  <c:v>10</c:v>
                </c:pt>
                <c:pt idx="25">
                  <c:v>10</c:v>
                </c:pt>
                <c:pt idx="26">
                  <c:v>10</c:v>
                </c:pt>
                <c:pt idx="27">
                  <c:v>10</c:v>
                </c:pt>
                <c:pt idx="28">
                  <c:v>10</c:v>
                </c:pt>
                <c:pt idx="29">
                  <c:v>10</c:v>
                </c:pt>
                <c:pt idx="30">
                  <c:v>10</c:v>
                </c:pt>
                <c:pt idx="31">
                  <c:v>10</c:v>
                </c:pt>
                <c:pt idx="32">
                  <c:v>10</c:v>
                </c:pt>
                <c:pt idx="33">
                  <c:v>10</c:v>
                </c:pt>
                <c:pt idx="34">
                  <c:v>10</c:v>
                </c:pt>
                <c:pt idx="35">
                  <c:v>10</c:v>
                </c:pt>
                <c:pt idx="36">
                  <c:v>10</c:v>
                </c:pt>
                <c:pt idx="37">
                  <c:v>10</c:v>
                </c:pt>
                <c:pt idx="38">
                  <c:v>10</c:v>
                </c:pt>
                <c:pt idx="39">
                  <c:v>10</c:v>
                </c:pt>
                <c:pt idx="40">
                  <c:v>10</c:v>
                </c:pt>
                <c:pt idx="41">
                  <c:v>10</c:v>
                </c:pt>
                <c:pt idx="42">
                  <c:v>10</c:v>
                </c:pt>
                <c:pt idx="43">
                  <c:v>10</c:v>
                </c:pt>
                <c:pt idx="44">
                  <c:v>10</c:v>
                </c:pt>
                <c:pt idx="45">
                  <c:v>10</c:v>
                </c:pt>
                <c:pt idx="46">
                  <c:v>10</c:v>
                </c:pt>
                <c:pt idx="47">
                  <c:v>10</c:v>
                </c:pt>
                <c:pt idx="48">
                  <c:v>10</c:v>
                </c:pt>
                <c:pt idx="49">
                  <c:v>10</c:v>
                </c:pt>
                <c:pt idx="50">
                  <c:v>10</c:v>
                </c:pt>
                <c:pt idx="51">
                  <c:v>10</c:v>
                </c:pt>
                <c:pt idx="52">
                  <c:v>10</c:v>
                </c:pt>
                <c:pt idx="53">
                  <c:v>10</c:v>
                </c:pt>
                <c:pt idx="54">
                  <c:v>10</c:v>
                </c:pt>
                <c:pt idx="55">
                  <c:v>10</c:v>
                </c:pt>
                <c:pt idx="56">
                  <c:v>10</c:v>
                </c:pt>
                <c:pt idx="57">
                  <c:v>10</c:v>
                </c:pt>
                <c:pt idx="58">
                  <c:v>10</c:v>
                </c:pt>
                <c:pt idx="59">
                  <c:v>10</c:v>
                </c:pt>
                <c:pt idx="60">
                  <c:v>10</c:v>
                </c:pt>
                <c:pt idx="61">
                  <c:v>10</c:v>
                </c:pt>
                <c:pt idx="62">
                  <c:v>10</c:v>
                </c:pt>
                <c:pt idx="63">
                  <c:v>10</c:v>
                </c:pt>
                <c:pt idx="64">
                  <c:v>10</c:v>
                </c:pt>
                <c:pt idx="65">
                  <c:v>10</c:v>
                </c:pt>
                <c:pt idx="66">
                  <c:v>10</c:v>
                </c:pt>
                <c:pt idx="67">
                  <c:v>10</c:v>
                </c:pt>
                <c:pt idx="68">
                  <c:v>10</c:v>
                </c:pt>
                <c:pt idx="69">
                  <c:v>10</c:v>
                </c:pt>
                <c:pt idx="70">
                  <c:v>10</c:v>
                </c:pt>
                <c:pt idx="71">
                  <c:v>10</c:v>
                </c:pt>
                <c:pt idx="72">
                  <c:v>10</c:v>
                </c:pt>
                <c:pt idx="73">
                  <c:v>10</c:v>
                </c:pt>
                <c:pt idx="74">
                  <c:v>10</c:v>
                </c:pt>
                <c:pt idx="75">
                  <c:v>10</c:v>
                </c:pt>
                <c:pt idx="76">
                  <c:v>10</c:v>
                </c:pt>
                <c:pt idx="77">
                  <c:v>10</c:v>
                </c:pt>
                <c:pt idx="78">
                  <c:v>10</c:v>
                </c:pt>
                <c:pt idx="79">
                  <c:v>10</c:v>
                </c:pt>
                <c:pt idx="80">
                  <c:v>10</c:v>
                </c:pt>
                <c:pt idx="81">
                  <c:v>10</c:v>
                </c:pt>
                <c:pt idx="82">
                  <c:v>10</c:v>
                </c:pt>
                <c:pt idx="83">
                  <c:v>10</c:v>
                </c:pt>
                <c:pt idx="84">
                  <c:v>10</c:v>
                </c:pt>
                <c:pt idx="85">
                  <c:v>10</c:v>
                </c:pt>
                <c:pt idx="86">
                  <c:v>10</c:v>
                </c:pt>
                <c:pt idx="87">
                  <c:v>10</c:v>
                </c:pt>
                <c:pt idx="88">
                  <c:v>10</c:v>
                </c:pt>
                <c:pt idx="89">
                  <c:v>10</c:v>
                </c:pt>
                <c:pt idx="90">
                  <c:v>10</c:v>
                </c:pt>
                <c:pt idx="91">
                  <c:v>10</c:v>
                </c:pt>
                <c:pt idx="92">
                  <c:v>10</c:v>
                </c:pt>
                <c:pt idx="93">
                  <c:v>10</c:v>
                </c:pt>
                <c:pt idx="94">
                  <c:v>10</c:v>
                </c:pt>
                <c:pt idx="95">
                  <c:v>10</c:v>
                </c:pt>
                <c:pt idx="96">
                  <c:v>10</c:v>
                </c:pt>
                <c:pt idx="97">
                  <c:v>10</c:v>
                </c:pt>
                <c:pt idx="98">
                  <c:v>10</c:v>
                </c:pt>
                <c:pt idx="99">
                  <c:v>10</c:v>
                </c:pt>
                <c:pt idx="100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D28-47AB-A55C-060115AAC742}"/>
            </c:ext>
          </c:extLst>
        </c:ser>
        <c:ser>
          <c:idx val="2"/>
          <c:order val="2"/>
          <c:tx>
            <c:strRef>
              <c:f>'Michaelis-Menten'!$D$1</c:f>
              <c:strCache>
                <c:ptCount val="1"/>
                <c:pt idx="0">
                  <c:v>Max rate/2</c:v>
                </c:pt>
              </c:strCache>
            </c:strRef>
          </c:tx>
          <c:spPr>
            <a:ln w="19050" cap="rnd">
              <a:solidFill>
                <a:schemeClr val="accent3"/>
              </a:solidFill>
              <a:prstDash val="sysDot"/>
              <a:round/>
            </a:ln>
            <a:effectLst/>
          </c:spPr>
          <c:marker>
            <c:symbol val="none"/>
          </c:marker>
          <c:xVal>
            <c:numRef>
              <c:f>'Michaelis-Menten'!$A$2:$A$102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'Michaelis-Menten'!$D$2:$D$102</c:f>
              <c:numCache>
                <c:formatCode>General</c:formatCode>
                <c:ptCount val="101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5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  <c:pt idx="15">
                  <c:v>5</c:v>
                </c:pt>
                <c:pt idx="16">
                  <c:v>5</c:v>
                </c:pt>
                <c:pt idx="17">
                  <c:v>5</c:v>
                </c:pt>
                <c:pt idx="18">
                  <c:v>5</c:v>
                </c:pt>
                <c:pt idx="19">
                  <c:v>5</c:v>
                </c:pt>
                <c:pt idx="20">
                  <c:v>5</c:v>
                </c:pt>
                <c:pt idx="21">
                  <c:v>5</c:v>
                </c:pt>
                <c:pt idx="22">
                  <c:v>5</c:v>
                </c:pt>
                <c:pt idx="23">
                  <c:v>5</c:v>
                </c:pt>
                <c:pt idx="24">
                  <c:v>5</c:v>
                </c:pt>
                <c:pt idx="25">
                  <c:v>5</c:v>
                </c:pt>
                <c:pt idx="26">
                  <c:v>5</c:v>
                </c:pt>
                <c:pt idx="27">
                  <c:v>5</c:v>
                </c:pt>
                <c:pt idx="28">
                  <c:v>5</c:v>
                </c:pt>
                <c:pt idx="29">
                  <c:v>5</c:v>
                </c:pt>
                <c:pt idx="30">
                  <c:v>5</c:v>
                </c:pt>
                <c:pt idx="31">
                  <c:v>5</c:v>
                </c:pt>
                <c:pt idx="32">
                  <c:v>5</c:v>
                </c:pt>
                <c:pt idx="33">
                  <c:v>5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5</c:v>
                </c:pt>
                <c:pt idx="38">
                  <c:v>5</c:v>
                </c:pt>
                <c:pt idx="39">
                  <c:v>5</c:v>
                </c:pt>
                <c:pt idx="40">
                  <c:v>5</c:v>
                </c:pt>
                <c:pt idx="41">
                  <c:v>5</c:v>
                </c:pt>
                <c:pt idx="42">
                  <c:v>5</c:v>
                </c:pt>
                <c:pt idx="43">
                  <c:v>5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</c:v>
                </c:pt>
                <c:pt idx="48">
                  <c:v>5</c:v>
                </c:pt>
                <c:pt idx="49">
                  <c:v>5</c:v>
                </c:pt>
                <c:pt idx="50">
                  <c:v>5</c:v>
                </c:pt>
                <c:pt idx="51">
                  <c:v>5</c:v>
                </c:pt>
                <c:pt idx="52">
                  <c:v>5</c:v>
                </c:pt>
                <c:pt idx="53">
                  <c:v>5</c:v>
                </c:pt>
                <c:pt idx="54">
                  <c:v>5</c:v>
                </c:pt>
                <c:pt idx="55">
                  <c:v>5</c:v>
                </c:pt>
                <c:pt idx="56">
                  <c:v>5</c:v>
                </c:pt>
                <c:pt idx="57">
                  <c:v>5</c:v>
                </c:pt>
                <c:pt idx="58">
                  <c:v>5</c:v>
                </c:pt>
                <c:pt idx="59">
                  <c:v>5</c:v>
                </c:pt>
                <c:pt idx="60">
                  <c:v>5</c:v>
                </c:pt>
                <c:pt idx="61">
                  <c:v>5</c:v>
                </c:pt>
                <c:pt idx="62">
                  <c:v>5</c:v>
                </c:pt>
                <c:pt idx="63">
                  <c:v>5</c:v>
                </c:pt>
                <c:pt idx="64">
                  <c:v>5</c:v>
                </c:pt>
                <c:pt idx="65">
                  <c:v>5</c:v>
                </c:pt>
                <c:pt idx="66">
                  <c:v>5</c:v>
                </c:pt>
                <c:pt idx="67">
                  <c:v>5</c:v>
                </c:pt>
                <c:pt idx="68">
                  <c:v>5</c:v>
                </c:pt>
                <c:pt idx="69">
                  <c:v>5</c:v>
                </c:pt>
                <c:pt idx="70">
                  <c:v>5</c:v>
                </c:pt>
                <c:pt idx="71">
                  <c:v>5</c:v>
                </c:pt>
                <c:pt idx="72">
                  <c:v>5</c:v>
                </c:pt>
                <c:pt idx="73">
                  <c:v>5</c:v>
                </c:pt>
                <c:pt idx="74">
                  <c:v>5</c:v>
                </c:pt>
                <c:pt idx="75">
                  <c:v>5</c:v>
                </c:pt>
                <c:pt idx="76">
                  <c:v>5</c:v>
                </c:pt>
                <c:pt idx="77">
                  <c:v>5</c:v>
                </c:pt>
                <c:pt idx="78">
                  <c:v>5</c:v>
                </c:pt>
                <c:pt idx="79">
                  <c:v>5</c:v>
                </c:pt>
                <c:pt idx="80">
                  <c:v>5</c:v>
                </c:pt>
                <c:pt idx="81">
                  <c:v>5</c:v>
                </c:pt>
                <c:pt idx="82">
                  <c:v>5</c:v>
                </c:pt>
                <c:pt idx="83">
                  <c:v>5</c:v>
                </c:pt>
                <c:pt idx="84">
                  <c:v>5</c:v>
                </c:pt>
                <c:pt idx="85">
                  <c:v>5</c:v>
                </c:pt>
                <c:pt idx="86">
                  <c:v>5</c:v>
                </c:pt>
                <c:pt idx="87">
                  <c:v>5</c:v>
                </c:pt>
                <c:pt idx="88">
                  <c:v>5</c:v>
                </c:pt>
                <c:pt idx="89">
                  <c:v>5</c:v>
                </c:pt>
                <c:pt idx="90">
                  <c:v>5</c:v>
                </c:pt>
                <c:pt idx="91">
                  <c:v>5</c:v>
                </c:pt>
                <c:pt idx="92">
                  <c:v>5</c:v>
                </c:pt>
                <c:pt idx="93">
                  <c:v>5</c:v>
                </c:pt>
                <c:pt idx="94">
                  <c:v>5</c:v>
                </c:pt>
                <c:pt idx="95">
                  <c:v>5</c:v>
                </c:pt>
                <c:pt idx="96">
                  <c:v>5</c:v>
                </c:pt>
                <c:pt idx="97">
                  <c:v>5</c:v>
                </c:pt>
                <c:pt idx="98">
                  <c:v>5</c:v>
                </c:pt>
                <c:pt idx="99">
                  <c:v>5</c:v>
                </c:pt>
                <c:pt idx="100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D28-47AB-A55C-060115AAC742}"/>
            </c:ext>
          </c:extLst>
        </c:ser>
        <c:ser>
          <c:idx val="3"/>
          <c:order val="3"/>
          <c:tx>
            <c:v>Line</c:v>
          </c:tx>
          <c:spPr>
            <a:ln w="19050" cap="rnd">
              <a:solidFill>
                <a:schemeClr val="tx1">
                  <a:lumMod val="50000"/>
                  <a:lumOff val="50000"/>
                </a:schemeClr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'Michaelis-Menten'!$I$1:$I$2</c:f>
              <c:numCache>
                <c:formatCode>General</c:formatCode>
                <c:ptCount val="2"/>
                <c:pt idx="0">
                  <c:v>10</c:v>
                </c:pt>
                <c:pt idx="1">
                  <c:v>10</c:v>
                </c:pt>
              </c:numCache>
            </c:numRef>
          </c:xVal>
          <c:yVal>
            <c:numRef>
              <c:f>'Michaelis-Menten'!$J$1:$J$2</c:f>
              <c:numCache>
                <c:formatCode>General</c:formatCode>
                <c:ptCount val="2"/>
                <c:pt idx="0">
                  <c:v>0</c:v>
                </c:pt>
                <c:pt idx="1">
                  <c:v>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1D28-47AB-A55C-060115AAC7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25001552"/>
        <c:axId val="525001224"/>
      </c:scatterChart>
      <c:valAx>
        <c:axId val="525001552"/>
        <c:scaling>
          <c:orientation val="minMax"/>
          <c:max val="100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525001224"/>
        <c:crosses val="autoZero"/>
        <c:crossBetween val="midCat"/>
      </c:valAx>
      <c:valAx>
        <c:axId val="525001224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2500155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'Lineweaver-Burk'!$B$1</c:f>
              <c:strCache>
                <c:ptCount val="1"/>
                <c:pt idx="0">
                  <c:v>1/Rate</c:v>
                </c:pt>
              </c:strCache>
            </c:strRef>
          </c:tx>
          <c:spPr>
            <a:ln w="19050" cap="rnd">
              <a:solidFill>
                <a:schemeClr val="tx1"/>
              </a:solidFill>
              <a:prstDash val="dash"/>
              <a:round/>
            </a:ln>
            <a:effectLst/>
          </c:spPr>
          <c:marker>
            <c:symbol val="none"/>
          </c:marker>
          <c:xVal>
            <c:numRef>
              <c:f>'Lineweaver-Burk'!$A$2:$A$110</c:f>
              <c:numCache>
                <c:formatCode>General</c:formatCode>
                <c:ptCount val="109"/>
                <c:pt idx="0">
                  <c:v>-2</c:v>
                </c:pt>
                <c:pt idx="1">
                  <c:v>-1.9</c:v>
                </c:pt>
                <c:pt idx="2">
                  <c:v>-1.8</c:v>
                </c:pt>
                <c:pt idx="3">
                  <c:v>-1.7</c:v>
                </c:pt>
                <c:pt idx="4">
                  <c:v>-1.6</c:v>
                </c:pt>
                <c:pt idx="5">
                  <c:v>-1.5</c:v>
                </c:pt>
                <c:pt idx="6">
                  <c:v>-1.4</c:v>
                </c:pt>
                <c:pt idx="7">
                  <c:v>-1.3</c:v>
                </c:pt>
                <c:pt idx="8">
                  <c:v>-1.2</c:v>
                </c:pt>
                <c:pt idx="9">
                  <c:v>-1.1000000000000001</c:v>
                </c:pt>
                <c:pt idx="10">
                  <c:v>-1</c:v>
                </c:pt>
                <c:pt idx="11">
                  <c:v>-0.9</c:v>
                </c:pt>
                <c:pt idx="12">
                  <c:v>-0.8</c:v>
                </c:pt>
                <c:pt idx="13">
                  <c:v>-0.7</c:v>
                </c:pt>
                <c:pt idx="14">
                  <c:v>-0.6</c:v>
                </c:pt>
                <c:pt idx="15">
                  <c:v>-0.5</c:v>
                </c:pt>
                <c:pt idx="16">
                  <c:v>-0.4</c:v>
                </c:pt>
                <c:pt idx="17">
                  <c:v>-0.3</c:v>
                </c:pt>
                <c:pt idx="18">
                  <c:v>-0.2</c:v>
                </c:pt>
                <c:pt idx="19">
                  <c:v>-0.1</c:v>
                </c:pt>
                <c:pt idx="20">
                  <c:v>0</c:v>
                </c:pt>
                <c:pt idx="21">
                  <c:v>0.1</c:v>
                </c:pt>
                <c:pt idx="22">
                  <c:v>0.2</c:v>
                </c:pt>
                <c:pt idx="23">
                  <c:v>0.3</c:v>
                </c:pt>
                <c:pt idx="24">
                  <c:v>0.4</c:v>
                </c:pt>
                <c:pt idx="25">
                  <c:v>0.5</c:v>
                </c:pt>
                <c:pt idx="26">
                  <c:v>0.6</c:v>
                </c:pt>
                <c:pt idx="27">
                  <c:v>0.7</c:v>
                </c:pt>
                <c:pt idx="28">
                  <c:v>0.8</c:v>
                </c:pt>
                <c:pt idx="29">
                  <c:v>0.9</c:v>
                </c:pt>
                <c:pt idx="30">
                  <c:v>1</c:v>
                </c:pt>
                <c:pt idx="31">
                  <c:v>1.1000000000000001</c:v>
                </c:pt>
                <c:pt idx="32">
                  <c:v>1.2</c:v>
                </c:pt>
                <c:pt idx="33">
                  <c:v>1.3</c:v>
                </c:pt>
                <c:pt idx="34">
                  <c:v>1.4</c:v>
                </c:pt>
                <c:pt idx="35">
                  <c:v>1.5</c:v>
                </c:pt>
                <c:pt idx="36">
                  <c:v>1.6</c:v>
                </c:pt>
                <c:pt idx="37">
                  <c:v>1.7</c:v>
                </c:pt>
                <c:pt idx="38">
                  <c:v>1.8</c:v>
                </c:pt>
                <c:pt idx="39">
                  <c:v>1.9</c:v>
                </c:pt>
                <c:pt idx="40">
                  <c:v>2</c:v>
                </c:pt>
                <c:pt idx="41">
                  <c:v>2.1</c:v>
                </c:pt>
                <c:pt idx="42">
                  <c:v>2.2000000000000002</c:v>
                </c:pt>
                <c:pt idx="43">
                  <c:v>2.2999999999999998</c:v>
                </c:pt>
                <c:pt idx="44">
                  <c:v>2.4</c:v>
                </c:pt>
                <c:pt idx="45">
                  <c:v>2.5</c:v>
                </c:pt>
                <c:pt idx="46">
                  <c:v>2.6</c:v>
                </c:pt>
                <c:pt idx="47">
                  <c:v>2.7</c:v>
                </c:pt>
                <c:pt idx="48">
                  <c:v>2.8</c:v>
                </c:pt>
                <c:pt idx="49">
                  <c:v>2.9</c:v>
                </c:pt>
                <c:pt idx="50">
                  <c:v>3</c:v>
                </c:pt>
                <c:pt idx="51">
                  <c:v>3.1</c:v>
                </c:pt>
                <c:pt idx="52">
                  <c:v>3.2</c:v>
                </c:pt>
                <c:pt idx="53">
                  <c:v>3.3</c:v>
                </c:pt>
                <c:pt idx="54">
                  <c:v>3.4</c:v>
                </c:pt>
                <c:pt idx="55">
                  <c:v>3.5000000000000102</c:v>
                </c:pt>
                <c:pt idx="56">
                  <c:v>3.6</c:v>
                </c:pt>
                <c:pt idx="57">
                  <c:v>3.7</c:v>
                </c:pt>
                <c:pt idx="58">
                  <c:v>3.80000000000001</c:v>
                </c:pt>
                <c:pt idx="59">
                  <c:v>3.9000000000000101</c:v>
                </c:pt>
                <c:pt idx="60">
                  <c:v>4.0000000000000098</c:v>
                </c:pt>
                <c:pt idx="61">
                  <c:v>4.0999999999999996</c:v>
                </c:pt>
                <c:pt idx="62">
                  <c:v>4.2000000000000099</c:v>
                </c:pt>
                <c:pt idx="63">
                  <c:v>4.3000000000000096</c:v>
                </c:pt>
                <c:pt idx="64">
                  <c:v>4.4000000000000101</c:v>
                </c:pt>
                <c:pt idx="65">
                  <c:v>4.5000000000000098</c:v>
                </c:pt>
                <c:pt idx="66">
                  <c:v>4.6000000000000103</c:v>
                </c:pt>
                <c:pt idx="67">
                  <c:v>4.7000000000000099</c:v>
                </c:pt>
                <c:pt idx="68">
                  <c:v>4.8000000000000096</c:v>
                </c:pt>
                <c:pt idx="69">
                  <c:v>4.9000000000000101</c:v>
                </c:pt>
                <c:pt idx="70">
                  <c:v>5.0000000000000098</c:v>
                </c:pt>
                <c:pt idx="71">
                  <c:v>5.1000000000000103</c:v>
                </c:pt>
                <c:pt idx="72">
                  <c:v>5.2000000000000099</c:v>
                </c:pt>
                <c:pt idx="73">
                  <c:v>5.3000000000000096</c:v>
                </c:pt>
                <c:pt idx="74">
                  <c:v>5.4000000000000101</c:v>
                </c:pt>
                <c:pt idx="75">
                  <c:v>5.5000000000000098</c:v>
                </c:pt>
                <c:pt idx="76">
                  <c:v>5.6000000000000103</c:v>
                </c:pt>
                <c:pt idx="77">
                  <c:v>5.7000000000000099</c:v>
                </c:pt>
                <c:pt idx="78">
                  <c:v>5.8000000000000096</c:v>
                </c:pt>
                <c:pt idx="79">
                  <c:v>5.9000000000000101</c:v>
                </c:pt>
                <c:pt idx="80">
                  <c:v>6.0000000000000098</c:v>
                </c:pt>
                <c:pt idx="81">
                  <c:v>6.1000000000000103</c:v>
                </c:pt>
                <c:pt idx="82">
                  <c:v>6.2000000000000099</c:v>
                </c:pt>
                <c:pt idx="83">
                  <c:v>6.3000000000000096</c:v>
                </c:pt>
                <c:pt idx="84">
                  <c:v>6.4000000000000101</c:v>
                </c:pt>
                <c:pt idx="85">
                  <c:v>6.5000000000000098</c:v>
                </c:pt>
                <c:pt idx="86">
                  <c:v>6.6000000000000103</c:v>
                </c:pt>
                <c:pt idx="87">
                  <c:v>6.7000000000000099</c:v>
                </c:pt>
                <c:pt idx="88">
                  <c:v>6.8000000000000096</c:v>
                </c:pt>
                <c:pt idx="89">
                  <c:v>6.9000000000000101</c:v>
                </c:pt>
                <c:pt idx="90">
                  <c:v>7.0000000000000098</c:v>
                </c:pt>
                <c:pt idx="91">
                  <c:v>7.1000000000000103</c:v>
                </c:pt>
                <c:pt idx="92">
                  <c:v>7.2000000000000099</c:v>
                </c:pt>
                <c:pt idx="93">
                  <c:v>7.3000000000000096</c:v>
                </c:pt>
                <c:pt idx="94">
                  <c:v>7.4000000000000101</c:v>
                </c:pt>
                <c:pt idx="95">
                  <c:v>7.5000000000000098</c:v>
                </c:pt>
                <c:pt idx="96">
                  <c:v>7.6000000000000103</c:v>
                </c:pt>
                <c:pt idx="97">
                  <c:v>7.7000000000000099</c:v>
                </c:pt>
                <c:pt idx="98">
                  <c:v>7.8000000000000096</c:v>
                </c:pt>
                <c:pt idx="99">
                  <c:v>7.9000000000000101</c:v>
                </c:pt>
                <c:pt idx="100">
                  <c:v>8</c:v>
                </c:pt>
                <c:pt idx="101">
                  <c:v>8.1</c:v>
                </c:pt>
                <c:pt idx="102">
                  <c:v>8.1999999999999993</c:v>
                </c:pt>
                <c:pt idx="103">
                  <c:v>8.3000000000000007</c:v>
                </c:pt>
                <c:pt idx="104">
                  <c:v>8.4</c:v>
                </c:pt>
                <c:pt idx="105">
                  <c:v>8.5</c:v>
                </c:pt>
              </c:numCache>
            </c:numRef>
          </c:xVal>
          <c:yVal>
            <c:numRef>
              <c:f>'Lineweaver-Burk'!$B$2:$B$110</c:f>
              <c:numCache>
                <c:formatCode>General</c:formatCode>
                <c:ptCount val="109"/>
                <c:pt idx="0">
                  <c:v>-0.1</c:v>
                </c:pt>
                <c:pt idx="1">
                  <c:v>-0.09</c:v>
                </c:pt>
                <c:pt idx="2">
                  <c:v>-8.0000000000000016E-2</c:v>
                </c:pt>
                <c:pt idx="3">
                  <c:v>-7.0000000000000007E-2</c:v>
                </c:pt>
                <c:pt idx="4">
                  <c:v>-6.0000000000000026E-2</c:v>
                </c:pt>
                <c:pt idx="5">
                  <c:v>-5.0000000000000017E-2</c:v>
                </c:pt>
                <c:pt idx="6">
                  <c:v>-3.999999999999998E-2</c:v>
                </c:pt>
                <c:pt idx="7">
                  <c:v>-0.03</c:v>
                </c:pt>
                <c:pt idx="8">
                  <c:v>-1.999999999999999E-2</c:v>
                </c:pt>
                <c:pt idx="9">
                  <c:v>-1.0000000000000009E-2</c:v>
                </c:pt>
                <c:pt idx="10">
                  <c:v>0</c:v>
                </c:pt>
                <c:pt idx="11">
                  <c:v>9.999999999999995E-3</c:v>
                </c:pt>
                <c:pt idx="12">
                  <c:v>1.999999999999999E-2</c:v>
                </c:pt>
                <c:pt idx="13">
                  <c:v>3.0000000000000013E-2</c:v>
                </c:pt>
                <c:pt idx="14">
                  <c:v>4.0000000000000008E-2</c:v>
                </c:pt>
                <c:pt idx="15">
                  <c:v>0.05</c:v>
                </c:pt>
                <c:pt idx="16">
                  <c:v>0.06</c:v>
                </c:pt>
                <c:pt idx="17">
                  <c:v>7.0000000000000007E-2</c:v>
                </c:pt>
                <c:pt idx="18">
                  <c:v>0.08</c:v>
                </c:pt>
                <c:pt idx="19">
                  <c:v>0.09</c:v>
                </c:pt>
                <c:pt idx="20">
                  <c:v>0.1</c:v>
                </c:pt>
                <c:pt idx="21">
                  <c:v>0.11000000000000001</c:v>
                </c:pt>
                <c:pt idx="22">
                  <c:v>0.12000000000000001</c:v>
                </c:pt>
                <c:pt idx="23">
                  <c:v>0.13</c:v>
                </c:pt>
                <c:pt idx="24">
                  <c:v>0.14000000000000001</c:v>
                </c:pt>
                <c:pt idx="25">
                  <c:v>0.15000000000000002</c:v>
                </c:pt>
                <c:pt idx="26">
                  <c:v>0.16</c:v>
                </c:pt>
                <c:pt idx="27">
                  <c:v>0.16999999999999998</c:v>
                </c:pt>
                <c:pt idx="28">
                  <c:v>0.18000000000000002</c:v>
                </c:pt>
                <c:pt idx="29">
                  <c:v>0.19</c:v>
                </c:pt>
                <c:pt idx="30">
                  <c:v>0.2</c:v>
                </c:pt>
                <c:pt idx="31">
                  <c:v>0.21000000000000002</c:v>
                </c:pt>
                <c:pt idx="32">
                  <c:v>0.22</c:v>
                </c:pt>
                <c:pt idx="33">
                  <c:v>0.23</c:v>
                </c:pt>
                <c:pt idx="34">
                  <c:v>0.24</c:v>
                </c:pt>
                <c:pt idx="35">
                  <c:v>0.25</c:v>
                </c:pt>
                <c:pt idx="36">
                  <c:v>0.26</c:v>
                </c:pt>
                <c:pt idx="37">
                  <c:v>0.27</c:v>
                </c:pt>
                <c:pt idx="38">
                  <c:v>0.28000000000000003</c:v>
                </c:pt>
                <c:pt idx="39">
                  <c:v>0.29000000000000004</c:v>
                </c:pt>
                <c:pt idx="40">
                  <c:v>0.30000000000000004</c:v>
                </c:pt>
                <c:pt idx="41">
                  <c:v>0.31000000000000005</c:v>
                </c:pt>
                <c:pt idx="42">
                  <c:v>0.32000000000000006</c:v>
                </c:pt>
                <c:pt idx="43">
                  <c:v>0.32999999999999996</c:v>
                </c:pt>
                <c:pt idx="44">
                  <c:v>0.33999999999999997</c:v>
                </c:pt>
                <c:pt idx="45">
                  <c:v>0.35</c:v>
                </c:pt>
                <c:pt idx="46">
                  <c:v>0.36</c:v>
                </c:pt>
                <c:pt idx="47">
                  <c:v>0.37</c:v>
                </c:pt>
                <c:pt idx="48">
                  <c:v>0.38</c:v>
                </c:pt>
                <c:pt idx="49">
                  <c:v>0.39</c:v>
                </c:pt>
                <c:pt idx="50">
                  <c:v>0.4</c:v>
                </c:pt>
                <c:pt idx="51">
                  <c:v>0.41000000000000003</c:v>
                </c:pt>
                <c:pt idx="52">
                  <c:v>0.42000000000000004</c:v>
                </c:pt>
                <c:pt idx="53">
                  <c:v>0.43000000000000005</c:v>
                </c:pt>
                <c:pt idx="54">
                  <c:v>0.44000000000000006</c:v>
                </c:pt>
                <c:pt idx="55">
                  <c:v>0.45000000000000107</c:v>
                </c:pt>
                <c:pt idx="56">
                  <c:v>0.46000000000000008</c:v>
                </c:pt>
                <c:pt idx="57">
                  <c:v>0.47000000000000008</c:v>
                </c:pt>
                <c:pt idx="58">
                  <c:v>0.48000000000000098</c:v>
                </c:pt>
                <c:pt idx="59">
                  <c:v>0.49000000000000099</c:v>
                </c:pt>
                <c:pt idx="60">
                  <c:v>0.500000000000001</c:v>
                </c:pt>
                <c:pt idx="61">
                  <c:v>0.51</c:v>
                </c:pt>
                <c:pt idx="62">
                  <c:v>0.52000000000000102</c:v>
                </c:pt>
                <c:pt idx="63">
                  <c:v>0.53000000000000103</c:v>
                </c:pt>
                <c:pt idx="64">
                  <c:v>0.54000000000000103</c:v>
                </c:pt>
                <c:pt idx="65">
                  <c:v>0.55000000000000104</c:v>
                </c:pt>
                <c:pt idx="66">
                  <c:v>0.56000000000000105</c:v>
                </c:pt>
                <c:pt idx="67">
                  <c:v>0.57000000000000106</c:v>
                </c:pt>
                <c:pt idx="68">
                  <c:v>0.58000000000000096</c:v>
                </c:pt>
                <c:pt idx="69">
                  <c:v>0.59000000000000108</c:v>
                </c:pt>
                <c:pt idx="70">
                  <c:v>0.60000000000000098</c:v>
                </c:pt>
                <c:pt idx="71">
                  <c:v>0.61000000000000099</c:v>
                </c:pt>
                <c:pt idx="72">
                  <c:v>0.62000000000000099</c:v>
                </c:pt>
                <c:pt idx="73">
                  <c:v>0.630000000000001</c:v>
                </c:pt>
                <c:pt idx="74">
                  <c:v>0.64000000000000101</c:v>
                </c:pt>
                <c:pt idx="75">
                  <c:v>0.65000000000000102</c:v>
                </c:pt>
                <c:pt idx="76">
                  <c:v>0.66000000000000103</c:v>
                </c:pt>
                <c:pt idx="77">
                  <c:v>0.67000000000000104</c:v>
                </c:pt>
                <c:pt idx="78">
                  <c:v>0.68000000000000094</c:v>
                </c:pt>
                <c:pt idx="79">
                  <c:v>0.69000000000000106</c:v>
                </c:pt>
                <c:pt idx="80">
                  <c:v>0.70000000000000095</c:v>
                </c:pt>
                <c:pt idx="81">
                  <c:v>0.71000000000000107</c:v>
                </c:pt>
                <c:pt idx="82">
                  <c:v>0.72000000000000097</c:v>
                </c:pt>
                <c:pt idx="83">
                  <c:v>0.73000000000000098</c:v>
                </c:pt>
                <c:pt idx="84">
                  <c:v>0.74000000000000099</c:v>
                </c:pt>
                <c:pt idx="85">
                  <c:v>0.750000000000001</c:v>
                </c:pt>
                <c:pt idx="86">
                  <c:v>0.76000000000000101</c:v>
                </c:pt>
                <c:pt idx="87">
                  <c:v>0.77000000000000102</c:v>
                </c:pt>
                <c:pt idx="88">
                  <c:v>0.78000000000000103</c:v>
                </c:pt>
                <c:pt idx="89">
                  <c:v>0.79000000000000103</c:v>
                </c:pt>
                <c:pt idx="90">
                  <c:v>0.80000000000000104</c:v>
                </c:pt>
                <c:pt idx="91">
                  <c:v>0.81000000000000105</c:v>
                </c:pt>
                <c:pt idx="92">
                  <c:v>0.82000000000000106</c:v>
                </c:pt>
                <c:pt idx="93">
                  <c:v>0.83000000000000096</c:v>
                </c:pt>
                <c:pt idx="94">
                  <c:v>0.84000000000000108</c:v>
                </c:pt>
                <c:pt idx="95">
                  <c:v>0.85000000000000098</c:v>
                </c:pt>
                <c:pt idx="96">
                  <c:v>0.8600000000000011</c:v>
                </c:pt>
                <c:pt idx="97">
                  <c:v>0.87000000000000099</c:v>
                </c:pt>
                <c:pt idx="98">
                  <c:v>0.880000000000001</c:v>
                </c:pt>
                <c:pt idx="99">
                  <c:v>0.89000000000000101</c:v>
                </c:pt>
                <c:pt idx="100">
                  <c:v>0.9</c:v>
                </c:pt>
                <c:pt idx="101">
                  <c:v>0.91</c:v>
                </c:pt>
                <c:pt idx="102">
                  <c:v>0.91999999999999993</c:v>
                </c:pt>
                <c:pt idx="103">
                  <c:v>0.93</c:v>
                </c:pt>
                <c:pt idx="104">
                  <c:v>0.94000000000000006</c:v>
                </c:pt>
                <c:pt idx="105">
                  <c:v>0.95000000000000007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F13-4DE3-B9FA-487BB295AC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25002208"/>
        <c:axId val="525003192"/>
      </c:scatterChart>
      <c:valAx>
        <c:axId val="525002208"/>
        <c:scaling>
          <c:orientation val="minMax"/>
          <c:max val="4"/>
          <c:min val="-2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one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5003192"/>
        <c:crosses val="autoZero"/>
        <c:crossBetween val="midCat"/>
      </c:valAx>
      <c:valAx>
        <c:axId val="525003192"/>
        <c:scaling>
          <c:orientation val="minMax"/>
          <c:max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one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500220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ctr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14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2554"/>
            <a:ext cx="3076587" cy="51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14" y="9722554"/>
            <a:ext cx="3076587" cy="51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bg1"/>
                </a:solidFill>
              </a:defRPr>
            </a:lvl1pPr>
          </a:lstStyle>
          <a:p>
            <a:fld id="{DC1C926E-E5D6-49FD-80FB-3D308DC41FF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2984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037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GB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596" y="4862101"/>
            <a:ext cx="5680111" cy="4605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0907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037" y="9720907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600D5460-E14D-44CF-821C-69F40963C65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3285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6763"/>
            <a:ext cx="5118100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645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D3A694-178D-4CC9-A5AF-34B51CDBC302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525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4644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135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821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7699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23582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821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6706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617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3304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21555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0118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4836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244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78071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8547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71197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4749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2047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2504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66412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3287B1-9EAC-465F-9121-74C0868E4940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42811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51418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55700" y="685800"/>
            <a:ext cx="4562475" cy="34210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306B94-FA16-43AF-BA50-676A171EC07E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571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Rectangle 41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pic>
        <p:nvPicPr>
          <p:cNvPr id="3111" name="Picture 39" descr="Device-bla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1" y="438150"/>
            <a:ext cx="1184275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755650" y="2987675"/>
            <a:ext cx="7920038" cy="2387600"/>
          </a:xfrm>
        </p:spPr>
        <p:txBody>
          <a:bodyPr wrap="square"/>
          <a:lstStyle>
            <a:lvl1pPr>
              <a:lnSpc>
                <a:spcPct val="90000"/>
              </a:lnSpc>
              <a:tabLst>
                <a:tab pos="4038600" algn="l"/>
              </a:tabLst>
              <a:defRPr sz="8200"/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755650" y="5373688"/>
            <a:ext cx="7920038" cy="925512"/>
          </a:xfrm>
        </p:spPr>
        <p:txBody>
          <a:bodyPr/>
          <a:lstStyle>
            <a:lvl1pPr marL="0" indent="0">
              <a:buFontTx/>
              <a:buNone/>
              <a:defRPr sz="36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55651" y="6519863"/>
            <a:ext cx="1773238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901E09E9-B828-4F07-8691-56061D7C279E}" type="datetime4">
              <a:rPr lang="en-GB"/>
              <a:pPr/>
              <a:t>10 February 2026</a:t>
            </a:fld>
            <a:endParaRPr lang="en-GB"/>
          </a:p>
        </p:txBody>
      </p:sp>
      <p:sp>
        <p:nvSpPr>
          <p:cNvPr id="3090" name="Rectangle 18"/>
          <p:cNvSpPr>
            <a:spLocks noChangeArrowheads="1"/>
          </p:cNvSpPr>
          <p:nvPr/>
        </p:nvSpPr>
        <p:spPr bwMode="auto">
          <a:xfrm>
            <a:off x="2555876" y="6519863"/>
            <a:ext cx="43926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© University of Reading 2008</a:t>
            </a:r>
          </a:p>
        </p:txBody>
      </p:sp>
      <p:sp>
        <p:nvSpPr>
          <p:cNvPr id="3091" name="Text Box 19"/>
          <p:cNvSpPr txBox="1">
            <a:spLocks noChangeArrowheads="1"/>
          </p:cNvSpPr>
          <p:nvPr/>
        </p:nvSpPr>
        <p:spPr bwMode="auto">
          <a:xfrm>
            <a:off x="5292725" y="6519863"/>
            <a:ext cx="34464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GB" sz="1400" b="1">
                <a:solidFill>
                  <a:schemeClr val="tx2"/>
                </a:solidFill>
              </a:rPr>
              <a:t>www.reading.ac.uk</a:t>
            </a:r>
          </a:p>
        </p:txBody>
      </p:sp>
      <p:sp>
        <p:nvSpPr>
          <p:cNvPr id="3108" name="Rectangle 36"/>
          <p:cNvSpPr>
            <a:spLocks noChangeArrowheads="1"/>
          </p:cNvSpPr>
          <p:nvPr/>
        </p:nvSpPr>
        <p:spPr bwMode="hidden">
          <a:xfrm>
            <a:off x="6588126" y="2"/>
            <a:ext cx="2555875" cy="1196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 sz="2400"/>
          </a:p>
        </p:txBody>
      </p:sp>
      <p:sp>
        <p:nvSpPr>
          <p:cNvPr id="3110" name="Text Box 38"/>
          <p:cNvSpPr txBox="1">
            <a:spLocks noChangeArrowheads="1"/>
          </p:cNvSpPr>
          <p:nvPr/>
        </p:nvSpPr>
        <p:spPr bwMode="auto">
          <a:xfrm>
            <a:off x="855664" y="333375"/>
            <a:ext cx="367188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300" b="1"/>
              <a:t>Go to View &gt; Master &gt; Slide Master </a:t>
            </a:r>
            <a:br>
              <a:rPr lang="en-GB" sz="1300" b="1"/>
            </a:br>
            <a:r>
              <a:rPr lang="en-GB" sz="1300" b="1"/>
              <a:t>to put your unit name here</a:t>
            </a:r>
          </a:p>
        </p:txBody>
      </p:sp>
      <p:pic>
        <p:nvPicPr>
          <p:cNvPr id="3107" name="Picture 35" descr="Device-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1" y="438150"/>
            <a:ext cx="1184275" cy="387350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3114" name="Picture 42" descr="powerpoint-imag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89" y="981077"/>
            <a:ext cx="5346700" cy="194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41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sz="2400"/>
          </a:p>
        </p:txBody>
      </p:sp>
      <p:pic>
        <p:nvPicPr>
          <p:cNvPr id="14" name="Picture 39" descr="Device-black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751" y="438150"/>
            <a:ext cx="1184275" cy="387350"/>
          </a:xfrm>
          <a:prstGeom prst="rect">
            <a:avLst/>
          </a:prstGeom>
          <a:noFill/>
        </p:spPr>
      </p:pic>
      <p:pic>
        <p:nvPicPr>
          <p:cNvPr id="15" name="Picture 42" descr="powerpoint-images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54089" y="981077"/>
            <a:ext cx="5346700" cy="194627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9D1556-5B33-4675-B4F7-DF410413AB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12036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A0146E-E93F-40FA-95C0-5D26FF87133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42907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600200"/>
            <a:ext cx="38893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7426" y="1600200"/>
            <a:ext cx="38893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7953796-1D7D-417A-8CFA-8A437F7CE2F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00308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80D11D-4F9A-40E8-A8A2-19DCF54851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687266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BBB062-E9BC-46FC-A221-AD28C64C617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43751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B36FD51-1015-4304-9645-AC62F2AE25B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3859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398DC1-42D3-4E19-9786-FDC6B5B993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13775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7C4F427-71DA-42BF-9A23-26EEB255A74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60868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55E386-501C-4B8D-95FE-5F35F50D7F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65532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4014" y="274638"/>
            <a:ext cx="1982787" cy="5668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274638"/>
            <a:ext cx="5795963" cy="5668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5D204FA-AD45-4274-8CB5-C19925E50E4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34144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9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1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90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90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1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1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1"/>
          </a:xfrm>
        </p:spPr>
        <p:txBody>
          <a:bodyPr/>
          <a:lstStyle>
            <a:lvl1pPr>
              <a:defRPr/>
            </a:lvl1pPr>
          </a:lstStyle>
          <a:p>
            <a:fld id="{CC4A5DE5-2D53-46CC-BAE5-9137F327DB48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2122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1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90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1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1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1"/>
          </a:xfrm>
        </p:spPr>
        <p:txBody>
          <a:bodyPr/>
          <a:lstStyle>
            <a:lvl1pPr>
              <a:defRPr/>
            </a:lvl1pPr>
          </a:lstStyle>
          <a:p>
            <a:fld id="{E26FBF9F-3FA1-4110-9D81-46FF769CC8A2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23533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9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1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1"/>
          </a:xfrm>
        </p:spPr>
        <p:txBody>
          <a:bodyPr/>
          <a:lstStyle>
            <a:lvl1pPr>
              <a:defRPr/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1"/>
          </a:xfrm>
        </p:spPr>
        <p:txBody>
          <a:bodyPr/>
          <a:lstStyle>
            <a:lvl1pPr>
              <a:defRPr/>
            </a:lvl1pPr>
          </a:lstStyle>
          <a:p>
            <a:fld id="{18240430-3C7F-4343-AECE-EB9DAD737683}" type="slidenum">
              <a:rPr lang="en-US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529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Picture 53" descr="Device-black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1" y="438150"/>
            <a:ext cx="1184275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5651" y="274638"/>
            <a:ext cx="619283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600200"/>
            <a:ext cx="793115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16888" y="6281738"/>
            <a:ext cx="6762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2000"/>
            </a:lvl1pPr>
          </a:lstStyle>
          <a:p>
            <a:fld id="{B840E540-F2F8-41E1-849D-65A0688D08A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755651" y="6519863"/>
            <a:ext cx="63373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400"/>
          </a:p>
        </p:txBody>
      </p:sp>
      <p:pic>
        <p:nvPicPr>
          <p:cNvPr id="1074" name="Picture 50" descr="Device-wine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1" y="438152"/>
            <a:ext cx="1184275" cy="385763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1079" name="Picture 55" descr="Device-white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1" y="438150"/>
            <a:ext cx="1184275" cy="387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ransition>
    <p:fade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9pPr>
    </p:titleStyle>
    <p:bodyStyle>
      <a:lvl1pPr marL="342900" indent="-34290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openxmlformats.org/officeDocument/2006/relationships/chart" Target="../charts/char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8.bin"/><Relationship Id="rId18" Type="http://schemas.openxmlformats.org/officeDocument/2006/relationships/image" Target="../media/image16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10.bin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5.w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14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21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14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22.wmf"/><Relationship Id="rId9" Type="http://schemas.openxmlformats.org/officeDocument/2006/relationships/image" Target="../media/image25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6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29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CH2PH2: </a:t>
            </a:r>
            <a:br>
              <a:rPr lang="en-US" sz="4800" dirty="0"/>
            </a:br>
            <a:r>
              <a:rPr lang="en-US" sz="4800" dirty="0"/>
              <a:t>Chemical Kinetics</a:t>
            </a:r>
            <a:br>
              <a:rPr lang="en-US" sz="4800" dirty="0"/>
            </a:br>
            <a:endParaRPr lang="en-US" sz="4800" dirty="0"/>
          </a:p>
        </p:txBody>
      </p:sp>
      <p:sp>
        <p:nvSpPr>
          <p:cNvPr id="534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55576" y="5004175"/>
            <a:ext cx="7920038" cy="925512"/>
          </a:xfrm>
        </p:spPr>
        <p:txBody>
          <a:bodyPr/>
          <a:lstStyle/>
          <a:p>
            <a:r>
              <a:rPr lang="en-US"/>
              <a:t>Dr. James Hallett</a:t>
            </a:r>
          </a:p>
          <a:p>
            <a:r>
              <a:rPr lang="en-US"/>
              <a:t>j.e.hallett@reading.ac.uk</a:t>
            </a:r>
          </a:p>
        </p:txBody>
      </p:sp>
    </p:spTree>
    <p:extLst>
      <p:ext uri="{BB962C8B-B14F-4D97-AF65-F5344CB8AC3E}">
        <p14:creationId xmlns:p14="http://schemas.microsoft.com/office/powerpoint/2010/main" val="1137376584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Lecture 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ea typeface="+mn-lt"/>
                <a:cs typeface="+mn-lt"/>
              </a:rPr>
              <a:t>CH2PH2 Chemical Kinetics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21969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C512F1-5723-4497-8889-95957093E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michaelis-menten</a:t>
            </a:r>
            <a:r>
              <a:rPr lang="en-GB"/>
              <a:t> kinetics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5F7582-9250-4EC0-896B-861E054A1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847995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Michaelis-Menten</a:t>
            </a:r>
            <a:r>
              <a:rPr lang="en-GB"/>
              <a:t> Kinetics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881590" y="1452069"/>
            <a:ext cx="4127788" cy="2948765"/>
          </a:xfrm>
        </p:spPr>
        <p:txBody>
          <a:bodyPr>
            <a:normAutofit fontScale="77500" lnSpcReduction="20000"/>
          </a:bodyPr>
          <a:lstStyle/>
          <a:p>
            <a:r>
              <a:rPr lang="en-GB"/>
              <a:t>Well-known scheme for enzyme catalysis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/>
              <a:t>	</a:t>
            </a:r>
          </a:p>
        </p:txBody>
      </p:sp>
      <p:pic>
        <p:nvPicPr>
          <p:cNvPr id="14" name="Content Placeholder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6066" y="1808821"/>
            <a:ext cx="1151550" cy="177966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205" y="1808821"/>
            <a:ext cx="1087651" cy="17796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071465" y="3588488"/>
            <a:ext cx="143661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/>
              <a:t>Leonor </a:t>
            </a:r>
            <a:r>
              <a:rPr lang="en-GB" sz="1350" err="1"/>
              <a:t>Michaelis</a:t>
            </a:r>
            <a:endParaRPr lang="en-GB" sz="1350"/>
          </a:p>
        </p:txBody>
      </p:sp>
      <p:sp>
        <p:nvSpPr>
          <p:cNvPr id="17" name="TextBox 16"/>
          <p:cNvSpPr txBox="1"/>
          <p:nvPr/>
        </p:nvSpPr>
        <p:spPr>
          <a:xfrm>
            <a:off x="6408204" y="3583120"/>
            <a:ext cx="121597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/>
              <a:t>Maud </a:t>
            </a:r>
            <a:r>
              <a:rPr lang="en-GB" sz="1350" err="1"/>
              <a:t>Menten</a:t>
            </a:r>
            <a:endParaRPr lang="en-GB" sz="1350"/>
          </a:p>
        </p:txBody>
      </p:sp>
      <p:grpSp>
        <p:nvGrpSpPr>
          <p:cNvPr id="43" name="Group 42"/>
          <p:cNvGrpSpPr/>
          <p:nvPr/>
        </p:nvGrpSpPr>
        <p:grpSpPr>
          <a:xfrm>
            <a:off x="881590" y="2078851"/>
            <a:ext cx="4196411" cy="2079822"/>
            <a:chOff x="155569" y="2750257"/>
            <a:chExt cx="5043364" cy="2197030"/>
          </a:xfrm>
        </p:grpSpPr>
        <p:grpSp>
          <p:nvGrpSpPr>
            <p:cNvPr id="18" name="Group 21"/>
            <p:cNvGrpSpPr>
              <a:grpSpLocks/>
            </p:cNvGrpSpPr>
            <p:nvPr/>
          </p:nvGrpSpPr>
          <p:grpSpPr bwMode="auto">
            <a:xfrm>
              <a:off x="834510" y="2750257"/>
              <a:ext cx="4029076" cy="914401"/>
              <a:chOff x="867" y="1816"/>
              <a:chExt cx="2538" cy="576"/>
            </a:xfrm>
          </p:grpSpPr>
          <p:sp>
            <p:nvSpPr>
              <p:cNvPr id="19" name="Text Box 4"/>
              <p:cNvSpPr txBox="1">
                <a:spLocks noChangeArrowheads="1"/>
              </p:cNvSpPr>
              <p:nvPr/>
            </p:nvSpPr>
            <p:spPr bwMode="auto">
              <a:xfrm>
                <a:off x="867" y="1949"/>
                <a:ext cx="612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2100">
                    <a:solidFill>
                      <a:prstClr val="black"/>
                    </a:solidFill>
                  </a:rPr>
                  <a:t>E + S</a:t>
                </a:r>
                <a:endParaRPr lang="en-US" sz="2100" baseline="30000">
                  <a:solidFill>
                    <a:prstClr val="black"/>
                  </a:solidFill>
                </a:endParaRPr>
              </a:p>
            </p:txBody>
          </p:sp>
          <p:sp>
            <p:nvSpPr>
              <p:cNvPr id="20" name="Text Box 5"/>
              <p:cNvSpPr txBox="1">
                <a:spLocks noChangeArrowheads="1"/>
              </p:cNvSpPr>
              <p:nvPr/>
            </p:nvSpPr>
            <p:spPr bwMode="auto">
              <a:xfrm>
                <a:off x="1961" y="1921"/>
                <a:ext cx="373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2100">
                    <a:solidFill>
                      <a:prstClr val="black"/>
                    </a:solidFill>
                  </a:rPr>
                  <a:t>ES</a:t>
                </a:r>
                <a:endParaRPr lang="en-US" sz="2100" baseline="30000">
                  <a:solidFill>
                    <a:prstClr val="black"/>
                  </a:solidFill>
                </a:endParaRPr>
              </a:p>
            </p:txBody>
          </p:sp>
          <p:sp>
            <p:nvSpPr>
              <p:cNvPr id="21" name="Text Box 7"/>
              <p:cNvSpPr txBox="1">
                <a:spLocks noChangeArrowheads="1"/>
              </p:cNvSpPr>
              <p:nvPr/>
            </p:nvSpPr>
            <p:spPr bwMode="auto">
              <a:xfrm>
                <a:off x="2791" y="1936"/>
                <a:ext cx="614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2100">
                    <a:solidFill>
                      <a:prstClr val="black"/>
                    </a:solidFill>
                  </a:rPr>
                  <a:t>E + P</a:t>
                </a:r>
                <a:endParaRPr lang="en-US" sz="2100" baseline="30000">
                  <a:solidFill>
                    <a:prstClr val="black"/>
                  </a:solidFill>
                </a:endParaRPr>
              </a:p>
            </p:txBody>
          </p:sp>
          <p:grpSp>
            <p:nvGrpSpPr>
              <p:cNvPr id="22" name="Group 11"/>
              <p:cNvGrpSpPr>
                <a:grpSpLocks/>
              </p:cNvGrpSpPr>
              <p:nvPr/>
            </p:nvGrpSpPr>
            <p:grpSpPr bwMode="auto">
              <a:xfrm>
                <a:off x="1456" y="2086"/>
                <a:ext cx="462" cy="51"/>
                <a:chOff x="1199" y="3160"/>
                <a:chExt cx="462" cy="51"/>
              </a:xfrm>
            </p:grpSpPr>
            <p:sp>
              <p:nvSpPr>
                <p:cNvPr id="27" name="Line 8"/>
                <p:cNvSpPr>
                  <a:spLocks noChangeShapeType="1"/>
                </p:cNvSpPr>
                <p:nvPr/>
              </p:nvSpPr>
              <p:spPr bwMode="auto">
                <a:xfrm>
                  <a:off x="1199" y="3160"/>
                  <a:ext cx="46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 sz="1350"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28" name="Line 9"/>
                <p:cNvSpPr>
                  <a:spLocks noChangeShapeType="1"/>
                </p:cNvSpPr>
                <p:nvPr/>
              </p:nvSpPr>
              <p:spPr bwMode="auto">
                <a:xfrm flipH="1">
                  <a:off x="1199" y="3211"/>
                  <a:ext cx="46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</p:spPr>
              <p:txBody>
                <a:bodyPr/>
                <a:lstStyle/>
                <a:p>
                  <a:endParaRPr lang="en-US" sz="1350"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23" name="Line 10"/>
              <p:cNvSpPr>
                <a:spLocks noChangeShapeType="1"/>
              </p:cNvSpPr>
              <p:nvPr/>
            </p:nvSpPr>
            <p:spPr bwMode="auto">
              <a:xfrm>
                <a:off x="2300" y="2100"/>
                <a:ext cx="4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en-US" sz="1350">
                  <a:solidFill>
                    <a:prstClr val="black"/>
                  </a:solidFill>
                </a:endParaRPr>
              </a:p>
            </p:txBody>
          </p:sp>
          <p:sp>
            <p:nvSpPr>
              <p:cNvPr id="24" name="Rectangle 12"/>
              <p:cNvSpPr>
                <a:spLocks noChangeArrowheads="1"/>
              </p:cNvSpPr>
              <p:nvPr/>
            </p:nvSpPr>
            <p:spPr bwMode="auto">
              <a:xfrm>
                <a:off x="1561" y="1816"/>
                <a:ext cx="247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1350" i="1" err="1">
                    <a:solidFill>
                      <a:prstClr val="black"/>
                    </a:solidFill>
                    <a:latin typeface="Times" pitchFamily="18" charset="0"/>
                  </a:rPr>
                  <a:t>k</a:t>
                </a:r>
                <a:r>
                  <a:rPr lang="en-GB" sz="1350" i="1" baseline="-25000" err="1">
                    <a:solidFill>
                      <a:prstClr val="black"/>
                    </a:solidFill>
                    <a:latin typeface="Times" pitchFamily="18" charset="0"/>
                  </a:rPr>
                  <a:t>f</a:t>
                </a:r>
                <a:endParaRPr lang="en-US" sz="1350" i="1" baseline="-25000">
                  <a:solidFill>
                    <a:prstClr val="black"/>
                  </a:solidFill>
                  <a:latin typeface="Times" pitchFamily="18" charset="0"/>
                </a:endParaRPr>
              </a:p>
            </p:txBody>
          </p:sp>
          <p:sp>
            <p:nvSpPr>
              <p:cNvPr id="25" name="Rectangle 13"/>
              <p:cNvSpPr>
                <a:spLocks noChangeArrowheads="1"/>
              </p:cNvSpPr>
              <p:nvPr/>
            </p:nvSpPr>
            <p:spPr bwMode="auto">
              <a:xfrm>
                <a:off x="2414" y="1866"/>
                <a:ext cx="263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1350" i="1">
                    <a:solidFill>
                      <a:prstClr val="black"/>
                    </a:solidFill>
                    <a:latin typeface="Times" pitchFamily="18" charset="0"/>
                  </a:rPr>
                  <a:t>k</a:t>
                </a:r>
                <a:r>
                  <a:rPr lang="en-GB" sz="1350" i="1" baseline="-25000">
                    <a:solidFill>
                      <a:prstClr val="black"/>
                    </a:solidFill>
                    <a:latin typeface="Times" pitchFamily="18" charset="0"/>
                  </a:rPr>
                  <a:t>c</a:t>
                </a:r>
                <a:endParaRPr lang="en-US" sz="1350" i="1" baseline="-25000">
                  <a:solidFill>
                    <a:prstClr val="black"/>
                  </a:solidFill>
                  <a:latin typeface="Times" pitchFamily="18" charset="0"/>
                </a:endParaRPr>
              </a:p>
            </p:txBody>
          </p:sp>
          <p:sp>
            <p:nvSpPr>
              <p:cNvPr id="26" name="Rectangle 14"/>
              <p:cNvSpPr>
                <a:spLocks noChangeArrowheads="1"/>
              </p:cNvSpPr>
              <p:nvPr/>
            </p:nvSpPr>
            <p:spPr bwMode="auto">
              <a:xfrm>
                <a:off x="1561" y="2140"/>
                <a:ext cx="268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1350" i="1">
                    <a:solidFill>
                      <a:prstClr val="black"/>
                    </a:solidFill>
                    <a:latin typeface="Times" pitchFamily="18" charset="0"/>
                  </a:rPr>
                  <a:t>k</a:t>
                </a:r>
                <a:r>
                  <a:rPr lang="en-GB" sz="1350" i="1" baseline="-25000">
                    <a:solidFill>
                      <a:prstClr val="black"/>
                    </a:solidFill>
                    <a:latin typeface="Times" pitchFamily="18" charset="0"/>
                  </a:rPr>
                  <a:t>b</a:t>
                </a:r>
                <a:endParaRPr lang="en-US" sz="1350" i="1" baseline="-25000">
                  <a:solidFill>
                    <a:prstClr val="black"/>
                  </a:solidFill>
                  <a:latin typeface="Times" pitchFamily="18" charset="0"/>
                </a:endParaRPr>
              </a:p>
            </p:txBody>
          </p:sp>
        </p:grpSp>
        <p:cxnSp>
          <p:nvCxnSpPr>
            <p:cNvPr id="30" name="Straight Arrow Connector 29"/>
            <p:cNvCxnSpPr/>
            <p:nvPr/>
          </p:nvCxnSpPr>
          <p:spPr>
            <a:xfrm flipV="1">
              <a:off x="611560" y="3485269"/>
              <a:ext cx="360040" cy="807827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155569" y="4293095"/>
              <a:ext cx="1004976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350"/>
                <a:t>Enzyme</a:t>
              </a:r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 flipH="1" flipV="1">
              <a:off x="1523541" y="3485270"/>
              <a:ext cx="81612" cy="37577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1065389" y="3889182"/>
              <a:ext cx="1184513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350"/>
                <a:t>Substrate</a:t>
              </a:r>
            </a:p>
          </p:txBody>
        </p:sp>
        <p:cxnSp>
          <p:nvCxnSpPr>
            <p:cNvPr id="34" name="Straight Arrow Connector 33"/>
            <p:cNvCxnSpPr>
              <a:stCxn id="35" idx="0"/>
            </p:cNvCxnSpPr>
            <p:nvPr/>
          </p:nvCxnSpPr>
          <p:spPr>
            <a:xfrm flipH="1" flipV="1">
              <a:off x="2797932" y="3481263"/>
              <a:ext cx="72663" cy="7889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1860060" y="4270179"/>
              <a:ext cx="2021068" cy="677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350"/>
                <a:t>Enzyme-Substrate</a:t>
              </a:r>
            </a:p>
            <a:p>
              <a:pPr algn="ctr"/>
              <a:r>
                <a:rPr lang="en-GB" sz="1350"/>
                <a:t>Complex</a:t>
              </a:r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H="1" flipV="1">
              <a:off x="4568769" y="3479226"/>
              <a:ext cx="3231" cy="52460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4076061" y="3971801"/>
              <a:ext cx="1122872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350"/>
                <a:t>Products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881591" y="4193102"/>
                <a:ext cx="6859884" cy="2421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14313" indent="-214313">
                  <a:buFont typeface="Arial" panose="020B0604020202020204" pitchFamily="34" charset="0"/>
                  <a:buChar char="•"/>
                </a:pPr>
                <a:r>
                  <a:rPr lang="en-GB" sz="1900"/>
                  <a:t>Rate of formation of products </a:t>
                </a:r>
                <a14:m>
                  <m:oMath xmlns:m="http://schemas.openxmlformats.org/officeDocument/2006/math">
                    <m:r>
                      <a:rPr lang="en-GB" sz="19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9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sz="19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sz="19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sz="1900" i="1">
                        <a:latin typeface="Cambria Math" panose="02040503050406030204" pitchFamily="18" charset="0"/>
                      </a:rPr>
                      <m:t>𝐸𝑆</m:t>
                    </m:r>
                    <m:r>
                      <a:rPr lang="en-GB" sz="19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1900"/>
              </a:p>
              <a:p>
                <a:pPr marL="214313" indent="-214313">
                  <a:buFont typeface="Arial" panose="020B0604020202020204" pitchFamily="34" charset="0"/>
                  <a:buChar char="•"/>
                </a:pPr>
                <a:r>
                  <a:rPr lang="en-GB" sz="1900"/>
                  <a:t>At steady-state,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9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1900" i="1">
                            <a:latin typeface="Cambria Math" panose="02040503050406030204" pitchFamily="18" charset="0"/>
                          </a:rPr>
                          <m:t>𝐸𝑆</m:t>
                        </m:r>
                        <m:r>
                          <a:rPr lang="en-GB" sz="190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GB" sz="1900" i="1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  <m:r>
                      <a:rPr lang="en-GB" sz="19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9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19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lang="en-GB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9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  <m:r>
                          <a:rPr lang="en-GB" sz="19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19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GB" sz="1900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b>
                          <m:sSubPr>
                            <m:ctrlPr>
                              <a:rPr lang="en-GB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9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19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GB" sz="19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9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19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</m:oMath>
                </a14:m>
                <a:r>
                  <a:rPr lang="en-GB" sz="1900"/>
                  <a:t>    (you should work through this!)</a:t>
                </a:r>
              </a:p>
              <a:p>
                <a:pPr marL="214313" indent="-214313">
                  <a:buFont typeface="Arial" panose="020B0604020202020204" pitchFamily="34" charset="0"/>
                  <a:buChar char="•"/>
                </a:pPr>
                <a:r>
                  <a:rPr lang="en-GB" sz="1900"/>
                  <a:t>Define the </a:t>
                </a:r>
                <a:r>
                  <a:rPr lang="en-GB" sz="1900" err="1"/>
                  <a:t>Michaelis</a:t>
                </a:r>
                <a:r>
                  <a:rPr lang="en-GB" sz="1900"/>
                  <a:t> constant,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9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GB" sz="190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GB" sz="19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9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19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GB" sz="19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9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19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9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sz="19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den>
                    </m:f>
                  </m:oMath>
                </a14:m>
                <a:endParaRPr lang="en-GB" sz="1900"/>
              </a:p>
              <a:p>
                <a:pPr marL="214313" indent="-214313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9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1900" i="1">
                            <a:latin typeface="Cambria Math" panose="02040503050406030204" pitchFamily="18" charset="0"/>
                          </a:rPr>
                          <m:t>𝐸𝑆</m:t>
                        </m:r>
                        <m:r>
                          <a:rPr lang="en-GB" sz="190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GB" sz="1900" i="1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  <m:r>
                      <a:rPr lang="en-GB" sz="19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["/>
                            <m:endChr m:val="]"/>
                            <m:ctrlPr>
                              <a:rPr lang="en-GB" sz="1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900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  <m:r>
                          <a:rPr lang="en-GB" sz="19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19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GB" sz="1900" i="1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b>
                          <m:sSubPr>
                            <m:ctrlPr>
                              <a:rPr lang="en-GB" sz="19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90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sz="1900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</m:den>
                    </m:f>
                  </m:oMath>
                </a14:m>
                <a:endParaRPr lang="en-GB" sz="1900"/>
              </a:p>
              <a:p>
                <a:pPr marL="214313" indent="-214313">
                  <a:buFont typeface="Arial" panose="020B0604020202020204" pitchFamily="34" charset="0"/>
                  <a:buChar char="•"/>
                </a:pPr>
                <a:endParaRPr lang="en-GB" sz="190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91" y="4193102"/>
                <a:ext cx="6859884" cy="2421176"/>
              </a:xfrm>
              <a:prstGeom prst="rect">
                <a:avLst/>
              </a:prstGeom>
              <a:blipFill>
                <a:blip r:embed="rId5"/>
                <a:stretch>
                  <a:fillRect l="-711" t="-1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55325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Michaelis-Menten</a:t>
            </a:r>
            <a:r>
              <a:rPr lang="en-GB"/>
              <a:t> Kinetics (</a:t>
            </a:r>
            <a:r>
              <a:rPr lang="en-GB" err="1"/>
              <a:t>cont</a:t>
            </a:r>
            <a:r>
              <a:rPr lang="en-GB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016605" y="1566364"/>
                <a:ext cx="6318702" cy="8098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𝐸𝑆</m:t>
                              </m:r>
                            </m:e>
                          </m:d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𝐸𝑆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𝐸𝑆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605" y="1566364"/>
                <a:ext cx="6318702" cy="8098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691680" y="2450462"/>
                <a:ext cx="394243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/>
                  <a:t>Since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−[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𝐸𝑆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2450462"/>
                <a:ext cx="3942438" cy="461665"/>
              </a:xfrm>
              <a:prstGeom prst="rect">
                <a:avLst/>
              </a:prstGeom>
              <a:blipFill>
                <a:blip r:embed="rId4"/>
                <a:stretch>
                  <a:fillRect l="-2477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728573" y="3248730"/>
                <a:ext cx="8820980" cy="49128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/>
                  <a:t>We have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0=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𝐸𝑆</m:t>
                            </m:r>
                          </m:e>
                        </m:d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𝐸𝑆</m:t>
                            </m:r>
                          </m:e>
                        </m:d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𝐸𝑆</m:t>
                            </m:r>
                          </m:e>
                        </m:d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</m:oMath>
                </a14:m>
                <a:endParaRPr lang="en-GB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573" y="3248730"/>
                <a:ext cx="8820980" cy="491288"/>
              </a:xfrm>
              <a:prstGeom prst="rect">
                <a:avLst/>
              </a:prstGeom>
              <a:blipFill>
                <a:blip r:embed="rId5"/>
                <a:stretch>
                  <a:fillRect l="-1106" t="-9877" b="-209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182201" y="4040748"/>
                <a:ext cx="7650850" cy="75270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/>
                  <a:t>R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earranging</m:t>
                    </m:r>
                    <m:r>
                      <a:rPr lang="en-GB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we</m:t>
                    </m:r>
                    <m:r>
                      <a:rPr lang="en-GB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have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𝐸𝑆</m:t>
                            </m:r>
                          </m:e>
                        </m:d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d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GB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i="1" dirty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d>
                          </m:e>
                          <m:sub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d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d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b>
                          <m:sSubPr>
                            <m:ctrlPr>
                              <a:rPr lang="en-GB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GB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i="1" dirty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d>
                          </m:e>
                          <m:sub>
                            <m:r>
                              <a:rPr lang="en-GB" i="1" dirty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</m:d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GB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201" y="4040748"/>
                <a:ext cx="7650850" cy="752707"/>
              </a:xfrm>
              <a:prstGeom prst="rect">
                <a:avLst/>
              </a:prstGeom>
              <a:blipFill>
                <a:blip r:embed="rId6"/>
                <a:stretch>
                  <a:fillRect l="-12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906815" y="5017465"/>
                <a:ext cx="6642738" cy="10511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/>
                  <a:t>Overall rate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𝐸𝑆</m:t>
                            </m:r>
                          </m:e>
                        </m:d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𝑠𝑠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type m:val="lin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  <m:sub>
                                <m:r>
                                  <a:rPr lang="en-GB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den>
                        </m:f>
                      </m:den>
                    </m:f>
                  </m:oMath>
                </a14:m>
                <a:r>
                  <a:rPr lang="en-GB"/>
                  <a:t>   </a:t>
                </a:r>
              </a:p>
              <a:p>
                <a:r>
                  <a:rPr lang="en-GB"/>
                  <a:t> (</a:t>
                </a:r>
                <a:r>
                  <a:rPr lang="en-GB" err="1"/>
                  <a:t>Michaelis-Menten</a:t>
                </a:r>
                <a:r>
                  <a:rPr lang="en-GB"/>
                  <a:t> Equation)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815" y="5017465"/>
                <a:ext cx="6642738" cy="1051122"/>
              </a:xfrm>
              <a:prstGeom prst="rect">
                <a:avLst/>
              </a:prstGeom>
              <a:blipFill>
                <a:blip r:embed="rId7"/>
                <a:stretch>
                  <a:fillRect l="-1468" b="-12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085203F-BA2E-7330-98C9-7382D69C1EDF}"/>
                  </a:ext>
                </a:extLst>
              </p:cNvPr>
              <p:cNvSpPr/>
              <p:nvPr/>
            </p:nvSpPr>
            <p:spPr>
              <a:xfrm>
                <a:off x="199854" y="5094185"/>
                <a:ext cx="2047548" cy="89768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E085203F-BA2E-7330-98C9-7382D69C1E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54" y="5094185"/>
                <a:ext cx="2047548" cy="89768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21285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err="1"/>
              <a:t>Michaelis-Menten</a:t>
            </a:r>
            <a:r>
              <a:rPr lang="en-GB"/>
              <a:t>: Limiting Cases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half" idx="1"/>
              </p:nvPr>
            </p:nvSpPr>
            <p:spPr>
              <a:xfrm>
                <a:off x="310603" y="2859442"/>
                <a:ext cx="3279192" cy="2346908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≪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GB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>
                          <a:latin typeface="Cambria Math" panose="02040503050406030204" pitchFamily="18" charset="0"/>
                        </a:rPr>
                        <m:t>Rate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10603" y="2859442"/>
                <a:ext cx="3279192" cy="234690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sz="half" idx="2"/>
              </p:nvPr>
            </p:nvSpPr>
            <p:spPr>
              <a:xfrm>
                <a:off x="6248246" y="2675002"/>
                <a:ext cx="3143250" cy="23469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≫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GB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>
                          <a:latin typeface="Cambria Math" panose="02040503050406030204" pitchFamily="18" charset="0"/>
                        </a:rPr>
                        <m:t>Rate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Rate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248246" y="2675002"/>
                <a:ext cx="3143250" cy="2346908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488628" y="1835312"/>
                <a:ext cx="2884187" cy="8628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>
                          <a:latin typeface="Cambria Math" panose="02040503050406030204" pitchFamily="18" charset="0"/>
                        </a:rPr>
                        <m:t>Rate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type m:val="lin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28" y="1835312"/>
                <a:ext cx="2884187" cy="8628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>
            <a:cxnSpLocks/>
          </p:cNvCxnSpPr>
          <p:nvPr/>
        </p:nvCxnSpPr>
        <p:spPr>
          <a:xfrm flipH="1">
            <a:off x="3629232" y="2736770"/>
            <a:ext cx="1158739" cy="439095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399419" y="2777959"/>
            <a:ext cx="864096" cy="406481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43603" y="4819754"/>
            <a:ext cx="72487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err="1"/>
              <a:t>Rate</a:t>
            </a:r>
            <a:r>
              <a:rPr lang="en-GB" sz="1350" baseline="-25000" err="1"/>
              <a:t>max</a:t>
            </a:r>
            <a:endParaRPr lang="en-GB" sz="1350" baseline="-25000"/>
          </a:p>
        </p:txBody>
      </p:sp>
      <p:sp>
        <p:nvSpPr>
          <p:cNvPr id="17" name="TextBox 16"/>
          <p:cNvSpPr txBox="1"/>
          <p:nvPr/>
        </p:nvSpPr>
        <p:spPr>
          <a:xfrm>
            <a:off x="5943604" y="5508173"/>
            <a:ext cx="100380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/>
              <a:t>(</a:t>
            </a:r>
            <a:r>
              <a:rPr lang="en-GB" sz="1350" err="1"/>
              <a:t>Rate</a:t>
            </a:r>
            <a:r>
              <a:rPr lang="en-GB" sz="1350" baseline="-25000" err="1"/>
              <a:t>max</a:t>
            </a:r>
            <a:r>
              <a:rPr lang="en-GB" sz="1350"/>
              <a:t>)/2</a:t>
            </a:r>
            <a:endParaRPr lang="en-GB" sz="1350" baseline="-25000"/>
          </a:p>
        </p:txBody>
      </p:sp>
      <p:graphicFrame>
        <p:nvGraphicFramePr>
          <p:cNvPr id="24" name="Chart 2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5799290"/>
              </p:ext>
            </p:extLst>
          </p:nvPr>
        </p:nvGraphicFramePr>
        <p:xfrm>
          <a:off x="2914653" y="4617669"/>
          <a:ext cx="3172662" cy="18208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154303" y="6307660"/>
            <a:ext cx="37863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/>
              <a:t>K</a:t>
            </a:r>
            <a:r>
              <a:rPr lang="en-GB" sz="1350" baseline="-25000"/>
              <a:t>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54861" y="6307660"/>
            <a:ext cx="450764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/>
              <a:t>[S]</a:t>
            </a:r>
            <a:r>
              <a:rPr lang="en-GB" sz="1350" baseline="-25000"/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 rot="16200000">
            <a:off x="2638777" y="5130113"/>
            <a:ext cx="51648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/>
              <a:t>Rate</a:t>
            </a:r>
            <a:endParaRPr lang="en-GB" sz="1350" baseline="-25000"/>
          </a:p>
        </p:txBody>
      </p:sp>
    </p:spTree>
    <p:extLst>
      <p:ext uri="{BB962C8B-B14F-4D97-AF65-F5344CB8AC3E}">
        <p14:creationId xmlns:p14="http://schemas.microsoft.com/office/powerpoint/2010/main" val="36196372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  <p:bldP spid="16" grpId="0"/>
      <p:bldP spid="17" grpId="0"/>
      <p:bldGraphic spid="24" grpId="0">
        <p:bldAsOne/>
      </p:bldGraphic>
      <p:bldP spid="25" grpId="0"/>
      <p:bldP spid="26" grpId="0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err="1"/>
              <a:t>Michaelis-Menten</a:t>
            </a:r>
            <a:r>
              <a:rPr lang="en-GB"/>
              <a:t> in practice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497756" y="1970840"/>
                <a:ext cx="4923271" cy="8628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>
                          <a:latin typeface="Cambria Math" panose="02040503050406030204" pitchFamily="18" charset="0"/>
                        </a:rPr>
                        <m:t>Rate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type m:val="lin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Rate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type m:val="lin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756" y="1970840"/>
                <a:ext cx="4923271" cy="8628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547642" y="3063548"/>
                <a:ext cx="4873385" cy="9221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Rate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Rate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Rate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GB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42" y="3063548"/>
                <a:ext cx="4873385" cy="9221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3861352"/>
              </p:ext>
            </p:extLst>
          </p:nvPr>
        </p:nvGraphicFramePr>
        <p:xfrm>
          <a:off x="2636785" y="4504420"/>
          <a:ext cx="34290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153349" y="4622520"/>
            <a:ext cx="65889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/>
              <a:t>1/Rate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81270" y="5908180"/>
            <a:ext cx="59824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/>
              <a:t>1/[S]</a:t>
            </a:r>
            <a:r>
              <a:rPr lang="en-GB" sz="1350" baseline="-25000"/>
              <a:t>0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2987943" y="5624568"/>
            <a:ext cx="270030" cy="27003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511831" y="5347568"/>
            <a:ext cx="58221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/>
              <a:t>-1/K</a:t>
            </a:r>
            <a:r>
              <a:rPr lang="en-GB" sz="1350" baseline="-25000"/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6904" y="5521875"/>
            <a:ext cx="87235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/>
              <a:t>1/</a:t>
            </a:r>
            <a:r>
              <a:rPr lang="en-GB" sz="1350" err="1"/>
              <a:t>Rate</a:t>
            </a:r>
            <a:r>
              <a:rPr lang="en-GB" sz="1350" baseline="-25000" err="1"/>
              <a:t>max</a:t>
            </a:r>
            <a:endParaRPr lang="en-GB" sz="1350" baseline="-25000"/>
          </a:p>
        </p:txBody>
      </p:sp>
      <p:cxnSp>
        <p:nvCxnSpPr>
          <p:cNvPr id="17" name="Straight Arrow Connector 16"/>
          <p:cNvCxnSpPr/>
          <p:nvPr/>
        </p:nvCxnSpPr>
        <p:spPr>
          <a:xfrm flipH="1">
            <a:off x="3812247" y="5683896"/>
            <a:ext cx="421808" cy="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787203" y="5206102"/>
            <a:ext cx="64807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5435275" y="4835030"/>
            <a:ext cx="0" cy="37107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780463" y="5296511"/>
            <a:ext cx="97013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/>
              <a:t>K</a:t>
            </a:r>
            <a:r>
              <a:rPr lang="en-GB" sz="1350" baseline="-25000"/>
              <a:t>M</a:t>
            </a:r>
            <a:r>
              <a:rPr lang="en-GB" sz="1350"/>
              <a:t>/</a:t>
            </a:r>
            <a:r>
              <a:rPr lang="en-GB" sz="1350" err="1"/>
              <a:t>Rate</a:t>
            </a:r>
            <a:r>
              <a:rPr lang="en-GB" sz="1350" baseline="-25000" err="1"/>
              <a:t>max</a:t>
            </a:r>
            <a:endParaRPr lang="en-GB" sz="1350" baseline="-25000"/>
          </a:p>
        </p:txBody>
      </p:sp>
      <p:cxnSp>
        <p:nvCxnSpPr>
          <p:cNvPr id="27" name="Straight Arrow Connector 26"/>
          <p:cNvCxnSpPr/>
          <p:nvPr/>
        </p:nvCxnSpPr>
        <p:spPr>
          <a:xfrm flipH="1" flipV="1">
            <a:off x="5465087" y="5203273"/>
            <a:ext cx="370010" cy="23173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0599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Graphic spid="10" grpId="0">
        <p:bldAsOne/>
      </p:bldGraphic>
      <p:bldP spid="11" grpId="0"/>
      <p:bldP spid="12" grpId="0"/>
      <p:bldP spid="15" grpId="0"/>
      <p:bldP spid="16" grpId="0"/>
      <p:bldP spid="2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43D1B-FA4A-4D27-A268-86C55C3A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chain reactions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4C2326-6BBC-47EF-B2BD-6AAEFE6608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>
                <a:ea typeface="+mn-lt"/>
                <a:cs typeface="+mn-lt"/>
              </a:rPr>
              <a:t>CH2PH1 Chemical Kinetics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61341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+mn-lt"/>
              </a:rPr>
              <a:t>Chain Reactions</a:t>
            </a:r>
            <a:endParaRPr lang="en-US">
              <a:latin typeface="+mn-lt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1" y="1710559"/>
            <a:ext cx="7866366" cy="437493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dirty="0"/>
              <a:t>So far we have considered “consecutive” multi-step reactions. </a:t>
            </a:r>
          </a:p>
          <a:p>
            <a:pPr lvl="1">
              <a:lnSpc>
                <a:spcPct val="90000"/>
              </a:lnSpc>
            </a:pPr>
            <a:r>
              <a:rPr lang="en-GB" sz="2400" dirty="0"/>
              <a:t>Reagents undergo a series of reactions (“elementary steps”) one leading on from another, until they make the products.</a:t>
            </a:r>
          </a:p>
          <a:p>
            <a:pPr>
              <a:lnSpc>
                <a:spcPct val="90000"/>
              </a:lnSpc>
            </a:pPr>
            <a:r>
              <a:rPr lang="en-GB" i="1" dirty="0"/>
              <a:t>Chain reactions: </a:t>
            </a:r>
            <a:r>
              <a:rPr lang="en-GB" dirty="0"/>
              <a:t> molecule of intermediate produced in one step generates a molecule of intermediate in a later step, which then generates another molecule of intermediate, and so on. </a:t>
            </a:r>
          </a:p>
          <a:p>
            <a:pPr>
              <a:lnSpc>
                <a:spcPct val="90000"/>
              </a:lnSpc>
            </a:pPr>
            <a:r>
              <a:rPr lang="en-GB" dirty="0"/>
              <a:t>Intermediate –  “</a:t>
            </a:r>
            <a:r>
              <a:rPr lang="en-GB" i="1" dirty="0"/>
              <a:t>chain carrier</a:t>
            </a:r>
            <a:r>
              <a:rPr lang="en-GB" dirty="0"/>
              <a:t> </a:t>
            </a:r>
            <a:r>
              <a:rPr lang="en-GB" i="1" dirty="0"/>
              <a:t>”</a:t>
            </a:r>
            <a:r>
              <a:rPr lang="en-GB" dirty="0"/>
              <a:t> – often a radical.</a:t>
            </a:r>
          </a:p>
          <a:p>
            <a:pPr>
              <a:lnSpc>
                <a:spcPct val="90000"/>
              </a:lnSpc>
            </a:pPr>
            <a:r>
              <a:rPr lang="en-GB" dirty="0"/>
              <a:t>Gives rise to more complicated kinetic schemes, usually involving half-powers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GB" dirty="0"/>
              <a:t>		e.g. Rate </a:t>
            </a:r>
            <a:r>
              <a:rPr lang="en-GB" dirty="0">
                <a:sym typeface="Symbol"/>
              </a:rPr>
              <a:t></a:t>
            </a:r>
            <a:r>
              <a:rPr lang="en-GB" dirty="0">
                <a:sym typeface="Mathematica1" pitchFamily="2" charset="2"/>
              </a:rPr>
              <a:t> [A]</a:t>
            </a:r>
            <a:r>
              <a:rPr lang="en-GB" baseline="30000" dirty="0">
                <a:sym typeface="Mathematica1" pitchFamily="2" charset="2"/>
              </a:rPr>
              <a:t>3/2</a:t>
            </a:r>
          </a:p>
        </p:txBody>
      </p:sp>
    </p:spTree>
    <p:extLst>
      <p:ext uri="{BB962C8B-B14F-4D97-AF65-F5344CB8AC3E}">
        <p14:creationId xmlns:p14="http://schemas.microsoft.com/office/powerpoint/2010/main" val="13573332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+mn-lt"/>
              </a:rPr>
              <a:t>Chain reactions: an example</a:t>
            </a:r>
            <a:endParaRPr lang="en-US">
              <a:latin typeface="+mn-lt"/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2068116"/>
            <a:ext cx="3919538" cy="3932634"/>
          </a:xfrm>
        </p:spPr>
        <p:txBody>
          <a:bodyPr>
            <a:normAutofit fontScale="92500" lnSpcReduction="20000"/>
          </a:bodyPr>
          <a:lstStyle/>
          <a:p>
            <a:r>
              <a:rPr lang="en-GB" sz="2250"/>
              <a:t>gas phase reaction</a:t>
            </a:r>
          </a:p>
          <a:p>
            <a:pPr lvl="2">
              <a:buFontTx/>
              <a:buNone/>
            </a:pPr>
            <a:r>
              <a:rPr lang="en-GB" sz="2250"/>
              <a:t>H</a:t>
            </a:r>
            <a:r>
              <a:rPr lang="en-GB" sz="2250" baseline="-25000"/>
              <a:t>2</a:t>
            </a:r>
            <a:r>
              <a:rPr lang="en-GB" sz="2250"/>
              <a:t> + Br</a:t>
            </a:r>
            <a:r>
              <a:rPr lang="en-GB" sz="2250" baseline="-25000"/>
              <a:t>2</a:t>
            </a:r>
            <a:r>
              <a:rPr lang="en-GB" sz="2250"/>
              <a:t> </a:t>
            </a:r>
            <a:r>
              <a:rPr lang="en-GB" sz="2250">
                <a:cs typeface="Arial" charset="0"/>
              </a:rPr>
              <a:t>→ 2HBr</a:t>
            </a:r>
          </a:p>
          <a:p>
            <a:r>
              <a:rPr lang="en-GB" sz="2100"/>
              <a:t>Most of the reaction is done by the </a:t>
            </a:r>
            <a:r>
              <a:rPr lang="en-GB" sz="2100" b="1" i="1">
                <a:solidFill>
                  <a:srgbClr val="FF0000"/>
                </a:solidFill>
              </a:rPr>
              <a:t>propagation steps</a:t>
            </a:r>
            <a:r>
              <a:rPr lang="en-GB" sz="2100"/>
              <a:t> </a:t>
            </a:r>
          </a:p>
          <a:p>
            <a:pPr>
              <a:buNone/>
            </a:pPr>
            <a:r>
              <a:rPr lang="en-GB" sz="2100"/>
              <a:t>		Br</a:t>
            </a:r>
            <a:r>
              <a:rPr lang="en-US" sz="2100">
                <a:cs typeface="Arial" charset="0"/>
              </a:rPr>
              <a:t>·</a:t>
            </a:r>
            <a:r>
              <a:rPr lang="en-GB" sz="2100"/>
              <a:t> + H</a:t>
            </a:r>
            <a:r>
              <a:rPr lang="en-GB" sz="2100" baseline="-25000"/>
              <a:t>2</a:t>
            </a:r>
            <a:r>
              <a:rPr lang="en-GB" sz="2100"/>
              <a:t> </a:t>
            </a:r>
            <a:r>
              <a:rPr lang="en-GB" sz="2100">
                <a:cs typeface="Arial" charset="0"/>
              </a:rPr>
              <a:t>→ </a:t>
            </a:r>
            <a:r>
              <a:rPr lang="en-GB" sz="2100" err="1">
                <a:cs typeface="Arial" charset="0"/>
              </a:rPr>
              <a:t>HBr</a:t>
            </a:r>
            <a:r>
              <a:rPr lang="en-GB" sz="2100">
                <a:cs typeface="Arial" charset="0"/>
              </a:rPr>
              <a:t> + H</a:t>
            </a:r>
            <a:r>
              <a:rPr lang="en-US" sz="2100">
                <a:cs typeface="Arial" charset="0"/>
              </a:rPr>
              <a:t>·</a:t>
            </a:r>
            <a:r>
              <a:rPr lang="en-GB" sz="2100">
                <a:cs typeface="Arial" charset="0"/>
              </a:rPr>
              <a:t> </a:t>
            </a:r>
          </a:p>
          <a:p>
            <a:pPr>
              <a:buNone/>
            </a:pPr>
            <a:r>
              <a:rPr lang="en-GB" sz="2100">
                <a:cs typeface="Arial" charset="0"/>
              </a:rPr>
              <a:t> </a:t>
            </a:r>
            <a:r>
              <a:rPr lang="en-GB" sz="2100"/>
              <a:t>		H</a:t>
            </a:r>
            <a:r>
              <a:rPr lang="en-US" sz="2100">
                <a:cs typeface="Arial" charset="0"/>
              </a:rPr>
              <a:t>·</a:t>
            </a:r>
            <a:r>
              <a:rPr lang="en-GB" sz="2100"/>
              <a:t> + Br</a:t>
            </a:r>
            <a:r>
              <a:rPr lang="en-GB" sz="2100" baseline="-25000"/>
              <a:t>2</a:t>
            </a:r>
            <a:r>
              <a:rPr lang="en-GB" sz="2100"/>
              <a:t> </a:t>
            </a:r>
            <a:r>
              <a:rPr lang="en-GB" sz="2100">
                <a:cs typeface="Arial" charset="0"/>
              </a:rPr>
              <a:t>→ </a:t>
            </a:r>
            <a:r>
              <a:rPr lang="en-GB" sz="2100" err="1"/>
              <a:t>HBr</a:t>
            </a:r>
            <a:r>
              <a:rPr lang="en-GB" sz="2100"/>
              <a:t> + Br</a:t>
            </a:r>
            <a:r>
              <a:rPr lang="en-US" sz="2100">
                <a:cs typeface="Arial" charset="0"/>
              </a:rPr>
              <a:t>·</a:t>
            </a:r>
            <a:r>
              <a:rPr lang="en-GB" sz="2100"/>
              <a:t> </a:t>
            </a:r>
          </a:p>
          <a:p>
            <a:pPr>
              <a:buFontTx/>
              <a:buNone/>
            </a:pPr>
            <a:r>
              <a:rPr lang="en-GB" sz="2100"/>
              <a:t>		</a:t>
            </a:r>
            <a:r>
              <a:rPr lang="en-GB" sz="1500">
                <a:cs typeface="Arial" charset="0"/>
              </a:rPr>
              <a:t>		</a:t>
            </a:r>
            <a:endParaRPr lang="en-GB" sz="2100">
              <a:cs typeface="Arial" charset="0"/>
            </a:endParaRPr>
          </a:p>
          <a:p>
            <a:r>
              <a:rPr lang="en-GB" sz="2100"/>
              <a:t>The radicals H</a:t>
            </a:r>
            <a:r>
              <a:rPr lang="en-US" sz="2100">
                <a:cs typeface="Arial" charset="0"/>
              </a:rPr>
              <a:t>·</a:t>
            </a:r>
            <a:r>
              <a:rPr lang="en-GB" sz="2100"/>
              <a:t> and Br</a:t>
            </a:r>
            <a:r>
              <a:rPr lang="en-US" sz="2100">
                <a:cs typeface="Arial" charset="0"/>
              </a:rPr>
              <a:t>·</a:t>
            </a:r>
            <a:r>
              <a:rPr lang="en-GB" sz="2100"/>
              <a:t> are the </a:t>
            </a:r>
            <a:r>
              <a:rPr lang="en-GB" sz="2100" i="1"/>
              <a:t>chain carriers</a:t>
            </a:r>
            <a:endParaRPr lang="en-GB"/>
          </a:p>
          <a:p>
            <a:pPr marL="0" indent="0">
              <a:buNone/>
            </a:pPr>
            <a:endParaRPr lang="en-GB" sz="2100"/>
          </a:p>
          <a:p>
            <a:r>
              <a:rPr lang="en-GB" sz="2100"/>
              <a:t>Other processes add and remove them…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5750721" y="1910954"/>
            <a:ext cx="1788250" cy="3153668"/>
            <a:chOff x="6143625" y="1404938"/>
            <a:chExt cx="2384332" cy="4204890"/>
          </a:xfrm>
        </p:grpSpPr>
        <p:sp>
          <p:nvSpPr>
            <p:cNvPr id="31748" name="Rectangle 4"/>
            <p:cNvSpPr>
              <a:spLocks noChangeArrowheads="1"/>
            </p:cNvSpPr>
            <p:nvPr/>
          </p:nvSpPr>
          <p:spPr bwMode="auto">
            <a:xfrm>
              <a:off x="7705725" y="3287712"/>
              <a:ext cx="744221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</a:t>
              </a:r>
            </a:p>
          </p:txBody>
        </p:sp>
        <p:sp>
          <p:nvSpPr>
            <p:cNvPr id="31749" name="Rectangle 5"/>
            <p:cNvSpPr>
              <a:spLocks noChangeArrowheads="1"/>
            </p:cNvSpPr>
            <p:nvPr/>
          </p:nvSpPr>
          <p:spPr bwMode="auto">
            <a:xfrm>
              <a:off x="6192820" y="3135510"/>
              <a:ext cx="654453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H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</a:t>
              </a:r>
            </a:p>
          </p:txBody>
        </p:sp>
        <p:sp>
          <p:nvSpPr>
            <p:cNvPr id="31750" name="Rectangle 6"/>
            <p:cNvSpPr>
              <a:spLocks noChangeArrowheads="1"/>
            </p:cNvSpPr>
            <p:nvPr/>
          </p:nvSpPr>
          <p:spPr bwMode="auto">
            <a:xfrm>
              <a:off x="6196204" y="1527571"/>
              <a:ext cx="774144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GB" baseline="-25000">
                  <a:solidFill>
                    <a:prstClr val="black"/>
                  </a:solidFill>
                  <a:latin typeface="+mn-lt"/>
                </a:rPr>
                <a:t>2</a:t>
              </a:r>
              <a:endParaRPr lang="en-US" baseline="-250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31751" name="Rectangle 7"/>
            <p:cNvSpPr>
              <a:spLocks noChangeArrowheads="1"/>
            </p:cNvSpPr>
            <p:nvPr/>
          </p:nvSpPr>
          <p:spPr bwMode="auto">
            <a:xfrm>
              <a:off x="7713665" y="4994275"/>
              <a:ext cx="684376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</a:rPr>
                <a:t>H</a:t>
              </a:r>
              <a:r>
                <a:rPr lang="en-GB" baseline="-25000">
                  <a:solidFill>
                    <a:prstClr val="black"/>
                  </a:solidFill>
                  <a:latin typeface="+mn-lt"/>
                </a:rPr>
                <a:t>2</a:t>
              </a:r>
              <a:endParaRPr lang="en-US" baseline="-250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31752" name="Rectangle 8"/>
            <p:cNvSpPr>
              <a:spLocks noChangeArrowheads="1"/>
            </p:cNvSpPr>
            <p:nvPr/>
          </p:nvSpPr>
          <p:spPr bwMode="auto">
            <a:xfrm>
              <a:off x="7627711" y="1579971"/>
              <a:ext cx="900246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HBr</a:t>
              </a:r>
              <a:endParaRPr lang="en-US">
                <a:solidFill>
                  <a:prstClr val="black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31753" name="Rectangle 9"/>
            <p:cNvSpPr>
              <a:spLocks noChangeArrowheads="1"/>
            </p:cNvSpPr>
            <p:nvPr/>
          </p:nvSpPr>
          <p:spPr bwMode="auto">
            <a:xfrm>
              <a:off x="6143625" y="4981575"/>
              <a:ext cx="900246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HBr</a:t>
              </a:r>
              <a:endParaRPr lang="en-US">
                <a:solidFill>
                  <a:prstClr val="black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31754" name="AutoShape 10"/>
            <p:cNvSpPr>
              <a:spLocks noChangeArrowheads="1"/>
            </p:cNvSpPr>
            <p:nvPr/>
          </p:nvSpPr>
          <p:spPr bwMode="auto">
            <a:xfrm rot="11714992">
              <a:off x="6365875" y="2838450"/>
              <a:ext cx="1571625" cy="1477963"/>
            </a:xfrm>
            <a:custGeom>
              <a:avLst/>
              <a:gdLst>
                <a:gd name="G0" fmla="+- -3088298 0 0"/>
                <a:gd name="G1" fmla="+- -11796480 0 0"/>
                <a:gd name="G2" fmla="+- -3088298 0 -11796480"/>
                <a:gd name="G3" fmla="+- 10800 0 0"/>
                <a:gd name="G4" fmla="+- 0 0 -3088298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8128 0 0"/>
                <a:gd name="G9" fmla="+- 0 0 -11796480"/>
                <a:gd name="G10" fmla="+- 8128 0 2700"/>
                <a:gd name="G11" fmla="cos G10 -3088298"/>
                <a:gd name="G12" fmla="sin G10 -3088298"/>
                <a:gd name="G13" fmla="cos 13500 -3088298"/>
                <a:gd name="G14" fmla="sin 13500 -3088298"/>
                <a:gd name="G15" fmla="+- G11 10800 0"/>
                <a:gd name="G16" fmla="+- G12 10800 0"/>
                <a:gd name="G17" fmla="+- G13 10800 0"/>
                <a:gd name="G18" fmla="+- G14 10800 0"/>
                <a:gd name="G19" fmla="*/ 8128 1 2"/>
                <a:gd name="G20" fmla="+- G19 5400 0"/>
                <a:gd name="G21" fmla="cos G20 -3088298"/>
                <a:gd name="G22" fmla="sin G20 -3088298"/>
                <a:gd name="G23" fmla="+- G21 10800 0"/>
                <a:gd name="G24" fmla="+- G12 G23 G22"/>
                <a:gd name="G25" fmla="+- G22 G23 G11"/>
                <a:gd name="G26" fmla="cos 10800 -3088298"/>
                <a:gd name="G27" fmla="sin 10800 -3088298"/>
                <a:gd name="G28" fmla="cos 8128 -3088298"/>
                <a:gd name="G29" fmla="sin 8128 -3088298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11796480"/>
                <a:gd name="G36" fmla="sin G34 -11796480"/>
                <a:gd name="G37" fmla="+/ -11796480 -3088298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8128 G39"/>
                <a:gd name="G43" fmla="sin 8128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6482 w 21600"/>
                <a:gd name="T5" fmla="*/ 900 h 21600"/>
                <a:gd name="T6" fmla="*/ 1336 w 21600"/>
                <a:gd name="T7" fmla="*/ 10800 h 21600"/>
                <a:gd name="T8" fmla="*/ 7550 w 21600"/>
                <a:gd name="T9" fmla="*/ 3349 h 21600"/>
                <a:gd name="T10" fmla="*/ 19985 w 21600"/>
                <a:gd name="T11" fmla="*/ 906 h 21600"/>
                <a:gd name="T12" fmla="*/ 20197 w 21600"/>
                <a:gd name="T13" fmla="*/ 6610 h 21600"/>
                <a:gd name="T14" fmla="*/ 14493 w 21600"/>
                <a:gd name="T15" fmla="*/ 6822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6330" y="4843"/>
                  </a:moveTo>
                  <a:cubicBezTo>
                    <a:pt x="14827" y="3447"/>
                    <a:pt x="12851" y="2672"/>
                    <a:pt x="10800" y="2672"/>
                  </a:cubicBezTo>
                  <a:cubicBezTo>
                    <a:pt x="6311" y="2672"/>
                    <a:pt x="2672" y="6311"/>
                    <a:pt x="2672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3525" y="0"/>
                    <a:pt x="16150" y="1030"/>
                    <a:pt x="18148" y="2885"/>
                  </a:cubicBezTo>
                  <a:lnTo>
                    <a:pt x="19985" y="906"/>
                  </a:lnTo>
                  <a:lnTo>
                    <a:pt x="20197" y="6610"/>
                  </a:lnTo>
                  <a:lnTo>
                    <a:pt x="14493" y="6822"/>
                  </a:lnTo>
                  <a:lnTo>
                    <a:pt x="16330" y="4843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31755" name="AutoShape 11"/>
            <p:cNvSpPr>
              <a:spLocks noChangeArrowheads="1"/>
            </p:cNvSpPr>
            <p:nvPr/>
          </p:nvSpPr>
          <p:spPr bwMode="auto">
            <a:xfrm rot="10800000" flipH="1">
              <a:off x="6353175" y="1404938"/>
              <a:ext cx="1573213" cy="1476375"/>
            </a:xfrm>
            <a:custGeom>
              <a:avLst/>
              <a:gdLst>
                <a:gd name="G0" fmla="+- -1629867 0 0"/>
                <a:gd name="G1" fmla="+- -11796480 0 0"/>
                <a:gd name="G2" fmla="+- -1629867 0 -11796480"/>
                <a:gd name="G3" fmla="+- 10800 0 0"/>
                <a:gd name="G4" fmla="+- 0 0 -1629867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7906 0 0"/>
                <a:gd name="G9" fmla="+- 0 0 -11796480"/>
                <a:gd name="G10" fmla="+- 7906 0 2700"/>
                <a:gd name="G11" fmla="cos G10 -1629867"/>
                <a:gd name="G12" fmla="sin G10 -1629867"/>
                <a:gd name="G13" fmla="cos 13500 -1629867"/>
                <a:gd name="G14" fmla="sin 13500 -1629867"/>
                <a:gd name="G15" fmla="+- G11 10800 0"/>
                <a:gd name="G16" fmla="+- G12 10800 0"/>
                <a:gd name="G17" fmla="+- G13 10800 0"/>
                <a:gd name="G18" fmla="+- G14 10800 0"/>
                <a:gd name="G19" fmla="*/ 7906 1 2"/>
                <a:gd name="G20" fmla="+- G19 5400 0"/>
                <a:gd name="G21" fmla="cos G20 -1629867"/>
                <a:gd name="G22" fmla="sin G20 -1629867"/>
                <a:gd name="G23" fmla="+- G21 10800 0"/>
                <a:gd name="G24" fmla="+- G12 G23 G22"/>
                <a:gd name="G25" fmla="+- G22 G23 G11"/>
                <a:gd name="G26" fmla="cos 10800 -1629867"/>
                <a:gd name="G27" fmla="sin 10800 -1629867"/>
                <a:gd name="G28" fmla="cos 7906 -1629867"/>
                <a:gd name="G29" fmla="sin 7906 -1629867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11796480"/>
                <a:gd name="G36" fmla="sin G34 -11796480"/>
                <a:gd name="G37" fmla="+/ -11796480 -1629867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7906 G39"/>
                <a:gd name="G43" fmla="sin 7906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8474 w 21600"/>
                <a:gd name="T5" fmla="*/ 253 h 21600"/>
                <a:gd name="T6" fmla="*/ 1447 w 21600"/>
                <a:gd name="T7" fmla="*/ 10800 h 21600"/>
                <a:gd name="T8" fmla="*/ 9097 w 21600"/>
                <a:gd name="T9" fmla="*/ 3079 h 21600"/>
                <a:gd name="T10" fmla="*/ 23048 w 21600"/>
                <a:gd name="T11" fmla="*/ 5122 h 21600"/>
                <a:gd name="T12" fmla="*/ 21029 w 21600"/>
                <a:gd name="T13" fmla="*/ 10628 h 21600"/>
                <a:gd name="T14" fmla="*/ 15523 w 21600"/>
                <a:gd name="T15" fmla="*/ 8610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7972" y="7475"/>
                  </a:moveTo>
                  <a:cubicBezTo>
                    <a:pt x="16677" y="4681"/>
                    <a:pt x="13879" y="2894"/>
                    <a:pt x="10800" y="2894"/>
                  </a:cubicBezTo>
                  <a:cubicBezTo>
                    <a:pt x="6433" y="2894"/>
                    <a:pt x="2894" y="6433"/>
                    <a:pt x="2894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5006" y="0"/>
                    <a:pt x="18829" y="2441"/>
                    <a:pt x="20598" y="6257"/>
                  </a:cubicBezTo>
                  <a:lnTo>
                    <a:pt x="23048" y="5122"/>
                  </a:lnTo>
                  <a:lnTo>
                    <a:pt x="21029" y="10628"/>
                  </a:lnTo>
                  <a:lnTo>
                    <a:pt x="15523" y="8610"/>
                  </a:lnTo>
                  <a:lnTo>
                    <a:pt x="17972" y="7475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31756" name="AutoShape 12"/>
            <p:cNvSpPr>
              <a:spLocks noChangeArrowheads="1"/>
            </p:cNvSpPr>
            <p:nvPr/>
          </p:nvSpPr>
          <p:spPr bwMode="auto">
            <a:xfrm rot="22514993">
              <a:off x="6362700" y="2705100"/>
              <a:ext cx="1571625" cy="1476375"/>
            </a:xfrm>
            <a:custGeom>
              <a:avLst/>
              <a:gdLst>
                <a:gd name="G0" fmla="+- -3088298 0 0"/>
                <a:gd name="G1" fmla="+- -11796480 0 0"/>
                <a:gd name="G2" fmla="+- -3088298 0 -11796480"/>
                <a:gd name="G3" fmla="+- 10800 0 0"/>
                <a:gd name="G4" fmla="+- 0 0 -3088298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8128 0 0"/>
                <a:gd name="G9" fmla="+- 0 0 -11796480"/>
                <a:gd name="G10" fmla="+- 8128 0 2700"/>
                <a:gd name="G11" fmla="cos G10 -3088298"/>
                <a:gd name="G12" fmla="sin G10 -3088298"/>
                <a:gd name="G13" fmla="cos 13500 -3088298"/>
                <a:gd name="G14" fmla="sin 13500 -3088298"/>
                <a:gd name="G15" fmla="+- G11 10800 0"/>
                <a:gd name="G16" fmla="+- G12 10800 0"/>
                <a:gd name="G17" fmla="+- G13 10800 0"/>
                <a:gd name="G18" fmla="+- G14 10800 0"/>
                <a:gd name="G19" fmla="*/ 8128 1 2"/>
                <a:gd name="G20" fmla="+- G19 5400 0"/>
                <a:gd name="G21" fmla="cos G20 -3088298"/>
                <a:gd name="G22" fmla="sin G20 -3088298"/>
                <a:gd name="G23" fmla="+- G21 10800 0"/>
                <a:gd name="G24" fmla="+- G12 G23 G22"/>
                <a:gd name="G25" fmla="+- G22 G23 G11"/>
                <a:gd name="G26" fmla="cos 10800 -3088298"/>
                <a:gd name="G27" fmla="sin 10800 -3088298"/>
                <a:gd name="G28" fmla="cos 8128 -3088298"/>
                <a:gd name="G29" fmla="sin 8128 -3088298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11796480"/>
                <a:gd name="G36" fmla="sin G34 -11796480"/>
                <a:gd name="G37" fmla="+/ -11796480 -3088298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8128 G39"/>
                <a:gd name="G43" fmla="sin 8128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6482 w 21600"/>
                <a:gd name="T5" fmla="*/ 900 h 21600"/>
                <a:gd name="T6" fmla="*/ 1336 w 21600"/>
                <a:gd name="T7" fmla="*/ 10800 h 21600"/>
                <a:gd name="T8" fmla="*/ 7550 w 21600"/>
                <a:gd name="T9" fmla="*/ 3349 h 21600"/>
                <a:gd name="T10" fmla="*/ 19985 w 21600"/>
                <a:gd name="T11" fmla="*/ 906 h 21600"/>
                <a:gd name="T12" fmla="*/ 20197 w 21600"/>
                <a:gd name="T13" fmla="*/ 6610 h 21600"/>
                <a:gd name="T14" fmla="*/ 14493 w 21600"/>
                <a:gd name="T15" fmla="*/ 6822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6330" y="4843"/>
                  </a:moveTo>
                  <a:cubicBezTo>
                    <a:pt x="14827" y="3447"/>
                    <a:pt x="12851" y="2672"/>
                    <a:pt x="10800" y="2672"/>
                  </a:cubicBezTo>
                  <a:cubicBezTo>
                    <a:pt x="6311" y="2672"/>
                    <a:pt x="2672" y="6311"/>
                    <a:pt x="2672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3525" y="0"/>
                    <a:pt x="16150" y="1030"/>
                    <a:pt x="18148" y="2885"/>
                  </a:cubicBezTo>
                  <a:lnTo>
                    <a:pt x="19985" y="906"/>
                  </a:lnTo>
                  <a:lnTo>
                    <a:pt x="20197" y="6610"/>
                  </a:lnTo>
                  <a:lnTo>
                    <a:pt x="14493" y="6822"/>
                  </a:lnTo>
                  <a:lnTo>
                    <a:pt x="16330" y="4843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31757" name="AutoShape 13"/>
            <p:cNvSpPr>
              <a:spLocks noChangeArrowheads="1"/>
            </p:cNvSpPr>
            <p:nvPr/>
          </p:nvSpPr>
          <p:spPr bwMode="auto">
            <a:xfrm flipH="1">
              <a:off x="6423025" y="4119563"/>
              <a:ext cx="1571625" cy="1476375"/>
            </a:xfrm>
            <a:custGeom>
              <a:avLst/>
              <a:gdLst>
                <a:gd name="G0" fmla="+- -1629867 0 0"/>
                <a:gd name="G1" fmla="+- -11796480 0 0"/>
                <a:gd name="G2" fmla="+- -1629867 0 -11796480"/>
                <a:gd name="G3" fmla="+- 10800 0 0"/>
                <a:gd name="G4" fmla="+- 0 0 -1629867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7906 0 0"/>
                <a:gd name="G9" fmla="+- 0 0 -11796480"/>
                <a:gd name="G10" fmla="+- 7906 0 2700"/>
                <a:gd name="G11" fmla="cos G10 -1629867"/>
                <a:gd name="G12" fmla="sin G10 -1629867"/>
                <a:gd name="G13" fmla="cos 13500 -1629867"/>
                <a:gd name="G14" fmla="sin 13500 -1629867"/>
                <a:gd name="G15" fmla="+- G11 10800 0"/>
                <a:gd name="G16" fmla="+- G12 10800 0"/>
                <a:gd name="G17" fmla="+- G13 10800 0"/>
                <a:gd name="G18" fmla="+- G14 10800 0"/>
                <a:gd name="G19" fmla="*/ 7906 1 2"/>
                <a:gd name="G20" fmla="+- G19 5400 0"/>
                <a:gd name="G21" fmla="cos G20 -1629867"/>
                <a:gd name="G22" fmla="sin G20 -1629867"/>
                <a:gd name="G23" fmla="+- G21 10800 0"/>
                <a:gd name="G24" fmla="+- G12 G23 G22"/>
                <a:gd name="G25" fmla="+- G22 G23 G11"/>
                <a:gd name="G26" fmla="cos 10800 -1629867"/>
                <a:gd name="G27" fmla="sin 10800 -1629867"/>
                <a:gd name="G28" fmla="cos 7906 -1629867"/>
                <a:gd name="G29" fmla="sin 7906 -1629867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11796480"/>
                <a:gd name="G36" fmla="sin G34 -11796480"/>
                <a:gd name="G37" fmla="+/ -11796480 -1629867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7906 G39"/>
                <a:gd name="G43" fmla="sin 7906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8474 w 21600"/>
                <a:gd name="T5" fmla="*/ 253 h 21600"/>
                <a:gd name="T6" fmla="*/ 1447 w 21600"/>
                <a:gd name="T7" fmla="*/ 10800 h 21600"/>
                <a:gd name="T8" fmla="*/ 9097 w 21600"/>
                <a:gd name="T9" fmla="*/ 3079 h 21600"/>
                <a:gd name="T10" fmla="*/ 23048 w 21600"/>
                <a:gd name="T11" fmla="*/ 5122 h 21600"/>
                <a:gd name="T12" fmla="*/ 21029 w 21600"/>
                <a:gd name="T13" fmla="*/ 10628 h 21600"/>
                <a:gd name="T14" fmla="*/ 15523 w 21600"/>
                <a:gd name="T15" fmla="*/ 8610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7972" y="7475"/>
                  </a:moveTo>
                  <a:cubicBezTo>
                    <a:pt x="16677" y="4681"/>
                    <a:pt x="13879" y="2894"/>
                    <a:pt x="10800" y="2894"/>
                  </a:cubicBezTo>
                  <a:cubicBezTo>
                    <a:pt x="6433" y="2894"/>
                    <a:pt x="2894" y="6433"/>
                    <a:pt x="2894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5006" y="0"/>
                    <a:pt x="18829" y="2441"/>
                    <a:pt x="20598" y="6257"/>
                  </a:cubicBezTo>
                  <a:lnTo>
                    <a:pt x="23048" y="5122"/>
                  </a:lnTo>
                  <a:lnTo>
                    <a:pt x="21029" y="10628"/>
                  </a:lnTo>
                  <a:lnTo>
                    <a:pt x="15523" y="8610"/>
                  </a:lnTo>
                  <a:lnTo>
                    <a:pt x="17972" y="7475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52111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+mn-lt"/>
              </a:rPr>
              <a:t>Initiation and termination</a:t>
            </a:r>
            <a:endParaRPr lang="en-US">
              <a:latin typeface="+mn-lt"/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2068116"/>
            <a:ext cx="3753036" cy="3437334"/>
          </a:xfrm>
        </p:spPr>
        <p:txBody>
          <a:bodyPr>
            <a:normAutofit/>
          </a:bodyPr>
          <a:lstStyle/>
          <a:p>
            <a:endParaRPr lang="en-GB" sz="2100"/>
          </a:p>
          <a:p>
            <a:endParaRPr lang="en-GB" sz="2100"/>
          </a:p>
          <a:p>
            <a:r>
              <a:rPr lang="en-GB" sz="2100"/>
              <a:t>The chain carriers are formed by </a:t>
            </a:r>
            <a:r>
              <a:rPr lang="en-GB" sz="2100" i="1">
                <a:solidFill>
                  <a:schemeClr val="accent2"/>
                </a:solidFill>
              </a:rPr>
              <a:t>initiation step(s)</a:t>
            </a:r>
            <a:r>
              <a:rPr lang="en-GB" sz="2100" i="1"/>
              <a:t>…</a:t>
            </a:r>
          </a:p>
          <a:p>
            <a:endParaRPr lang="en-GB" sz="2100" i="1"/>
          </a:p>
          <a:p>
            <a:r>
              <a:rPr lang="en-GB" sz="2100">
                <a:cs typeface="Arial" charset="0"/>
              </a:rPr>
              <a:t>…but removed by </a:t>
            </a:r>
            <a:r>
              <a:rPr lang="en-GB" sz="2100" i="1">
                <a:solidFill>
                  <a:schemeClr val="folHlink"/>
                </a:solidFill>
                <a:cs typeface="Arial" charset="0"/>
              </a:rPr>
              <a:t>termination steps.</a:t>
            </a:r>
            <a:endParaRPr lang="en-US" sz="2100" i="1">
              <a:solidFill>
                <a:schemeClr val="folHlink"/>
              </a:solidFill>
              <a:cs typeface="Arial" charset="0"/>
            </a:endParaRPr>
          </a:p>
        </p:txBody>
      </p:sp>
      <p:sp>
        <p:nvSpPr>
          <p:cNvPr id="31" name="AutoShape 30"/>
          <p:cNvSpPr>
            <a:spLocks noChangeArrowheads="1"/>
          </p:cNvSpPr>
          <p:nvPr/>
        </p:nvSpPr>
        <p:spPr bwMode="auto">
          <a:xfrm rot="16200000" flipH="1">
            <a:off x="6354366" y="3306366"/>
            <a:ext cx="719138" cy="719138"/>
          </a:xfrm>
          <a:custGeom>
            <a:avLst/>
            <a:gdLst>
              <a:gd name="G0" fmla="+- -6808501 0 0"/>
              <a:gd name="G1" fmla="+- -11796480 0 0"/>
              <a:gd name="G2" fmla="+- -6808501 0 -11796480"/>
              <a:gd name="G3" fmla="+- 10800 0 0"/>
              <a:gd name="G4" fmla="+- 0 0 -6808501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10131 0 0"/>
              <a:gd name="G9" fmla="+- 0 0 -11796480"/>
              <a:gd name="G10" fmla="+- 10131 0 2700"/>
              <a:gd name="G11" fmla="cos G10 -6808501"/>
              <a:gd name="G12" fmla="sin G10 -6808501"/>
              <a:gd name="G13" fmla="cos 13500 -6808501"/>
              <a:gd name="G14" fmla="sin 13500 -6808501"/>
              <a:gd name="G15" fmla="+- G11 10800 0"/>
              <a:gd name="G16" fmla="+- G12 10800 0"/>
              <a:gd name="G17" fmla="+- G13 10800 0"/>
              <a:gd name="G18" fmla="+- G14 10800 0"/>
              <a:gd name="G19" fmla="*/ 10131 1 2"/>
              <a:gd name="G20" fmla="+- G19 5400 0"/>
              <a:gd name="G21" fmla="cos G20 -6808501"/>
              <a:gd name="G22" fmla="sin G20 -6808501"/>
              <a:gd name="G23" fmla="+- G21 10800 0"/>
              <a:gd name="G24" fmla="+- G12 G23 G22"/>
              <a:gd name="G25" fmla="+- G22 G23 G11"/>
              <a:gd name="G26" fmla="cos 10800 -6808501"/>
              <a:gd name="G27" fmla="sin 10800 -6808501"/>
              <a:gd name="G28" fmla="cos 10131 -6808501"/>
              <a:gd name="G29" fmla="sin 10131 -6808501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6808501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10131 G39"/>
              <a:gd name="G43" fmla="sin 10131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2295 w 21600"/>
              <a:gd name="T5" fmla="*/ 4142 h 21600"/>
              <a:gd name="T6" fmla="*/ 334 w 21600"/>
              <a:gd name="T7" fmla="*/ 10800 h 21600"/>
              <a:gd name="T8" fmla="*/ 2822 w 21600"/>
              <a:gd name="T9" fmla="*/ 4555 h 21600"/>
              <a:gd name="T10" fmla="*/ 7559 w 21600"/>
              <a:gd name="T11" fmla="*/ -2306 h 21600"/>
              <a:gd name="T12" fmla="*/ 11233 w 21600"/>
              <a:gd name="T13" fmla="*/ -89 h 21600"/>
              <a:gd name="T14" fmla="*/ 9016 w 21600"/>
              <a:gd name="T15" fmla="*/ 358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8368" y="965"/>
                </a:moveTo>
                <a:cubicBezTo>
                  <a:pt x="3845" y="2083"/>
                  <a:pt x="669" y="6141"/>
                  <a:pt x="669" y="10799"/>
                </a:cubicBezTo>
                <a:lnTo>
                  <a:pt x="0" y="10800"/>
                </a:lnTo>
                <a:cubicBezTo>
                  <a:pt x="0" y="5833"/>
                  <a:pt x="3386" y="1507"/>
                  <a:pt x="8207" y="315"/>
                </a:cubicBezTo>
                <a:lnTo>
                  <a:pt x="7559" y="-2306"/>
                </a:lnTo>
                <a:lnTo>
                  <a:pt x="11233" y="-89"/>
                </a:lnTo>
                <a:lnTo>
                  <a:pt x="9016" y="3586"/>
                </a:lnTo>
                <a:lnTo>
                  <a:pt x="8368" y="965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  <a:latin typeface="+mn-lt"/>
            </a:endParaRPr>
          </a:p>
        </p:txBody>
      </p:sp>
      <p:sp>
        <p:nvSpPr>
          <p:cNvPr id="32" name="Text Box 31"/>
          <p:cNvSpPr txBox="1">
            <a:spLocks noChangeArrowheads="1"/>
          </p:cNvSpPr>
          <p:nvPr/>
        </p:nvSpPr>
        <p:spPr bwMode="auto">
          <a:xfrm>
            <a:off x="6702425" y="3152230"/>
            <a:ext cx="898003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350" b="1">
                <a:solidFill>
                  <a:srgbClr val="C0504D"/>
                </a:solidFill>
                <a:latin typeface="+mn-lt"/>
              </a:rPr>
              <a:t>Initiation</a:t>
            </a:r>
            <a:endParaRPr lang="en-US" sz="1350" b="1">
              <a:solidFill>
                <a:srgbClr val="C0504D"/>
              </a:solidFill>
              <a:latin typeface="+mn-lt"/>
            </a:endParaRPr>
          </a:p>
        </p:txBody>
      </p:sp>
      <p:sp>
        <p:nvSpPr>
          <p:cNvPr id="33" name="Text Box 32"/>
          <p:cNvSpPr txBox="1">
            <a:spLocks noChangeArrowheads="1"/>
          </p:cNvSpPr>
          <p:nvPr/>
        </p:nvSpPr>
        <p:spPr bwMode="auto">
          <a:xfrm>
            <a:off x="6716460" y="4220170"/>
            <a:ext cx="1128963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350" b="1">
                <a:solidFill>
                  <a:srgbClr val="800080"/>
                </a:solidFill>
                <a:latin typeface="+mn-lt"/>
              </a:rPr>
              <a:t>Termination</a:t>
            </a:r>
          </a:p>
        </p:txBody>
      </p:sp>
      <p:sp>
        <p:nvSpPr>
          <p:cNvPr id="34" name="AutoShape 33"/>
          <p:cNvSpPr>
            <a:spLocks noChangeArrowheads="1"/>
          </p:cNvSpPr>
          <p:nvPr/>
        </p:nvSpPr>
        <p:spPr bwMode="auto">
          <a:xfrm rot="10800000" flipH="1">
            <a:off x="6354366" y="3627835"/>
            <a:ext cx="719138" cy="719138"/>
          </a:xfrm>
          <a:custGeom>
            <a:avLst/>
            <a:gdLst>
              <a:gd name="G0" fmla="+- -6808501 0 0"/>
              <a:gd name="G1" fmla="+- -11796480 0 0"/>
              <a:gd name="G2" fmla="+- -6808501 0 -11796480"/>
              <a:gd name="G3" fmla="+- 10800 0 0"/>
              <a:gd name="G4" fmla="+- 0 0 -6808501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10131 0 0"/>
              <a:gd name="G9" fmla="+- 0 0 -11796480"/>
              <a:gd name="G10" fmla="+- 10131 0 2700"/>
              <a:gd name="G11" fmla="cos G10 -6808501"/>
              <a:gd name="G12" fmla="sin G10 -6808501"/>
              <a:gd name="G13" fmla="cos 13500 -6808501"/>
              <a:gd name="G14" fmla="sin 13500 -6808501"/>
              <a:gd name="G15" fmla="+- G11 10800 0"/>
              <a:gd name="G16" fmla="+- G12 10800 0"/>
              <a:gd name="G17" fmla="+- G13 10800 0"/>
              <a:gd name="G18" fmla="+- G14 10800 0"/>
              <a:gd name="G19" fmla="*/ 10131 1 2"/>
              <a:gd name="G20" fmla="+- G19 5400 0"/>
              <a:gd name="G21" fmla="cos G20 -6808501"/>
              <a:gd name="G22" fmla="sin G20 -6808501"/>
              <a:gd name="G23" fmla="+- G21 10800 0"/>
              <a:gd name="G24" fmla="+- G12 G23 G22"/>
              <a:gd name="G25" fmla="+- G22 G23 G11"/>
              <a:gd name="G26" fmla="cos 10800 -6808501"/>
              <a:gd name="G27" fmla="sin 10800 -6808501"/>
              <a:gd name="G28" fmla="cos 10131 -6808501"/>
              <a:gd name="G29" fmla="sin 10131 -6808501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6808501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10131 G39"/>
              <a:gd name="G43" fmla="sin 10131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2295 w 21600"/>
              <a:gd name="T5" fmla="*/ 4142 h 21600"/>
              <a:gd name="T6" fmla="*/ 334 w 21600"/>
              <a:gd name="T7" fmla="*/ 10800 h 21600"/>
              <a:gd name="T8" fmla="*/ 2822 w 21600"/>
              <a:gd name="T9" fmla="*/ 4555 h 21600"/>
              <a:gd name="T10" fmla="*/ 7559 w 21600"/>
              <a:gd name="T11" fmla="*/ -2306 h 21600"/>
              <a:gd name="T12" fmla="*/ 11233 w 21600"/>
              <a:gd name="T13" fmla="*/ -89 h 21600"/>
              <a:gd name="T14" fmla="*/ 9016 w 21600"/>
              <a:gd name="T15" fmla="*/ 358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8368" y="965"/>
                </a:moveTo>
                <a:cubicBezTo>
                  <a:pt x="3845" y="2083"/>
                  <a:pt x="669" y="6141"/>
                  <a:pt x="669" y="10799"/>
                </a:cubicBezTo>
                <a:lnTo>
                  <a:pt x="0" y="10800"/>
                </a:lnTo>
                <a:cubicBezTo>
                  <a:pt x="0" y="5833"/>
                  <a:pt x="3386" y="1507"/>
                  <a:pt x="8207" y="315"/>
                </a:cubicBezTo>
                <a:lnTo>
                  <a:pt x="7559" y="-2306"/>
                </a:lnTo>
                <a:lnTo>
                  <a:pt x="11233" y="-89"/>
                </a:lnTo>
                <a:lnTo>
                  <a:pt x="9016" y="3586"/>
                </a:lnTo>
                <a:lnTo>
                  <a:pt x="8368" y="965"/>
                </a:lnTo>
                <a:close/>
              </a:path>
            </a:pathLst>
          </a:cu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  <a:latin typeface="+mn-lt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CF9661A-7383-44A7-990F-031DD1209951}"/>
              </a:ext>
            </a:extLst>
          </p:cNvPr>
          <p:cNvGrpSpPr/>
          <p:nvPr/>
        </p:nvGrpSpPr>
        <p:grpSpPr>
          <a:xfrm>
            <a:off x="4896036" y="2209949"/>
            <a:ext cx="1788250" cy="3153668"/>
            <a:chOff x="6143625" y="1404938"/>
            <a:chExt cx="2384332" cy="4204890"/>
          </a:xfrm>
        </p:grpSpPr>
        <p:sp>
          <p:nvSpPr>
            <p:cNvPr id="19" name="Rectangle 4">
              <a:extLst>
                <a:ext uri="{FF2B5EF4-FFF2-40B4-BE49-F238E27FC236}">
                  <a16:creationId xmlns:a16="http://schemas.microsoft.com/office/drawing/2014/main" id="{F5CFDECA-2647-4ACA-828E-19E43FA87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5725" y="3287712"/>
              <a:ext cx="744221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</a:t>
              </a:r>
            </a:p>
          </p:txBody>
        </p:sp>
        <p:sp>
          <p:nvSpPr>
            <p:cNvPr id="20" name="Rectangle 5">
              <a:extLst>
                <a:ext uri="{FF2B5EF4-FFF2-40B4-BE49-F238E27FC236}">
                  <a16:creationId xmlns:a16="http://schemas.microsoft.com/office/drawing/2014/main" id="{D2BD88C1-8E17-4CB5-BE91-E6725F8E98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820" y="3135510"/>
              <a:ext cx="654453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H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</a:t>
              </a:r>
            </a:p>
          </p:txBody>
        </p:sp>
        <p:sp>
          <p:nvSpPr>
            <p:cNvPr id="35" name="Rectangle 6">
              <a:extLst>
                <a:ext uri="{FF2B5EF4-FFF2-40B4-BE49-F238E27FC236}">
                  <a16:creationId xmlns:a16="http://schemas.microsoft.com/office/drawing/2014/main" id="{B55CBA86-032E-4124-B5DC-52B445A3E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6204" y="1527571"/>
              <a:ext cx="774144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GB" baseline="-25000">
                  <a:solidFill>
                    <a:prstClr val="black"/>
                  </a:solidFill>
                  <a:latin typeface="+mn-lt"/>
                </a:rPr>
                <a:t>2</a:t>
              </a:r>
              <a:endParaRPr lang="en-US" baseline="-250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36" name="Rectangle 7">
              <a:extLst>
                <a:ext uri="{FF2B5EF4-FFF2-40B4-BE49-F238E27FC236}">
                  <a16:creationId xmlns:a16="http://schemas.microsoft.com/office/drawing/2014/main" id="{EADD5BA1-89CC-4BE8-B1C2-021F262A3B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3665" y="4994275"/>
              <a:ext cx="684376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</a:rPr>
                <a:t>H</a:t>
              </a:r>
              <a:r>
                <a:rPr lang="en-GB" baseline="-25000">
                  <a:solidFill>
                    <a:prstClr val="black"/>
                  </a:solidFill>
                  <a:latin typeface="+mn-lt"/>
                </a:rPr>
                <a:t>2</a:t>
              </a:r>
              <a:endParaRPr lang="en-US" baseline="-250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E5F156B3-DDA4-4226-8BD6-12DD5DB9E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27711" y="1579971"/>
              <a:ext cx="900246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HBr</a:t>
              </a:r>
              <a:endParaRPr lang="en-US">
                <a:solidFill>
                  <a:prstClr val="black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38" name="Rectangle 9">
              <a:extLst>
                <a:ext uri="{FF2B5EF4-FFF2-40B4-BE49-F238E27FC236}">
                  <a16:creationId xmlns:a16="http://schemas.microsoft.com/office/drawing/2014/main" id="{158D1C97-2D11-4463-B04C-B86668108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3625" y="4981575"/>
              <a:ext cx="900246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HBr</a:t>
              </a:r>
              <a:endParaRPr lang="en-US">
                <a:solidFill>
                  <a:prstClr val="black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39" name="AutoShape 10">
              <a:extLst>
                <a:ext uri="{FF2B5EF4-FFF2-40B4-BE49-F238E27FC236}">
                  <a16:creationId xmlns:a16="http://schemas.microsoft.com/office/drawing/2014/main" id="{D5A77B35-CA93-47D0-AF95-777FC4B2A12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1714992">
              <a:off x="6365875" y="2838450"/>
              <a:ext cx="1571625" cy="1477963"/>
            </a:xfrm>
            <a:custGeom>
              <a:avLst/>
              <a:gdLst>
                <a:gd name="G0" fmla="+- -3088298 0 0"/>
                <a:gd name="G1" fmla="+- -11796480 0 0"/>
                <a:gd name="G2" fmla="+- -3088298 0 -11796480"/>
                <a:gd name="G3" fmla="+- 10800 0 0"/>
                <a:gd name="G4" fmla="+- 0 0 -3088298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8128 0 0"/>
                <a:gd name="G9" fmla="+- 0 0 -11796480"/>
                <a:gd name="G10" fmla="+- 8128 0 2700"/>
                <a:gd name="G11" fmla="cos G10 -3088298"/>
                <a:gd name="G12" fmla="sin G10 -3088298"/>
                <a:gd name="G13" fmla="cos 13500 -3088298"/>
                <a:gd name="G14" fmla="sin 13500 -3088298"/>
                <a:gd name="G15" fmla="+- G11 10800 0"/>
                <a:gd name="G16" fmla="+- G12 10800 0"/>
                <a:gd name="G17" fmla="+- G13 10800 0"/>
                <a:gd name="G18" fmla="+- G14 10800 0"/>
                <a:gd name="G19" fmla="*/ 8128 1 2"/>
                <a:gd name="G20" fmla="+- G19 5400 0"/>
                <a:gd name="G21" fmla="cos G20 -3088298"/>
                <a:gd name="G22" fmla="sin G20 -3088298"/>
                <a:gd name="G23" fmla="+- G21 10800 0"/>
                <a:gd name="G24" fmla="+- G12 G23 G22"/>
                <a:gd name="G25" fmla="+- G22 G23 G11"/>
                <a:gd name="G26" fmla="cos 10800 -3088298"/>
                <a:gd name="G27" fmla="sin 10800 -3088298"/>
                <a:gd name="G28" fmla="cos 8128 -3088298"/>
                <a:gd name="G29" fmla="sin 8128 -3088298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11796480"/>
                <a:gd name="G36" fmla="sin G34 -11796480"/>
                <a:gd name="G37" fmla="+/ -11796480 -3088298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8128 G39"/>
                <a:gd name="G43" fmla="sin 8128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6482 w 21600"/>
                <a:gd name="T5" fmla="*/ 900 h 21600"/>
                <a:gd name="T6" fmla="*/ 1336 w 21600"/>
                <a:gd name="T7" fmla="*/ 10800 h 21600"/>
                <a:gd name="T8" fmla="*/ 7550 w 21600"/>
                <a:gd name="T9" fmla="*/ 3349 h 21600"/>
                <a:gd name="T10" fmla="*/ 19985 w 21600"/>
                <a:gd name="T11" fmla="*/ 906 h 21600"/>
                <a:gd name="T12" fmla="*/ 20197 w 21600"/>
                <a:gd name="T13" fmla="*/ 6610 h 21600"/>
                <a:gd name="T14" fmla="*/ 14493 w 21600"/>
                <a:gd name="T15" fmla="*/ 6822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6330" y="4843"/>
                  </a:moveTo>
                  <a:cubicBezTo>
                    <a:pt x="14827" y="3447"/>
                    <a:pt x="12851" y="2672"/>
                    <a:pt x="10800" y="2672"/>
                  </a:cubicBezTo>
                  <a:cubicBezTo>
                    <a:pt x="6311" y="2672"/>
                    <a:pt x="2672" y="6311"/>
                    <a:pt x="2672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3525" y="0"/>
                    <a:pt x="16150" y="1030"/>
                    <a:pt x="18148" y="2885"/>
                  </a:cubicBezTo>
                  <a:lnTo>
                    <a:pt x="19985" y="906"/>
                  </a:lnTo>
                  <a:lnTo>
                    <a:pt x="20197" y="6610"/>
                  </a:lnTo>
                  <a:lnTo>
                    <a:pt x="14493" y="6822"/>
                  </a:lnTo>
                  <a:lnTo>
                    <a:pt x="16330" y="4843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40" name="AutoShape 11">
              <a:extLst>
                <a:ext uri="{FF2B5EF4-FFF2-40B4-BE49-F238E27FC236}">
                  <a16:creationId xmlns:a16="http://schemas.microsoft.com/office/drawing/2014/main" id="{C8B6DA8A-F0B4-49A8-A5A5-E195FC165B6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H="1">
              <a:off x="6353175" y="1404938"/>
              <a:ext cx="1573213" cy="1476375"/>
            </a:xfrm>
            <a:custGeom>
              <a:avLst/>
              <a:gdLst>
                <a:gd name="G0" fmla="+- -1629867 0 0"/>
                <a:gd name="G1" fmla="+- -11796480 0 0"/>
                <a:gd name="G2" fmla="+- -1629867 0 -11796480"/>
                <a:gd name="G3" fmla="+- 10800 0 0"/>
                <a:gd name="G4" fmla="+- 0 0 -1629867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7906 0 0"/>
                <a:gd name="G9" fmla="+- 0 0 -11796480"/>
                <a:gd name="G10" fmla="+- 7906 0 2700"/>
                <a:gd name="G11" fmla="cos G10 -1629867"/>
                <a:gd name="G12" fmla="sin G10 -1629867"/>
                <a:gd name="G13" fmla="cos 13500 -1629867"/>
                <a:gd name="G14" fmla="sin 13500 -1629867"/>
                <a:gd name="G15" fmla="+- G11 10800 0"/>
                <a:gd name="G16" fmla="+- G12 10800 0"/>
                <a:gd name="G17" fmla="+- G13 10800 0"/>
                <a:gd name="G18" fmla="+- G14 10800 0"/>
                <a:gd name="G19" fmla="*/ 7906 1 2"/>
                <a:gd name="G20" fmla="+- G19 5400 0"/>
                <a:gd name="G21" fmla="cos G20 -1629867"/>
                <a:gd name="G22" fmla="sin G20 -1629867"/>
                <a:gd name="G23" fmla="+- G21 10800 0"/>
                <a:gd name="G24" fmla="+- G12 G23 G22"/>
                <a:gd name="G25" fmla="+- G22 G23 G11"/>
                <a:gd name="G26" fmla="cos 10800 -1629867"/>
                <a:gd name="G27" fmla="sin 10800 -1629867"/>
                <a:gd name="G28" fmla="cos 7906 -1629867"/>
                <a:gd name="G29" fmla="sin 7906 -1629867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11796480"/>
                <a:gd name="G36" fmla="sin G34 -11796480"/>
                <a:gd name="G37" fmla="+/ -11796480 -1629867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7906 G39"/>
                <a:gd name="G43" fmla="sin 7906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8474 w 21600"/>
                <a:gd name="T5" fmla="*/ 253 h 21600"/>
                <a:gd name="T6" fmla="*/ 1447 w 21600"/>
                <a:gd name="T7" fmla="*/ 10800 h 21600"/>
                <a:gd name="T8" fmla="*/ 9097 w 21600"/>
                <a:gd name="T9" fmla="*/ 3079 h 21600"/>
                <a:gd name="T10" fmla="*/ 23048 w 21600"/>
                <a:gd name="T11" fmla="*/ 5122 h 21600"/>
                <a:gd name="T12" fmla="*/ 21029 w 21600"/>
                <a:gd name="T13" fmla="*/ 10628 h 21600"/>
                <a:gd name="T14" fmla="*/ 15523 w 21600"/>
                <a:gd name="T15" fmla="*/ 8610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7972" y="7475"/>
                  </a:moveTo>
                  <a:cubicBezTo>
                    <a:pt x="16677" y="4681"/>
                    <a:pt x="13879" y="2894"/>
                    <a:pt x="10800" y="2894"/>
                  </a:cubicBezTo>
                  <a:cubicBezTo>
                    <a:pt x="6433" y="2894"/>
                    <a:pt x="2894" y="6433"/>
                    <a:pt x="2894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5006" y="0"/>
                    <a:pt x="18829" y="2441"/>
                    <a:pt x="20598" y="6257"/>
                  </a:cubicBezTo>
                  <a:lnTo>
                    <a:pt x="23048" y="5122"/>
                  </a:lnTo>
                  <a:lnTo>
                    <a:pt x="21029" y="10628"/>
                  </a:lnTo>
                  <a:lnTo>
                    <a:pt x="15523" y="8610"/>
                  </a:lnTo>
                  <a:lnTo>
                    <a:pt x="17972" y="7475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41" name="AutoShape 12">
              <a:extLst>
                <a:ext uri="{FF2B5EF4-FFF2-40B4-BE49-F238E27FC236}">
                  <a16:creationId xmlns:a16="http://schemas.microsoft.com/office/drawing/2014/main" id="{3D20C57A-0754-4450-BD02-4CC977D476D1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2514993">
              <a:off x="6362700" y="2705100"/>
              <a:ext cx="1571625" cy="1476375"/>
            </a:xfrm>
            <a:custGeom>
              <a:avLst/>
              <a:gdLst>
                <a:gd name="G0" fmla="+- -3088298 0 0"/>
                <a:gd name="G1" fmla="+- -11796480 0 0"/>
                <a:gd name="G2" fmla="+- -3088298 0 -11796480"/>
                <a:gd name="G3" fmla="+- 10800 0 0"/>
                <a:gd name="G4" fmla="+- 0 0 -3088298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8128 0 0"/>
                <a:gd name="G9" fmla="+- 0 0 -11796480"/>
                <a:gd name="G10" fmla="+- 8128 0 2700"/>
                <a:gd name="G11" fmla="cos G10 -3088298"/>
                <a:gd name="G12" fmla="sin G10 -3088298"/>
                <a:gd name="G13" fmla="cos 13500 -3088298"/>
                <a:gd name="G14" fmla="sin 13500 -3088298"/>
                <a:gd name="G15" fmla="+- G11 10800 0"/>
                <a:gd name="G16" fmla="+- G12 10800 0"/>
                <a:gd name="G17" fmla="+- G13 10800 0"/>
                <a:gd name="G18" fmla="+- G14 10800 0"/>
                <a:gd name="G19" fmla="*/ 8128 1 2"/>
                <a:gd name="G20" fmla="+- G19 5400 0"/>
                <a:gd name="G21" fmla="cos G20 -3088298"/>
                <a:gd name="G22" fmla="sin G20 -3088298"/>
                <a:gd name="G23" fmla="+- G21 10800 0"/>
                <a:gd name="G24" fmla="+- G12 G23 G22"/>
                <a:gd name="G25" fmla="+- G22 G23 G11"/>
                <a:gd name="G26" fmla="cos 10800 -3088298"/>
                <a:gd name="G27" fmla="sin 10800 -3088298"/>
                <a:gd name="G28" fmla="cos 8128 -3088298"/>
                <a:gd name="G29" fmla="sin 8128 -3088298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11796480"/>
                <a:gd name="G36" fmla="sin G34 -11796480"/>
                <a:gd name="G37" fmla="+/ -11796480 -3088298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8128 G39"/>
                <a:gd name="G43" fmla="sin 8128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6482 w 21600"/>
                <a:gd name="T5" fmla="*/ 900 h 21600"/>
                <a:gd name="T6" fmla="*/ 1336 w 21600"/>
                <a:gd name="T7" fmla="*/ 10800 h 21600"/>
                <a:gd name="T8" fmla="*/ 7550 w 21600"/>
                <a:gd name="T9" fmla="*/ 3349 h 21600"/>
                <a:gd name="T10" fmla="*/ 19985 w 21600"/>
                <a:gd name="T11" fmla="*/ 906 h 21600"/>
                <a:gd name="T12" fmla="*/ 20197 w 21600"/>
                <a:gd name="T13" fmla="*/ 6610 h 21600"/>
                <a:gd name="T14" fmla="*/ 14493 w 21600"/>
                <a:gd name="T15" fmla="*/ 6822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6330" y="4843"/>
                  </a:moveTo>
                  <a:cubicBezTo>
                    <a:pt x="14827" y="3447"/>
                    <a:pt x="12851" y="2672"/>
                    <a:pt x="10800" y="2672"/>
                  </a:cubicBezTo>
                  <a:cubicBezTo>
                    <a:pt x="6311" y="2672"/>
                    <a:pt x="2672" y="6311"/>
                    <a:pt x="2672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3525" y="0"/>
                    <a:pt x="16150" y="1030"/>
                    <a:pt x="18148" y="2885"/>
                  </a:cubicBezTo>
                  <a:lnTo>
                    <a:pt x="19985" y="906"/>
                  </a:lnTo>
                  <a:lnTo>
                    <a:pt x="20197" y="6610"/>
                  </a:lnTo>
                  <a:lnTo>
                    <a:pt x="14493" y="6822"/>
                  </a:lnTo>
                  <a:lnTo>
                    <a:pt x="16330" y="4843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42" name="AutoShape 13">
              <a:extLst>
                <a:ext uri="{FF2B5EF4-FFF2-40B4-BE49-F238E27FC236}">
                  <a16:creationId xmlns:a16="http://schemas.microsoft.com/office/drawing/2014/main" id="{5E258352-3270-48CE-9EB4-CD99DD042F8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6423025" y="4119563"/>
              <a:ext cx="1571625" cy="1476375"/>
            </a:xfrm>
            <a:custGeom>
              <a:avLst/>
              <a:gdLst>
                <a:gd name="G0" fmla="+- -1629867 0 0"/>
                <a:gd name="G1" fmla="+- -11796480 0 0"/>
                <a:gd name="G2" fmla="+- -1629867 0 -11796480"/>
                <a:gd name="G3" fmla="+- 10800 0 0"/>
                <a:gd name="G4" fmla="+- 0 0 -1629867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7906 0 0"/>
                <a:gd name="G9" fmla="+- 0 0 -11796480"/>
                <a:gd name="G10" fmla="+- 7906 0 2700"/>
                <a:gd name="G11" fmla="cos G10 -1629867"/>
                <a:gd name="G12" fmla="sin G10 -1629867"/>
                <a:gd name="G13" fmla="cos 13500 -1629867"/>
                <a:gd name="G14" fmla="sin 13500 -1629867"/>
                <a:gd name="G15" fmla="+- G11 10800 0"/>
                <a:gd name="G16" fmla="+- G12 10800 0"/>
                <a:gd name="G17" fmla="+- G13 10800 0"/>
                <a:gd name="G18" fmla="+- G14 10800 0"/>
                <a:gd name="G19" fmla="*/ 7906 1 2"/>
                <a:gd name="G20" fmla="+- G19 5400 0"/>
                <a:gd name="G21" fmla="cos G20 -1629867"/>
                <a:gd name="G22" fmla="sin G20 -1629867"/>
                <a:gd name="G23" fmla="+- G21 10800 0"/>
                <a:gd name="G24" fmla="+- G12 G23 G22"/>
                <a:gd name="G25" fmla="+- G22 G23 G11"/>
                <a:gd name="G26" fmla="cos 10800 -1629867"/>
                <a:gd name="G27" fmla="sin 10800 -1629867"/>
                <a:gd name="G28" fmla="cos 7906 -1629867"/>
                <a:gd name="G29" fmla="sin 7906 -1629867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11796480"/>
                <a:gd name="G36" fmla="sin G34 -11796480"/>
                <a:gd name="G37" fmla="+/ -11796480 -1629867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7906 G39"/>
                <a:gd name="G43" fmla="sin 7906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8474 w 21600"/>
                <a:gd name="T5" fmla="*/ 253 h 21600"/>
                <a:gd name="T6" fmla="*/ 1447 w 21600"/>
                <a:gd name="T7" fmla="*/ 10800 h 21600"/>
                <a:gd name="T8" fmla="*/ 9097 w 21600"/>
                <a:gd name="T9" fmla="*/ 3079 h 21600"/>
                <a:gd name="T10" fmla="*/ 23048 w 21600"/>
                <a:gd name="T11" fmla="*/ 5122 h 21600"/>
                <a:gd name="T12" fmla="*/ 21029 w 21600"/>
                <a:gd name="T13" fmla="*/ 10628 h 21600"/>
                <a:gd name="T14" fmla="*/ 15523 w 21600"/>
                <a:gd name="T15" fmla="*/ 8610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7972" y="7475"/>
                  </a:moveTo>
                  <a:cubicBezTo>
                    <a:pt x="16677" y="4681"/>
                    <a:pt x="13879" y="2894"/>
                    <a:pt x="10800" y="2894"/>
                  </a:cubicBezTo>
                  <a:cubicBezTo>
                    <a:pt x="6433" y="2894"/>
                    <a:pt x="2894" y="6433"/>
                    <a:pt x="2894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5006" y="0"/>
                    <a:pt x="18829" y="2441"/>
                    <a:pt x="20598" y="6257"/>
                  </a:cubicBezTo>
                  <a:lnTo>
                    <a:pt x="23048" y="5122"/>
                  </a:lnTo>
                  <a:lnTo>
                    <a:pt x="21029" y="10628"/>
                  </a:lnTo>
                  <a:lnTo>
                    <a:pt x="15523" y="8610"/>
                  </a:lnTo>
                  <a:lnTo>
                    <a:pt x="17972" y="7475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14255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uiExpand="1" build="p"/>
      <p:bldP spid="31" grpId="0" uiExpand="1" animBg="1"/>
      <p:bldP spid="32" grpId="0" uiExpand="1"/>
      <p:bldP spid="33" grpId="0"/>
      <p:bldP spid="3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1502569" y="857250"/>
            <a:ext cx="6172200" cy="857250"/>
          </a:xfrm>
        </p:spPr>
        <p:txBody>
          <a:bodyPr/>
          <a:lstStyle/>
          <a:p>
            <a:r>
              <a:rPr lang="en-GB">
                <a:latin typeface="+mn-lt"/>
              </a:rPr>
              <a:t>Simplified kinetic scheme</a:t>
            </a:r>
            <a:endParaRPr lang="en-US">
              <a:latin typeface="+mn-lt"/>
            </a:endParaRPr>
          </a:p>
        </p:txBody>
      </p:sp>
      <p:sp>
        <p:nvSpPr>
          <p:cNvPr id="29704" name="Rectangle 8"/>
          <p:cNvSpPr>
            <a:spLocks noChangeArrowheads="1"/>
          </p:cNvSpPr>
          <p:nvPr/>
        </p:nvSpPr>
        <p:spPr bwMode="auto">
          <a:xfrm>
            <a:off x="1502570" y="1711373"/>
            <a:ext cx="5978129" cy="42934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GB" sz="2100">
                <a:solidFill>
                  <a:prstClr val="black"/>
                </a:solidFill>
                <a:latin typeface="+mn-lt"/>
              </a:rPr>
              <a:t>Initiation step:</a:t>
            </a:r>
          </a:p>
          <a:p>
            <a:endParaRPr lang="en-GB" sz="2100">
              <a:solidFill>
                <a:prstClr val="black"/>
              </a:solidFill>
              <a:latin typeface="+mn-lt"/>
            </a:endParaRPr>
          </a:p>
          <a:p>
            <a:r>
              <a:rPr lang="en-GB" sz="2100">
                <a:solidFill>
                  <a:prstClr val="black"/>
                </a:solidFill>
                <a:latin typeface="+mn-lt"/>
              </a:rPr>
              <a:t>Br</a:t>
            </a:r>
            <a:r>
              <a:rPr lang="en-GB" sz="2100" baseline="-25000">
                <a:solidFill>
                  <a:prstClr val="black"/>
                </a:solidFill>
                <a:latin typeface="+mn-lt"/>
              </a:rPr>
              <a:t>2</a:t>
            </a:r>
            <a:r>
              <a:rPr lang="en-GB" sz="2100">
                <a:solidFill>
                  <a:prstClr val="black"/>
                </a:solidFill>
                <a:latin typeface="+mn-lt"/>
              </a:rPr>
              <a:t> + M </a:t>
            </a:r>
            <a:r>
              <a:rPr lang="en-GB" sz="2100">
                <a:solidFill>
                  <a:prstClr val="black"/>
                </a:solidFill>
                <a:latin typeface="+mn-lt"/>
                <a:cs typeface="Arial" charset="0"/>
              </a:rPr>
              <a:t>→ </a:t>
            </a:r>
            <a:r>
              <a:rPr lang="en-GB" sz="2100">
                <a:solidFill>
                  <a:prstClr val="black"/>
                </a:solidFill>
                <a:latin typeface="+mn-lt"/>
              </a:rPr>
              <a:t>2Br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· + M		(1)		</a:t>
            </a:r>
          </a:p>
          <a:p>
            <a:endParaRPr lang="en-GB" sz="2100">
              <a:solidFill>
                <a:prstClr val="black"/>
              </a:solidFill>
              <a:latin typeface="+mn-lt"/>
            </a:endParaRPr>
          </a:p>
          <a:p>
            <a:pPr>
              <a:buFontTx/>
              <a:buChar char="•"/>
            </a:pPr>
            <a:r>
              <a:rPr lang="en-GB" sz="2100">
                <a:solidFill>
                  <a:prstClr val="black"/>
                </a:solidFill>
                <a:latin typeface="+mn-lt"/>
              </a:rPr>
              <a:t>Propagation steps:</a:t>
            </a:r>
          </a:p>
          <a:p>
            <a:endParaRPr lang="en-GB" sz="2100">
              <a:solidFill>
                <a:prstClr val="black"/>
              </a:solidFill>
              <a:latin typeface="+mn-lt"/>
            </a:endParaRPr>
          </a:p>
          <a:p>
            <a:r>
              <a:rPr lang="en-GB" sz="2100">
                <a:solidFill>
                  <a:prstClr val="black"/>
                </a:solidFill>
                <a:latin typeface="+mn-lt"/>
              </a:rPr>
              <a:t>Br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· + </a:t>
            </a:r>
            <a:r>
              <a:rPr lang="en-GB" sz="2100">
                <a:solidFill>
                  <a:prstClr val="black"/>
                </a:solidFill>
                <a:latin typeface="+mn-lt"/>
              </a:rPr>
              <a:t>H</a:t>
            </a:r>
            <a:r>
              <a:rPr lang="en-GB" sz="2100" baseline="-25000">
                <a:solidFill>
                  <a:prstClr val="black"/>
                </a:solidFill>
                <a:latin typeface="+mn-lt"/>
              </a:rPr>
              <a:t>2</a:t>
            </a:r>
            <a:r>
              <a:rPr lang="en-GB" sz="2100">
                <a:solidFill>
                  <a:prstClr val="black"/>
                </a:solidFill>
                <a:latin typeface="+mn-lt"/>
              </a:rPr>
              <a:t> </a:t>
            </a:r>
            <a:r>
              <a:rPr lang="en-GB" sz="2100">
                <a:solidFill>
                  <a:prstClr val="black"/>
                </a:solidFill>
                <a:latin typeface="+mn-lt"/>
                <a:cs typeface="Arial" charset="0"/>
              </a:rPr>
              <a:t>→ </a:t>
            </a:r>
            <a:r>
              <a:rPr lang="en-GB" sz="2100" err="1">
                <a:solidFill>
                  <a:prstClr val="black"/>
                </a:solidFill>
                <a:latin typeface="+mn-lt"/>
                <a:cs typeface="Arial" charset="0"/>
              </a:rPr>
              <a:t>HBr</a:t>
            </a:r>
            <a:r>
              <a:rPr lang="en-GB" sz="2100">
                <a:solidFill>
                  <a:prstClr val="black"/>
                </a:solidFill>
                <a:latin typeface="+mn-lt"/>
                <a:cs typeface="Arial" charset="0"/>
              </a:rPr>
              <a:t> + </a:t>
            </a:r>
            <a:r>
              <a:rPr lang="en-GB" sz="2100">
                <a:solidFill>
                  <a:prstClr val="black"/>
                </a:solidFill>
                <a:latin typeface="+mn-lt"/>
              </a:rPr>
              <a:t>H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· 		(2)</a:t>
            </a:r>
          </a:p>
          <a:p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	</a:t>
            </a:r>
          </a:p>
          <a:p>
            <a:r>
              <a:rPr lang="en-GB" sz="2100">
                <a:solidFill>
                  <a:prstClr val="black"/>
                </a:solidFill>
                <a:latin typeface="+mn-lt"/>
              </a:rPr>
              <a:t>H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· + </a:t>
            </a:r>
            <a:r>
              <a:rPr lang="en-GB" sz="2100">
                <a:solidFill>
                  <a:prstClr val="black"/>
                </a:solidFill>
                <a:latin typeface="+mn-lt"/>
              </a:rPr>
              <a:t>Br</a:t>
            </a:r>
            <a:r>
              <a:rPr lang="en-GB" sz="2100" baseline="-25000">
                <a:solidFill>
                  <a:prstClr val="black"/>
                </a:solidFill>
                <a:latin typeface="+mn-lt"/>
              </a:rPr>
              <a:t>2</a:t>
            </a:r>
            <a:r>
              <a:rPr lang="en-GB" sz="2100">
                <a:solidFill>
                  <a:prstClr val="black"/>
                </a:solidFill>
                <a:latin typeface="+mn-lt"/>
              </a:rPr>
              <a:t> </a:t>
            </a:r>
            <a:r>
              <a:rPr lang="en-GB" sz="2100">
                <a:solidFill>
                  <a:prstClr val="black"/>
                </a:solidFill>
                <a:latin typeface="+mn-lt"/>
                <a:cs typeface="Arial" charset="0"/>
              </a:rPr>
              <a:t>→ </a:t>
            </a:r>
            <a:r>
              <a:rPr lang="en-GB" sz="2100" err="1">
                <a:solidFill>
                  <a:prstClr val="black"/>
                </a:solidFill>
                <a:latin typeface="+mn-lt"/>
                <a:cs typeface="Arial" charset="0"/>
              </a:rPr>
              <a:t>HBr</a:t>
            </a:r>
            <a:r>
              <a:rPr lang="en-GB" sz="2100">
                <a:solidFill>
                  <a:prstClr val="black"/>
                </a:solidFill>
                <a:latin typeface="+mn-lt"/>
                <a:cs typeface="Arial" charset="0"/>
              </a:rPr>
              <a:t> + </a:t>
            </a:r>
            <a:r>
              <a:rPr lang="en-GB" sz="2100">
                <a:solidFill>
                  <a:prstClr val="black"/>
                </a:solidFill>
                <a:latin typeface="+mn-lt"/>
              </a:rPr>
              <a:t>Br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·  		(3)</a:t>
            </a:r>
          </a:p>
          <a:p>
            <a:pPr>
              <a:buFontTx/>
              <a:buChar char="•"/>
            </a:pPr>
            <a:endParaRPr lang="en-GB" sz="2100">
              <a:solidFill>
                <a:prstClr val="black"/>
              </a:solidFill>
              <a:latin typeface="+mn-lt"/>
            </a:endParaRPr>
          </a:p>
          <a:p>
            <a:pPr>
              <a:buFontTx/>
              <a:buChar char="•"/>
            </a:pPr>
            <a:r>
              <a:rPr lang="en-GB" sz="2100">
                <a:solidFill>
                  <a:prstClr val="black"/>
                </a:solidFill>
                <a:latin typeface="+mn-lt"/>
              </a:rPr>
              <a:t>Termination step:	 </a:t>
            </a:r>
          </a:p>
          <a:p>
            <a:endParaRPr lang="en-GB" sz="2100">
              <a:solidFill>
                <a:prstClr val="black"/>
              </a:solidFill>
              <a:latin typeface="+mn-lt"/>
            </a:endParaRPr>
          </a:p>
          <a:p>
            <a:r>
              <a:rPr lang="en-GB" sz="2100">
                <a:solidFill>
                  <a:prstClr val="black"/>
                </a:solidFill>
                <a:latin typeface="+mn-lt"/>
              </a:rPr>
              <a:t>Br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· + </a:t>
            </a:r>
            <a:r>
              <a:rPr lang="en-GB" sz="2100">
                <a:solidFill>
                  <a:prstClr val="black"/>
                </a:solidFill>
                <a:latin typeface="+mn-lt"/>
              </a:rPr>
              <a:t>Br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· + </a:t>
            </a:r>
            <a:r>
              <a:rPr lang="en-GB" sz="2100">
                <a:solidFill>
                  <a:prstClr val="black"/>
                </a:solidFill>
                <a:latin typeface="+mn-lt"/>
              </a:rPr>
              <a:t>M </a:t>
            </a:r>
            <a:r>
              <a:rPr lang="en-GB" sz="2100">
                <a:solidFill>
                  <a:prstClr val="black"/>
                </a:solidFill>
                <a:latin typeface="+mn-lt"/>
                <a:cs typeface="Arial" charset="0"/>
              </a:rPr>
              <a:t>→ </a:t>
            </a:r>
            <a:r>
              <a:rPr lang="en-GB" sz="2100">
                <a:solidFill>
                  <a:prstClr val="black"/>
                </a:solidFill>
                <a:latin typeface="+mn-lt"/>
              </a:rPr>
              <a:t>Br</a:t>
            </a:r>
            <a:r>
              <a:rPr lang="en-GB" sz="2100" baseline="-25000">
                <a:solidFill>
                  <a:prstClr val="black"/>
                </a:solidFill>
                <a:latin typeface="+mn-lt"/>
              </a:rPr>
              <a:t>2</a:t>
            </a:r>
            <a:r>
              <a:rPr lang="en-GB" sz="2100">
                <a:solidFill>
                  <a:prstClr val="black"/>
                </a:solidFill>
                <a:latin typeface="+mn-lt"/>
              </a:rPr>
              <a:t> 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+ M 		(4)</a:t>
            </a:r>
            <a:endParaRPr lang="en-GB" sz="2100">
              <a:solidFill>
                <a:prstClr val="black"/>
              </a:solidFill>
              <a:latin typeface="+mn-lt"/>
            </a:endParaRPr>
          </a:p>
        </p:txBody>
      </p:sp>
      <p:sp>
        <p:nvSpPr>
          <p:cNvPr id="29705" name="Text Box 9"/>
          <p:cNvSpPr txBox="1">
            <a:spLocks noChangeArrowheads="1"/>
          </p:cNvSpPr>
          <p:nvPr/>
        </p:nvSpPr>
        <p:spPr bwMode="auto">
          <a:xfrm>
            <a:off x="2428860" y="2076440"/>
            <a:ext cx="431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i="1">
                <a:solidFill>
                  <a:prstClr val="black"/>
                </a:solidFill>
                <a:latin typeface="+mn-lt"/>
              </a:rPr>
              <a:t>k</a:t>
            </a:r>
            <a:r>
              <a:rPr lang="en-GB" i="1" baseline="-25000">
                <a:solidFill>
                  <a:prstClr val="black"/>
                </a:solidFill>
                <a:latin typeface="+mn-lt"/>
              </a:rPr>
              <a:t>1</a:t>
            </a:r>
            <a:endParaRPr lang="en-US" i="1" baseline="-25000">
              <a:solidFill>
                <a:prstClr val="black"/>
              </a:solidFill>
              <a:latin typeface="+mn-lt"/>
            </a:endParaRPr>
          </a:p>
        </p:txBody>
      </p:sp>
      <p:sp>
        <p:nvSpPr>
          <p:cNvPr id="29710" name="Text Box 14"/>
          <p:cNvSpPr txBox="1">
            <a:spLocks noChangeArrowheads="1"/>
          </p:cNvSpPr>
          <p:nvPr/>
        </p:nvSpPr>
        <p:spPr bwMode="auto">
          <a:xfrm>
            <a:off x="2410714" y="3376279"/>
            <a:ext cx="4283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i="1">
                <a:solidFill>
                  <a:prstClr val="black"/>
                </a:solidFill>
                <a:latin typeface="+mn-lt"/>
              </a:rPr>
              <a:t>k</a:t>
            </a:r>
            <a:r>
              <a:rPr lang="en-GB" i="1" baseline="-25000">
                <a:solidFill>
                  <a:prstClr val="black"/>
                </a:solidFill>
                <a:latin typeface="+mn-lt"/>
              </a:rPr>
              <a:t>2</a:t>
            </a:r>
            <a:endParaRPr lang="en-US" i="1" baseline="-25000">
              <a:solidFill>
                <a:prstClr val="black"/>
              </a:solidFill>
              <a:latin typeface="+mn-lt"/>
            </a:endParaRPr>
          </a:p>
        </p:txBody>
      </p:sp>
      <p:sp>
        <p:nvSpPr>
          <p:cNvPr id="29711" name="Text Box 15"/>
          <p:cNvSpPr txBox="1">
            <a:spLocks noChangeArrowheads="1"/>
          </p:cNvSpPr>
          <p:nvPr/>
        </p:nvSpPr>
        <p:spPr bwMode="auto">
          <a:xfrm>
            <a:off x="2410714" y="3969051"/>
            <a:ext cx="431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i="1">
                <a:solidFill>
                  <a:prstClr val="black"/>
                </a:solidFill>
                <a:latin typeface="+mn-lt"/>
              </a:rPr>
              <a:t>k</a:t>
            </a:r>
            <a:r>
              <a:rPr lang="en-GB" i="1" baseline="-25000">
                <a:solidFill>
                  <a:prstClr val="black"/>
                </a:solidFill>
                <a:latin typeface="+mn-lt"/>
              </a:rPr>
              <a:t>3</a:t>
            </a:r>
            <a:endParaRPr lang="en-US" i="1" baseline="-25000">
              <a:solidFill>
                <a:prstClr val="black"/>
              </a:solidFill>
              <a:latin typeface="+mn-lt"/>
            </a:endParaRPr>
          </a:p>
        </p:txBody>
      </p:sp>
      <p:sp>
        <p:nvSpPr>
          <p:cNvPr id="29712" name="Text Box 16"/>
          <p:cNvSpPr txBox="1">
            <a:spLocks noChangeArrowheads="1"/>
          </p:cNvSpPr>
          <p:nvPr/>
        </p:nvSpPr>
        <p:spPr bwMode="auto">
          <a:xfrm>
            <a:off x="2951820" y="5274205"/>
            <a:ext cx="431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i="1">
                <a:solidFill>
                  <a:prstClr val="black"/>
                </a:solidFill>
                <a:latin typeface="+mn-lt"/>
              </a:rPr>
              <a:t>k</a:t>
            </a:r>
            <a:r>
              <a:rPr lang="en-GB" i="1" baseline="-25000">
                <a:solidFill>
                  <a:prstClr val="black"/>
                </a:solidFill>
                <a:latin typeface="+mn-lt"/>
              </a:rPr>
              <a:t>4</a:t>
            </a:r>
            <a:endParaRPr lang="en-US" i="1" baseline="-25000">
              <a:solidFill>
                <a:prstClr val="black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11947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5" grpId="0"/>
      <p:bldP spid="29710" grpId="0"/>
      <p:bldP spid="29711" grpId="0"/>
      <p:bldP spid="297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</a:rPr>
              <a:t>Worked example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361652" y="1993669"/>
            <a:ext cx="2725426" cy="677689"/>
            <a:chOff x="164201" y="1916833"/>
            <a:chExt cx="3633900" cy="903585"/>
          </a:xfrm>
        </p:grpSpPr>
        <p:sp>
          <p:nvSpPr>
            <p:cNvPr id="4" name="Rectangle 3"/>
            <p:cNvSpPr/>
            <p:nvPr/>
          </p:nvSpPr>
          <p:spPr>
            <a:xfrm>
              <a:off x="164201" y="2204865"/>
              <a:ext cx="363390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GB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 + M </a:t>
              </a:r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→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2Br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 + M</a:t>
              </a:r>
              <a:endParaRPr lang="en-GB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5" name="Text Box 9"/>
            <p:cNvSpPr txBox="1">
              <a:spLocks noChangeArrowheads="1"/>
            </p:cNvSpPr>
            <p:nvPr/>
          </p:nvSpPr>
          <p:spPr bwMode="auto">
            <a:xfrm>
              <a:off x="1502723" y="1916833"/>
              <a:ext cx="575370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i="1" baseline="-25000">
                  <a:solidFill>
                    <a:prstClr val="black"/>
                  </a:solidFill>
                  <a:latin typeface="+mn-lt"/>
                </a:rPr>
                <a:t>1</a:t>
              </a:r>
              <a:endParaRPr lang="en-US" i="1" baseline="-25000">
                <a:solidFill>
                  <a:prstClr val="black"/>
                </a:solidFill>
                <a:latin typeface="+mn-lt"/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4680012" y="2186863"/>
            <a:ext cx="153439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solidFill>
                  <a:srgbClr val="FF0000"/>
                </a:solidFill>
                <a:latin typeface="+mn-lt"/>
              </a:rPr>
              <a:t>Rate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1</a:t>
            </a:r>
            <a:r>
              <a:rPr lang="en-GB">
                <a:solidFill>
                  <a:srgbClr val="FF0000"/>
                </a:solidFill>
                <a:latin typeface="+mn-lt"/>
              </a:rPr>
              <a:t> = … </a:t>
            </a:r>
            <a:endParaRPr lang="en-GB" baseline="-25000">
              <a:solidFill>
                <a:srgbClr val="FF0000"/>
              </a:solidFill>
              <a:latin typeface="+mn-lt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1365651" y="4077073"/>
            <a:ext cx="2844048" cy="677689"/>
            <a:chOff x="251520" y="3212976"/>
            <a:chExt cx="3792064" cy="903585"/>
          </a:xfrm>
        </p:grpSpPr>
        <p:sp>
          <p:nvSpPr>
            <p:cNvPr id="8" name="Rectangle 7"/>
            <p:cNvSpPr/>
            <p:nvPr/>
          </p:nvSpPr>
          <p:spPr>
            <a:xfrm>
              <a:off x="251520" y="3501008"/>
              <a:ext cx="3792064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</a:rPr>
                <a:t>H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GB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 </a:t>
              </a:r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→ </a:t>
              </a:r>
              <a:r>
                <a:rPr lang="en-GB" err="1">
                  <a:solidFill>
                    <a:prstClr val="black"/>
                  </a:solidFill>
                  <a:latin typeface="+mn-lt"/>
                  <a:cs typeface="Arial" charset="0"/>
                </a:rPr>
                <a:t>HBr</a:t>
              </a:r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 +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</a:t>
              </a:r>
              <a:endParaRPr lang="en-GB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646776" y="3212976"/>
              <a:ext cx="575371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i="1" baseline="-25000">
                  <a:solidFill>
                    <a:prstClr val="black"/>
                  </a:solidFill>
                  <a:latin typeface="+mn-lt"/>
                </a:rPr>
                <a:t>3</a:t>
              </a:r>
              <a:endParaRPr lang="en-US" i="1" baseline="-25000">
                <a:solidFill>
                  <a:prstClr val="black"/>
                </a:solidFill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361652" y="3232890"/>
            <a:ext cx="2776722" cy="677689"/>
            <a:chOff x="251520" y="4293096"/>
            <a:chExt cx="3702296" cy="903585"/>
          </a:xfrm>
        </p:grpSpPr>
        <p:sp>
          <p:nvSpPr>
            <p:cNvPr id="11" name="Rectangle 10"/>
            <p:cNvSpPr/>
            <p:nvPr/>
          </p:nvSpPr>
          <p:spPr>
            <a:xfrm>
              <a:off x="251520" y="4581128"/>
              <a:ext cx="3702296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H</a:t>
              </a:r>
              <a:r>
                <a:rPr lang="en-GB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 </a:t>
              </a:r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→ </a:t>
              </a:r>
              <a:r>
                <a:rPr lang="en-GB" err="1">
                  <a:solidFill>
                    <a:prstClr val="black"/>
                  </a:solidFill>
                  <a:latin typeface="+mn-lt"/>
                  <a:cs typeface="Arial" charset="0"/>
                </a:rPr>
                <a:t>HBr</a:t>
              </a:r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 +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H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</a:t>
              </a:r>
              <a:endParaRPr lang="en-GB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1604791" y="4293096"/>
              <a:ext cx="571096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i="1" baseline="-25000">
                  <a:solidFill>
                    <a:prstClr val="black"/>
                  </a:solidFill>
                  <a:latin typeface="+mn-lt"/>
                </a:rPr>
                <a:t>2</a:t>
              </a:r>
              <a:endParaRPr lang="en-US" i="1" baseline="-25000">
                <a:solidFill>
                  <a:prstClr val="black"/>
                </a:solidFill>
                <a:latin typeface="+mn-lt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362824" y="5150660"/>
            <a:ext cx="3316934" cy="677689"/>
            <a:chOff x="293097" y="5373216"/>
            <a:chExt cx="4422578" cy="903585"/>
          </a:xfrm>
        </p:grpSpPr>
        <p:sp>
          <p:nvSpPr>
            <p:cNvPr id="15" name="Rectangle 14"/>
            <p:cNvSpPr/>
            <p:nvPr/>
          </p:nvSpPr>
          <p:spPr>
            <a:xfrm>
              <a:off x="293097" y="5661248"/>
              <a:ext cx="4422578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M </a:t>
              </a:r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→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GB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 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+ M </a:t>
              </a:r>
              <a:endParaRPr lang="en-GB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2483767" y="5373216"/>
              <a:ext cx="575371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i="1" baseline="-25000">
                  <a:solidFill>
                    <a:prstClr val="black"/>
                  </a:solidFill>
                  <a:latin typeface="+mn-lt"/>
                </a:rPr>
                <a:t>4</a:t>
              </a:r>
              <a:endParaRPr lang="en-US" i="1" baseline="-25000">
                <a:solidFill>
                  <a:prstClr val="black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26822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+mn-lt"/>
              </a:rPr>
              <a:t>Worked example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1361652" y="1993669"/>
            <a:ext cx="2725426" cy="677689"/>
            <a:chOff x="164201" y="1916833"/>
            <a:chExt cx="3633900" cy="903585"/>
          </a:xfrm>
        </p:grpSpPr>
        <p:sp>
          <p:nvSpPr>
            <p:cNvPr id="4" name="Rectangle 3"/>
            <p:cNvSpPr/>
            <p:nvPr/>
          </p:nvSpPr>
          <p:spPr>
            <a:xfrm>
              <a:off x="164201" y="2204865"/>
              <a:ext cx="363390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GB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 + M </a:t>
              </a:r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→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2Br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 + M</a:t>
              </a:r>
              <a:endParaRPr lang="en-GB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5" name="Text Box 9"/>
            <p:cNvSpPr txBox="1">
              <a:spLocks noChangeArrowheads="1"/>
            </p:cNvSpPr>
            <p:nvPr/>
          </p:nvSpPr>
          <p:spPr bwMode="auto">
            <a:xfrm>
              <a:off x="1502723" y="1916833"/>
              <a:ext cx="575370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i="1" baseline="-25000">
                  <a:solidFill>
                    <a:prstClr val="black"/>
                  </a:solidFill>
                  <a:latin typeface="+mn-lt"/>
                </a:rPr>
                <a:t>1</a:t>
              </a:r>
              <a:endParaRPr lang="en-US" i="1" baseline="-25000">
                <a:solidFill>
                  <a:prstClr val="black"/>
                </a:solidFill>
                <a:latin typeface="+mn-lt"/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4680013" y="2186863"/>
            <a:ext cx="12153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solidFill>
                  <a:srgbClr val="FF0000"/>
                </a:solidFill>
                <a:latin typeface="+mn-lt"/>
              </a:rPr>
              <a:t>Rate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1</a:t>
            </a:r>
            <a:r>
              <a:rPr lang="en-GB">
                <a:solidFill>
                  <a:srgbClr val="FF0000"/>
                </a:solidFill>
                <a:latin typeface="+mn-lt"/>
              </a:rPr>
              <a:t> = </a:t>
            </a:r>
            <a:endParaRPr lang="en-GB" baseline="-25000">
              <a:solidFill>
                <a:srgbClr val="FF0000"/>
              </a:solidFill>
              <a:latin typeface="+mn-lt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1365651" y="4077073"/>
            <a:ext cx="2844048" cy="677689"/>
            <a:chOff x="251520" y="3212976"/>
            <a:chExt cx="3792064" cy="903585"/>
          </a:xfrm>
        </p:grpSpPr>
        <p:sp>
          <p:nvSpPr>
            <p:cNvPr id="8" name="Rectangle 7"/>
            <p:cNvSpPr/>
            <p:nvPr/>
          </p:nvSpPr>
          <p:spPr>
            <a:xfrm>
              <a:off x="251520" y="3501008"/>
              <a:ext cx="3792064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</a:rPr>
                <a:t>H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GB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 </a:t>
              </a:r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→ </a:t>
              </a:r>
              <a:r>
                <a:rPr lang="en-GB" err="1">
                  <a:solidFill>
                    <a:prstClr val="black"/>
                  </a:solidFill>
                  <a:latin typeface="+mn-lt"/>
                  <a:cs typeface="Arial" charset="0"/>
                </a:rPr>
                <a:t>HBr</a:t>
              </a:r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 +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</a:t>
              </a:r>
              <a:endParaRPr lang="en-GB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646776" y="3212976"/>
              <a:ext cx="575371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i="1" baseline="-25000">
                  <a:solidFill>
                    <a:prstClr val="black"/>
                  </a:solidFill>
                  <a:latin typeface="+mn-lt"/>
                </a:rPr>
                <a:t>3</a:t>
              </a:r>
              <a:endParaRPr lang="en-US" i="1" baseline="-25000">
                <a:solidFill>
                  <a:prstClr val="black"/>
                </a:solidFill>
                <a:latin typeface="+mn-lt"/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4680012" y="3483007"/>
            <a:ext cx="12153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solidFill>
                  <a:srgbClr val="FF0000"/>
                </a:solidFill>
                <a:latin typeface="+mn-lt"/>
              </a:rPr>
              <a:t>Rate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2</a:t>
            </a:r>
            <a:r>
              <a:rPr lang="en-GB">
                <a:solidFill>
                  <a:srgbClr val="FF0000"/>
                </a:solidFill>
                <a:latin typeface="+mn-lt"/>
              </a:rPr>
              <a:t> = </a:t>
            </a:r>
            <a:endParaRPr lang="en-GB" baseline="-25000">
              <a:solidFill>
                <a:srgbClr val="FF0000"/>
              </a:solidFill>
              <a:latin typeface="+mn-lt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1361652" y="3232890"/>
            <a:ext cx="2776722" cy="677689"/>
            <a:chOff x="251520" y="4293096"/>
            <a:chExt cx="3702296" cy="903585"/>
          </a:xfrm>
        </p:grpSpPr>
        <p:sp>
          <p:nvSpPr>
            <p:cNvPr id="11" name="Rectangle 10"/>
            <p:cNvSpPr/>
            <p:nvPr/>
          </p:nvSpPr>
          <p:spPr>
            <a:xfrm>
              <a:off x="251520" y="4581128"/>
              <a:ext cx="3702296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H</a:t>
              </a:r>
              <a:r>
                <a:rPr lang="en-GB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 </a:t>
              </a:r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→ </a:t>
              </a:r>
              <a:r>
                <a:rPr lang="en-GB" err="1">
                  <a:solidFill>
                    <a:prstClr val="black"/>
                  </a:solidFill>
                  <a:latin typeface="+mn-lt"/>
                  <a:cs typeface="Arial" charset="0"/>
                </a:rPr>
                <a:t>HBr</a:t>
              </a:r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 +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H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</a:t>
              </a:r>
              <a:endParaRPr lang="en-GB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1604791" y="4293096"/>
              <a:ext cx="571096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i="1" baseline="-25000">
                  <a:solidFill>
                    <a:prstClr val="black"/>
                  </a:solidFill>
                  <a:latin typeface="+mn-lt"/>
                </a:rPr>
                <a:t>2</a:t>
              </a:r>
              <a:endParaRPr lang="en-US" i="1" baseline="-25000">
                <a:solidFill>
                  <a:prstClr val="black"/>
                </a:solidFill>
                <a:latin typeface="+mn-lt"/>
              </a:endParaRPr>
            </a:p>
          </p:txBody>
        </p:sp>
      </p:grpSp>
      <p:sp>
        <p:nvSpPr>
          <p:cNvPr id="13" name="Rectangle 12"/>
          <p:cNvSpPr/>
          <p:nvPr/>
        </p:nvSpPr>
        <p:spPr>
          <a:xfrm>
            <a:off x="4680013" y="4293097"/>
            <a:ext cx="12153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solidFill>
                  <a:srgbClr val="FF0000"/>
                </a:solidFill>
                <a:latin typeface="+mn-lt"/>
              </a:rPr>
              <a:t>Rate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3</a:t>
            </a:r>
            <a:r>
              <a:rPr lang="en-GB">
                <a:solidFill>
                  <a:srgbClr val="FF0000"/>
                </a:solidFill>
                <a:latin typeface="+mn-lt"/>
              </a:rPr>
              <a:t> = </a:t>
            </a:r>
            <a:endParaRPr lang="en-GB" baseline="-25000">
              <a:solidFill>
                <a:srgbClr val="FF0000"/>
              </a:solidFill>
              <a:latin typeface="+mn-lt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362824" y="5150660"/>
            <a:ext cx="3316934" cy="677689"/>
            <a:chOff x="293097" y="5373216"/>
            <a:chExt cx="4422578" cy="903585"/>
          </a:xfrm>
        </p:grpSpPr>
        <p:sp>
          <p:nvSpPr>
            <p:cNvPr id="15" name="Rectangle 14"/>
            <p:cNvSpPr/>
            <p:nvPr/>
          </p:nvSpPr>
          <p:spPr>
            <a:xfrm>
              <a:off x="293097" y="5661248"/>
              <a:ext cx="4422578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M </a:t>
              </a:r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→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GB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 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+ M </a:t>
              </a:r>
              <a:endParaRPr lang="en-GB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2483767" y="5373216"/>
              <a:ext cx="575371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i="1" baseline="-25000">
                  <a:solidFill>
                    <a:prstClr val="black"/>
                  </a:solidFill>
                  <a:latin typeface="+mn-lt"/>
                </a:rPr>
                <a:t>4</a:t>
              </a:r>
              <a:endParaRPr lang="en-US" i="1" baseline="-25000">
                <a:solidFill>
                  <a:prstClr val="black"/>
                </a:solidFill>
                <a:latin typeface="+mn-lt"/>
              </a:endParaRPr>
            </a:p>
          </p:txBody>
        </p:sp>
      </p:grpSp>
      <p:sp>
        <p:nvSpPr>
          <p:cNvPr id="17" name="Rectangle 16"/>
          <p:cNvSpPr/>
          <p:nvPr/>
        </p:nvSpPr>
        <p:spPr>
          <a:xfrm>
            <a:off x="4701314" y="5361634"/>
            <a:ext cx="12153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solidFill>
                  <a:srgbClr val="FF0000"/>
                </a:solidFill>
                <a:latin typeface="+mn-lt"/>
              </a:rPr>
              <a:t>Rate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4</a:t>
            </a:r>
            <a:r>
              <a:rPr lang="en-GB">
                <a:solidFill>
                  <a:srgbClr val="FF0000"/>
                </a:solidFill>
                <a:latin typeface="+mn-lt"/>
              </a:rPr>
              <a:t> = </a:t>
            </a:r>
            <a:endParaRPr lang="en-GB" baseline="-25000">
              <a:solidFill>
                <a:srgbClr val="FF0000"/>
              </a:solidFill>
              <a:latin typeface="+mn-lt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5230693" y="2617100"/>
            <a:ext cx="2473657" cy="888991"/>
            <a:chOff x="5450255" y="2346465"/>
            <a:chExt cx="3298209" cy="1185321"/>
          </a:xfrm>
        </p:grpSpPr>
        <p:sp>
          <p:nvSpPr>
            <p:cNvPr id="22" name="TextBox 21"/>
            <p:cNvSpPr txBox="1"/>
            <p:nvPr/>
          </p:nvSpPr>
          <p:spPr>
            <a:xfrm>
              <a:off x="5450255" y="2546901"/>
              <a:ext cx="3298209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100">
                  <a:solidFill>
                    <a:prstClr val="black"/>
                  </a:solidFill>
                  <a:latin typeface="+mn-lt"/>
                </a:rPr>
                <a:t>Small because </a:t>
              </a:r>
              <a:r>
                <a:rPr lang="en-GB" sz="210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2100" i="1" baseline="-25000">
                  <a:solidFill>
                    <a:prstClr val="black"/>
                  </a:solidFill>
                  <a:latin typeface="+mn-lt"/>
                </a:rPr>
                <a:t>1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 low (unfavourable)</a:t>
              </a:r>
            </a:p>
          </p:txBody>
        </p:sp>
        <p:sp>
          <p:nvSpPr>
            <p:cNvPr id="23" name="Down Arrow 22"/>
            <p:cNvSpPr/>
            <p:nvPr/>
          </p:nvSpPr>
          <p:spPr>
            <a:xfrm rot="10800000">
              <a:off x="6804248" y="2346465"/>
              <a:ext cx="295111" cy="22811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prstClr val="white"/>
                </a:solidFill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5166067" y="4779150"/>
            <a:ext cx="2743687" cy="738664"/>
            <a:chOff x="5450255" y="2926758"/>
            <a:chExt cx="3298209" cy="984885"/>
          </a:xfrm>
        </p:grpSpPr>
        <p:sp>
          <p:nvSpPr>
            <p:cNvPr id="26" name="TextBox 25"/>
            <p:cNvSpPr txBox="1"/>
            <p:nvPr/>
          </p:nvSpPr>
          <p:spPr>
            <a:xfrm>
              <a:off x="5450255" y="2926758"/>
              <a:ext cx="3298209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100">
                  <a:solidFill>
                    <a:prstClr val="black"/>
                  </a:solidFill>
                  <a:latin typeface="+mn-lt"/>
                </a:rPr>
                <a:t>Small because [Br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·]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low</a:t>
              </a:r>
            </a:p>
          </p:txBody>
        </p:sp>
        <p:sp>
          <p:nvSpPr>
            <p:cNvPr id="27" name="Down Arrow 26"/>
            <p:cNvSpPr/>
            <p:nvPr/>
          </p:nvSpPr>
          <p:spPr>
            <a:xfrm>
              <a:off x="6695982" y="3469667"/>
              <a:ext cx="295111" cy="228116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350">
                <a:solidFill>
                  <a:prstClr val="white"/>
                </a:solidFill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5652121" y="2174885"/>
            <a:ext cx="247365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100" i="1">
                <a:solidFill>
                  <a:srgbClr val="FF0000"/>
                </a:solidFill>
                <a:latin typeface="+mn-lt"/>
              </a:rPr>
              <a:t>k</a:t>
            </a:r>
            <a:r>
              <a:rPr lang="en-GB" sz="2100" i="1" baseline="-25000">
                <a:solidFill>
                  <a:srgbClr val="FF0000"/>
                </a:solidFill>
                <a:latin typeface="+mn-lt"/>
              </a:rPr>
              <a:t>1</a:t>
            </a:r>
            <a:r>
              <a:rPr lang="en-GB" sz="2100">
                <a:solidFill>
                  <a:srgbClr val="FF0000"/>
                </a:solidFill>
                <a:latin typeface="+mn-lt"/>
              </a:rPr>
              <a:t> [Br</a:t>
            </a:r>
            <a:r>
              <a:rPr lang="en-GB" sz="2100" baseline="-25000">
                <a:solidFill>
                  <a:srgbClr val="FF0000"/>
                </a:solidFill>
                <a:latin typeface="+mn-lt"/>
              </a:rPr>
              <a:t>2</a:t>
            </a:r>
            <a:r>
              <a:rPr lang="en-GB" sz="2100">
                <a:solidFill>
                  <a:srgbClr val="FF0000"/>
                </a:solidFill>
                <a:latin typeface="+mn-lt"/>
              </a:rPr>
              <a:t>][M]</a:t>
            </a:r>
          </a:p>
        </p:txBody>
      </p:sp>
      <p:sp>
        <p:nvSpPr>
          <p:cNvPr id="3" name="Oval 2"/>
          <p:cNvSpPr/>
          <p:nvPr/>
        </p:nvSpPr>
        <p:spPr>
          <a:xfrm>
            <a:off x="5598114" y="2024845"/>
            <a:ext cx="1512168" cy="59225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prstClr val="white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52121" y="3506089"/>
            <a:ext cx="247365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100" i="1">
                <a:solidFill>
                  <a:srgbClr val="FF0000"/>
                </a:solidFill>
                <a:latin typeface="+mn-lt"/>
              </a:rPr>
              <a:t>k</a:t>
            </a:r>
            <a:r>
              <a:rPr lang="en-GB" sz="2100" i="1" baseline="-25000">
                <a:solidFill>
                  <a:srgbClr val="FF0000"/>
                </a:solidFill>
                <a:latin typeface="+mn-lt"/>
              </a:rPr>
              <a:t>2</a:t>
            </a:r>
            <a:r>
              <a:rPr lang="en-GB" sz="2100">
                <a:solidFill>
                  <a:srgbClr val="FF0000"/>
                </a:solidFill>
                <a:latin typeface="+mn-lt"/>
              </a:rPr>
              <a:t> [Br</a:t>
            </a:r>
            <a:r>
              <a:rPr lang="en-US" sz="2100">
                <a:solidFill>
                  <a:srgbClr val="FF0000"/>
                </a:solidFill>
                <a:latin typeface="+mn-lt"/>
                <a:cs typeface="Arial" charset="0"/>
              </a:rPr>
              <a:t>·]</a:t>
            </a:r>
            <a:r>
              <a:rPr lang="en-GB" sz="2100">
                <a:solidFill>
                  <a:srgbClr val="FF0000"/>
                </a:solidFill>
                <a:latin typeface="+mn-lt"/>
              </a:rPr>
              <a:t>[H</a:t>
            </a:r>
            <a:r>
              <a:rPr lang="en-GB" sz="2100" baseline="-25000">
                <a:solidFill>
                  <a:srgbClr val="FF0000"/>
                </a:solidFill>
                <a:latin typeface="+mn-lt"/>
              </a:rPr>
              <a:t>2</a:t>
            </a:r>
            <a:r>
              <a:rPr lang="en-GB" sz="2100">
                <a:solidFill>
                  <a:srgbClr val="FF0000"/>
                </a:solidFill>
                <a:latin typeface="+mn-lt"/>
              </a:rPr>
              <a:t>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32143" y="4304141"/>
            <a:ext cx="247365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100" i="1">
                <a:solidFill>
                  <a:srgbClr val="FF0000"/>
                </a:solidFill>
                <a:latin typeface="+mn-lt"/>
              </a:rPr>
              <a:t>k</a:t>
            </a:r>
            <a:r>
              <a:rPr lang="en-GB" sz="2100" i="1" baseline="-25000">
                <a:solidFill>
                  <a:srgbClr val="FF0000"/>
                </a:solidFill>
                <a:latin typeface="+mn-lt"/>
              </a:rPr>
              <a:t>3</a:t>
            </a:r>
            <a:r>
              <a:rPr lang="en-GB" sz="2100">
                <a:solidFill>
                  <a:srgbClr val="FF0000"/>
                </a:solidFill>
                <a:latin typeface="+mn-lt"/>
              </a:rPr>
              <a:t> [H</a:t>
            </a:r>
            <a:r>
              <a:rPr lang="en-US" sz="2100">
                <a:solidFill>
                  <a:srgbClr val="FF0000"/>
                </a:solidFill>
                <a:latin typeface="+mn-lt"/>
                <a:cs typeface="Arial" charset="0"/>
              </a:rPr>
              <a:t>·]</a:t>
            </a:r>
            <a:r>
              <a:rPr lang="en-GB" sz="2100">
                <a:solidFill>
                  <a:srgbClr val="FF0000"/>
                </a:solidFill>
                <a:latin typeface="+mn-lt"/>
              </a:rPr>
              <a:t>[Br</a:t>
            </a:r>
            <a:r>
              <a:rPr lang="en-GB" sz="2100" baseline="-25000">
                <a:solidFill>
                  <a:srgbClr val="FF0000"/>
                </a:solidFill>
                <a:latin typeface="+mn-lt"/>
              </a:rPr>
              <a:t>2</a:t>
            </a:r>
            <a:r>
              <a:rPr lang="en-GB" sz="2100">
                <a:solidFill>
                  <a:srgbClr val="FF0000"/>
                </a:solidFill>
                <a:latin typeface="+mn-lt"/>
              </a:rPr>
              <a:t>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52121" y="5414941"/>
            <a:ext cx="247365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100" i="1">
                <a:solidFill>
                  <a:srgbClr val="FF0000"/>
                </a:solidFill>
                <a:latin typeface="+mn-lt"/>
              </a:rPr>
              <a:t>k</a:t>
            </a:r>
            <a:r>
              <a:rPr lang="en-GB" sz="2100" i="1" baseline="-25000">
                <a:solidFill>
                  <a:srgbClr val="FF0000"/>
                </a:solidFill>
                <a:latin typeface="+mn-lt"/>
              </a:rPr>
              <a:t>4</a:t>
            </a:r>
            <a:r>
              <a:rPr lang="en-GB" sz="2100">
                <a:solidFill>
                  <a:srgbClr val="FF0000"/>
                </a:solidFill>
                <a:latin typeface="+mn-lt"/>
              </a:rPr>
              <a:t> [Br</a:t>
            </a:r>
            <a:r>
              <a:rPr lang="en-US" sz="2100">
                <a:solidFill>
                  <a:srgbClr val="FF0000"/>
                </a:solidFill>
                <a:latin typeface="+mn-lt"/>
                <a:cs typeface="Arial" charset="0"/>
              </a:rPr>
              <a:t>·]</a:t>
            </a:r>
            <a:r>
              <a:rPr lang="en-US" sz="2100" baseline="30000">
                <a:solidFill>
                  <a:srgbClr val="FF0000"/>
                </a:solidFill>
                <a:latin typeface="+mn-lt"/>
                <a:cs typeface="Arial" charset="0"/>
              </a:rPr>
              <a:t>2</a:t>
            </a:r>
            <a:r>
              <a:rPr lang="en-GB" sz="2100">
                <a:solidFill>
                  <a:srgbClr val="FF0000"/>
                </a:solidFill>
                <a:latin typeface="+mn-lt"/>
              </a:rPr>
              <a:t>[M]</a:t>
            </a:r>
          </a:p>
        </p:txBody>
      </p:sp>
      <p:sp>
        <p:nvSpPr>
          <p:cNvPr id="32" name="Oval 31"/>
          <p:cNvSpPr/>
          <p:nvPr/>
        </p:nvSpPr>
        <p:spPr>
          <a:xfrm>
            <a:off x="5657039" y="5361633"/>
            <a:ext cx="1512168" cy="60199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6313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" grpId="0" animBg="1"/>
      <p:bldP spid="29" grpId="0"/>
      <p:bldP spid="30" grpId="0"/>
      <p:bldP spid="31" grpId="0"/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3000">
                <a:latin typeface="+mn-lt"/>
              </a:rPr>
              <a:t>Relative rates and concentrations</a:t>
            </a:r>
            <a:endParaRPr lang="en-US" sz="3000">
              <a:latin typeface="+mn-lt"/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GB" dirty="0"/>
              <a:t>Propagation rates Rate</a:t>
            </a:r>
            <a:r>
              <a:rPr lang="en-GB" baseline="-25000" dirty="0"/>
              <a:t>2</a:t>
            </a:r>
            <a:r>
              <a:rPr lang="en-GB" dirty="0"/>
              <a:t> and Rate</a:t>
            </a:r>
            <a:r>
              <a:rPr lang="en-GB" baseline="-25000" dirty="0"/>
              <a:t>3</a:t>
            </a:r>
            <a:r>
              <a:rPr lang="en-GB" dirty="0"/>
              <a:t> are much bigger than Rate</a:t>
            </a:r>
            <a:r>
              <a:rPr lang="en-GB" baseline="-25000" dirty="0"/>
              <a:t>1</a:t>
            </a:r>
            <a:r>
              <a:rPr lang="en-GB" dirty="0"/>
              <a:t> and Rate</a:t>
            </a:r>
            <a:r>
              <a:rPr lang="en-GB" baseline="-25000" dirty="0"/>
              <a:t>4</a:t>
            </a:r>
            <a:r>
              <a:rPr lang="en-GB" dirty="0"/>
              <a:t> </a:t>
            </a:r>
            <a:endParaRPr lang="en-GB" baseline="-25000" dirty="0"/>
          </a:p>
          <a:p>
            <a:pPr>
              <a:lnSpc>
                <a:spcPct val="80000"/>
              </a:lnSpc>
            </a:pPr>
            <a:r>
              <a:rPr lang="en-GB" dirty="0"/>
              <a:t>However, the (small) initiation and termination rates Rate</a:t>
            </a:r>
            <a:r>
              <a:rPr lang="en-GB" baseline="-25000" dirty="0"/>
              <a:t>1</a:t>
            </a:r>
            <a:r>
              <a:rPr lang="en-GB" dirty="0"/>
              <a:t> and Rate</a:t>
            </a:r>
            <a:r>
              <a:rPr lang="en-GB" baseline="-25000" dirty="0"/>
              <a:t>4</a:t>
            </a:r>
            <a:r>
              <a:rPr lang="en-GB" dirty="0"/>
              <a:t> are extremely important and can’t be ignored…</a:t>
            </a:r>
          </a:p>
        </p:txBody>
      </p:sp>
    </p:spTree>
    <p:extLst>
      <p:ext uri="{BB962C8B-B14F-4D97-AF65-F5344CB8AC3E}">
        <p14:creationId xmlns:p14="http://schemas.microsoft.com/office/powerpoint/2010/main" val="1195040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+mn-lt"/>
              </a:rPr>
              <a:t>Steady-state approach</a:t>
            </a:r>
            <a:endParaRPr lang="en-US">
              <a:latin typeface="+mn-lt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2057400"/>
            <a:ext cx="6172200" cy="3747864"/>
          </a:xfrm>
        </p:spPr>
        <p:txBody>
          <a:bodyPr>
            <a:normAutofit/>
          </a:bodyPr>
          <a:lstStyle/>
          <a:p>
            <a:r>
              <a:rPr lang="en-GB"/>
              <a:t>Can we produce a rate equation for the formation of </a:t>
            </a:r>
            <a:r>
              <a:rPr lang="en-GB" err="1"/>
              <a:t>HBr</a:t>
            </a:r>
            <a:r>
              <a:rPr lang="en-GB"/>
              <a:t> in terms of [</a:t>
            </a:r>
            <a:r>
              <a:rPr lang="en-GB" sz="2100"/>
              <a:t>H</a:t>
            </a:r>
            <a:r>
              <a:rPr lang="en-GB" sz="2100" baseline="-25000"/>
              <a:t>2 </a:t>
            </a:r>
            <a:r>
              <a:rPr lang="en-GB"/>
              <a:t>] and [</a:t>
            </a:r>
            <a:r>
              <a:rPr lang="en-GB" sz="2100"/>
              <a:t>Br</a:t>
            </a:r>
            <a:r>
              <a:rPr lang="en-GB" sz="2100" baseline="-25000"/>
              <a:t>2 </a:t>
            </a:r>
            <a:r>
              <a:rPr lang="en-GB"/>
              <a:t>]?</a:t>
            </a:r>
          </a:p>
          <a:p>
            <a:pPr lvl="1"/>
            <a:r>
              <a:rPr lang="en-GB"/>
              <a:t>Assume steady state of both H</a:t>
            </a:r>
            <a:r>
              <a:rPr lang="en-US">
                <a:cs typeface="Arial" charset="0"/>
              </a:rPr>
              <a:t>· and </a:t>
            </a:r>
            <a:r>
              <a:rPr lang="en-GB"/>
              <a:t>Br</a:t>
            </a:r>
            <a:r>
              <a:rPr lang="en-US">
                <a:cs typeface="Arial" charset="0"/>
              </a:rPr>
              <a:t>·</a:t>
            </a:r>
          </a:p>
          <a:p>
            <a:pPr lvl="1"/>
            <a:r>
              <a:rPr lang="en-GB">
                <a:cs typeface="Arial" charset="0"/>
              </a:rPr>
              <a:t>Steady-state of Br</a:t>
            </a:r>
            <a:r>
              <a:rPr lang="en-US">
                <a:cs typeface="Arial" charset="0"/>
              </a:rPr>
              <a:t>· → solve to find [</a:t>
            </a:r>
            <a:r>
              <a:rPr lang="en-GB">
                <a:cs typeface="Arial" charset="0"/>
              </a:rPr>
              <a:t>Br</a:t>
            </a:r>
            <a:r>
              <a:rPr lang="en-US">
                <a:cs typeface="Arial" charset="0"/>
              </a:rPr>
              <a:t>·]</a:t>
            </a:r>
            <a:r>
              <a:rPr lang="en-US" baseline="-25000">
                <a:cs typeface="Arial" charset="0"/>
              </a:rPr>
              <a:t>SS</a:t>
            </a:r>
          </a:p>
          <a:p>
            <a:pPr lvl="1"/>
            <a:r>
              <a:rPr lang="en-GB">
                <a:cs typeface="Arial" charset="0"/>
              </a:rPr>
              <a:t>Steady-state of H</a:t>
            </a:r>
            <a:r>
              <a:rPr lang="en-US">
                <a:cs typeface="Arial" charset="0"/>
              </a:rPr>
              <a:t>· → solve to find [</a:t>
            </a:r>
            <a:r>
              <a:rPr lang="en-GB">
                <a:cs typeface="Arial" charset="0"/>
              </a:rPr>
              <a:t>H</a:t>
            </a:r>
            <a:r>
              <a:rPr lang="en-US">
                <a:cs typeface="Arial" charset="0"/>
              </a:rPr>
              <a:t>·]</a:t>
            </a:r>
            <a:r>
              <a:rPr lang="en-US" baseline="-25000">
                <a:cs typeface="Arial" charset="0"/>
              </a:rPr>
              <a:t>SS</a:t>
            </a:r>
            <a:r>
              <a:rPr lang="en-US">
                <a:cs typeface="Arial" charset="0"/>
              </a:rPr>
              <a:t> </a:t>
            </a:r>
          </a:p>
          <a:p>
            <a:pPr lvl="1"/>
            <a:r>
              <a:rPr lang="en-GB">
                <a:cs typeface="Arial" charset="0"/>
              </a:rPr>
              <a:t>“Rate” = sum of </a:t>
            </a:r>
            <a:r>
              <a:rPr lang="en-GB" i="1">
                <a:cs typeface="Arial" charset="0"/>
              </a:rPr>
              <a:t>both</a:t>
            </a:r>
            <a:r>
              <a:rPr lang="en-GB">
                <a:cs typeface="Arial" charset="0"/>
              </a:rPr>
              <a:t> processes that make HBr, i.e. steps (2) and (3)</a:t>
            </a:r>
          </a:p>
          <a:p>
            <a:pPr lvl="1"/>
            <a:r>
              <a:rPr lang="en-GB">
                <a:cs typeface="Arial" charset="0"/>
              </a:rPr>
              <a:t>Substitute in our values of </a:t>
            </a:r>
            <a:r>
              <a:rPr lang="en-US">
                <a:cs typeface="Arial" charset="0"/>
              </a:rPr>
              <a:t>[</a:t>
            </a:r>
            <a:r>
              <a:rPr lang="en-GB">
                <a:cs typeface="Arial" charset="0"/>
              </a:rPr>
              <a:t>Br</a:t>
            </a:r>
            <a:r>
              <a:rPr lang="en-US">
                <a:cs typeface="Arial" charset="0"/>
              </a:rPr>
              <a:t>·]</a:t>
            </a:r>
            <a:r>
              <a:rPr lang="en-US" baseline="-25000">
                <a:cs typeface="Arial" charset="0"/>
              </a:rPr>
              <a:t>SS </a:t>
            </a:r>
            <a:r>
              <a:rPr lang="en-GB">
                <a:cs typeface="Arial" charset="0"/>
              </a:rPr>
              <a:t>and </a:t>
            </a:r>
            <a:r>
              <a:rPr lang="en-US">
                <a:cs typeface="Arial" charset="0"/>
              </a:rPr>
              <a:t>[</a:t>
            </a:r>
            <a:r>
              <a:rPr lang="en-GB">
                <a:cs typeface="Arial" charset="0"/>
              </a:rPr>
              <a:t>H</a:t>
            </a:r>
            <a:r>
              <a:rPr lang="en-US">
                <a:cs typeface="Arial" charset="0"/>
              </a:rPr>
              <a:t>·]</a:t>
            </a:r>
            <a:r>
              <a:rPr lang="en-US" baseline="-25000">
                <a:cs typeface="Arial" charset="0"/>
              </a:rPr>
              <a:t>SS</a:t>
            </a:r>
            <a:endParaRPr lang="en-US">
              <a:cs typeface="Arial" charset="0"/>
            </a:endParaRPr>
          </a:p>
          <a:p>
            <a:pPr lvl="1">
              <a:buFontTx/>
              <a:buNone/>
            </a:pPr>
            <a:endParaRPr lang="en-GB" sz="1800">
              <a:cs typeface="Arial" charset="0"/>
            </a:endParaRPr>
          </a:p>
          <a:p>
            <a:pPr lvl="1">
              <a:buFontTx/>
              <a:buNone/>
            </a:pPr>
            <a:endParaRPr lang="en-US" sz="180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82661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3"/>
          <p:cNvSpPr>
            <a:spLocks noChangeArrowheads="1"/>
          </p:cNvSpPr>
          <p:nvPr/>
        </p:nvSpPr>
        <p:spPr bwMode="auto">
          <a:xfrm>
            <a:off x="1485900" y="1063229"/>
            <a:ext cx="61722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GB" sz="3300">
                <a:solidFill>
                  <a:srgbClr val="1F497D"/>
                </a:solidFill>
                <a:latin typeface="+mn-lt"/>
              </a:rPr>
              <a:t>Simplified kinetic scheme</a:t>
            </a:r>
            <a:endParaRPr lang="en-US" sz="3300">
              <a:solidFill>
                <a:srgbClr val="1F497D"/>
              </a:solidFill>
              <a:latin typeface="+mn-lt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143002" y="1768079"/>
            <a:ext cx="2409826" cy="564356"/>
            <a:chOff x="2336" y="946"/>
            <a:chExt cx="2024" cy="474"/>
          </a:xfrm>
        </p:grpSpPr>
        <p:sp>
          <p:nvSpPr>
            <p:cNvPr id="61445" name="Text Box 5"/>
            <p:cNvSpPr txBox="1">
              <a:spLocks noChangeArrowheads="1"/>
            </p:cNvSpPr>
            <p:nvPr/>
          </p:nvSpPr>
          <p:spPr bwMode="auto">
            <a:xfrm>
              <a:off x="3098" y="946"/>
              <a:ext cx="27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1350" i="1" baseline="-25000">
                  <a:solidFill>
                    <a:prstClr val="black"/>
                  </a:solidFill>
                  <a:latin typeface="+mn-lt"/>
                </a:rPr>
                <a:t>1</a:t>
              </a:r>
              <a:endParaRPr lang="en-US" sz="1350" i="1" baseline="-250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61446" name="Rectangle 6"/>
            <p:cNvSpPr>
              <a:spLocks noChangeArrowheads="1"/>
            </p:cNvSpPr>
            <p:nvPr/>
          </p:nvSpPr>
          <p:spPr bwMode="auto">
            <a:xfrm>
              <a:off x="2336" y="1071"/>
              <a:ext cx="2024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100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GB" sz="2100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 + M </a:t>
              </a:r>
              <a:r>
                <a:rPr lang="en-GB" sz="2100">
                  <a:solidFill>
                    <a:prstClr val="black"/>
                  </a:solidFill>
                  <a:latin typeface="+mn-lt"/>
                  <a:cs typeface="Arial" charset="0"/>
                </a:rPr>
                <a:t>→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2Br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· + M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143001" y="3107536"/>
            <a:ext cx="2512219" cy="575072"/>
            <a:chOff x="1610" y="3341"/>
            <a:chExt cx="2110" cy="483"/>
          </a:xfrm>
        </p:grpSpPr>
        <p:sp>
          <p:nvSpPr>
            <p:cNvPr id="61448" name="Text Box 8"/>
            <p:cNvSpPr txBox="1">
              <a:spLocks noChangeArrowheads="1"/>
            </p:cNvSpPr>
            <p:nvPr/>
          </p:nvSpPr>
          <p:spPr bwMode="auto">
            <a:xfrm>
              <a:off x="2375" y="3341"/>
              <a:ext cx="27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1350" i="1" baseline="-25000">
                  <a:solidFill>
                    <a:prstClr val="black"/>
                  </a:solidFill>
                  <a:latin typeface="+mn-lt"/>
                </a:rPr>
                <a:t>3</a:t>
              </a:r>
              <a:endParaRPr lang="en-US" sz="1350" i="1" baseline="-250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61449" name="Rectangle 9"/>
            <p:cNvSpPr>
              <a:spLocks noChangeArrowheads="1"/>
            </p:cNvSpPr>
            <p:nvPr/>
          </p:nvSpPr>
          <p:spPr bwMode="auto">
            <a:xfrm>
              <a:off x="1610" y="3475"/>
              <a:ext cx="2110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100">
                  <a:solidFill>
                    <a:prstClr val="black"/>
                  </a:solidFill>
                  <a:latin typeface="+mn-lt"/>
                </a:rPr>
                <a:t>H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GB" sz="2100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 </a:t>
              </a:r>
              <a:r>
                <a:rPr lang="en-GB" sz="2100">
                  <a:solidFill>
                    <a:prstClr val="black"/>
                  </a:solidFill>
                  <a:latin typeface="+mn-lt"/>
                  <a:cs typeface="Arial" charset="0"/>
                </a:rPr>
                <a:t>→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US" sz="2100" err="1">
                  <a:solidFill>
                    <a:prstClr val="black"/>
                  </a:solidFill>
                  <a:latin typeface="+mn-lt"/>
                  <a:cs typeface="Arial" charset="0"/>
                </a:rPr>
                <a:t>HBr</a:t>
              </a:r>
              <a:endParaRPr lang="en-US" sz="2100">
                <a:solidFill>
                  <a:prstClr val="black"/>
                </a:solidFill>
                <a:latin typeface="+mn-lt"/>
                <a:cs typeface="Arial" charset="0"/>
              </a:endParaRP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1143002" y="3857631"/>
            <a:ext cx="2871788" cy="569120"/>
            <a:chOff x="2381" y="3074"/>
            <a:chExt cx="2412" cy="478"/>
          </a:xfrm>
        </p:grpSpPr>
        <p:sp>
          <p:nvSpPr>
            <p:cNvPr id="61451" name="Text Box 11"/>
            <p:cNvSpPr txBox="1">
              <a:spLocks noChangeArrowheads="1"/>
            </p:cNvSpPr>
            <p:nvPr/>
          </p:nvSpPr>
          <p:spPr bwMode="auto">
            <a:xfrm>
              <a:off x="3596" y="3074"/>
              <a:ext cx="27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1350" i="1" baseline="-25000">
                  <a:solidFill>
                    <a:prstClr val="black"/>
                  </a:solidFill>
                  <a:latin typeface="+mn-lt"/>
                </a:rPr>
                <a:t>4</a:t>
              </a:r>
              <a:endParaRPr lang="en-US" sz="1350" i="1" baseline="-250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61452" name="Rectangle 12"/>
            <p:cNvSpPr>
              <a:spLocks noChangeArrowheads="1"/>
            </p:cNvSpPr>
            <p:nvPr/>
          </p:nvSpPr>
          <p:spPr bwMode="auto">
            <a:xfrm>
              <a:off x="2381" y="3203"/>
              <a:ext cx="2412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100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M </a:t>
              </a:r>
              <a:r>
                <a:rPr lang="en-GB" sz="2100">
                  <a:solidFill>
                    <a:prstClr val="black"/>
                  </a:solidFill>
                  <a:latin typeface="+mn-lt"/>
                  <a:cs typeface="Arial" charset="0"/>
                </a:rPr>
                <a:t>→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GB" sz="2100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 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+ M</a:t>
              </a:r>
            </a:p>
          </p:txBody>
        </p:sp>
      </p:grpSp>
      <p:sp>
        <p:nvSpPr>
          <p:cNvPr id="61453" name="Rectangle 13"/>
          <p:cNvSpPr>
            <a:spLocks noChangeArrowheads="1"/>
          </p:cNvSpPr>
          <p:nvPr/>
        </p:nvSpPr>
        <p:spPr bwMode="auto">
          <a:xfrm>
            <a:off x="4193381" y="1916906"/>
            <a:ext cx="54053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(1)</a:t>
            </a:r>
          </a:p>
        </p:txBody>
      </p:sp>
      <p:grpSp>
        <p:nvGrpSpPr>
          <p:cNvPr id="5" name="Group 14"/>
          <p:cNvGrpSpPr>
            <a:grpSpLocks/>
          </p:cNvGrpSpPr>
          <p:nvPr/>
        </p:nvGrpSpPr>
        <p:grpSpPr bwMode="auto">
          <a:xfrm>
            <a:off x="1143000" y="2571751"/>
            <a:ext cx="2955132" cy="592931"/>
            <a:chOff x="1670" y="1848"/>
            <a:chExt cx="2482" cy="498"/>
          </a:xfrm>
        </p:grpSpPr>
        <p:sp>
          <p:nvSpPr>
            <p:cNvPr id="61455" name="Text Box 15"/>
            <p:cNvSpPr txBox="1">
              <a:spLocks noChangeArrowheads="1"/>
            </p:cNvSpPr>
            <p:nvPr/>
          </p:nvSpPr>
          <p:spPr bwMode="auto">
            <a:xfrm>
              <a:off x="2435" y="1848"/>
              <a:ext cx="27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1350" i="1" baseline="-25000">
                  <a:solidFill>
                    <a:prstClr val="black"/>
                  </a:solidFill>
                  <a:latin typeface="+mn-lt"/>
                </a:rPr>
                <a:t>2</a:t>
              </a:r>
              <a:endParaRPr lang="en-US" sz="1350" i="1" baseline="-250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61456" name="Rectangle 16"/>
            <p:cNvSpPr>
              <a:spLocks noChangeArrowheads="1"/>
            </p:cNvSpPr>
            <p:nvPr/>
          </p:nvSpPr>
          <p:spPr bwMode="auto">
            <a:xfrm>
              <a:off x="1670" y="1997"/>
              <a:ext cx="2482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100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H</a:t>
              </a:r>
              <a:r>
                <a:rPr lang="en-GB" sz="2100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 </a:t>
              </a:r>
              <a:r>
                <a:rPr lang="en-GB" sz="2100">
                  <a:solidFill>
                    <a:prstClr val="black"/>
                  </a:solidFill>
                  <a:latin typeface="+mn-lt"/>
                  <a:cs typeface="Arial" charset="0"/>
                </a:rPr>
                <a:t>→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H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US" sz="2100" err="1">
                  <a:solidFill>
                    <a:prstClr val="black"/>
                  </a:solidFill>
                  <a:latin typeface="+mn-lt"/>
                  <a:cs typeface="Arial" charset="0"/>
                </a:rPr>
                <a:t>HBr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	</a:t>
              </a:r>
            </a:p>
          </p:txBody>
        </p:sp>
      </p:grpSp>
      <p:sp>
        <p:nvSpPr>
          <p:cNvPr id="61457" name="Rectangle 17"/>
          <p:cNvSpPr>
            <a:spLocks noChangeArrowheads="1"/>
          </p:cNvSpPr>
          <p:nvPr/>
        </p:nvSpPr>
        <p:spPr bwMode="auto">
          <a:xfrm>
            <a:off x="4193381" y="2749153"/>
            <a:ext cx="54053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(2)</a:t>
            </a:r>
          </a:p>
        </p:txBody>
      </p:sp>
      <p:sp>
        <p:nvSpPr>
          <p:cNvPr id="61458" name="Rectangle 18"/>
          <p:cNvSpPr>
            <a:spLocks noChangeArrowheads="1"/>
          </p:cNvSpPr>
          <p:nvPr/>
        </p:nvSpPr>
        <p:spPr bwMode="auto">
          <a:xfrm>
            <a:off x="4193381" y="3267075"/>
            <a:ext cx="54053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(3)</a:t>
            </a:r>
          </a:p>
        </p:txBody>
      </p:sp>
      <p:sp>
        <p:nvSpPr>
          <p:cNvPr id="61459" name="Rectangle 19"/>
          <p:cNvSpPr>
            <a:spLocks noChangeArrowheads="1"/>
          </p:cNvSpPr>
          <p:nvPr/>
        </p:nvSpPr>
        <p:spPr bwMode="auto">
          <a:xfrm>
            <a:off x="4193381" y="4011216"/>
            <a:ext cx="54053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(4)</a:t>
            </a:r>
          </a:p>
        </p:txBody>
      </p:sp>
      <p:sp>
        <p:nvSpPr>
          <p:cNvPr id="61460" name="Rectangle 20"/>
          <p:cNvSpPr>
            <a:spLocks noChangeArrowheads="1"/>
          </p:cNvSpPr>
          <p:nvPr/>
        </p:nvSpPr>
        <p:spPr bwMode="auto">
          <a:xfrm>
            <a:off x="6084094" y="3638551"/>
            <a:ext cx="5581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solidFill>
                  <a:prstClr val="black"/>
                </a:solidFill>
                <a:latin typeface="+mn-lt"/>
              </a:rPr>
              <a:t>Br</a:t>
            </a:r>
            <a:r>
              <a:rPr lang="en-US">
                <a:solidFill>
                  <a:prstClr val="black"/>
                </a:solidFill>
                <a:latin typeface="+mn-lt"/>
                <a:cs typeface="Arial" charset="0"/>
              </a:rPr>
              <a:t>·</a:t>
            </a:r>
          </a:p>
        </p:txBody>
      </p:sp>
      <p:sp>
        <p:nvSpPr>
          <p:cNvPr id="61461" name="Rectangle 21"/>
          <p:cNvSpPr>
            <a:spLocks noChangeArrowheads="1"/>
          </p:cNvSpPr>
          <p:nvPr/>
        </p:nvSpPr>
        <p:spPr bwMode="auto">
          <a:xfrm>
            <a:off x="5000625" y="3619501"/>
            <a:ext cx="49084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solidFill>
                  <a:prstClr val="black"/>
                </a:solidFill>
                <a:latin typeface="+mn-lt"/>
                <a:cs typeface="Arial" charset="0"/>
              </a:rPr>
              <a:t>H</a:t>
            </a:r>
            <a:r>
              <a:rPr lang="en-US">
                <a:solidFill>
                  <a:prstClr val="black"/>
                </a:solidFill>
                <a:latin typeface="+mn-lt"/>
                <a:cs typeface="Arial" charset="0"/>
              </a:rPr>
              <a:t>·</a:t>
            </a:r>
          </a:p>
        </p:txBody>
      </p:sp>
      <p:sp>
        <p:nvSpPr>
          <p:cNvPr id="61462" name="Rectangle 22"/>
          <p:cNvSpPr>
            <a:spLocks noChangeArrowheads="1"/>
          </p:cNvSpPr>
          <p:nvPr/>
        </p:nvSpPr>
        <p:spPr bwMode="auto">
          <a:xfrm>
            <a:off x="4928906" y="2317261"/>
            <a:ext cx="58060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solidFill>
                  <a:prstClr val="black"/>
                </a:solidFill>
                <a:latin typeface="+mn-lt"/>
              </a:rPr>
              <a:t>Br</a:t>
            </a:r>
            <a:r>
              <a:rPr lang="en-GB" baseline="-25000">
                <a:solidFill>
                  <a:prstClr val="black"/>
                </a:solidFill>
                <a:latin typeface="+mn-lt"/>
              </a:rPr>
              <a:t>2</a:t>
            </a:r>
            <a:endParaRPr lang="en-US" baseline="-25000">
              <a:solidFill>
                <a:prstClr val="black"/>
              </a:solidFill>
              <a:latin typeface="+mn-lt"/>
            </a:endParaRPr>
          </a:p>
        </p:txBody>
      </p:sp>
      <p:sp>
        <p:nvSpPr>
          <p:cNvPr id="61463" name="Rectangle 23"/>
          <p:cNvSpPr>
            <a:spLocks noChangeArrowheads="1"/>
          </p:cNvSpPr>
          <p:nvPr/>
        </p:nvSpPr>
        <p:spPr bwMode="auto">
          <a:xfrm>
            <a:off x="6133563" y="5044117"/>
            <a:ext cx="5132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solidFill>
                  <a:prstClr val="black"/>
                </a:solidFill>
                <a:latin typeface="+mn-lt"/>
              </a:rPr>
              <a:t>H</a:t>
            </a:r>
            <a:r>
              <a:rPr lang="en-GB" baseline="-25000">
                <a:solidFill>
                  <a:prstClr val="black"/>
                </a:solidFill>
                <a:latin typeface="+mn-lt"/>
              </a:rPr>
              <a:t>2</a:t>
            </a:r>
            <a:endParaRPr lang="en-US" baseline="-25000">
              <a:solidFill>
                <a:prstClr val="black"/>
              </a:solidFill>
              <a:latin typeface="+mn-lt"/>
            </a:endParaRPr>
          </a:p>
        </p:txBody>
      </p:sp>
      <p:sp>
        <p:nvSpPr>
          <p:cNvPr id="61464" name="Rectangle 24"/>
          <p:cNvSpPr>
            <a:spLocks noChangeArrowheads="1"/>
          </p:cNvSpPr>
          <p:nvPr/>
        </p:nvSpPr>
        <p:spPr bwMode="auto">
          <a:xfrm>
            <a:off x="6016772" y="2344420"/>
            <a:ext cx="6751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solidFill>
                  <a:prstClr val="black"/>
                </a:solidFill>
                <a:latin typeface="+mn-lt"/>
                <a:cs typeface="Arial" charset="0"/>
              </a:rPr>
              <a:t>HBr</a:t>
            </a:r>
            <a:endParaRPr lang="en-US">
              <a:solidFill>
                <a:prstClr val="black"/>
              </a:solidFill>
              <a:latin typeface="+mn-lt"/>
              <a:cs typeface="Arial" charset="0"/>
            </a:endParaRPr>
          </a:p>
        </p:txBody>
      </p:sp>
      <p:sp>
        <p:nvSpPr>
          <p:cNvPr id="61465" name="Rectangle 25"/>
          <p:cNvSpPr>
            <a:spLocks noChangeArrowheads="1"/>
          </p:cNvSpPr>
          <p:nvPr/>
        </p:nvSpPr>
        <p:spPr bwMode="auto">
          <a:xfrm>
            <a:off x="4928906" y="4998979"/>
            <a:ext cx="6751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solidFill>
                  <a:prstClr val="black"/>
                </a:solidFill>
                <a:latin typeface="+mn-lt"/>
                <a:cs typeface="Arial" charset="0"/>
              </a:rPr>
              <a:t>HBr</a:t>
            </a:r>
            <a:endParaRPr lang="en-US">
              <a:solidFill>
                <a:prstClr val="black"/>
              </a:solidFill>
              <a:latin typeface="+mn-lt"/>
              <a:cs typeface="Arial" charset="0"/>
            </a:endParaRPr>
          </a:p>
        </p:txBody>
      </p:sp>
      <p:sp>
        <p:nvSpPr>
          <p:cNvPr id="61466" name="AutoShape 26"/>
          <p:cNvSpPr>
            <a:spLocks noChangeArrowheads="1"/>
          </p:cNvSpPr>
          <p:nvPr/>
        </p:nvSpPr>
        <p:spPr bwMode="auto">
          <a:xfrm rot="11714992">
            <a:off x="5122724" y="3427247"/>
            <a:ext cx="1178719" cy="1108472"/>
          </a:xfrm>
          <a:custGeom>
            <a:avLst/>
            <a:gdLst>
              <a:gd name="G0" fmla="+- -3088298 0 0"/>
              <a:gd name="G1" fmla="+- -11796480 0 0"/>
              <a:gd name="G2" fmla="+- -3088298 0 -11796480"/>
              <a:gd name="G3" fmla="+- 10800 0 0"/>
              <a:gd name="G4" fmla="+- 0 0 -3088298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128 0 0"/>
              <a:gd name="G9" fmla="+- 0 0 -11796480"/>
              <a:gd name="G10" fmla="+- 8128 0 2700"/>
              <a:gd name="G11" fmla="cos G10 -3088298"/>
              <a:gd name="G12" fmla="sin G10 -3088298"/>
              <a:gd name="G13" fmla="cos 13500 -3088298"/>
              <a:gd name="G14" fmla="sin 13500 -3088298"/>
              <a:gd name="G15" fmla="+- G11 10800 0"/>
              <a:gd name="G16" fmla="+- G12 10800 0"/>
              <a:gd name="G17" fmla="+- G13 10800 0"/>
              <a:gd name="G18" fmla="+- G14 10800 0"/>
              <a:gd name="G19" fmla="*/ 8128 1 2"/>
              <a:gd name="G20" fmla="+- G19 5400 0"/>
              <a:gd name="G21" fmla="cos G20 -3088298"/>
              <a:gd name="G22" fmla="sin G20 -3088298"/>
              <a:gd name="G23" fmla="+- G21 10800 0"/>
              <a:gd name="G24" fmla="+- G12 G23 G22"/>
              <a:gd name="G25" fmla="+- G22 G23 G11"/>
              <a:gd name="G26" fmla="cos 10800 -3088298"/>
              <a:gd name="G27" fmla="sin 10800 -3088298"/>
              <a:gd name="G28" fmla="cos 8128 -3088298"/>
              <a:gd name="G29" fmla="sin 8128 -3088298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3088298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128 G39"/>
              <a:gd name="G43" fmla="sin 8128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6482 w 21600"/>
              <a:gd name="T5" fmla="*/ 900 h 21600"/>
              <a:gd name="T6" fmla="*/ 1336 w 21600"/>
              <a:gd name="T7" fmla="*/ 10800 h 21600"/>
              <a:gd name="T8" fmla="*/ 7550 w 21600"/>
              <a:gd name="T9" fmla="*/ 3349 h 21600"/>
              <a:gd name="T10" fmla="*/ 19985 w 21600"/>
              <a:gd name="T11" fmla="*/ 906 h 21600"/>
              <a:gd name="T12" fmla="*/ 20197 w 21600"/>
              <a:gd name="T13" fmla="*/ 6610 h 21600"/>
              <a:gd name="T14" fmla="*/ 14493 w 21600"/>
              <a:gd name="T15" fmla="*/ 6822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6330" y="4843"/>
                </a:moveTo>
                <a:cubicBezTo>
                  <a:pt x="14827" y="3447"/>
                  <a:pt x="12851" y="2672"/>
                  <a:pt x="10800" y="2672"/>
                </a:cubicBezTo>
                <a:cubicBezTo>
                  <a:pt x="6311" y="2672"/>
                  <a:pt x="2672" y="6311"/>
                  <a:pt x="2672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3525" y="0"/>
                  <a:pt x="16150" y="1030"/>
                  <a:pt x="18148" y="2885"/>
                </a:cubicBezTo>
                <a:lnTo>
                  <a:pt x="19985" y="906"/>
                </a:lnTo>
                <a:lnTo>
                  <a:pt x="20197" y="6610"/>
                </a:lnTo>
                <a:lnTo>
                  <a:pt x="14493" y="6822"/>
                </a:lnTo>
                <a:lnTo>
                  <a:pt x="16330" y="4843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  <a:latin typeface="+mn-lt"/>
            </a:endParaRPr>
          </a:p>
        </p:txBody>
      </p:sp>
      <p:sp>
        <p:nvSpPr>
          <p:cNvPr id="61467" name="AutoShape 27"/>
          <p:cNvSpPr>
            <a:spLocks noChangeArrowheads="1"/>
          </p:cNvSpPr>
          <p:nvPr/>
        </p:nvSpPr>
        <p:spPr bwMode="auto">
          <a:xfrm rot="10800000" flipH="1">
            <a:off x="5069682" y="2226470"/>
            <a:ext cx="1179910" cy="1107281"/>
          </a:xfrm>
          <a:custGeom>
            <a:avLst/>
            <a:gdLst>
              <a:gd name="G0" fmla="+- -1629867 0 0"/>
              <a:gd name="G1" fmla="+- -11796480 0 0"/>
              <a:gd name="G2" fmla="+- -1629867 0 -11796480"/>
              <a:gd name="G3" fmla="+- 10800 0 0"/>
              <a:gd name="G4" fmla="+- 0 0 -162986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7906 0 0"/>
              <a:gd name="G9" fmla="+- 0 0 -11796480"/>
              <a:gd name="G10" fmla="+- 7906 0 2700"/>
              <a:gd name="G11" fmla="cos G10 -1629867"/>
              <a:gd name="G12" fmla="sin G10 -1629867"/>
              <a:gd name="G13" fmla="cos 13500 -1629867"/>
              <a:gd name="G14" fmla="sin 13500 -1629867"/>
              <a:gd name="G15" fmla="+- G11 10800 0"/>
              <a:gd name="G16" fmla="+- G12 10800 0"/>
              <a:gd name="G17" fmla="+- G13 10800 0"/>
              <a:gd name="G18" fmla="+- G14 10800 0"/>
              <a:gd name="G19" fmla="*/ 7906 1 2"/>
              <a:gd name="G20" fmla="+- G19 5400 0"/>
              <a:gd name="G21" fmla="cos G20 -1629867"/>
              <a:gd name="G22" fmla="sin G20 -1629867"/>
              <a:gd name="G23" fmla="+- G21 10800 0"/>
              <a:gd name="G24" fmla="+- G12 G23 G22"/>
              <a:gd name="G25" fmla="+- G22 G23 G11"/>
              <a:gd name="G26" fmla="cos 10800 -1629867"/>
              <a:gd name="G27" fmla="sin 10800 -1629867"/>
              <a:gd name="G28" fmla="cos 7906 -1629867"/>
              <a:gd name="G29" fmla="sin 7906 -162986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162986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7906 G39"/>
              <a:gd name="G43" fmla="sin 7906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8474 w 21600"/>
              <a:gd name="T5" fmla="*/ 253 h 21600"/>
              <a:gd name="T6" fmla="*/ 1447 w 21600"/>
              <a:gd name="T7" fmla="*/ 10800 h 21600"/>
              <a:gd name="T8" fmla="*/ 9097 w 21600"/>
              <a:gd name="T9" fmla="*/ 3079 h 21600"/>
              <a:gd name="T10" fmla="*/ 23048 w 21600"/>
              <a:gd name="T11" fmla="*/ 5122 h 21600"/>
              <a:gd name="T12" fmla="*/ 21029 w 21600"/>
              <a:gd name="T13" fmla="*/ 10628 h 21600"/>
              <a:gd name="T14" fmla="*/ 15523 w 21600"/>
              <a:gd name="T15" fmla="*/ 8610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7972" y="7475"/>
                </a:moveTo>
                <a:cubicBezTo>
                  <a:pt x="16677" y="4681"/>
                  <a:pt x="13879" y="2894"/>
                  <a:pt x="10800" y="2894"/>
                </a:cubicBezTo>
                <a:cubicBezTo>
                  <a:pt x="6433" y="2894"/>
                  <a:pt x="2894" y="6433"/>
                  <a:pt x="2894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5006" y="0"/>
                  <a:pt x="18829" y="2441"/>
                  <a:pt x="20598" y="6257"/>
                </a:cubicBezTo>
                <a:lnTo>
                  <a:pt x="23048" y="5122"/>
                </a:lnTo>
                <a:lnTo>
                  <a:pt x="21029" y="10628"/>
                </a:lnTo>
                <a:lnTo>
                  <a:pt x="15523" y="8610"/>
                </a:lnTo>
                <a:lnTo>
                  <a:pt x="17972" y="7475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  <a:latin typeface="+mn-lt"/>
            </a:endParaRPr>
          </a:p>
        </p:txBody>
      </p:sp>
      <p:sp>
        <p:nvSpPr>
          <p:cNvPr id="61468" name="AutoShape 28"/>
          <p:cNvSpPr>
            <a:spLocks noChangeArrowheads="1"/>
          </p:cNvSpPr>
          <p:nvPr/>
        </p:nvSpPr>
        <p:spPr bwMode="auto">
          <a:xfrm rot="22514993">
            <a:off x="5067301" y="3201593"/>
            <a:ext cx="1178719" cy="1107281"/>
          </a:xfrm>
          <a:custGeom>
            <a:avLst/>
            <a:gdLst>
              <a:gd name="G0" fmla="+- -3088298 0 0"/>
              <a:gd name="G1" fmla="+- -11796480 0 0"/>
              <a:gd name="G2" fmla="+- -3088298 0 -11796480"/>
              <a:gd name="G3" fmla="+- 10800 0 0"/>
              <a:gd name="G4" fmla="+- 0 0 -3088298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8128 0 0"/>
              <a:gd name="G9" fmla="+- 0 0 -11796480"/>
              <a:gd name="G10" fmla="+- 8128 0 2700"/>
              <a:gd name="G11" fmla="cos G10 -3088298"/>
              <a:gd name="G12" fmla="sin G10 -3088298"/>
              <a:gd name="G13" fmla="cos 13500 -3088298"/>
              <a:gd name="G14" fmla="sin 13500 -3088298"/>
              <a:gd name="G15" fmla="+- G11 10800 0"/>
              <a:gd name="G16" fmla="+- G12 10800 0"/>
              <a:gd name="G17" fmla="+- G13 10800 0"/>
              <a:gd name="G18" fmla="+- G14 10800 0"/>
              <a:gd name="G19" fmla="*/ 8128 1 2"/>
              <a:gd name="G20" fmla="+- G19 5400 0"/>
              <a:gd name="G21" fmla="cos G20 -3088298"/>
              <a:gd name="G22" fmla="sin G20 -3088298"/>
              <a:gd name="G23" fmla="+- G21 10800 0"/>
              <a:gd name="G24" fmla="+- G12 G23 G22"/>
              <a:gd name="G25" fmla="+- G22 G23 G11"/>
              <a:gd name="G26" fmla="cos 10800 -3088298"/>
              <a:gd name="G27" fmla="sin 10800 -3088298"/>
              <a:gd name="G28" fmla="cos 8128 -3088298"/>
              <a:gd name="G29" fmla="sin 8128 -3088298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3088298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8128 G39"/>
              <a:gd name="G43" fmla="sin 8128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6482 w 21600"/>
              <a:gd name="T5" fmla="*/ 900 h 21600"/>
              <a:gd name="T6" fmla="*/ 1336 w 21600"/>
              <a:gd name="T7" fmla="*/ 10800 h 21600"/>
              <a:gd name="T8" fmla="*/ 7550 w 21600"/>
              <a:gd name="T9" fmla="*/ 3349 h 21600"/>
              <a:gd name="T10" fmla="*/ 19985 w 21600"/>
              <a:gd name="T11" fmla="*/ 906 h 21600"/>
              <a:gd name="T12" fmla="*/ 20197 w 21600"/>
              <a:gd name="T13" fmla="*/ 6610 h 21600"/>
              <a:gd name="T14" fmla="*/ 14493 w 21600"/>
              <a:gd name="T15" fmla="*/ 6822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6330" y="4843"/>
                </a:moveTo>
                <a:cubicBezTo>
                  <a:pt x="14827" y="3447"/>
                  <a:pt x="12851" y="2672"/>
                  <a:pt x="10800" y="2672"/>
                </a:cubicBezTo>
                <a:cubicBezTo>
                  <a:pt x="6311" y="2672"/>
                  <a:pt x="2672" y="6311"/>
                  <a:pt x="2672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3525" y="0"/>
                  <a:pt x="16150" y="1030"/>
                  <a:pt x="18148" y="2885"/>
                </a:cubicBezTo>
                <a:lnTo>
                  <a:pt x="19985" y="906"/>
                </a:lnTo>
                <a:lnTo>
                  <a:pt x="20197" y="6610"/>
                </a:lnTo>
                <a:lnTo>
                  <a:pt x="14493" y="6822"/>
                </a:lnTo>
                <a:lnTo>
                  <a:pt x="16330" y="4843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  <a:latin typeface="+mn-lt"/>
            </a:endParaRPr>
          </a:p>
        </p:txBody>
      </p:sp>
      <p:sp>
        <p:nvSpPr>
          <p:cNvPr id="61469" name="AutoShape 29"/>
          <p:cNvSpPr>
            <a:spLocks noChangeArrowheads="1"/>
          </p:cNvSpPr>
          <p:nvPr/>
        </p:nvSpPr>
        <p:spPr bwMode="auto">
          <a:xfrm flipH="1">
            <a:off x="5165586" y="4388083"/>
            <a:ext cx="1178719" cy="1107281"/>
          </a:xfrm>
          <a:custGeom>
            <a:avLst/>
            <a:gdLst>
              <a:gd name="G0" fmla="+- -1629867 0 0"/>
              <a:gd name="G1" fmla="+- -11796480 0 0"/>
              <a:gd name="G2" fmla="+- -1629867 0 -11796480"/>
              <a:gd name="G3" fmla="+- 10800 0 0"/>
              <a:gd name="G4" fmla="+- 0 0 -162986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7906 0 0"/>
              <a:gd name="G9" fmla="+- 0 0 -11796480"/>
              <a:gd name="G10" fmla="+- 7906 0 2700"/>
              <a:gd name="G11" fmla="cos G10 -1629867"/>
              <a:gd name="G12" fmla="sin G10 -1629867"/>
              <a:gd name="G13" fmla="cos 13500 -1629867"/>
              <a:gd name="G14" fmla="sin 13500 -1629867"/>
              <a:gd name="G15" fmla="+- G11 10800 0"/>
              <a:gd name="G16" fmla="+- G12 10800 0"/>
              <a:gd name="G17" fmla="+- G13 10800 0"/>
              <a:gd name="G18" fmla="+- G14 10800 0"/>
              <a:gd name="G19" fmla="*/ 7906 1 2"/>
              <a:gd name="G20" fmla="+- G19 5400 0"/>
              <a:gd name="G21" fmla="cos G20 -1629867"/>
              <a:gd name="G22" fmla="sin G20 -1629867"/>
              <a:gd name="G23" fmla="+- G21 10800 0"/>
              <a:gd name="G24" fmla="+- G12 G23 G22"/>
              <a:gd name="G25" fmla="+- G22 G23 G11"/>
              <a:gd name="G26" fmla="cos 10800 -1629867"/>
              <a:gd name="G27" fmla="sin 10800 -1629867"/>
              <a:gd name="G28" fmla="cos 7906 -1629867"/>
              <a:gd name="G29" fmla="sin 7906 -162986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162986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7906 G39"/>
              <a:gd name="G43" fmla="sin 7906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8474 w 21600"/>
              <a:gd name="T5" fmla="*/ 253 h 21600"/>
              <a:gd name="T6" fmla="*/ 1447 w 21600"/>
              <a:gd name="T7" fmla="*/ 10800 h 21600"/>
              <a:gd name="T8" fmla="*/ 9097 w 21600"/>
              <a:gd name="T9" fmla="*/ 3079 h 21600"/>
              <a:gd name="T10" fmla="*/ 23048 w 21600"/>
              <a:gd name="T11" fmla="*/ 5122 h 21600"/>
              <a:gd name="T12" fmla="*/ 21029 w 21600"/>
              <a:gd name="T13" fmla="*/ 10628 h 21600"/>
              <a:gd name="T14" fmla="*/ 15523 w 21600"/>
              <a:gd name="T15" fmla="*/ 8610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7972" y="7475"/>
                </a:moveTo>
                <a:cubicBezTo>
                  <a:pt x="16677" y="4681"/>
                  <a:pt x="13879" y="2894"/>
                  <a:pt x="10800" y="2894"/>
                </a:cubicBezTo>
                <a:cubicBezTo>
                  <a:pt x="6433" y="2894"/>
                  <a:pt x="2894" y="6433"/>
                  <a:pt x="2894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5006" y="0"/>
                  <a:pt x="18829" y="2441"/>
                  <a:pt x="20598" y="6257"/>
                </a:cubicBezTo>
                <a:lnTo>
                  <a:pt x="23048" y="5122"/>
                </a:lnTo>
                <a:lnTo>
                  <a:pt x="21029" y="10628"/>
                </a:lnTo>
                <a:lnTo>
                  <a:pt x="15523" y="8610"/>
                </a:lnTo>
                <a:lnTo>
                  <a:pt x="17972" y="7475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  <a:latin typeface="+mn-lt"/>
            </a:endParaRPr>
          </a:p>
        </p:txBody>
      </p:sp>
      <p:sp>
        <p:nvSpPr>
          <p:cNvPr id="61470" name="AutoShape 30"/>
          <p:cNvSpPr>
            <a:spLocks noChangeArrowheads="1"/>
          </p:cNvSpPr>
          <p:nvPr/>
        </p:nvSpPr>
        <p:spPr bwMode="auto">
          <a:xfrm rot="16200000" flipH="1">
            <a:off x="6354366" y="3306366"/>
            <a:ext cx="719138" cy="719138"/>
          </a:xfrm>
          <a:custGeom>
            <a:avLst/>
            <a:gdLst>
              <a:gd name="G0" fmla="+- -6808501 0 0"/>
              <a:gd name="G1" fmla="+- -11796480 0 0"/>
              <a:gd name="G2" fmla="+- -6808501 0 -11796480"/>
              <a:gd name="G3" fmla="+- 10800 0 0"/>
              <a:gd name="G4" fmla="+- 0 0 -6808501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10131 0 0"/>
              <a:gd name="G9" fmla="+- 0 0 -11796480"/>
              <a:gd name="G10" fmla="+- 10131 0 2700"/>
              <a:gd name="G11" fmla="cos G10 -6808501"/>
              <a:gd name="G12" fmla="sin G10 -6808501"/>
              <a:gd name="G13" fmla="cos 13500 -6808501"/>
              <a:gd name="G14" fmla="sin 13500 -6808501"/>
              <a:gd name="G15" fmla="+- G11 10800 0"/>
              <a:gd name="G16" fmla="+- G12 10800 0"/>
              <a:gd name="G17" fmla="+- G13 10800 0"/>
              <a:gd name="G18" fmla="+- G14 10800 0"/>
              <a:gd name="G19" fmla="*/ 10131 1 2"/>
              <a:gd name="G20" fmla="+- G19 5400 0"/>
              <a:gd name="G21" fmla="cos G20 -6808501"/>
              <a:gd name="G22" fmla="sin G20 -6808501"/>
              <a:gd name="G23" fmla="+- G21 10800 0"/>
              <a:gd name="G24" fmla="+- G12 G23 G22"/>
              <a:gd name="G25" fmla="+- G22 G23 G11"/>
              <a:gd name="G26" fmla="cos 10800 -6808501"/>
              <a:gd name="G27" fmla="sin 10800 -6808501"/>
              <a:gd name="G28" fmla="cos 10131 -6808501"/>
              <a:gd name="G29" fmla="sin 10131 -6808501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6808501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10131 G39"/>
              <a:gd name="G43" fmla="sin 10131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2295 w 21600"/>
              <a:gd name="T5" fmla="*/ 4142 h 21600"/>
              <a:gd name="T6" fmla="*/ 334 w 21600"/>
              <a:gd name="T7" fmla="*/ 10800 h 21600"/>
              <a:gd name="T8" fmla="*/ 2822 w 21600"/>
              <a:gd name="T9" fmla="*/ 4555 h 21600"/>
              <a:gd name="T10" fmla="*/ 7559 w 21600"/>
              <a:gd name="T11" fmla="*/ -2306 h 21600"/>
              <a:gd name="T12" fmla="*/ 11233 w 21600"/>
              <a:gd name="T13" fmla="*/ -89 h 21600"/>
              <a:gd name="T14" fmla="*/ 9016 w 21600"/>
              <a:gd name="T15" fmla="*/ 358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8368" y="965"/>
                </a:moveTo>
                <a:cubicBezTo>
                  <a:pt x="3845" y="2083"/>
                  <a:pt x="669" y="6141"/>
                  <a:pt x="669" y="10799"/>
                </a:cubicBezTo>
                <a:lnTo>
                  <a:pt x="0" y="10800"/>
                </a:lnTo>
                <a:cubicBezTo>
                  <a:pt x="0" y="5833"/>
                  <a:pt x="3386" y="1507"/>
                  <a:pt x="8207" y="315"/>
                </a:cubicBezTo>
                <a:lnTo>
                  <a:pt x="7559" y="-2306"/>
                </a:lnTo>
                <a:lnTo>
                  <a:pt x="11233" y="-89"/>
                </a:lnTo>
                <a:lnTo>
                  <a:pt x="9016" y="3586"/>
                </a:lnTo>
                <a:lnTo>
                  <a:pt x="8368" y="965"/>
                </a:lnTo>
                <a:close/>
              </a:path>
            </a:pathLst>
          </a:cu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  <a:latin typeface="+mn-lt"/>
            </a:endParaRPr>
          </a:p>
        </p:txBody>
      </p:sp>
      <p:sp>
        <p:nvSpPr>
          <p:cNvPr id="61471" name="Text Box 31"/>
          <p:cNvSpPr txBox="1">
            <a:spLocks noChangeArrowheads="1"/>
          </p:cNvSpPr>
          <p:nvPr/>
        </p:nvSpPr>
        <p:spPr bwMode="auto">
          <a:xfrm>
            <a:off x="6702425" y="3152230"/>
            <a:ext cx="898003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350" b="1">
                <a:solidFill>
                  <a:srgbClr val="C0504D"/>
                </a:solidFill>
                <a:latin typeface="+mn-lt"/>
              </a:rPr>
              <a:t>Initiation</a:t>
            </a:r>
            <a:endParaRPr lang="en-US" sz="1350" b="1">
              <a:solidFill>
                <a:srgbClr val="C0504D"/>
              </a:solidFill>
              <a:latin typeface="+mn-lt"/>
            </a:endParaRPr>
          </a:p>
        </p:txBody>
      </p:sp>
      <p:sp>
        <p:nvSpPr>
          <p:cNvPr id="61472" name="Text Box 32"/>
          <p:cNvSpPr txBox="1">
            <a:spLocks noChangeArrowheads="1"/>
          </p:cNvSpPr>
          <p:nvPr/>
        </p:nvSpPr>
        <p:spPr bwMode="auto">
          <a:xfrm>
            <a:off x="6716460" y="4220170"/>
            <a:ext cx="1128963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350" b="1">
                <a:solidFill>
                  <a:srgbClr val="800080"/>
                </a:solidFill>
                <a:latin typeface="+mn-lt"/>
              </a:rPr>
              <a:t>Termination</a:t>
            </a:r>
          </a:p>
        </p:txBody>
      </p:sp>
      <p:sp>
        <p:nvSpPr>
          <p:cNvPr id="61473" name="AutoShape 33"/>
          <p:cNvSpPr>
            <a:spLocks noChangeArrowheads="1"/>
          </p:cNvSpPr>
          <p:nvPr/>
        </p:nvSpPr>
        <p:spPr bwMode="auto">
          <a:xfrm rot="10800000" flipH="1">
            <a:off x="6354366" y="3627835"/>
            <a:ext cx="719138" cy="719138"/>
          </a:xfrm>
          <a:custGeom>
            <a:avLst/>
            <a:gdLst>
              <a:gd name="G0" fmla="+- -6808501 0 0"/>
              <a:gd name="G1" fmla="+- -11796480 0 0"/>
              <a:gd name="G2" fmla="+- -6808501 0 -11796480"/>
              <a:gd name="G3" fmla="+- 10800 0 0"/>
              <a:gd name="G4" fmla="+- 0 0 -6808501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10131 0 0"/>
              <a:gd name="G9" fmla="+- 0 0 -11796480"/>
              <a:gd name="G10" fmla="+- 10131 0 2700"/>
              <a:gd name="G11" fmla="cos G10 -6808501"/>
              <a:gd name="G12" fmla="sin G10 -6808501"/>
              <a:gd name="G13" fmla="cos 13500 -6808501"/>
              <a:gd name="G14" fmla="sin 13500 -6808501"/>
              <a:gd name="G15" fmla="+- G11 10800 0"/>
              <a:gd name="G16" fmla="+- G12 10800 0"/>
              <a:gd name="G17" fmla="+- G13 10800 0"/>
              <a:gd name="G18" fmla="+- G14 10800 0"/>
              <a:gd name="G19" fmla="*/ 10131 1 2"/>
              <a:gd name="G20" fmla="+- G19 5400 0"/>
              <a:gd name="G21" fmla="cos G20 -6808501"/>
              <a:gd name="G22" fmla="sin G20 -6808501"/>
              <a:gd name="G23" fmla="+- G21 10800 0"/>
              <a:gd name="G24" fmla="+- G12 G23 G22"/>
              <a:gd name="G25" fmla="+- G22 G23 G11"/>
              <a:gd name="G26" fmla="cos 10800 -6808501"/>
              <a:gd name="G27" fmla="sin 10800 -6808501"/>
              <a:gd name="G28" fmla="cos 10131 -6808501"/>
              <a:gd name="G29" fmla="sin 10131 -6808501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6808501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10131 G39"/>
              <a:gd name="G43" fmla="sin 10131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2295 w 21600"/>
              <a:gd name="T5" fmla="*/ 4142 h 21600"/>
              <a:gd name="T6" fmla="*/ 334 w 21600"/>
              <a:gd name="T7" fmla="*/ 10800 h 21600"/>
              <a:gd name="T8" fmla="*/ 2822 w 21600"/>
              <a:gd name="T9" fmla="*/ 4555 h 21600"/>
              <a:gd name="T10" fmla="*/ 7559 w 21600"/>
              <a:gd name="T11" fmla="*/ -2306 h 21600"/>
              <a:gd name="T12" fmla="*/ 11233 w 21600"/>
              <a:gd name="T13" fmla="*/ -89 h 21600"/>
              <a:gd name="T14" fmla="*/ 9016 w 21600"/>
              <a:gd name="T15" fmla="*/ 3586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8368" y="965"/>
                </a:moveTo>
                <a:cubicBezTo>
                  <a:pt x="3845" y="2083"/>
                  <a:pt x="669" y="6141"/>
                  <a:pt x="669" y="10799"/>
                </a:cubicBezTo>
                <a:lnTo>
                  <a:pt x="0" y="10800"/>
                </a:lnTo>
                <a:cubicBezTo>
                  <a:pt x="0" y="5833"/>
                  <a:pt x="3386" y="1507"/>
                  <a:pt x="8207" y="315"/>
                </a:cubicBezTo>
                <a:lnTo>
                  <a:pt x="7559" y="-2306"/>
                </a:lnTo>
                <a:lnTo>
                  <a:pt x="11233" y="-89"/>
                </a:lnTo>
                <a:lnTo>
                  <a:pt x="9016" y="3586"/>
                </a:lnTo>
                <a:lnTo>
                  <a:pt x="8368" y="965"/>
                </a:lnTo>
                <a:close/>
              </a:path>
            </a:pathLst>
          </a:cu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  <a:latin typeface="+mn-lt"/>
            </a:endParaRPr>
          </a:p>
        </p:txBody>
      </p:sp>
      <p:sp>
        <p:nvSpPr>
          <p:cNvPr id="61474" name="Text Box 34"/>
          <p:cNvSpPr txBox="1">
            <a:spLocks noChangeArrowheads="1"/>
          </p:cNvSpPr>
          <p:nvPr/>
        </p:nvSpPr>
        <p:spPr bwMode="auto">
          <a:xfrm>
            <a:off x="6407944" y="3969544"/>
            <a:ext cx="282450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350" b="1">
                <a:solidFill>
                  <a:srgbClr val="800080"/>
                </a:solidFill>
                <a:latin typeface="+mn-lt"/>
              </a:rPr>
              <a:t>4</a:t>
            </a:r>
          </a:p>
        </p:txBody>
      </p:sp>
      <p:sp>
        <p:nvSpPr>
          <p:cNvPr id="61475" name="Text Box 35"/>
          <p:cNvSpPr txBox="1">
            <a:spLocks noChangeArrowheads="1"/>
          </p:cNvSpPr>
          <p:nvPr/>
        </p:nvSpPr>
        <p:spPr bwMode="auto">
          <a:xfrm>
            <a:off x="6407944" y="3369469"/>
            <a:ext cx="282450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350" b="1">
                <a:solidFill>
                  <a:srgbClr val="C0504D"/>
                </a:solidFill>
                <a:latin typeface="+mn-lt"/>
              </a:rPr>
              <a:t>1</a:t>
            </a:r>
            <a:endParaRPr lang="en-US" sz="1350" b="1">
              <a:solidFill>
                <a:srgbClr val="C0504D"/>
              </a:solidFill>
              <a:latin typeface="+mn-lt"/>
            </a:endParaRPr>
          </a:p>
        </p:txBody>
      </p:sp>
      <p:sp>
        <p:nvSpPr>
          <p:cNvPr id="61476" name="Text Box 36"/>
          <p:cNvSpPr txBox="1">
            <a:spLocks noChangeArrowheads="1"/>
          </p:cNvSpPr>
          <p:nvPr/>
        </p:nvSpPr>
        <p:spPr bwMode="auto">
          <a:xfrm>
            <a:off x="5543550" y="2888456"/>
            <a:ext cx="282450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350" b="1">
                <a:solidFill>
                  <a:srgbClr val="FF0000"/>
                </a:solidFill>
                <a:latin typeface="+mn-lt"/>
              </a:rPr>
              <a:t>3</a:t>
            </a:r>
            <a:endParaRPr lang="en-US" sz="1350" b="1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1477" name="Rectangle 37"/>
          <p:cNvSpPr>
            <a:spLocks noChangeArrowheads="1"/>
          </p:cNvSpPr>
          <p:nvPr/>
        </p:nvSpPr>
        <p:spPr bwMode="auto">
          <a:xfrm>
            <a:off x="5641835" y="4095188"/>
            <a:ext cx="282450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350" b="1">
                <a:solidFill>
                  <a:srgbClr val="FF0000"/>
                </a:solidFill>
                <a:latin typeface="+mn-lt"/>
              </a:rPr>
              <a:t>2</a:t>
            </a:r>
            <a:endParaRPr lang="en-US" sz="1350" b="1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1609438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1143000" y="857250"/>
            <a:ext cx="61722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GB">
                <a:solidFill>
                  <a:srgbClr val="1F497D"/>
                </a:solidFill>
                <a:latin typeface="+mn-lt"/>
              </a:rPr>
              <a:t>We’ll start by only considering the two propagation steps (2) and (3)…</a:t>
            </a:r>
            <a:endParaRPr lang="en-US">
              <a:solidFill>
                <a:srgbClr val="1F497D"/>
              </a:solidFill>
              <a:latin typeface="+mn-lt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143001" y="2786060"/>
            <a:ext cx="2512219" cy="560784"/>
            <a:chOff x="1610" y="3353"/>
            <a:chExt cx="2110" cy="471"/>
          </a:xfrm>
        </p:grpSpPr>
        <p:sp>
          <p:nvSpPr>
            <p:cNvPr id="62468" name="Text Box 4"/>
            <p:cNvSpPr txBox="1">
              <a:spLocks noChangeArrowheads="1"/>
            </p:cNvSpPr>
            <p:nvPr/>
          </p:nvSpPr>
          <p:spPr bwMode="auto">
            <a:xfrm>
              <a:off x="2375" y="3353"/>
              <a:ext cx="27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1350" i="1" baseline="-25000">
                  <a:solidFill>
                    <a:prstClr val="black"/>
                  </a:solidFill>
                  <a:latin typeface="+mn-lt"/>
                </a:rPr>
                <a:t>3</a:t>
              </a:r>
              <a:endParaRPr lang="en-US" sz="1350" i="1" baseline="-250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62469" name="Rectangle 5"/>
            <p:cNvSpPr>
              <a:spLocks noChangeArrowheads="1"/>
            </p:cNvSpPr>
            <p:nvPr/>
          </p:nvSpPr>
          <p:spPr bwMode="auto">
            <a:xfrm>
              <a:off x="1610" y="3475"/>
              <a:ext cx="2110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100">
                  <a:solidFill>
                    <a:prstClr val="black"/>
                  </a:solidFill>
                  <a:latin typeface="+mn-lt"/>
                </a:rPr>
                <a:t>H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GB" sz="2100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 </a:t>
              </a:r>
              <a:r>
                <a:rPr lang="en-GB" sz="2100">
                  <a:solidFill>
                    <a:prstClr val="black"/>
                  </a:solidFill>
                  <a:latin typeface="+mn-lt"/>
                  <a:cs typeface="Arial" charset="0"/>
                </a:rPr>
                <a:t>→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US" sz="2100" err="1">
                  <a:solidFill>
                    <a:prstClr val="black"/>
                  </a:solidFill>
                  <a:latin typeface="+mn-lt"/>
                  <a:cs typeface="Arial" charset="0"/>
                </a:rPr>
                <a:t>HBr</a:t>
              </a:r>
              <a:endParaRPr lang="en-US" sz="2100">
                <a:solidFill>
                  <a:prstClr val="black"/>
                </a:solidFill>
                <a:latin typeface="+mn-lt"/>
                <a:cs typeface="Arial" charset="0"/>
              </a:endParaRP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143000" y="2250288"/>
            <a:ext cx="2955132" cy="578645"/>
            <a:chOff x="1670" y="1860"/>
            <a:chExt cx="2482" cy="486"/>
          </a:xfrm>
        </p:grpSpPr>
        <p:sp>
          <p:nvSpPr>
            <p:cNvPr id="62471" name="Text Box 7"/>
            <p:cNvSpPr txBox="1">
              <a:spLocks noChangeArrowheads="1"/>
            </p:cNvSpPr>
            <p:nvPr/>
          </p:nvSpPr>
          <p:spPr bwMode="auto">
            <a:xfrm>
              <a:off x="2435" y="1860"/>
              <a:ext cx="27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1350" i="1" baseline="-25000">
                  <a:solidFill>
                    <a:prstClr val="black"/>
                  </a:solidFill>
                  <a:latin typeface="+mn-lt"/>
                </a:rPr>
                <a:t>2</a:t>
              </a:r>
              <a:endParaRPr lang="en-US" sz="1350" i="1" baseline="-250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62472" name="Rectangle 8"/>
            <p:cNvSpPr>
              <a:spLocks noChangeArrowheads="1"/>
            </p:cNvSpPr>
            <p:nvPr/>
          </p:nvSpPr>
          <p:spPr bwMode="auto">
            <a:xfrm>
              <a:off x="1670" y="1997"/>
              <a:ext cx="2482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100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H</a:t>
              </a:r>
              <a:r>
                <a:rPr lang="en-GB" sz="2100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 </a:t>
              </a:r>
              <a:r>
                <a:rPr lang="en-GB" sz="2100">
                  <a:solidFill>
                    <a:prstClr val="black"/>
                  </a:solidFill>
                  <a:latin typeface="+mn-lt"/>
                  <a:cs typeface="Arial" charset="0"/>
                </a:rPr>
                <a:t>→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H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US" sz="2100" err="1">
                  <a:solidFill>
                    <a:prstClr val="black"/>
                  </a:solidFill>
                  <a:latin typeface="+mn-lt"/>
                  <a:cs typeface="Arial" charset="0"/>
                </a:rPr>
                <a:t>HBr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	</a:t>
              </a:r>
            </a:p>
          </p:txBody>
        </p:sp>
      </p:grpSp>
      <p:sp>
        <p:nvSpPr>
          <p:cNvPr id="62473" name="Rectangle 9"/>
          <p:cNvSpPr>
            <a:spLocks noChangeArrowheads="1"/>
          </p:cNvSpPr>
          <p:nvPr/>
        </p:nvSpPr>
        <p:spPr bwMode="auto">
          <a:xfrm>
            <a:off x="4193381" y="2413397"/>
            <a:ext cx="54053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(2)</a:t>
            </a:r>
          </a:p>
        </p:txBody>
      </p:sp>
      <p:sp>
        <p:nvSpPr>
          <p:cNvPr id="62474" name="Rectangle 10"/>
          <p:cNvSpPr>
            <a:spLocks noChangeArrowheads="1"/>
          </p:cNvSpPr>
          <p:nvPr/>
        </p:nvSpPr>
        <p:spPr bwMode="auto">
          <a:xfrm>
            <a:off x="4193381" y="2931319"/>
            <a:ext cx="54053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(3)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023374" y="1270398"/>
            <a:ext cx="1408858" cy="2588419"/>
            <a:chOff x="6507163" y="1098550"/>
            <a:chExt cx="1878477" cy="3451225"/>
          </a:xfrm>
        </p:grpSpPr>
        <p:sp>
          <p:nvSpPr>
            <p:cNvPr id="62482" name="AutoShape 18"/>
            <p:cNvSpPr>
              <a:spLocks noChangeArrowheads="1"/>
            </p:cNvSpPr>
            <p:nvPr/>
          </p:nvSpPr>
          <p:spPr bwMode="auto">
            <a:xfrm rot="10800000" flipH="1">
              <a:off x="6680200" y="1098550"/>
              <a:ext cx="1295400" cy="1216025"/>
            </a:xfrm>
            <a:custGeom>
              <a:avLst/>
              <a:gdLst>
                <a:gd name="G0" fmla="+- -1629867 0 0"/>
                <a:gd name="G1" fmla="+- -11796480 0 0"/>
                <a:gd name="G2" fmla="+- -1629867 0 -11796480"/>
                <a:gd name="G3" fmla="+- 10800 0 0"/>
                <a:gd name="G4" fmla="+- 0 0 -1629867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7906 0 0"/>
                <a:gd name="G9" fmla="+- 0 0 -11796480"/>
                <a:gd name="G10" fmla="+- 7906 0 2700"/>
                <a:gd name="G11" fmla="cos G10 -1629867"/>
                <a:gd name="G12" fmla="sin G10 -1629867"/>
                <a:gd name="G13" fmla="cos 13500 -1629867"/>
                <a:gd name="G14" fmla="sin 13500 -1629867"/>
                <a:gd name="G15" fmla="+- G11 10800 0"/>
                <a:gd name="G16" fmla="+- G12 10800 0"/>
                <a:gd name="G17" fmla="+- G13 10800 0"/>
                <a:gd name="G18" fmla="+- G14 10800 0"/>
                <a:gd name="G19" fmla="*/ 7906 1 2"/>
                <a:gd name="G20" fmla="+- G19 5400 0"/>
                <a:gd name="G21" fmla="cos G20 -1629867"/>
                <a:gd name="G22" fmla="sin G20 -1629867"/>
                <a:gd name="G23" fmla="+- G21 10800 0"/>
                <a:gd name="G24" fmla="+- G12 G23 G22"/>
                <a:gd name="G25" fmla="+- G22 G23 G11"/>
                <a:gd name="G26" fmla="cos 10800 -1629867"/>
                <a:gd name="G27" fmla="sin 10800 -1629867"/>
                <a:gd name="G28" fmla="cos 7906 -1629867"/>
                <a:gd name="G29" fmla="sin 7906 -1629867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11796480"/>
                <a:gd name="G36" fmla="sin G34 -11796480"/>
                <a:gd name="G37" fmla="+/ -11796480 -1629867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7906 G39"/>
                <a:gd name="G43" fmla="sin 7906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8474 w 21600"/>
                <a:gd name="T5" fmla="*/ 253 h 21600"/>
                <a:gd name="T6" fmla="*/ 1447 w 21600"/>
                <a:gd name="T7" fmla="*/ 10800 h 21600"/>
                <a:gd name="T8" fmla="*/ 9097 w 21600"/>
                <a:gd name="T9" fmla="*/ 3079 h 21600"/>
                <a:gd name="T10" fmla="*/ 23048 w 21600"/>
                <a:gd name="T11" fmla="*/ 5122 h 21600"/>
                <a:gd name="T12" fmla="*/ 21029 w 21600"/>
                <a:gd name="T13" fmla="*/ 10628 h 21600"/>
                <a:gd name="T14" fmla="*/ 15523 w 21600"/>
                <a:gd name="T15" fmla="*/ 8610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7972" y="7475"/>
                  </a:moveTo>
                  <a:cubicBezTo>
                    <a:pt x="16677" y="4681"/>
                    <a:pt x="13879" y="2894"/>
                    <a:pt x="10800" y="2894"/>
                  </a:cubicBezTo>
                  <a:cubicBezTo>
                    <a:pt x="6433" y="2894"/>
                    <a:pt x="2894" y="6433"/>
                    <a:pt x="2894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5006" y="0"/>
                    <a:pt x="18829" y="2441"/>
                    <a:pt x="20598" y="6257"/>
                  </a:cubicBezTo>
                  <a:lnTo>
                    <a:pt x="23048" y="5122"/>
                  </a:lnTo>
                  <a:lnTo>
                    <a:pt x="21029" y="10628"/>
                  </a:lnTo>
                  <a:lnTo>
                    <a:pt x="15523" y="8610"/>
                  </a:lnTo>
                  <a:lnTo>
                    <a:pt x="17972" y="7475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62484" name="AutoShape 20"/>
            <p:cNvSpPr>
              <a:spLocks noChangeArrowheads="1"/>
            </p:cNvSpPr>
            <p:nvPr/>
          </p:nvSpPr>
          <p:spPr bwMode="auto">
            <a:xfrm flipH="1">
              <a:off x="6737350" y="3333750"/>
              <a:ext cx="1293813" cy="1216025"/>
            </a:xfrm>
            <a:custGeom>
              <a:avLst/>
              <a:gdLst>
                <a:gd name="G0" fmla="+- -1629867 0 0"/>
                <a:gd name="G1" fmla="+- -11796480 0 0"/>
                <a:gd name="G2" fmla="+- -1629867 0 -11796480"/>
                <a:gd name="G3" fmla="+- 10800 0 0"/>
                <a:gd name="G4" fmla="+- 0 0 -1629867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7906 0 0"/>
                <a:gd name="G9" fmla="+- 0 0 -11796480"/>
                <a:gd name="G10" fmla="+- 7906 0 2700"/>
                <a:gd name="G11" fmla="cos G10 -1629867"/>
                <a:gd name="G12" fmla="sin G10 -1629867"/>
                <a:gd name="G13" fmla="cos 13500 -1629867"/>
                <a:gd name="G14" fmla="sin 13500 -1629867"/>
                <a:gd name="G15" fmla="+- G11 10800 0"/>
                <a:gd name="G16" fmla="+- G12 10800 0"/>
                <a:gd name="G17" fmla="+- G13 10800 0"/>
                <a:gd name="G18" fmla="+- G14 10800 0"/>
                <a:gd name="G19" fmla="*/ 7906 1 2"/>
                <a:gd name="G20" fmla="+- G19 5400 0"/>
                <a:gd name="G21" fmla="cos G20 -1629867"/>
                <a:gd name="G22" fmla="sin G20 -1629867"/>
                <a:gd name="G23" fmla="+- G21 10800 0"/>
                <a:gd name="G24" fmla="+- G12 G23 G22"/>
                <a:gd name="G25" fmla="+- G22 G23 G11"/>
                <a:gd name="G26" fmla="cos 10800 -1629867"/>
                <a:gd name="G27" fmla="sin 10800 -1629867"/>
                <a:gd name="G28" fmla="cos 7906 -1629867"/>
                <a:gd name="G29" fmla="sin 7906 -1629867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11796480"/>
                <a:gd name="G36" fmla="sin G34 -11796480"/>
                <a:gd name="G37" fmla="+/ -11796480 -1629867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7906 G39"/>
                <a:gd name="G43" fmla="sin 7906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8474 w 21600"/>
                <a:gd name="T5" fmla="*/ 253 h 21600"/>
                <a:gd name="T6" fmla="*/ 1447 w 21600"/>
                <a:gd name="T7" fmla="*/ 10800 h 21600"/>
                <a:gd name="T8" fmla="*/ 9097 w 21600"/>
                <a:gd name="T9" fmla="*/ 3079 h 21600"/>
                <a:gd name="T10" fmla="*/ 23048 w 21600"/>
                <a:gd name="T11" fmla="*/ 5122 h 21600"/>
                <a:gd name="T12" fmla="*/ 21029 w 21600"/>
                <a:gd name="T13" fmla="*/ 10628 h 21600"/>
                <a:gd name="T14" fmla="*/ 15523 w 21600"/>
                <a:gd name="T15" fmla="*/ 8610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7972" y="7475"/>
                  </a:moveTo>
                  <a:cubicBezTo>
                    <a:pt x="16677" y="4681"/>
                    <a:pt x="13879" y="2894"/>
                    <a:pt x="10800" y="2894"/>
                  </a:cubicBezTo>
                  <a:cubicBezTo>
                    <a:pt x="6433" y="2894"/>
                    <a:pt x="2894" y="6433"/>
                    <a:pt x="2894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5006" y="0"/>
                    <a:pt x="18829" y="2441"/>
                    <a:pt x="20598" y="6257"/>
                  </a:cubicBezTo>
                  <a:lnTo>
                    <a:pt x="23048" y="5122"/>
                  </a:lnTo>
                  <a:lnTo>
                    <a:pt x="21029" y="10628"/>
                  </a:lnTo>
                  <a:lnTo>
                    <a:pt x="15523" y="8610"/>
                  </a:lnTo>
                  <a:lnTo>
                    <a:pt x="17972" y="7475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500">
                <a:solidFill>
                  <a:prstClr val="black"/>
                </a:solidFill>
                <a:latin typeface="+mn-lt"/>
              </a:endParaRPr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6507163" y="1314450"/>
              <a:ext cx="1878477" cy="3035975"/>
              <a:chOff x="6507163" y="1314450"/>
              <a:chExt cx="1878477" cy="3035975"/>
            </a:xfrm>
          </p:grpSpPr>
          <p:sp>
            <p:nvSpPr>
              <p:cNvPr id="62475" name="Rectangle 11"/>
              <p:cNvSpPr>
                <a:spLocks noChangeArrowheads="1"/>
              </p:cNvSpPr>
              <p:nvPr/>
            </p:nvSpPr>
            <p:spPr bwMode="auto">
              <a:xfrm>
                <a:off x="7737475" y="2657475"/>
                <a:ext cx="558272" cy="4308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1500">
                    <a:solidFill>
                      <a:prstClr val="black"/>
                    </a:solidFill>
                    <a:latin typeface="+mn-lt"/>
                  </a:rPr>
                  <a:t>Br</a:t>
                </a:r>
                <a:r>
                  <a:rPr lang="en-US" sz="1500">
                    <a:solidFill>
                      <a:prstClr val="black"/>
                    </a:solidFill>
                    <a:latin typeface="+mn-lt"/>
                    <a:cs typeface="Arial" charset="0"/>
                  </a:rPr>
                  <a:t>·</a:t>
                </a:r>
              </a:p>
            </p:txBody>
          </p:sp>
          <p:sp>
            <p:nvSpPr>
              <p:cNvPr id="62476" name="Rectangle 12"/>
              <p:cNvSpPr>
                <a:spLocks noChangeArrowheads="1"/>
              </p:cNvSpPr>
              <p:nvPr/>
            </p:nvSpPr>
            <p:spPr bwMode="auto">
              <a:xfrm>
                <a:off x="6548438" y="2635250"/>
                <a:ext cx="502701" cy="4308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1500">
                    <a:solidFill>
                      <a:prstClr val="black"/>
                    </a:solidFill>
                    <a:latin typeface="+mn-lt"/>
                    <a:cs typeface="Arial" charset="0"/>
                  </a:rPr>
                  <a:t>H</a:t>
                </a:r>
                <a:r>
                  <a:rPr lang="en-US" sz="1500">
                    <a:solidFill>
                      <a:prstClr val="black"/>
                    </a:solidFill>
                    <a:latin typeface="+mn-lt"/>
                    <a:cs typeface="Arial" charset="0"/>
                  </a:rPr>
                  <a:t>·</a:t>
                </a:r>
              </a:p>
            </p:txBody>
          </p:sp>
          <p:sp>
            <p:nvSpPr>
              <p:cNvPr id="62477" name="Rectangle 13"/>
              <p:cNvSpPr>
                <a:spLocks noChangeArrowheads="1"/>
              </p:cNvSpPr>
              <p:nvPr/>
            </p:nvSpPr>
            <p:spPr bwMode="auto">
              <a:xfrm>
                <a:off x="6548438" y="1352550"/>
                <a:ext cx="577509" cy="4308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1500">
                    <a:solidFill>
                      <a:prstClr val="black"/>
                    </a:solidFill>
                    <a:latin typeface="+mn-lt"/>
                  </a:rPr>
                  <a:t>Br</a:t>
                </a:r>
                <a:r>
                  <a:rPr lang="en-GB" sz="1500" baseline="-25000">
                    <a:solidFill>
                      <a:prstClr val="black"/>
                    </a:solidFill>
                    <a:latin typeface="+mn-lt"/>
                  </a:rPr>
                  <a:t>2</a:t>
                </a:r>
                <a:endParaRPr lang="en-US" sz="1500" baseline="-25000">
                  <a:solidFill>
                    <a:prstClr val="black"/>
                  </a:solidFill>
                  <a:latin typeface="+mn-lt"/>
                </a:endParaRPr>
              </a:p>
            </p:txBody>
          </p:sp>
          <p:sp>
            <p:nvSpPr>
              <p:cNvPr id="62478" name="Rectangle 14"/>
              <p:cNvSpPr>
                <a:spLocks noChangeArrowheads="1"/>
              </p:cNvSpPr>
              <p:nvPr/>
            </p:nvSpPr>
            <p:spPr bwMode="auto">
              <a:xfrm>
                <a:off x="7800975" y="3919538"/>
                <a:ext cx="521939" cy="4308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1500">
                    <a:solidFill>
                      <a:prstClr val="black"/>
                    </a:solidFill>
                    <a:latin typeface="+mn-lt"/>
                  </a:rPr>
                  <a:t>H</a:t>
                </a:r>
                <a:r>
                  <a:rPr lang="en-GB" sz="1500" baseline="-25000">
                    <a:solidFill>
                      <a:prstClr val="black"/>
                    </a:solidFill>
                    <a:latin typeface="+mn-lt"/>
                  </a:rPr>
                  <a:t>2</a:t>
                </a:r>
                <a:endParaRPr lang="en-US" sz="1500" baseline="-25000">
                  <a:solidFill>
                    <a:prstClr val="black"/>
                  </a:solidFill>
                  <a:latin typeface="+mn-lt"/>
                </a:endParaRPr>
              </a:p>
            </p:txBody>
          </p:sp>
          <p:sp>
            <p:nvSpPr>
              <p:cNvPr id="62479" name="Rectangle 15"/>
              <p:cNvSpPr>
                <a:spLocks noChangeArrowheads="1"/>
              </p:cNvSpPr>
              <p:nvPr/>
            </p:nvSpPr>
            <p:spPr bwMode="auto">
              <a:xfrm>
                <a:off x="7724775" y="1314450"/>
                <a:ext cx="660865" cy="4308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1500">
                    <a:solidFill>
                      <a:prstClr val="black"/>
                    </a:solidFill>
                    <a:latin typeface="+mn-lt"/>
                    <a:cs typeface="Arial" charset="0"/>
                  </a:rPr>
                  <a:t>HBr</a:t>
                </a:r>
                <a:endParaRPr lang="en-US" sz="1500">
                  <a:solidFill>
                    <a:prstClr val="black"/>
                  </a:solidFill>
                  <a:latin typeface="+mn-lt"/>
                  <a:cs typeface="Arial" charset="0"/>
                </a:endParaRPr>
              </a:p>
            </p:txBody>
          </p:sp>
          <p:sp>
            <p:nvSpPr>
              <p:cNvPr id="62480" name="Rectangle 16"/>
              <p:cNvSpPr>
                <a:spLocks noChangeArrowheads="1"/>
              </p:cNvSpPr>
              <p:nvPr/>
            </p:nvSpPr>
            <p:spPr bwMode="auto">
              <a:xfrm>
                <a:off x="6507163" y="3908425"/>
                <a:ext cx="660865" cy="4308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1500">
                    <a:solidFill>
                      <a:prstClr val="black"/>
                    </a:solidFill>
                    <a:latin typeface="+mn-lt"/>
                    <a:cs typeface="Arial" charset="0"/>
                  </a:rPr>
                  <a:t>HBr</a:t>
                </a:r>
                <a:endParaRPr lang="en-US" sz="1500">
                  <a:solidFill>
                    <a:prstClr val="black"/>
                  </a:solidFill>
                  <a:latin typeface="+mn-lt"/>
                  <a:cs typeface="Arial" charset="0"/>
                </a:endParaRPr>
              </a:p>
            </p:txBody>
          </p:sp>
          <p:sp>
            <p:nvSpPr>
              <p:cNvPr id="62481" name="AutoShape 17"/>
              <p:cNvSpPr>
                <a:spLocks noChangeArrowheads="1"/>
              </p:cNvSpPr>
              <p:nvPr/>
            </p:nvSpPr>
            <p:spPr bwMode="auto">
              <a:xfrm rot="11714992">
                <a:off x="6689725" y="2279650"/>
                <a:ext cx="1295400" cy="1216025"/>
              </a:xfrm>
              <a:custGeom>
                <a:avLst/>
                <a:gdLst>
                  <a:gd name="G0" fmla="+- -3088298 0 0"/>
                  <a:gd name="G1" fmla="+- -11796480 0 0"/>
                  <a:gd name="G2" fmla="+- -3088298 0 -11796480"/>
                  <a:gd name="G3" fmla="+- 10800 0 0"/>
                  <a:gd name="G4" fmla="+- 0 0 -3088298"/>
                  <a:gd name="T0" fmla="*/ 360 256 1"/>
                  <a:gd name="T1" fmla="*/ 0 256 1"/>
                  <a:gd name="G5" fmla="+- G2 T0 T1"/>
                  <a:gd name="G6" fmla="?: G2 G2 G5"/>
                  <a:gd name="G7" fmla="+- 0 0 G6"/>
                  <a:gd name="G8" fmla="+- 8128 0 0"/>
                  <a:gd name="G9" fmla="+- 0 0 -11796480"/>
                  <a:gd name="G10" fmla="+- 8128 0 2700"/>
                  <a:gd name="G11" fmla="cos G10 -3088298"/>
                  <a:gd name="G12" fmla="sin G10 -3088298"/>
                  <a:gd name="G13" fmla="cos 13500 -3088298"/>
                  <a:gd name="G14" fmla="sin 13500 -3088298"/>
                  <a:gd name="G15" fmla="+- G11 10800 0"/>
                  <a:gd name="G16" fmla="+- G12 10800 0"/>
                  <a:gd name="G17" fmla="+- G13 10800 0"/>
                  <a:gd name="G18" fmla="+- G14 10800 0"/>
                  <a:gd name="G19" fmla="*/ 8128 1 2"/>
                  <a:gd name="G20" fmla="+- G19 5400 0"/>
                  <a:gd name="G21" fmla="cos G20 -3088298"/>
                  <a:gd name="G22" fmla="sin G20 -3088298"/>
                  <a:gd name="G23" fmla="+- G21 10800 0"/>
                  <a:gd name="G24" fmla="+- G12 G23 G22"/>
                  <a:gd name="G25" fmla="+- G22 G23 G11"/>
                  <a:gd name="G26" fmla="cos 10800 -3088298"/>
                  <a:gd name="G27" fmla="sin 10800 -3088298"/>
                  <a:gd name="G28" fmla="cos 8128 -3088298"/>
                  <a:gd name="G29" fmla="sin 8128 -3088298"/>
                  <a:gd name="G30" fmla="+- G26 10800 0"/>
                  <a:gd name="G31" fmla="+- G27 10800 0"/>
                  <a:gd name="G32" fmla="+- G28 10800 0"/>
                  <a:gd name="G33" fmla="+- G29 10800 0"/>
                  <a:gd name="G34" fmla="+- G19 5400 0"/>
                  <a:gd name="G35" fmla="cos G34 -11796480"/>
                  <a:gd name="G36" fmla="sin G34 -11796480"/>
                  <a:gd name="G37" fmla="+/ -11796480 -3088298 2"/>
                  <a:gd name="T2" fmla="*/ 180 256 1"/>
                  <a:gd name="T3" fmla="*/ 0 256 1"/>
                  <a:gd name="G38" fmla="+- G37 T2 T3"/>
                  <a:gd name="G39" fmla="?: G2 G37 G38"/>
                  <a:gd name="G40" fmla="cos 10800 G39"/>
                  <a:gd name="G41" fmla="sin 10800 G39"/>
                  <a:gd name="G42" fmla="cos 8128 G39"/>
                  <a:gd name="G43" fmla="sin 8128 G39"/>
                  <a:gd name="G44" fmla="+- G40 10800 0"/>
                  <a:gd name="G45" fmla="+- G41 10800 0"/>
                  <a:gd name="G46" fmla="+- G42 10800 0"/>
                  <a:gd name="G47" fmla="+- G43 10800 0"/>
                  <a:gd name="G48" fmla="+- G35 10800 0"/>
                  <a:gd name="G49" fmla="+- G36 10800 0"/>
                  <a:gd name="T4" fmla="*/ 6482 w 21600"/>
                  <a:gd name="T5" fmla="*/ 900 h 21600"/>
                  <a:gd name="T6" fmla="*/ 1336 w 21600"/>
                  <a:gd name="T7" fmla="*/ 10800 h 21600"/>
                  <a:gd name="T8" fmla="*/ 7550 w 21600"/>
                  <a:gd name="T9" fmla="*/ 3349 h 21600"/>
                  <a:gd name="T10" fmla="*/ 19985 w 21600"/>
                  <a:gd name="T11" fmla="*/ 906 h 21600"/>
                  <a:gd name="T12" fmla="*/ 20197 w 21600"/>
                  <a:gd name="T13" fmla="*/ 6610 h 21600"/>
                  <a:gd name="T14" fmla="*/ 14493 w 21600"/>
                  <a:gd name="T15" fmla="*/ 6822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16330" y="4843"/>
                    </a:moveTo>
                    <a:cubicBezTo>
                      <a:pt x="14827" y="3447"/>
                      <a:pt x="12851" y="2672"/>
                      <a:pt x="10800" y="2672"/>
                    </a:cubicBezTo>
                    <a:cubicBezTo>
                      <a:pt x="6311" y="2672"/>
                      <a:pt x="2672" y="6311"/>
                      <a:pt x="2672" y="10800"/>
                    </a:cubicBezTo>
                    <a:lnTo>
                      <a:pt x="0" y="10800"/>
                    </a:lnTo>
                    <a:cubicBezTo>
                      <a:pt x="0" y="4835"/>
                      <a:pt x="4835" y="0"/>
                      <a:pt x="10800" y="0"/>
                    </a:cubicBezTo>
                    <a:cubicBezTo>
                      <a:pt x="13525" y="0"/>
                      <a:pt x="16150" y="1030"/>
                      <a:pt x="18148" y="2885"/>
                    </a:cubicBezTo>
                    <a:lnTo>
                      <a:pt x="19985" y="906"/>
                    </a:lnTo>
                    <a:lnTo>
                      <a:pt x="20197" y="6610"/>
                    </a:lnTo>
                    <a:lnTo>
                      <a:pt x="14493" y="6822"/>
                    </a:lnTo>
                    <a:lnTo>
                      <a:pt x="16330" y="4843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500">
                  <a:solidFill>
                    <a:prstClr val="black"/>
                  </a:solidFill>
                  <a:latin typeface="+mn-lt"/>
                </a:endParaRPr>
              </a:p>
            </p:txBody>
          </p:sp>
          <p:sp>
            <p:nvSpPr>
              <p:cNvPr id="62483" name="AutoShape 19"/>
              <p:cNvSpPr>
                <a:spLocks noChangeArrowheads="1"/>
              </p:cNvSpPr>
              <p:nvPr/>
            </p:nvSpPr>
            <p:spPr bwMode="auto">
              <a:xfrm rot="22514993">
                <a:off x="6677025" y="2168525"/>
                <a:ext cx="1295400" cy="1216025"/>
              </a:xfrm>
              <a:custGeom>
                <a:avLst/>
                <a:gdLst>
                  <a:gd name="G0" fmla="+- -3088298 0 0"/>
                  <a:gd name="G1" fmla="+- -11796480 0 0"/>
                  <a:gd name="G2" fmla="+- -3088298 0 -11796480"/>
                  <a:gd name="G3" fmla="+- 10800 0 0"/>
                  <a:gd name="G4" fmla="+- 0 0 -3088298"/>
                  <a:gd name="T0" fmla="*/ 360 256 1"/>
                  <a:gd name="T1" fmla="*/ 0 256 1"/>
                  <a:gd name="G5" fmla="+- G2 T0 T1"/>
                  <a:gd name="G6" fmla="?: G2 G2 G5"/>
                  <a:gd name="G7" fmla="+- 0 0 G6"/>
                  <a:gd name="G8" fmla="+- 8128 0 0"/>
                  <a:gd name="G9" fmla="+- 0 0 -11796480"/>
                  <a:gd name="G10" fmla="+- 8128 0 2700"/>
                  <a:gd name="G11" fmla="cos G10 -3088298"/>
                  <a:gd name="G12" fmla="sin G10 -3088298"/>
                  <a:gd name="G13" fmla="cos 13500 -3088298"/>
                  <a:gd name="G14" fmla="sin 13500 -3088298"/>
                  <a:gd name="G15" fmla="+- G11 10800 0"/>
                  <a:gd name="G16" fmla="+- G12 10800 0"/>
                  <a:gd name="G17" fmla="+- G13 10800 0"/>
                  <a:gd name="G18" fmla="+- G14 10800 0"/>
                  <a:gd name="G19" fmla="*/ 8128 1 2"/>
                  <a:gd name="G20" fmla="+- G19 5400 0"/>
                  <a:gd name="G21" fmla="cos G20 -3088298"/>
                  <a:gd name="G22" fmla="sin G20 -3088298"/>
                  <a:gd name="G23" fmla="+- G21 10800 0"/>
                  <a:gd name="G24" fmla="+- G12 G23 G22"/>
                  <a:gd name="G25" fmla="+- G22 G23 G11"/>
                  <a:gd name="G26" fmla="cos 10800 -3088298"/>
                  <a:gd name="G27" fmla="sin 10800 -3088298"/>
                  <a:gd name="G28" fmla="cos 8128 -3088298"/>
                  <a:gd name="G29" fmla="sin 8128 -3088298"/>
                  <a:gd name="G30" fmla="+- G26 10800 0"/>
                  <a:gd name="G31" fmla="+- G27 10800 0"/>
                  <a:gd name="G32" fmla="+- G28 10800 0"/>
                  <a:gd name="G33" fmla="+- G29 10800 0"/>
                  <a:gd name="G34" fmla="+- G19 5400 0"/>
                  <a:gd name="G35" fmla="cos G34 -11796480"/>
                  <a:gd name="G36" fmla="sin G34 -11796480"/>
                  <a:gd name="G37" fmla="+/ -11796480 -3088298 2"/>
                  <a:gd name="T2" fmla="*/ 180 256 1"/>
                  <a:gd name="T3" fmla="*/ 0 256 1"/>
                  <a:gd name="G38" fmla="+- G37 T2 T3"/>
                  <a:gd name="G39" fmla="?: G2 G37 G38"/>
                  <a:gd name="G40" fmla="cos 10800 G39"/>
                  <a:gd name="G41" fmla="sin 10800 G39"/>
                  <a:gd name="G42" fmla="cos 8128 G39"/>
                  <a:gd name="G43" fmla="sin 8128 G39"/>
                  <a:gd name="G44" fmla="+- G40 10800 0"/>
                  <a:gd name="G45" fmla="+- G41 10800 0"/>
                  <a:gd name="G46" fmla="+- G42 10800 0"/>
                  <a:gd name="G47" fmla="+- G43 10800 0"/>
                  <a:gd name="G48" fmla="+- G35 10800 0"/>
                  <a:gd name="G49" fmla="+- G36 10800 0"/>
                  <a:gd name="T4" fmla="*/ 6482 w 21600"/>
                  <a:gd name="T5" fmla="*/ 900 h 21600"/>
                  <a:gd name="T6" fmla="*/ 1336 w 21600"/>
                  <a:gd name="T7" fmla="*/ 10800 h 21600"/>
                  <a:gd name="T8" fmla="*/ 7550 w 21600"/>
                  <a:gd name="T9" fmla="*/ 3349 h 21600"/>
                  <a:gd name="T10" fmla="*/ 19985 w 21600"/>
                  <a:gd name="T11" fmla="*/ 906 h 21600"/>
                  <a:gd name="T12" fmla="*/ 20197 w 21600"/>
                  <a:gd name="T13" fmla="*/ 6610 h 21600"/>
                  <a:gd name="T14" fmla="*/ 14493 w 21600"/>
                  <a:gd name="T15" fmla="*/ 6822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16330" y="4843"/>
                    </a:moveTo>
                    <a:cubicBezTo>
                      <a:pt x="14827" y="3447"/>
                      <a:pt x="12851" y="2672"/>
                      <a:pt x="10800" y="2672"/>
                    </a:cubicBezTo>
                    <a:cubicBezTo>
                      <a:pt x="6311" y="2672"/>
                      <a:pt x="2672" y="6311"/>
                      <a:pt x="2672" y="10800"/>
                    </a:cubicBezTo>
                    <a:lnTo>
                      <a:pt x="0" y="10800"/>
                    </a:lnTo>
                    <a:cubicBezTo>
                      <a:pt x="0" y="4835"/>
                      <a:pt x="4835" y="0"/>
                      <a:pt x="10800" y="0"/>
                    </a:cubicBezTo>
                    <a:cubicBezTo>
                      <a:pt x="13525" y="0"/>
                      <a:pt x="16150" y="1030"/>
                      <a:pt x="18148" y="2885"/>
                    </a:cubicBezTo>
                    <a:lnTo>
                      <a:pt x="19985" y="906"/>
                    </a:lnTo>
                    <a:lnTo>
                      <a:pt x="20197" y="6610"/>
                    </a:lnTo>
                    <a:lnTo>
                      <a:pt x="14493" y="6822"/>
                    </a:lnTo>
                    <a:lnTo>
                      <a:pt x="16330" y="4843"/>
                    </a:lnTo>
                    <a:close/>
                  </a:path>
                </a:pathLst>
              </a:custGeom>
              <a:solidFill>
                <a:srgbClr val="FF0000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sz="1500">
                  <a:solidFill>
                    <a:prstClr val="black"/>
                  </a:solidFill>
                  <a:latin typeface="+mn-lt"/>
                </a:endParaRPr>
              </a:p>
            </p:txBody>
          </p:sp>
          <p:sp>
            <p:nvSpPr>
              <p:cNvPr id="62485" name="Text Box 21"/>
              <p:cNvSpPr txBox="1">
                <a:spLocks noChangeArrowheads="1"/>
              </p:cNvSpPr>
              <p:nvPr/>
            </p:nvSpPr>
            <p:spPr bwMode="auto">
              <a:xfrm>
                <a:off x="7200900" y="1876425"/>
                <a:ext cx="36163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1200" b="1">
                    <a:solidFill>
                      <a:srgbClr val="FF0000"/>
                    </a:solidFill>
                    <a:latin typeface="+mn-lt"/>
                  </a:rPr>
                  <a:t>3</a:t>
                </a:r>
                <a:endParaRPr lang="en-US" sz="1200" b="1">
                  <a:solidFill>
                    <a:srgbClr val="FF0000"/>
                  </a:solidFill>
                  <a:latin typeface="+mn-lt"/>
                </a:endParaRPr>
              </a:p>
            </p:txBody>
          </p:sp>
          <p:sp>
            <p:nvSpPr>
              <p:cNvPr id="62486" name="Rectangle 22"/>
              <p:cNvSpPr>
                <a:spLocks noChangeArrowheads="1"/>
              </p:cNvSpPr>
              <p:nvPr/>
            </p:nvSpPr>
            <p:spPr bwMode="auto">
              <a:xfrm>
                <a:off x="7205663" y="2998788"/>
                <a:ext cx="361637" cy="36933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1200" b="1">
                    <a:solidFill>
                      <a:srgbClr val="FF0000"/>
                    </a:solidFill>
                    <a:latin typeface="+mn-lt"/>
                  </a:rPr>
                  <a:t>2</a:t>
                </a:r>
                <a:endParaRPr lang="en-US" sz="1200" b="1">
                  <a:solidFill>
                    <a:srgbClr val="FF0000"/>
                  </a:solidFill>
                  <a:latin typeface="+mn-lt"/>
                </a:endParaRPr>
              </a:p>
            </p:txBody>
          </p:sp>
        </p:grpSp>
      </p:grpSp>
      <p:sp>
        <p:nvSpPr>
          <p:cNvPr id="38" name="Rectangle 2"/>
          <p:cNvSpPr txBox="1">
            <a:spLocks noChangeArrowheads="1"/>
          </p:cNvSpPr>
          <p:nvPr/>
        </p:nvSpPr>
        <p:spPr>
          <a:xfrm>
            <a:off x="1276350" y="3926086"/>
            <a:ext cx="6590016" cy="172819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2400">
                <a:solidFill>
                  <a:prstClr val="black"/>
                </a:solidFill>
                <a:latin typeface="+mn-lt"/>
              </a:rPr>
              <a:t>From steady-state H</a:t>
            </a:r>
            <a:r>
              <a:rPr lang="en-US" sz="2400">
                <a:solidFill>
                  <a:prstClr val="black"/>
                </a:solidFill>
                <a:latin typeface="+mn-lt"/>
                <a:cs typeface="Arial" charset="0"/>
              </a:rPr>
              <a:t>· 		</a:t>
            </a:r>
            <a:r>
              <a:rPr lang="en-GB" sz="2400">
                <a:solidFill>
                  <a:prstClr val="black"/>
                </a:solidFill>
                <a:latin typeface="+mn-lt"/>
              </a:rPr>
              <a:t>Rate</a:t>
            </a:r>
            <a:r>
              <a:rPr lang="en-GB" sz="2400" baseline="-25000">
                <a:solidFill>
                  <a:prstClr val="black"/>
                </a:solidFill>
                <a:latin typeface="+mn-lt"/>
              </a:rPr>
              <a:t>2</a:t>
            </a:r>
            <a:r>
              <a:rPr lang="en-GB" sz="2400">
                <a:solidFill>
                  <a:prstClr val="black"/>
                </a:solidFill>
                <a:latin typeface="+mn-lt"/>
              </a:rPr>
              <a:t> = Rate</a:t>
            </a:r>
            <a:r>
              <a:rPr lang="en-GB" sz="2400" baseline="-25000">
                <a:solidFill>
                  <a:prstClr val="black"/>
                </a:solidFill>
                <a:latin typeface="+mn-lt"/>
              </a:rPr>
              <a:t>3</a:t>
            </a:r>
            <a:r>
              <a:rPr lang="en-GB" sz="2400">
                <a:solidFill>
                  <a:prstClr val="black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992748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ChangeArrowheads="1"/>
          </p:cNvSpPr>
          <p:nvPr/>
        </p:nvSpPr>
        <p:spPr bwMode="auto">
          <a:xfrm>
            <a:off x="1485900" y="1063229"/>
            <a:ext cx="61722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n-GB" sz="3300">
                <a:solidFill>
                  <a:srgbClr val="1F497D"/>
                </a:solidFill>
                <a:latin typeface="+mn-lt"/>
              </a:rPr>
              <a:t>Initiation and Termination rates also reach steady-state</a:t>
            </a:r>
            <a:endParaRPr lang="en-US" sz="3300">
              <a:solidFill>
                <a:srgbClr val="1F497D"/>
              </a:solidFill>
              <a:latin typeface="+mn-lt"/>
            </a:endParaRP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143002" y="1890715"/>
            <a:ext cx="2409826" cy="573881"/>
            <a:chOff x="2336" y="938"/>
            <a:chExt cx="2024" cy="482"/>
          </a:xfrm>
        </p:grpSpPr>
        <p:sp>
          <p:nvSpPr>
            <p:cNvPr id="68612" name="Text Box 4"/>
            <p:cNvSpPr txBox="1">
              <a:spLocks noChangeArrowheads="1"/>
            </p:cNvSpPr>
            <p:nvPr/>
          </p:nvSpPr>
          <p:spPr bwMode="auto">
            <a:xfrm>
              <a:off x="3101" y="938"/>
              <a:ext cx="27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1350" i="1" baseline="-25000">
                  <a:solidFill>
                    <a:prstClr val="black"/>
                  </a:solidFill>
                  <a:latin typeface="+mn-lt"/>
                </a:rPr>
                <a:t>1</a:t>
              </a:r>
              <a:endParaRPr lang="en-US" sz="1350" i="1" baseline="-250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68613" name="Rectangle 5"/>
            <p:cNvSpPr>
              <a:spLocks noChangeArrowheads="1"/>
            </p:cNvSpPr>
            <p:nvPr/>
          </p:nvSpPr>
          <p:spPr bwMode="auto">
            <a:xfrm>
              <a:off x="2336" y="1071"/>
              <a:ext cx="2024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100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GB" sz="2100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 + M </a:t>
              </a:r>
              <a:r>
                <a:rPr lang="en-GB" sz="2100">
                  <a:solidFill>
                    <a:prstClr val="black"/>
                  </a:solidFill>
                  <a:latin typeface="+mn-lt"/>
                  <a:cs typeface="Arial" charset="0"/>
                </a:rPr>
                <a:t>→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2Br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· + M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143001" y="3230164"/>
            <a:ext cx="2512219" cy="584597"/>
            <a:chOff x="1610" y="3333"/>
            <a:chExt cx="2110" cy="491"/>
          </a:xfrm>
        </p:grpSpPr>
        <p:sp>
          <p:nvSpPr>
            <p:cNvPr id="68615" name="Text Box 7"/>
            <p:cNvSpPr txBox="1">
              <a:spLocks noChangeArrowheads="1"/>
            </p:cNvSpPr>
            <p:nvPr/>
          </p:nvSpPr>
          <p:spPr bwMode="auto">
            <a:xfrm>
              <a:off x="2375" y="3333"/>
              <a:ext cx="27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1350" i="1" baseline="-25000">
                  <a:solidFill>
                    <a:prstClr val="black"/>
                  </a:solidFill>
                  <a:latin typeface="+mn-lt"/>
                </a:rPr>
                <a:t>3</a:t>
              </a:r>
              <a:endParaRPr lang="en-US" sz="1350" i="1" baseline="-250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68616" name="Rectangle 8"/>
            <p:cNvSpPr>
              <a:spLocks noChangeArrowheads="1"/>
            </p:cNvSpPr>
            <p:nvPr/>
          </p:nvSpPr>
          <p:spPr bwMode="auto">
            <a:xfrm>
              <a:off x="1610" y="3475"/>
              <a:ext cx="2110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100">
                  <a:solidFill>
                    <a:prstClr val="black"/>
                  </a:solidFill>
                  <a:latin typeface="+mn-lt"/>
                </a:rPr>
                <a:t>H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GB" sz="2100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 </a:t>
              </a:r>
              <a:r>
                <a:rPr lang="en-GB" sz="2100">
                  <a:solidFill>
                    <a:prstClr val="black"/>
                  </a:solidFill>
                  <a:latin typeface="+mn-lt"/>
                  <a:cs typeface="Arial" charset="0"/>
                </a:rPr>
                <a:t>→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US" sz="2100" err="1">
                  <a:solidFill>
                    <a:prstClr val="black"/>
                  </a:solidFill>
                  <a:latin typeface="+mn-lt"/>
                  <a:cs typeface="Arial" charset="0"/>
                </a:rPr>
                <a:t>HBr</a:t>
              </a:r>
              <a:endParaRPr lang="en-US" sz="2100">
                <a:solidFill>
                  <a:prstClr val="black"/>
                </a:solidFill>
                <a:latin typeface="+mn-lt"/>
                <a:cs typeface="Arial" charset="0"/>
              </a:endParaRPr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1143002" y="3980266"/>
            <a:ext cx="2871788" cy="578645"/>
            <a:chOff x="2381" y="3066"/>
            <a:chExt cx="2412" cy="486"/>
          </a:xfrm>
        </p:grpSpPr>
        <p:sp>
          <p:nvSpPr>
            <p:cNvPr id="68618" name="Text Box 10"/>
            <p:cNvSpPr txBox="1">
              <a:spLocks noChangeArrowheads="1"/>
            </p:cNvSpPr>
            <p:nvPr/>
          </p:nvSpPr>
          <p:spPr bwMode="auto">
            <a:xfrm>
              <a:off x="3596" y="3066"/>
              <a:ext cx="27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1350" i="1" baseline="-25000">
                  <a:solidFill>
                    <a:prstClr val="black"/>
                  </a:solidFill>
                  <a:latin typeface="+mn-lt"/>
                </a:rPr>
                <a:t>4</a:t>
              </a:r>
              <a:endParaRPr lang="en-US" sz="1350" i="1" baseline="-250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68619" name="Rectangle 11"/>
            <p:cNvSpPr>
              <a:spLocks noChangeArrowheads="1"/>
            </p:cNvSpPr>
            <p:nvPr/>
          </p:nvSpPr>
          <p:spPr bwMode="auto">
            <a:xfrm>
              <a:off x="2381" y="3203"/>
              <a:ext cx="2412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100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M </a:t>
              </a:r>
              <a:r>
                <a:rPr lang="en-GB" sz="2100">
                  <a:solidFill>
                    <a:prstClr val="black"/>
                  </a:solidFill>
                  <a:latin typeface="+mn-lt"/>
                  <a:cs typeface="Arial" charset="0"/>
                </a:rPr>
                <a:t>→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GB" sz="2100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 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+ M</a:t>
              </a:r>
            </a:p>
          </p:txBody>
        </p:sp>
      </p:grpSp>
      <p:sp>
        <p:nvSpPr>
          <p:cNvPr id="68620" name="Rectangle 12"/>
          <p:cNvSpPr>
            <a:spLocks noChangeArrowheads="1"/>
          </p:cNvSpPr>
          <p:nvPr/>
        </p:nvSpPr>
        <p:spPr bwMode="auto">
          <a:xfrm>
            <a:off x="4193381" y="2049066"/>
            <a:ext cx="54053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(1)</a:t>
            </a:r>
          </a:p>
        </p:txBody>
      </p: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1143000" y="2747963"/>
            <a:ext cx="2955132" cy="548878"/>
            <a:chOff x="1670" y="1885"/>
            <a:chExt cx="2482" cy="461"/>
          </a:xfrm>
        </p:grpSpPr>
        <p:sp>
          <p:nvSpPr>
            <p:cNvPr id="68622" name="Text Box 14"/>
            <p:cNvSpPr txBox="1">
              <a:spLocks noChangeArrowheads="1"/>
            </p:cNvSpPr>
            <p:nvPr/>
          </p:nvSpPr>
          <p:spPr bwMode="auto">
            <a:xfrm>
              <a:off x="2435" y="1885"/>
              <a:ext cx="27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sz="1350" i="1" baseline="-25000">
                  <a:solidFill>
                    <a:prstClr val="black"/>
                  </a:solidFill>
                  <a:latin typeface="+mn-lt"/>
                </a:rPr>
                <a:t>2</a:t>
              </a:r>
              <a:endParaRPr lang="en-US" sz="1350" i="1" baseline="-250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68623" name="Rectangle 15"/>
            <p:cNvSpPr>
              <a:spLocks noChangeArrowheads="1"/>
            </p:cNvSpPr>
            <p:nvPr/>
          </p:nvSpPr>
          <p:spPr bwMode="auto">
            <a:xfrm>
              <a:off x="1670" y="1997"/>
              <a:ext cx="2482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2100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H</a:t>
              </a:r>
              <a:r>
                <a:rPr lang="en-GB" sz="2100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 </a:t>
              </a:r>
              <a:r>
                <a:rPr lang="en-GB" sz="2100">
                  <a:solidFill>
                    <a:prstClr val="black"/>
                  </a:solidFill>
                  <a:latin typeface="+mn-lt"/>
                  <a:cs typeface="Arial" charset="0"/>
                </a:rPr>
                <a:t>→ </a:t>
              </a:r>
              <a:r>
                <a:rPr lang="en-GB" sz="2100">
                  <a:solidFill>
                    <a:prstClr val="black"/>
                  </a:solidFill>
                  <a:latin typeface="+mn-lt"/>
                </a:rPr>
                <a:t>H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US" sz="2100" err="1">
                  <a:solidFill>
                    <a:prstClr val="black"/>
                  </a:solidFill>
                  <a:latin typeface="+mn-lt"/>
                  <a:cs typeface="Arial" charset="0"/>
                </a:rPr>
                <a:t>HBr</a:t>
              </a:r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	</a:t>
              </a:r>
            </a:p>
          </p:txBody>
        </p:sp>
      </p:grpSp>
      <p:sp>
        <p:nvSpPr>
          <p:cNvPr id="68624" name="Rectangle 16"/>
          <p:cNvSpPr>
            <a:spLocks noChangeArrowheads="1"/>
          </p:cNvSpPr>
          <p:nvPr/>
        </p:nvSpPr>
        <p:spPr bwMode="auto">
          <a:xfrm>
            <a:off x="4193381" y="2881313"/>
            <a:ext cx="54053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(2)</a:t>
            </a:r>
          </a:p>
        </p:txBody>
      </p:sp>
      <p:sp>
        <p:nvSpPr>
          <p:cNvPr id="68625" name="Rectangle 17"/>
          <p:cNvSpPr>
            <a:spLocks noChangeArrowheads="1"/>
          </p:cNvSpPr>
          <p:nvPr/>
        </p:nvSpPr>
        <p:spPr bwMode="auto">
          <a:xfrm>
            <a:off x="4193381" y="3399235"/>
            <a:ext cx="54053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(3)</a:t>
            </a:r>
          </a:p>
        </p:txBody>
      </p:sp>
      <p:sp>
        <p:nvSpPr>
          <p:cNvPr id="68626" name="Rectangle 18"/>
          <p:cNvSpPr>
            <a:spLocks noChangeArrowheads="1"/>
          </p:cNvSpPr>
          <p:nvPr/>
        </p:nvSpPr>
        <p:spPr bwMode="auto">
          <a:xfrm>
            <a:off x="4193381" y="4143376"/>
            <a:ext cx="54053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(4)</a:t>
            </a:r>
          </a:p>
        </p:txBody>
      </p:sp>
      <p:sp>
        <p:nvSpPr>
          <p:cNvPr id="68636" name="AutoShape 28"/>
          <p:cNvSpPr>
            <a:spLocks noChangeArrowheads="1"/>
          </p:cNvSpPr>
          <p:nvPr/>
        </p:nvSpPr>
        <p:spPr bwMode="auto">
          <a:xfrm flipH="1">
            <a:off x="5122070" y="3956449"/>
            <a:ext cx="1178719" cy="1107281"/>
          </a:xfrm>
          <a:custGeom>
            <a:avLst/>
            <a:gdLst>
              <a:gd name="G0" fmla="+- -1629867 0 0"/>
              <a:gd name="G1" fmla="+- -11796480 0 0"/>
              <a:gd name="G2" fmla="+- -1629867 0 -11796480"/>
              <a:gd name="G3" fmla="+- 10800 0 0"/>
              <a:gd name="G4" fmla="+- 0 0 -1629867"/>
              <a:gd name="T0" fmla="*/ 360 256 1"/>
              <a:gd name="T1" fmla="*/ 0 256 1"/>
              <a:gd name="G5" fmla="+- G2 T0 T1"/>
              <a:gd name="G6" fmla="?: G2 G2 G5"/>
              <a:gd name="G7" fmla="+- 0 0 G6"/>
              <a:gd name="G8" fmla="+- 7906 0 0"/>
              <a:gd name="G9" fmla="+- 0 0 -11796480"/>
              <a:gd name="G10" fmla="+- 7906 0 2700"/>
              <a:gd name="G11" fmla="cos G10 -1629867"/>
              <a:gd name="G12" fmla="sin G10 -1629867"/>
              <a:gd name="G13" fmla="cos 13500 -1629867"/>
              <a:gd name="G14" fmla="sin 13500 -1629867"/>
              <a:gd name="G15" fmla="+- G11 10800 0"/>
              <a:gd name="G16" fmla="+- G12 10800 0"/>
              <a:gd name="G17" fmla="+- G13 10800 0"/>
              <a:gd name="G18" fmla="+- G14 10800 0"/>
              <a:gd name="G19" fmla="*/ 7906 1 2"/>
              <a:gd name="G20" fmla="+- G19 5400 0"/>
              <a:gd name="G21" fmla="cos G20 -1629867"/>
              <a:gd name="G22" fmla="sin G20 -1629867"/>
              <a:gd name="G23" fmla="+- G21 10800 0"/>
              <a:gd name="G24" fmla="+- G12 G23 G22"/>
              <a:gd name="G25" fmla="+- G22 G23 G11"/>
              <a:gd name="G26" fmla="cos 10800 -1629867"/>
              <a:gd name="G27" fmla="sin 10800 -1629867"/>
              <a:gd name="G28" fmla="cos 7906 -1629867"/>
              <a:gd name="G29" fmla="sin 7906 -1629867"/>
              <a:gd name="G30" fmla="+- G26 10800 0"/>
              <a:gd name="G31" fmla="+- G27 10800 0"/>
              <a:gd name="G32" fmla="+- G28 10800 0"/>
              <a:gd name="G33" fmla="+- G29 10800 0"/>
              <a:gd name="G34" fmla="+- G19 5400 0"/>
              <a:gd name="G35" fmla="cos G34 -11796480"/>
              <a:gd name="G36" fmla="sin G34 -11796480"/>
              <a:gd name="G37" fmla="+/ -11796480 -1629867 2"/>
              <a:gd name="T2" fmla="*/ 180 256 1"/>
              <a:gd name="T3" fmla="*/ 0 256 1"/>
              <a:gd name="G38" fmla="+- G37 T2 T3"/>
              <a:gd name="G39" fmla="?: G2 G37 G38"/>
              <a:gd name="G40" fmla="cos 10800 G39"/>
              <a:gd name="G41" fmla="sin 10800 G39"/>
              <a:gd name="G42" fmla="cos 7906 G39"/>
              <a:gd name="G43" fmla="sin 7906 G39"/>
              <a:gd name="G44" fmla="+- G40 10800 0"/>
              <a:gd name="G45" fmla="+- G41 10800 0"/>
              <a:gd name="G46" fmla="+- G42 10800 0"/>
              <a:gd name="G47" fmla="+- G43 10800 0"/>
              <a:gd name="G48" fmla="+- G35 10800 0"/>
              <a:gd name="G49" fmla="+- G36 10800 0"/>
              <a:gd name="T4" fmla="*/ 8474 w 21600"/>
              <a:gd name="T5" fmla="*/ 253 h 21600"/>
              <a:gd name="T6" fmla="*/ 1447 w 21600"/>
              <a:gd name="T7" fmla="*/ 10800 h 21600"/>
              <a:gd name="T8" fmla="*/ 9097 w 21600"/>
              <a:gd name="T9" fmla="*/ 3079 h 21600"/>
              <a:gd name="T10" fmla="*/ 23048 w 21600"/>
              <a:gd name="T11" fmla="*/ 5122 h 21600"/>
              <a:gd name="T12" fmla="*/ 21029 w 21600"/>
              <a:gd name="T13" fmla="*/ 10628 h 21600"/>
              <a:gd name="T14" fmla="*/ 15523 w 21600"/>
              <a:gd name="T15" fmla="*/ 8610 h 21600"/>
              <a:gd name="T16" fmla="*/ 3163 w 21600"/>
              <a:gd name="T17" fmla="*/ 3163 h 21600"/>
              <a:gd name="T18" fmla="*/ 18437 w 21600"/>
              <a:gd name="T19" fmla="*/ 18437 h 21600"/>
            </a:gdLst>
            <a:ahLst/>
            <a:cxnLst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T16" t="T17" r="T18" b="T19"/>
            <a:pathLst>
              <a:path w="21600" h="21600">
                <a:moveTo>
                  <a:pt x="17972" y="7475"/>
                </a:moveTo>
                <a:cubicBezTo>
                  <a:pt x="16677" y="4681"/>
                  <a:pt x="13879" y="2894"/>
                  <a:pt x="10800" y="2894"/>
                </a:cubicBezTo>
                <a:cubicBezTo>
                  <a:pt x="6433" y="2894"/>
                  <a:pt x="2894" y="6433"/>
                  <a:pt x="2894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5006" y="0"/>
                  <a:pt x="18829" y="2441"/>
                  <a:pt x="20598" y="6257"/>
                </a:cubicBezTo>
                <a:lnTo>
                  <a:pt x="23048" y="5122"/>
                </a:lnTo>
                <a:lnTo>
                  <a:pt x="21029" y="10628"/>
                </a:lnTo>
                <a:lnTo>
                  <a:pt x="15523" y="8610"/>
                </a:lnTo>
                <a:lnTo>
                  <a:pt x="17972" y="7475"/>
                </a:lnTo>
                <a:close/>
              </a:path>
            </a:pathLst>
          </a:cu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 sz="1350">
              <a:solidFill>
                <a:prstClr val="black"/>
              </a:solidFill>
              <a:latin typeface="+mn-lt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4912520" y="1920479"/>
            <a:ext cx="2939904" cy="3153669"/>
            <a:chOff x="5026025" y="1825625"/>
            <a:chExt cx="3919872" cy="4204891"/>
          </a:xfrm>
        </p:grpSpPr>
        <p:sp>
          <p:nvSpPr>
            <p:cNvPr id="68627" name="Rectangle 19"/>
            <p:cNvSpPr>
              <a:spLocks noChangeArrowheads="1"/>
            </p:cNvSpPr>
            <p:nvPr/>
          </p:nvSpPr>
          <p:spPr bwMode="auto">
            <a:xfrm>
              <a:off x="6588125" y="3708401"/>
              <a:ext cx="744221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</a:t>
              </a:r>
            </a:p>
          </p:txBody>
        </p:sp>
        <p:sp>
          <p:nvSpPr>
            <p:cNvPr id="68628" name="Rectangle 20"/>
            <p:cNvSpPr>
              <a:spLocks noChangeArrowheads="1"/>
            </p:cNvSpPr>
            <p:nvPr/>
          </p:nvSpPr>
          <p:spPr bwMode="auto">
            <a:xfrm>
              <a:off x="5143500" y="3683001"/>
              <a:ext cx="654453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H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</a:t>
              </a:r>
            </a:p>
          </p:txBody>
        </p:sp>
        <p:sp>
          <p:nvSpPr>
            <p:cNvPr id="68629" name="Rectangle 21"/>
            <p:cNvSpPr>
              <a:spLocks noChangeArrowheads="1"/>
            </p:cNvSpPr>
            <p:nvPr/>
          </p:nvSpPr>
          <p:spPr bwMode="auto">
            <a:xfrm>
              <a:off x="5075238" y="2173288"/>
              <a:ext cx="774144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GB" baseline="-25000">
                  <a:solidFill>
                    <a:prstClr val="black"/>
                  </a:solidFill>
                  <a:latin typeface="+mn-lt"/>
                </a:rPr>
                <a:t>2</a:t>
              </a:r>
              <a:endParaRPr lang="en-US" baseline="-250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68630" name="Rectangle 22"/>
            <p:cNvSpPr>
              <a:spLocks noChangeArrowheads="1"/>
            </p:cNvSpPr>
            <p:nvPr/>
          </p:nvSpPr>
          <p:spPr bwMode="auto">
            <a:xfrm>
              <a:off x="6596064" y="5414963"/>
              <a:ext cx="684376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</a:rPr>
                <a:t>H</a:t>
              </a:r>
              <a:r>
                <a:rPr lang="en-GB" baseline="-25000">
                  <a:solidFill>
                    <a:prstClr val="black"/>
                  </a:solidFill>
                  <a:latin typeface="+mn-lt"/>
                </a:rPr>
                <a:t>2</a:t>
              </a:r>
              <a:endParaRPr lang="en-US" baseline="-2500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68631" name="Rectangle 23"/>
            <p:cNvSpPr>
              <a:spLocks noChangeArrowheads="1"/>
            </p:cNvSpPr>
            <p:nvPr/>
          </p:nvSpPr>
          <p:spPr bwMode="auto">
            <a:xfrm>
              <a:off x="6503988" y="2127250"/>
              <a:ext cx="900247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HBr</a:t>
              </a:r>
              <a:endParaRPr lang="en-US">
                <a:solidFill>
                  <a:prstClr val="black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68632" name="Rectangle 24"/>
            <p:cNvSpPr>
              <a:spLocks noChangeArrowheads="1"/>
            </p:cNvSpPr>
            <p:nvPr/>
          </p:nvSpPr>
          <p:spPr bwMode="auto">
            <a:xfrm>
              <a:off x="5026025" y="5402263"/>
              <a:ext cx="900247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HBr</a:t>
              </a:r>
              <a:endParaRPr lang="en-US">
                <a:solidFill>
                  <a:prstClr val="black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68633" name="AutoShape 25"/>
            <p:cNvSpPr>
              <a:spLocks noChangeArrowheads="1"/>
            </p:cNvSpPr>
            <p:nvPr/>
          </p:nvSpPr>
          <p:spPr bwMode="auto">
            <a:xfrm rot="11714992">
              <a:off x="5248275" y="3259138"/>
              <a:ext cx="1571625" cy="1477962"/>
            </a:xfrm>
            <a:custGeom>
              <a:avLst/>
              <a:gdLst>
                <a:gd name="G0" fmla="+- -3088298 0 0"/>
                <a:gd name="G1" fmla="+- -11796480 0 0"/>
                <a:gd name="G2" fmla="+- -3088298 0 -11796480"/>
                <a:gd name="G3" fmla="+- 10800 0 0"/>
                <a:gd name="G4" fmla="+- 0 0 -3088298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8128 0 0"/>
                <a:gd name="G9" fmla="+- 0 0 -11796480"/>
                <a:gd name="G10" fmla="+- 8128 0 2700"/>
                <a:gd name="G11" fmla="cos G10 -3088298"/>
                <a:gd name="G12" fmla="sin G10 -3088298"/>
                <a:gd name="G13" fmla="cos 13500 -3088298"/>
                <a:gd name="G14" fmla="sin 13500 -3088298"/>
                <a:gd name="G15" fmla="+- G11 10800 0"/>
                <a:gd name="G16" fmla="+- G12 10800 0"/>
                <a:gd name="G17" fmla="+- G13 10800 0"/>
                <a:gd name="G18" fmla="+- G14 10800 0"/>
                <a:gd name="G19" fmla="*/ 8128 1 2"/>
                <a:gd name="G20" fmla="+- G19 5400 0"/>
                <a:gd name="G21" fmla="cos G20 -3088298"/>
                <a:gd name="G22" fmla="sin G20 -3088298"/>
                <a:gd name="G23" fmla="+- G21 10800 0"/>
                <a:gd name="G24" fmla="+- G12 G23 G22"/>
                <a:gd name="G25" fmla="+- G22 G23 G11"/>
                <a:gd name="G26" fmla="cos 10800 -3088298"/>
                <a:gd name="G27" fmla="sin 10800 -3088298"/>
                <a:gd name="G28" fmla="cos 8128 -3088298"/>
                <a:gd name="G29" fmla="sin 8128 -3088298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11796480"/>
                <a:gd name="G36" fmla="sin G34 -11796480"/>
                <a:gd name="G37" fmla="+/ -11796480 -3088298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8128 G39"/>
                <a:gd name="G43" fmla="sin 8128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6482 w 21600"/>
                <a:gd name="T5" fmla="*/ 900 h 21600"/>
                <a:gd name="T6" fmla="*/ 1336 w 21600"/>
                <a:gd name="T7" fmla="*/ 10800 h 21600"/>
                <a:gd name="T8" fmla="*/ 7550 w 21600"/>
                <a:gd name="T9" fmla="*/ 3349 h 21600"/>
                <a:gd name="T10" fmla="*/ 19985 w 21600"/>
                <a:gd name="T11" fmla="*/ 906 h 21600"/>
                <a:gd name="T12" fmla="*/ 20197 w 21600"/>
                <a:gd name="T13" fmla="*/ 6610 h 21600"/>
                <a:gd name="T14" fmla="*/ 14493 w 21600"/>
                <a:gd name="T15" fmla="*/ 6822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6330" y="4843"/>
                  </a:moveTo>
                  <a:cubicBezTo>
                    <a:pt x="14827" y="3447"/>
                    <a:pt x="12851" y="2672"/>
                    <a:pt x="10800" y="2672"/>
                  </a:cubicBezTo>
                  <a:cubicBezTo>
                    <a:pt x="6311" y="2672"/>
                    <a:pt x="2672" y="6311"/>
                    <a:pt x="2672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3525" y="0"/>
                    <a:pt x="16150" y="1030"/>
                    <a:pt x="18148" y="2885"/>
                  </a:cubicBezTo>
                  <a:lnTo>
                    <a:pt x="19985" y="906"/>
                  </a:lnTo>
                  <a:lnTo>
                    <a:pt x="20197" y="6610"/>
                  </a:lnTo>
                  <a:lnTo>
                    <a:pt x="14493" y="6822"/>
                  </a:lnTo>
                  <a:lnTo>
                    <a:pt x="16330" y="4843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68634" name="AutoShape 26"/>
            <p:cNvSpPr>
              <a:spLocks noChangeArrowheads="1"/>
            </p:cNvSpPr>
            <p:nvPr/>
          </p:nvSpPr>
          <p:spPr bwMode="auto">
            <a:xfrm rot="10800000" flipH="1">
              <a:off x="5235575" y="1825625"/>
              <a:ext cx="1573213" cy="1476375"/>
            </a:xfrm>
            <a:custGeom>
              <a:avLst/>
              <a:gdLst>
                <a:gd name="G0" fmla="+- -1629867 0 0"/>
                <a:gd name="G1" fmla="+- -11796480 0 0"/>
                <a:gd name="G2" fmla="+- -1629867 0 -11796480"/>
                <a:gd name="G3" fmla="+- 10800 0 0"/>
                <a:gd name="G4" fmla="+- 0 0 -1629867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7906 0 0"/>
                <a:gd name="G9" fmla="+- 0 0 -11796480"/>
                <a:gd name="G10" fmla="+- 7906 0 2700"/>
                <a:gd name="G11" fmla="cos G10 -1629867"/>
                <a:gd name="G12" fmla="sin G10 -1629867"/>
                <a:gd name="G13" fmla="cos 13500 -1629867"/>
                <a:gd name="G14" fmla="sin 13500 -1629867"/>
                <a:gd name="G15" fmla="+- G11 10800 0"/>
                <a:gd name="G16" fmla="+- G12 10800 0"/>
                <a:gd name="G17" fmla="+- G13 10800 0"/>
                <a:gd name="G18" fmla="+- G14 10800 0"/>
                <a:gd name="G19" fmla="*/ 7906 1 2"/>
                <a:gd name="G20" fmla="+- G19 5400 0"/>
                <a:gd name="G21" fmla="cos G20 -1629867"/>
                <a:gd name="G22" fmla="sin G20 -1629867"/>
                <a:gd name="G23" fmla="+- G21 10800 0"/>
                <a:gd name="G24" fmla="+- G12 G23 G22"/>
                <a:gd name="G25" fmla="+- G22 G23 G11"/>
                <a:gd name="G26" fmla="cos 10800 -1629867"/>
                <a:gd name="G27" fmla="sin 10800 -1629867"/>
                <a:gd name="G28" fmla="cos 7906 -1629867"/>
                <a:gd name="G29" fmla="sin 7906 -1629867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11796480"/>
                <a:gd name="G36" fmla="sin G34 -11796480"/>
                <a:gd name="G37" fmla="+/ -11796480 -1629867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7906 G39"/>
                <a:gd name="G43" fmla="sin 7906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8474 w 21600"/>
                <a:gd name="T5" fmla="*/ 253 h 21600"/>
                <a:gd name="T6" fmla="*/ 1447 w 21600"/>
                <a:gd name="T7" fmla="*/ 10800 h 21600"/>
                <a:gd name="T8" fmla="*/ 9097 w 21600"/>
                <a:gd name="T9" fmla="*/ 3079 h 21600"/>
                <a:gd name="T10" fmla="*/ 23048 w 21600"/>
                <a:gd name="T11" fmla="*/ 5122 h 21600"/>
                <a:gd name="T12" fmla="*/ 21029 w 21600"/>
                <a:gd name="T13" fmla="*/ 10628 h 21600"/>
                <a:gd name="T14" fmla="*/ 15523 w 21600"/>
                <a:gd name="T15" fmla="*/ 8610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7972" y="7475"/>
                  </a:moveTo>
                  <a:cubicBezTo>
                    <a:pt x="16677" y="4681"/>
                    <a:pt x="13879" y="2894"/>
                    <a:pt x="10800" y="2894"/>
                  </a:cubicBezTo>
                  <a:cubicBezTo>
                    <a:pt x="6433" y="2894"/>
                    <a:pt x="2894" y="6433"/>
                    <a:pt x="2894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5006" y="0"/>
                    <a:pt x="18829" y="2441"/>
                    <a:pt x="20598" y="6257"/>
                  </a:cubicBezTo>
                  <a:lnTo>
                    <a:pt x="23048" y="5122"/>
                  </a:lnTo>
                  <a:lnTo>
                    <a:pt x="21029" y="10628"/>
                  </a:lnTo>
                  <a:lnTo>
                    <a:pt x="15523" y="8610"/>
                  </a:lnTo>
                  <a:lnTo>
                    <a:pt x="17972" y="7475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68635" name="AutoShape 27"/>
            <p:cNvSpPr>
              <a:spLocks noChangeArrowheads="1"/>
            </p:cNvSpPr>
            <p:nvPr/>
          </p:nvSpPr>
          <p:spPr bwMode="auto">
            <a:xfrm rot="22514993">
              <a:off x="5232400" y="3125788"/>
              <a:ext cx="1571625" cy="1476375"/>
            </a:xfrm>
            <a:custGeom>
              <a:avLst/>
              <a:gdLst>
                <a:gd name="G0" fmla="+- -3088298 0 0"/>
                <a:gd name="G1" fmla="+- -11796480 0 0"/>
                <a:gd name="G2" fmla="+- -3088298 0 -11796480"/>
                <a:gd name="G3" fmla="+- 10800 0 0"/>
                <a:gd name="G4" fmla="+- 0 0 -3088298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8128 0 0"/>
                <a:gd name="G9" fmla="+- 0 0 -11796480"/>
                <a:gd name="G10" fmla="+- 8128 0 2700"/>
                <a:gd name="G11" fmla="cos G10 -3088298"/>
                <a:gd name="G12" fmla="sin G10 -3088298"/>
                <a:gd name="G13" fmla="cos 13500 -3088298"/>
                <a:gd name="G14" fmla="sin 13500 -3088298"/>
                <a:gd name="G15" fmla="+- G11 10800 0"/>
                <a:gd name="G16" fmla="+- G12 10800 0"/>
                <a:gd name="G17" fmla="+- G13 10800 0"/>
                <a:gd name="G18" fmla="+- G14 10800 0"/>
                <a:gd name="G19" fmla="*/ 8128 1 2"/>
                <a:gd name="G20" fmla="+- G19 5400 0"/>
                <a:gd name="G21" fmla="cos G20 -3088298"/>
                <a:gd name="G22" fmla="sin G20 -3088298"/>
                <a:gd name="G23" fmla="+- G21 10800 0"/>
                <a:gd name="G24" fmla="+- G12 G23 G22"/>
                <a:gd name="G25" fmla="+- G22 G23 G11"/>
                <a:gd name="G26" fmla="cos 10800 -3088298"/>
                <a:gd name="G27" fmla="sin 10800 -3088298"/>
                <a:gd name="G28" fmla="cos 8128 -3088298"/>
                <a:gd name="G29" fmla="sin 8128 -3088298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11796480"/>
                <a:gd name="G36" fmla="sin G34 -11796480"/>
                <a:gd name="G37" fmla="+/ -11796480 -3088298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8128 G39"/>
                <a:gd name="G43" fmla="sin 8128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6482 w 21600"/>
                <a:gd name="T5" fmla="*/ 900 h 21600"/>
                <a:gd name="T6" fmla="*/ 1336 w 21600"/>
                <a:gd name="T7" fmla="*/ 10800 h 21600"/>
                <a:gd name="T8" fmla="*/ 7550 w 21600"/>
                <a:gd name="T9" fmla="*/ 3349 h 21600"/>
                <a:gd name="T10" fmla="*/ 19985 w 21600"/>
                <a:gd name="T11" fmla="*/ 906 h 21600"/>
                <a:gd name="T12" fmla="*/ 20197 w 21600"/>
                <a:gd name="T13" fmla="*/ 6610 h 21600"/>
                <a:gd name="T14" fmla="*/ 14493 w 21600"/>
                <a:gd name="T15" fmla="*/ 6822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16330" y="4843"/>
                  </a:moveTo>
                  <a:cubicBezTo>
                    <a:pt x="14827" y="3447"/>
                    <a:pt x="12851" y="2672"/>
                    <a:pt x="10800" y="2672"/>
                  </a:cubicBezTo>
                  <a:cubicBezTo>
                    <a:pt x="6311" y="2672"/>
                    <a:pt x="2672" y="6311"/>
                    <a:pt x="2672" y="10800"/>
                  </a:cubicBezTo>
                  <a:lnTo>
                    <a:pt x="0" y="10800"/>
                  </a:lnTo>
                  <a:cubicBezTo>
                    <a:pt x="0" y="4835"/>
                    <a:pt x="4835" y="0"/>
                    <a:pt x="10800" y="0"/>
                  </a:cubicBezTo>
                  <a:cubicBezTo>
                    <a:pt x="13525" y="0"/>
                    <a:pt x="16150" y="1030"/>
                    <a:pt x="18148" y="2885"/>
                  </a:cubicBezTo>
                  <a:lnTo>
                    <a:pt x="19985" y="906"/>
                  </a:lnTo>
                  <a:lnTo>
                    <a:pt x="20197" y="6610"/>
                  </a:lnTo>
                  <a:lnTo>
                    <a:pt x="14493" y="6822"/>
                  </a:lnTo>
                  <a:lnTo>
                    <a:pt x="16330" y="4843"/>
                  </a:lnTo>
                  <a:close/>
                </a:path>
              </a:pathLst>
            </a:custGeom>
            <a:solidFill>
              <a:srgbClr val="FF00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68637" name="AutoShape 29"/>
            <p:cNvSpPr>
              <a:spLocks noChangeArrowheads="1"/>
            </p:cNvSpPr>
            <p:nvPr/>
          </p:nvSpPr>
          <p:spPr bwMode="auto">
            <a:xfrm rot="16200000" flipH="1">
              <a:off x="6948488" y="3265488"/>
              <a:ext cx="958850" cy="958850"/>
            </a:xfrm>
            <a:custGeom>
              <a:avLst/>
              <a:gdLst>
                <a:gd name="G0" fmla="+- -6808501 0 0"/>
                <a:gd name="G1" fmla="+- -11796480 0 0"/>
                <a:gd name="G2" fmla="+- -6808501 0 -11796480"/>
                <a:gd name="G3" fmla="+- 10800 0 0"/>
                <a:gd name="G4" fmla="+- 0 0 -6808501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10131 0 0"/>
                <a:gd name="G9" fmla="+- 0 0 -11796480"/>
                <a:gd name="G10" fmla="+- 10131 0 2700"/>
                <a:gd name="G11" fmla="cos G10 -6808501"/>
                <a:gd name="G12" fmla="sin G10 -6808501"/>
                <a:gd name="G13" fmla="cos 13500 -6808501"/>
                <a:gd name="G14" fmla="sin 13500 -6808501"/>
                <a:gd name="G15" fmla="+- G11 10800 0"/>
                <a:gd name="G16" fmla="+- G12 10800 0"/>
                <a:gd name="G17" fmla="+- G13 10800 0"/>
                <a:gd name="G18" fmla="+- G14 10800 0"/>
                <a:gd name="G19" fmla="*/ 10131 1 2"/>
                <a:gd name="G20" fmla="+- G19 5400 0"/>
                <a:gd name="G21" fmla="cos G20 -6808501"/>
                <a:gd name="G22" fmla="sin G20 -6808501"/>
                <a:gd name="G23" fmla="+- G21 10800 0"/>
                <a:gd name="G24" fmla="+- G12 G23 G22"/>
                <a:gd name="G25" fmla="+- G22 G23 G11"/>
                <a:gd name="G26" fmla="cos 10800 -6808501"/>
                <a:gd name="G27" fmla="sin 10800 -6808501"/>
                <a:gd name="G28" fmla="cos 10131 -6808501"/>
                <a:gd name="G29" fmla="sin 10131 -6808501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11796480"/>
                <a:gd name="G36" fmla="sin G34 -11796480"/>
                <a:gd name="G37" fmla="+/ -11796480 -6808501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10131 G39"/>
                <a:gd name="G43" fmla="sin 10131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2295 w 21600"/>
                <a:gd name="T5" fmla="*/ 4142 h 21600"/>
                <a:gd name="T6" fmla="*/ 334 w 21600"/>
                <a:gd name="T7" fmla="*/ 10800 h 21600"/>
                <a:gd name="T8" fmla="*/ 2822 w 21600"/>
                <a:gd name="T9" fmla="*/ 4555 h 21600"/>
                <a:gd name="T10" fmla="*/ 7559 w 21600"/>
                <a:gd name="T11" fmla="*/ -2306 h 21600"/>
                <a:gd name="T12" fmla="*/ 11233 w 21600"/>
                <a:gd name="T13" fmla="*/ -89 h 21600"/>
                <a:gd name="T14" fmla="*/ 9016 w 21600"/>
                <a:gd name="T15" fmla="*/ 3586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8368" y="965"/>
                  </a:moveTo>
                  <a:cubicBezTo>
                    <a:pt x="3845" y="2083"/>
                    <a:pt x="669" y="6141"/>
                    <a:pt x="669" y="10799"/>
                  </a:cubicBezTo>
                  <a:lnTo>
                    <a:pt x="0" y="10800"/>
                  </a:lnTo>
                  <a:cubicBezTo>
                    <a:pt x="0" y="5833"/>
                    <a:pt x="3386" y="1507"/>
                    <a:pt x="8207" y="315"/>
                  </a:cubicBezTo>
                  <a:lnTo>
                    <a:pt x="7559" y="-2306"/>
                  </a:lnTo>
                  <a:lnTo>
                    <a:pt x="11233" y="-89"/>
                  </a:lnTo>
                  <a:lnTo>
                    <a:pt x="9016" y="3586"/>
                  </a:lnTo>
                  <a:lnTo>
                    <a:pt x="8368" y="965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68638" name="Text Box 30"/>
            <p:cNvSpPr txBox="1">
              <a:spLocks noChangeArrowheads="1"/>
            </p:cNvSpPr>
            <p:nvPr/>
          </p:nvSpPr>
          <p:spPr bwMode="auto">
            <a:xfrm>
              <a:off x="7463030" y="3062514"/>
              <a:ext cx="1197337" cy="400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 b="1">
                  <a:solidFill>
                    <a:srgbClr val="C0504D"/>
                  </a:solidFill>
                  <a:latin typeface="+mn-lt"/>
                </a:rPr>
                <a:t>Initiation</a:t>
              </a:r>
              <a:endParaRPr lang="en-US" sz="1350" b="1">
                <a:solidFill>
                  <a:srgbClr val="C0504D"/>
                </a:solidFill>
                <a:latin typeface="+mn-lt"/>
              </a:endParaRPr>
            </a:p>
          </p:txBody>
        </p:sp>
        <p:sp>
          <p:nvSpPr>
            <p:cNvPr id="68639" name="Text Box 31"/>
            <p:cNvSpPr txBox="1">
              <a:spLocks noChangeArrowheads="1"/>
            </p:cNvSpPr>
            <p:nvPr/>
          </p:nvSpPr>
          <p:spPr bwMode="auto">
            <a:xfrm>
              <a:off x="7440613" y="4481942"/>
              <a:ext cx="1505284" cy="400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 b="1">
                  <a:solidFill>
                    <a:srgbClr val="800080"/>
                  </a:solidFill>
                  <a:latin typeface="+mn-lt"/>
                </a:rPr>
                <a:t>Termination</a:t>
              </a:r>
            </a:p>
          </p:txBody>
        </p:sp>
        <p:sp>
          <p:nvSpPr>
            <p:cNvPr id="68640" name="AutoShape 32"/>
            <p:cNvSpPr>
              <a:spLocks noChangeArrowheads="1"/>
            </p:cNvSpPr>
            <p:nvPr/>
          </p:nvSpPr>
          <p:spPr bwMode="auto">
            <a:xfrm rot="10800000" flipH="1">
              <a:off x="6948488" y="3694113"/>
              <a:ext cx="958850" cy="958850"/>
            </a:xfrm>
            <a:custGeom>
              <a:avLst/>
              <a:gdLst>
                <a:gd name="G0" fmla="+- -6808501 0 0"/>
                <a:gd name="G1" fmla="+- -11796480 0 0"/>
                <a:gd name="G2" fmla="+- -6808501 0 -11796480"/>
                <a:gd name="G3" fmla="+- 10800 0 0"/>
                <a:gd name="G4" fmla="+- 0 0 -6808501"/>
                <a:gd name="T0" fmla="*/ 360 256 1"/>
                <a:gd name="T1" fmla="*/ 0 256 1"/>
                <a:gd name="G5" fmla="+- G2 T0 T1"/>
                <a:gd name="G6" fmla="?: G2 G2 G5"/>
                <a:gd name="G7" fmla="+- 0 0 G6"/>
                <a:gd name="G8" fmla="+- 10131 0 0"/>
                <a:gd name="G9" fmla="+- 0 0 -11796480"/>
                <a:gd name="G10" fmla="+- 10131 0 2700"/>
                <a:gd name="G11" fmla="cos G10 -6808501"/>
                <a:gd name="G12" fmla="sin G10 -6808501"/>
                <a:gd name="G13" fmla="cos 13500 -6808501"/>
                <a:gd name="G14" fmla="sin 13500 -6808501"/>
                <a:gd name="G15" fmla="+- G11 10800 0"/>
                <a:gd name="G16" fmla="+- G12 10800 0"/>
                <a:gd name="G17" fmla="+- G13 10800 0"/>
                <a:gd name="G18" fmla="+- G14 10800 0"/>
                <a:gd name="G19" fmla="*/ 10131 1 2"/>
                <a:gd name="G20" fmla="+- G19 5400 0"/>
                <a:gd name="G21" fmla="cos G20 -6808501"/>
                <a:gd name="G22" fmla="sin G20 -6808501"/>
                <a:gd name="G23" fmla="+- G21 10800 0"/>
                <a:gd name="G24" fmla="+- G12 G23 G22"/>
                <a:gd name="G25" fmla="+- G22 G23 G11"/>
                <a:gd name="G26" fmla="cos 10800 -6808501"/>
                <a:gd name="G27" fmla="sin 10800 -6808501"/>
                <a:gd name="G28" fmla="cos 10131 -6808501"/>
                <a:gd name="G29" fmla="sin 10131 -6808501"/>
                <a:gd name="G30" fmla="+- G26 10800 0"/>
                <a:gd name="G31" fmla="+- G27 10800 0"/>
                <a:gd name="G32" fmla="+- G28 10800 0"/>
                <a:gd name="G33" fmla="+- G29 10800 0"/>
                <a:gd name="G34" fmla="+- G19 5400 0"/>
                <a:gd name="G35" fmla="cos G34 -11796480"/>
                <a:gd name="G36" fmla="sin G34 -11796480"/>
                <a:gd name="G37" fmla="+/ -11796480 -6808501 2"/>
                <a:gd name="T2" fmla="*/ 180 256 1"/>
                <a:gd name="T3" fmla="*/ 0 256 1"/>
                <a:gd name="G38" fmla="+- G37 T2 T3"/>
                <a:gd name="G39" fmla="?: G2 G37 G38"/>
                <a:gd name="G40" fmla="cos 10800 G39"/>
                <a:gd name="G41" fmla="sin 10800 G39"/>
                <a:gd name="G42" fmla="cos 10131 G39"/>
                <a:gd name="G43" fmla="sin 10131 G39"/>
                <a:gd name="G44" fmla="+- G40 10800 0"/>
                <a:gd name="G45" fmla="+- G41 10800 0"/>
                <a:gd name="G46" fmla="+- G42 10800 0"/>
                <a:gd name="G47" fmla="+- G43 10800 0"/>
                <a:gd name="G48" fmla="+- G35 10800 0"/>
                <a:gd name="G49" fmla="+- G36 10800 0"/>
                <a:gd name="T4" fmla="*/ 2295 w 21600"/>
                <a:gd name="T5" fmla="*/ 4142 h 21600"/>
                <a:gd name="T6" fmla="*/ 334 w 21600"/>
                <a:gd name="T7" fmla="*/ 10800 h 21600"/>
                <a:gd name="T8" fmla="*/ 2822 w 21600"/>
                <a:gd name="T9" fmla="*/ 4555 h 21600"/>
                <a:gd name="T10" fmla="*/ 7559 w 21600"/>
                <a:gd name="T11" fmla="*/ -2306 h 21600"/>
                <a:gd name="T12" fmla="*/ 11233 w 21600"/>
                <a:gd name="T13" fmla="*/ -89 h 21600"/>
                <a:gd name="T14" fmla="*/ 9016 w 21600"/>
                <a:gd name="T15" fmla="*/ 3586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8368" y="965"/>
                  </a:moveTo>
                  <a:cubicBezTo>
                    <a:pt x="3845" y="2083"/>
                    <a:pt x="669" y="6141"/>
                    <a:pt x="669" y="10799"/>
                  </a:cubicBezTo>
                  <a:lnTo>
                    <a:pt x="0" y="10800"/>
                  </a:lnTo>
                  <a:cubicBezTo>
                    <a:pt x="0" y="5833"/>
                    <a:pt x="3386" y="1507"/>
                    <a:pt x="8207" y="315"/>
                  </a:cubicBezTo>
                  <a:lnTo>
                    <a:pt x="7559" y="-2306"/>
                  </a:lnTo>
                  <a:lnTo>
                    <a:pt x="11233" y="-89"/>
                  </a:lnTo>
                  <a:lnTo>
                    <a:pt x="9016" y="3586"/>
                  </a:lnTo>
                  <a:lnTo>
                    <a:pt x="8368" y="965"/>
                  </a:lnTo>
                  <a:close/>
                </a:path>
              </a:pathLst>
            </a:custGeom>
            <a:solidFill>
              <a:schemeClr val="fol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68641" name="Text Box 33"/>
            <p:cNvSpPr txBox="1">
              <a:spLocks noChangeArrowheads="1"/>
            </p:cNvSpPr>
            <p:nvPr/>
          </p:nvSpPr>
          <p:spPr bwMode="auto">
            <a:xfrm>
              <a:off x="7019925" y="4149724"/>
              <a:ext cx="376600" cy="400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 b="1">
                  <a:solidFill>
                    <a:srgbClr val="800080"/>
                  </a:solidFill>
                  <a:latin typeface="+mn-lt"/>
                </a:rPr>
                <a:t>4</a:t>
              </a:r>
            </a:p>
          </p:txBody>
        </p:sp>
        <p:sp>
          <p:nvSpPr>
            <p:cNvPr id="68642" name="Text Box 34"/>
            <p:cNvSpPr txBox="1">
              <a:spLocks noChangeArrowheads="1"/>
            </p:cNvSpPr>
            <p:nvPr/>
          </p:nvSpPr>
          <p:spPr bwMode="auto">
            <a:xfrm>
              <a:off x="7019925" y="3349625"/>
              <a:ext cx="376600" cy="400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 b="1">
                  <a:solidFill>
                    <a:srgbClr val="C0504D"/>
                  </a:solidFill>
                  <a:latin typeface="+mn-lt"/>
                </a:rPr>
                <a:t>1</a:t>
              </a:r>
              <a:endParaRPr lang="en-US" sz="1350" b="1">
                <a:solidFill>
                  <a:srgbClr val="C0504D"/>
                </a:solidFill>
                <a:latin typeface="+mn-lt"/>
              </a:endParaRPr>
            </a:p>
          </p:txBody>
        </p:sp>
        <p:sp>
          <p:nvSpPr>
            <p:cNvPr id="68643" name="Text Box 35"/>
            <p:cNvSpPr txBox="1">
              <a:spLocks noChangeArrowheads="1"/>
            </p:cNvSpPr>
            <p:nvPr/>
          </p:nvSpPr>
          <p:spPr bwMode="auto">
            <a:xfrm>
              <a:off x="5867400" y="2708275"/>
              <a:ext cx="376600" cy="400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 b="1">
                  <a:solidFill>
                    <a:srgbClr val="FF0000"/>
                  </a:solidFill>
                  <a:latin typeface="+mn-lt"/>
                </a:rPr>
                <a:t>3</a:t>
              </a:r>
              <a:endParaRPr lang="en-US" sz="1350" b="1">
                <a:solidFill>
                  <a:srgbClr val="FF0000"/>
                </a:solidFill>
                <a:latin typeface="+mn-lt"/>
              </a:endParaRPr>
            </a:p>
          </p:txBody>
        </p:sp>
        <p:sp>
          <p:nvSpPr>
            <p:cNvPr id="68644" name="Rectangle 36"/>
            <p:cNvSpPr>
              <a:spLocks noChangeArrowheads="1"/>
            </p:cNvSpPr>
            <p:nvPr/>
          </p:nvSpPr>
          <p:spPr bwMode="auto">
            <a:xfrm>
              <a:off x="5940425" y="4149724"/>
              <a:ext cx="376600" cy="4001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350" b="1">
                  <a:solidFill>
                    <a:srgbClr val="FF0000"/>
                  </a:solidFill>
                  <a:latin typeface="+mn-lt"/>
                </a:rPr>
                <a:t>2</a:t>
              </a:r>
              <a:endParaRPr lang="en-US" sz="1350" b="1">
                <a:solidFill>
                  <a:srgbClr val="FF0000"/>
                </a:solidFill>
                <a:latin typeface="+mn-lt"/>
              </a:endParaRPr>
            </a:p>
          </p:txBody>
        </p:sp>
      </p:grpSp>
      <p:sp>
        <p:nvSpPr>
          <p:cNvPr id="68645" name="Text Box 37"/>
          <p:cNvSpPr txBox="1">
            <a:spLocks noChangeArrowheads="1"/>
          </p:cNvSpPr>
          <p:nvPr/>
        </p:nvSpPr>
        <p:spPr bwMode="auto">
          <a:xfrm>
            <a:off x="1134938" y="4820042"/>
            <a:ext cx="6477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100">
                <a:solidFill>
                  <a:prstClr val="black"/>
                </a:solidFill>
                <a:latin typeface="+mn-lt"/>
              </a:rPr>
              <a:t>From Steady state Br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· </a:t>
            </a:r>
          </a:p>
          <a:p>
            <a:pPr>
              <a:spcBef>
                <a:spcPct val="50000"/>
              </a:spcBef>
            </a:pP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2Rate </a:t>
            </a:r>
            <a:r>
              <a:rPr lang="en-US" sz="2100" baseline="-25000">
                <a:solidFill>
                  <a:prstClr val="black"/>
                </a:solidFill>
                <a:latin typeface="+mn-lt"/>
                <a:cs typeface="Arial" charset="0"/>
              </a:rPr>
              <a:t>1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 + Rate</a:t>
            </a:r>
            <a:r>
              <a:rPr lang="en-US" sz="2100" baseline="-25000">
                <a:solidFill>
                  <a:prstClr val="black"/>
                </a:solidFill>
                <a:latin typeface="+mn-lt"/>
                <a:cs typeface="Arial" charset="0"/>
              </a:rPr>
              <a:t>3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 = Rate</a:t>
            </a:r>
            <a:r>
              <a:rPr lang="en-US" sz="2100" baseline="-25000">
                <a:solidFill>
                  <a:prstClr val="black"/>
                </a:solidFill>
                <a:latin typeface="+mn-lt"/>
                <a:cs typeface="Arial" charset="0"/>
              </a:rPr>
              <a:t>2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 + 2Rate</a:t>
            </a:r>
            <a:r>
              <a:rPr lang="en-US" sz="2100" baseline="-25000">
                <a:solidFill>
                  <a:prstClr val="black"/>
                </a:solidFill>
                <a:latin typeface="+mn-lt"/>
                <a:cs typeface="Arial" charset="0"/>
              </a:rPr>
              <a:t>4</a:t>
            </a:r>
            <a:endParaRPr lang="en-GB" sz="2100" baseline="-25000">
              <a:solidFill>
                <a:prstClr val="black"/>
              </a:solidFill>
              <a:latin typeface="+mn-lt"/>
            </a:endParaRPr>
          </a:p>
          <a:p>
            <a:pPr>
              <a:spcBef>
                <a:spcPct val="50000"/>
              </a:spcBef>
            </a:pPr>
            <a:r>
              <a:rPr lang="en-GB" sz="2100">
                <a:solidFill>
                  <a:prstClr val="black"/>
                </a:solidFill>
                <a:latin typeface="+mn-lt"/>
              </a:rPr>
              <a:t>Rate</a:t>
            </a:r>
            <a:r>
              <a:rPr lang="en-GB" sz="2100" baseline="-25000">
                <a:solidFill>
                  <a:prstClr val="black"/>
                </a:solidFill>
                <a:latin typeface="+mn-lt"/>
              </a:rPr>
              <a:t>2</a:t>
            </a:r>
            <a:r>
              <a:rPr lang="en-GB" sz="2100">
                <a:solidFill>
                  <a:prstClr val="black"/>
                </a:solidFill>
                <a:latin typeface="+mn-lt"/>
              </a:rPr>
              <a:t> = Rate</a:t>
            </a:r>
            <a:r>
              <a:rPr lang="en-GB" sz="2100" baseline="-25000">
                <a:solidFill>
                  <a:prstClr val="black"/>
                </a:solidFill>
                <a:latin typeface="+mn-lt"/>
              </a:rPr>
              <a:t>3</a:t>
            </a:r>
            <a:r>
              <a:rPr lang="en-GB" sz="2100">
                <a:solidFill>
                  <a:prstClr val="black"/>
                </a:solidFill>
                <a:latin typeface="+mn-lt"/>
              </a:rPr>
              <a:t> (steady state H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·)  therefore </a:t>
            </a:r>
            <a:r>
              <a:rPr lang="en-GB" sz="2100">
                <a:solidFill>
                  <a:prstClr val="black"/>
                </a:solidFill>
                <a:latin typeface="+mn-lt"/>
              </a:rPr>
              <a:t> Rate</a:t>
            </a:r>
            <a:r>
              <a:rPr lang="en-GB" sz="2100" baseline="-25000">
                <a:solidFill>
                  <a:prstClr val="black"/>
                </a:solidFill>
                <a:latin typeface="+mn-lt"/>
              </a:rPr>
              <a:t>1</a:t>
            </a:r>
            <a:r>
              <a:rPr lang="en-GB" sz="2100">
                <a:solidFill>
                  <a:prstClr val="black"/>
                </a:solidFill>
                <a:latin typeface="+mn-lt"/>
              </a:rPr>
              <a:t> = Rate</a:t>
            </a:r>
            <a:r>
              <a:rPr lang="en-GB" sz="2100" baseline="-25000">
                <a:solidFill>
                  <a:prstClr val="black"/>
                </a:solidFill>
                <a:latin typeface="+mn-lt"/>
              </a:rPr>
              <a:t>4</a:t>
            </a:r>
            <a:endParaRPr lang="en-US" sz="2100" baseline="-25000">
              <a:solidFill>
                <a:prstClr val="black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64565848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ChangeArrowheads="1"/>
          </p:cNvSpPr>
          <p:nvPr/>
        </p:nvSpPr>
        <p:spPr bwMode="auto">
          <a:xfrm>
            <a:off x="1143000" y="857250"/>
            <a:ext cx="61722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GB">
                <a:solidFill>
                  <a:srgbClr val="1F497D"/>
                </a:solidFill>
                <a:latin typeface="+mn-lt"/>
              </a:rPr>
              <a:t>Finding a rate equation: (going through all of that again, with maths…)</a:t>
            </a:r>
            <a:endParaRPr lang="en-US">
              <a:solidFill>
                <a:srgbClr val="1F497D"/>
              </a:solidFill>
              <a:latin typeface="+mn-lt"/>
            </a:endParaRPr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auto">
          <a:xfrm>
            <a:off x="1143002" y="1714501"/>
            <a:ext cx="6561347" cy="4062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>
                <a:solidFill>
                  <a:prstClr val="black"/>
                </a:solidFill>
                <a:latin typeface="+mn-lt"/>
              </a:rPr>
              <a:t>Can we produce a rate equation for the formation of </a:t>
            </a:r>
            <a:r>
              <a:rPr lang="en-GB" err="1">
                <a:solidFill>
                  <a:prstClr val="black"/>
                </a:solidFill>
                <a:latin typeface="+mn-lt"/>
              </a:rPr>
              <a:t>HBr</a:t>
            </a:r>
            <a:r>
              <a:rPr lang="en-GB">
                <a:solidFill>
                  <a:prstClr val="black"/>
                </a:solidFill>
                <a:latin typeface="+mn-lt"/>
              </a:rPr>
              <a:t> in terms of [</a:t>
            </a:r>
            <a:r>
              <a:rPr lang="en-GB" sz="2100">
                <a:solidFill>
                  <a:prstClr val="black"/>
                </a:solidFill>
                <a:latin typeface="+mn-lt"/>
              </a:rPr>
              <a:t>H</a:t>
            </a:r>
            <a:r>
              <a:rPr lang="en-GB" sz="2100" baseline="-25000">
                <a:solidFill>
                  <a:prstClr val="black"/>
                </a:solidFill>
                <a:latin typeface="+mn-lt"/>
              </a:rPr>
              <a:t>2 </a:t>
            </a:r>
            <a:r>
              <a:rPr lang="en-GB">
                <a:solidFill>
                  <a:prstClr val="black"/>
                </a:solidFill>
                <a:latin typeface="+mn-lt"/>
              </a:rPr>
              <a:t>] and [</a:t>
            </a:r>
            <a:r>
              <a:rPr lang="en-GB" sz="2100">
                <a:solidFill>
                  <a:prstClr val="black"/>
                </a:solidFill>
                <a:latin typeface="+mn-lt"/>
              </a:rPr>
              <a:t>Br</a:t>
            </a:r>
            <a:r>
              <a:rPr lang="en-GB" sz="2100" baseline="-25000">
                <a:solidFill>
                  <a:prstClr val="black"/>
                </a:solidFill>
                <a:latin typeface="+mn-lt"/>
              </a:rPr>
              <a:t>2 </a:t>
            </a:r>
            <a:r>
              <a:rPr lang="en-GB">
                <a:solidFill>
                  <a:prstClr val="black"/>
                </a:solidFill>
                <a:latin typeface="+mn-lt"/>
              </a:rPr>
              <a:t>]?</a:t>
            </a:r>
          </a:p>
          <a:p>
            <a:pPr lvl="1">
              <a:spcBef>
                <a:spcPct val="50000"/>
              </a:spcBef>
              <a:buFontTx/>
              <a:buChar char="–"/>
            </a:pPr>
            <a:r>
              <a:rPr lang="en-GB" sz="2100">
                <a:solidFill>
                  <a:prstClr val="black"/>
                </a:solidFill>
                <a:latin typeface="+mn-lt"/>
                <a:cs typeface="Arial" charset="0"/>
              </a:rPr>
              <a:t>Start with steady-state of H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·  solve to find [</a:t>
            </a:r>
            <a:r>
              <a:rPr lang="en-GB" sz="2100">
                <a:solidFill>
                  <a:prstClr val="black"/>
                </a:solidFill>
                <a:latin typeface="+mn-lt"/>
                <a:cs typeface="Arial" charset="0"/>
              </a:rPr>
              <a:t>H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·]</a:t>
            </a:r>
            <a:r>
              <a:rPr lang="en-US" sz="2100" baseline="-25000">
                <a:solidFill>
                  <a:prstClr val="black"/>
                </a:solidFill>
                <a:latin typeface="+mn-lt"/>
                <a:cs typeface="Arial" charset="0"/>
              </a:rPr>
              <a:t>SS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 in terms of [</a:t>
            </a:r>
            <a:r>
              <a:rPr lang="en-GB" sz="2100">
                <a:solidFill>
                  <a:prstClr val="black"/>
                </a:solidFill>
                <a:latin typeface="+mn-lt"/>
                <a:cs typeface="Arial" charset="0"/>
              </a:rPr>
              <a:t>Br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·]</a:t>
            </a:r>
            <a:r>
              <a:rPr lang="en-US" sz="2100" baseline="-25000">
                <a:solidFill>
                  <a:prstClr val="black"/>
                </a:solidFill>
                <a:latin typeface="+mn-lt"/>
                <a:cs typeface="Arial" charset="0"/>
              </a:rPr>
              <a:t>SS</a:t>
            </a:r>
            <a:endParaRPr lang="en-GB" sz="2100">
              <a:solidFill>
                <a:prstClr val="black"/>
              </a:solidFill>
              <a:latin typeface="+mn-lt"/>
              <a:cs typeface="Arial" charset="0"/>
            </a:endParaRPr>
          </a:p>
          <a:p>
            <a:pPr lvl="1">
              <a:spcBef>
                <a:spcPct val="50000"/>
              </a:spcBef>
              <a:buFontTx/>
              <a:buChar char="–"/>
            </a:pPr>
            <a:r>
              <a:rPr lang="en-GB" sz="2100">
                <a:solidFill>
                  <a:prstClr val="black"/>
                </a:solidFill>
                <a:latin typeface="+mn-lt"/>
                <a:cs typeface="Arial" charset="0"/>
              </a:rPr>
              <a:t>Now consider initiation and termination steps, use steady-state of Br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·</a:t>
            </a:r>
            <a:r>
              <a:rPr lang="en-GB" sz="2100">
                <a:solidFill>
                  <a:prstClr val="black"/>
                </a:solidFill>
                <a:latin typeface="+mn-lt"/>
                <a:cs typeface="Arial" charset="0"/>
              </a:rPr>
              <a:t> to find 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[</a:t>
            </a:r>
            <a:r>
              <a:rPr lang="en-GB" sz="2100">
                <a:solidFill>
                  <a:prstClr val="black"/>
                </a:solidFill>
                <a:latin typeface="+mn-lt"/>
                <a:cs typeface="Arial" charset="0"/>
              </a:rPr>
              <a:t>Br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·]</a:t>
            </a:r>
            <a:r>
              <a:rPr lang="en-US" sz="2100" baseline="-25000">
                <a:solidFill>
                  <a:prstClr val="black"/>
                </a:solidFill>
                <a:latin typeface="+mn-lt"/>
                <a:cs typeface="Arial" charset="0"/>
              </a:rPr>
              <a:t>SS</a:t>
            </a:r>
            <a:endParaRPr lang="en-GB" sz="2100">
              <a:solidFill>
                <a:prstClr val="black"/>
              </a:solidFill>
              <a:latin typeface="+mn-lt"/>
              <a:cs typeface="Arial" charset="0"/>
            </a:endParaRPr>
          </a:p>
          <a:p>
            <a:pPr lvl="1">
              <a:spcBef>
                <a:spcPct val="50000"/>
              </a:spcBef>
              <a:buFontTx/>
              <a:buChar char="–"/>
            </a:pPr>
            <a:r>
              <a:rPr lang="en-GB" sz="2100">
                <a:solidFill>
                  <a:prstClr val="black"/>
                </a:solidFill>
                <a:latin typeface="+mn-lt"/>
                <a:cs typeface="Arial" charset="0"/>
              </a:rPr>
              <a:t>Steps (2) and (3) generate products – depend on 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[</a:t>
            </a:r>
            <a:r>
              <a:rPr lang="en-GB" sz="2100">
                <a:solidFill>
                  <a:prstClr val="black"/>
                </a:solidFill>
                <a:latin typeface="+mn-lt"/>
                <a:cs typeface="Arial" charset="0"/>
              </a:rPr>
              <a:t>Br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·]</a:t>
            </a:r>
            <a:r>
              <a:rPr lang="en-US" sz="2100" baseline="-25000">
                <a:solidFill>
                  <a:prstClr val="black"/>
                </a:solidFill>
                <a:latin typeface="+mn-lt"/>
                <a:cs typeface="Arial" charset="0"/>
              </a:rPr>
              <a:t>SS</a:t>
            </a:r>
            <a:endParaRPr lang="en-GB" sz="2100">
              <a:solidFill>
                <a:prstClr val="black"/>
              </a:solidFill>
              <a:latin typeface="+mn-lt"/>
              <a:cs typeface="Arial" charset="0"/>
            </a:endParaRPr>
          </a:p>
          <a:p>
            <a:pPr lvl="1">
              <a:spcBef>
                <a:spcPct val="50000"/>
              </a:spcBef>
              <a:buFontTx/>
              <a:buChar char="–"/>
            </a:pPr>
            <a:r>
              <a:rPr lang="en-GB" sz="2100">
                <a:solidFill>
                  <a:prstClr val="black"/>
                </a:solidFill>
                <a:latin typeface="+mn-lt"/>
                <a:cs typeface="Arial" charset="0"/>
              </a:rPr>
              <a:t>Substitute into (2) and (3) to get final equation for rate.</a:t>
            </a:r>
            <a:endParaRPr lang="en-US" sz="2100">
              <a:solidFill>
                <a:prstClr val="black"/>
              </a:solidFill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7106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1266151" y="1082392"/>
            <a:ext cx="2725426" cy="677689"/>
            <a:chOff x="164201" y="1916833"/>
            <a:chExt cx="3633900" cy="903585"/>
          </a:xfrm>
        </p:grpSpPr>
        <p:sp>
          <p:nvSpPr>
            <p:cNvPr id="4" name="Rectangle 3"/>
            <p:cNvSpPr/>
            <p:nvPr/>
          </p:nvSpPr>
          <p:spPr>
            <a:xfrm>
              <a:off x="164201" y="2204865"/>
              <a:ext cx="363390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GB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 + M </a:t>
              </a:r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→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2Br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 + M</a:t>
              </a:r>
              <a:endParaRPr lang="en-GB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5" name="Text Box 9"/>
            <p:cNvSpPr txBox="1">
              <a:spLocks noChangeArrowheads="1"/>
            </p:cNvSpPr>
            <p:nvPr/>
          </p:nvSpPr>
          <p:spPr bwMode="auto">
            <a:xfrm>
              <a:off x="1502723" y="1916833"/>
              <a:ext cx="575370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i="1" baseline="-25000">
                  <a:solidFill>
                    <a:prstClr val="black"/>
                  </a:solidFill>
                  <a:latin typeface="+mn-lt"/>
                </a:rPr>
                <a:t>1</a:t>
              </a:r>
              <a:endParaRPr lang="en-US" i="1" baseline="-25000">
                <a:solidFill>
                  <a:prstClr val="black"/>
                </a:solidFill>
                <a:latin typeface="+mn-lt"/>
              </a:endParaRPr>
            </a:p>
          </p:txBody>
        </p:sp>
      </p:grpSp>
      <p:sp>
        <p:nvSpPr>
          <p:cNvPr id="7" name="Rectangle 6"/>
          <p:cNvSpPr/>
          <p:nvPr/>
        </p:nvSpPr>
        <p:spPr>
          <a:xfrm>
            <a:off x="4680013" y="1298415"/>
            <a:ext cx="12153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solidFill>
                  <a:srgbClr val="FF0000"/>
                </a:solidFill>
                <a:latin typeface="+mn-lt"/>
              </a:rPr>
              <a:t>Rate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1</a:t>
            </a:r>
            <a:r>
              <a:rPr lang="en-GB">
                <a:solidFill>
                  <a:srgbClr val="FF0000"/>
                </a:solidFill>
                <a:latin typeface="+mn-lt"/>
              </a:rPr>
              <a:t> = </a:t>
            </a:r>
            <a:endParaRPr lang="en-GB" baseline="-25000">
              <a:solidFill>
                <a:srgbClr val="FF0000"/>
              </a:solidFill>
              <a:latin typeface="+mn-lt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1362823" y="2642032"/>
            <a:ext cx="2844048" cy="677689"/>
            <a:chOff x="251520" y="3212976"/>
            <a:chExt cx="3792064" cy="903585"/>
          </a:xfrm>
        </p:grpSpPr>
        <p:sp>
          <p:nvSpPr>
            <p:cNvPr id="8" name="Rectangle 7"/>
            <p:cNvSpPr/>
            <p:nvPr/>
          </p:nvSpPr>
          <p:spPr>
            <a:xfrm>
              <a:off x="251520" y="3501008"/>
              <a:ext cx="3792064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</a:rPr>
                <a:t>H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GB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 </a:t>
              </a:r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→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US" err="1">
                  <a:solidFill>
                    <a:prstClr val="black"/>
                  </a:solidFill>
                  <a:latin typeface="+mn-lt"/>
                  <a:cs typeface="Arial" charset="0"/>
                </a:rPr>
                <a:t>HBr</a:t>
              </a:r>
              <a:endParaRPr lang="en-GB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646776" y="3212976"/>
              <a:ext cx="575371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i="1" baseline="-25000">
                  <a:solidFill>
                    <a:prstClr val="black"/>
                  </a:solidFill>
                  <a:latin typeface="+mn-lt"/>
                </a:rPr>
                <a:t>3</a:t>
              </a:r>
              <a:endParaRPr lang="en-US" i="1" baseline="-25000">
                <a:solidFill>
                  <a:prstClr val="black"/>
                </a:solidFill>
                <a:latin typeface="+mn-lt"/>
              </a:endParaRPr>
            </a:p>
          </p:txBody>
        </p:sp>
      </p:grpSp>
      <p:sp>
        <p:nvSpPr>
          <p:cNvPr id="10" name="Rectangle 9"/>
          <p:cNvSpPr/>
          <p:nvPr/>
        </p:nvSpPr>
        <p:spPr>
          <a:xfrm>
            <a:off x="4680012" y="2057766"/>
            <a:ext cx="12153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solidFill>
                  <a:srgbClr val="FF0000"/>
                </a:solidFill>
                <a:latin typeface="+mn-lt"/>
              </a:rPr>
              <a:t>Rate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2</a:t>
            </a:r>
            <a:r>
              <a:rPr lang="en-GB">
                <a:solidFill>
                  <a:srgbClr val="FF0000"/>
                </a:solidFill>
                <a:latin typeface="+mn-lt"/>
              </a:rPr>
              <a:t> = </a:t>
            </a:r>
            <a:endParaRPr lang="en-GB" baseline="-25000">
              <a:solidFill>
                <a:srgbClr val="FF0000"/>
              </a:solidFill>
              <a:latin typeface="+mn-lt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1319513" y="1831079"/>
            <a:ext cx="2776722" cy="677689"/>
            <a:chOff x="251520" y="4293096"/>
            <a:chExt cx="3702296" cy="903585"/>
          </a:xfrm>
        </p:grpSpPr>
        <p:sp>
          <p:nvSpPr>
            <p:cNvPr id="11" name="Rectangle 10"/>
            <p:cNvSpPr/>
            <p:nvPr/>
          </p:nvSpPr>
          <p:spPr>
            <a:xfrm>
              <a:off x="251520" y="4581128"/>
              <a:ext cx="3702296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H</a:t>
              </a:r>
              <a:r>
                <a:rPr lang="en-GB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 </a:t>
              </a:r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→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H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US" err="1">
                  <a:solidFill>
                    <a:prstClr val="black"/>
                  </a:solidFill>
                  <a:latin typeface="+mn-lt"/>
                  <a:cs typeface="Arial" charset="0"/>
                </a:rPr>
                <a:t>HBr</a:t>
              </a:r>
              <a:endParaRPr lang="en-GB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>
              <a:off x="1604791" y="4293096"/>
              <a:ext cx="571096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i="1" baseline="-25000">
                  <a:solidFill>
                    <a:prstClr val="black"/>
                  </a:solidFill>
                  <a:latin typeface="+mn-lt"/>
                </a:rPr>
                <a:t>2</a:t>
              </a:r>
              <a:endParaRPr lang="en-US" i="1" baseline="-25000">
                <a:solidFill>
                  <a:prstClr val="black"/>
                </a:solidFill>
                <a:latin typeface="+mn-lt"/>
              </a:endParaRPr>
            </a:p>
          </p:txBody>
        </p:sp>
      </p:grpSp>
      <p:sp>
        <p:nvSpPr>
          <p:cNvPr id="13" name="Rectangle 12"/>
          <p:cNvSpPr/>
          <p:nvPr/>
        </p:nvSpPr>
        <p:spPr>
          <a:xfrm>
            <a:off x="4680013" y="2867855"/>
            <a:ext cx="12153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solidFill>
                  <a:srgbClr val="FF0000"/>
                </a:solidFill>
                <a:latin typeface="+mn-lt"/>
              </a:rPr>
              <a:t>Rate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3</a:t>
            </a:r>
            <a:r>
              <a:rPr lang="en-GB">
                <a:solidFill>
                  <a:srgbClr val="FF0000"/>
                </a:solidFill>
                <a:latin typeface="+mn-lt"/>
              </a:rPr>
              <a:t> = </a:t>
            </a:r>
            <a:endParaRPr lang="en-GB" baseline="-25000">
              <a:solidFill>
                <a:srgbClr val="FF0000"/>
              </a:solidFill>
              <a:latin typeface="+mn-lt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1362824" y="3404650"/>
            <a:ext cx="3316934" cy="677689"/>
            <a:chOff x="293097" y="5373216"/>
            <a:chExt cx="4422578" cy="903585"/>
          </a:xfrm>
        </p:grpSpPr>
        <p:sp>
          <p:nvSpPr>
            <p:cNvPr id="15" name="Rectangle 14"/>
            <p:cNvSpPr/>
            <p:nvPr/>
          </p:nvSpPr>
          <p:spPr>
            <a:xfrm>
              <a:off x="293097" y="5661248"/>
              <a:ext cx="4422578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· +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M </a:t>
              </a:r>
              <a:r>
                <a:rPr lang="en-GB">
                  <a:solidFill>
                    <a:prstClr val="black"/>
                  </a:solidFill>
                  <a:latin typeface="+mn-lt"/>
                  <a:cs typeface="Arial" charset="0"/>
                </a:rPr>
                <a:t>→ 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Br</a:t>
              </a:r>
              <a:r>
                <a:rPr lang="en-GB" baseline="-25000">
                  <a:solidFill>
                    <a:prstClr val="black"/>
                  </a:solidFill>
                  <a:latin typeface="+mn-lt"/>
                </a:rPr>
                <a:t>2</a:t>
              </a:r>
              <a:r>
                <a:rPr lang="en-GB">
                  <a:solidFill>
                    <a:prstClr val="black"/>
                  </a:solidFill>
                  <a:latin typeface="+mn-lt"/>
                </a:rPr>
                <a:t> </a:t>
              </a:r>
              <a:r>
                <a:rPr lang="en-US">
                  <a:solidFill>
                    <a:prstClr val="black"/>
                  </a:solidFill>
                  <a:latin typeface="+mn-lt"/>
                  <a:cs typeface="Arial" charset="0"/>
                </a:rPr>
                <a:t>+ M </a:t>
              </a:r>
              <a:endParaRPr lang="en-GB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2483767" y="5373216"/>
              <a:ext cx="575371" cy="6155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i="1">
                  <a:solidFill>
                    <a:prstClr val="black"/>
                  </a:solidFill>
                  <a:latin typeface="+mn-lt"/>
                </a:rPr>
                <a:t>k</a:t>
              </a:r>
              <a:r>
                <a:rPr lang="en-GB" i="1" baseline="-25000">
                  <a:solidFill>
                    <a:prstClr val="black"/>
                  </a:solidFill>
                  <a:latin typeface="+mn-lt"/>
                </a:rPr>
                <a:t>4</a:t>
              </a:r>
              <a:endParaRPr lang="en-US" i="1" baseline="-25000">
                <a:solidFill>
                  <a:prstClr val="black"/>
                </a:solidFill>
                <a:latin typeface="+mn-lt"/>
              </a:endParaRPr>
            </a:p>
          </p:txBody>
        </p:sp>
      </p:grpSp>
      <p:sp>
        <p:nvSpPr>
          <p:cNvPr id="17" name="Rectangle 16"/>
          <p:cNvSpPr/>
          <p:nvPr/>
        </p:nvSpPr>
        <p:spPr>
          <a:xfrm>
            <a:off x="4701314" y="3615624"/>
            <a:ext cx="12153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solidFill>
                  <a:srgbClr val="FF0000"/>
                </a:solidFill>
                <a:latin typeface="+mn-lt"/>
              </a:rPr>
              <a:t>Rate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4</a:t>
            </a:r>
            <a:r>
              <a:rPr lang="en-GB">
                <a:solidFill>
                  <a:srgbClr val="FF0000"/>
                </a:solidFill>
                <a:latin typeface="+mn-lt"/>
              </a:rPr>
              <a:t> = </a:t>
            </a:r>
            <a:endParaRPr lang="en-GB" baseline="-2500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08962" y="4322752"/>
            <a:ext cx="3429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>
                <a:solidFill>
                  <a:prstClr val="black"/>
                </a:solidFill>
                <a:latin typeface="+mn-lt"/>
              </a:rPr>
              <a:t>Overall rate =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74879" y="4304905"/>
            <a:ext cx="19848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solidFill>
                  <a:srgbClr val="FF0000"/>
                </a:solidFill>
                <a:latin typeface="+mn-lt"/>
              </a:rPr>
              <a:t>Rate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2</a:t>
            </a:r>
            <a:r>
              <a:rPr lang="en-GB">
                <a:solidFill>
                  <a:srgbClr val="FF0000"/>
                </a:solidFill>
                <a:latin typeface="+mn-lt"/>
              </a:rPr>
              <a:t> + Rate</a:t>
            </a:r>
            <a:r>
              <a:rPr lang="en-GB" baseline="-25000">
                <a:solidFill>
                  <a:srgbClr val="FF0000"/>
                </a:solidFill>
                <a:latin typeface="+mn-lt"/>
              </a:rPr>
              <a:t>3</a:t>
            </a:r>
            <a:r>
              <a:rPr lang="en-GB">
                <a:solidFill>
                  <a:srgbClr val="FF0000"/>
                </a:solidFill>
                <a:latin typeface="+mn-lt"/>
              </a:rPr>
              <a:t> </a:t>
            </a:r>
            <a:endParaRPr lang="en-GB" baseline="-25000">
              <a:solidFill>
                <a:srgbClr val="FF0000"/>
              </a:solidFill>
              <a:latin typeface="+mn-lt"/>
            </a:endParaRPr>
          </a:p>
        </p:txBody>
      </p:sp>
      <p:graphicFrame>
        <p:nvGraphicFramePr>
          <p:cNvPr id="2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7691405"/>
              </p:ext>
            </p:extLst>
          </p:nvPr>
        </p:nvGraphicFramePr>
        <p:xfrm>
          <a:off x="3982643" y="4941095"/>
          <a:ext cx="3554015" cy="470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26920" imgH="228600" progId="Equation.3">
                  <p:embed/>
                </p:oleObj>
              </mc:Choice>
              <mc:Fallback>
                <p:oleObj name="Equation" r:id="rId2" imgW="1726920" imgH="228600" progId="Equation.3">
                  <p:embed/>
                  <p:pic>
                    <p:nvPicPr>
                      <p:cNvPr id="2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2643" y="4941095"/>
                        <a:ext cx="3554015" cy="4702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043913"/>
              </p:ext>
            </p:extLst>
          </p:nvPr>
        </p:nvGraphicFramePr>
        <p:xfrm>
          <a:off x="3375645" y="4170782"/>
          <a:ext cx="1178561" cy="716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47640" imgH="393480" progId="Equation.3">
                  <p:embed/>
                </p:oleObj>
              </mc:Choice>
              <mc:Fallback>
                <p:oleObj name="Equation" r:id="rId4" imgW="647640" imgH="393480" progId="Equation.3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5645" y="4170782"/>
                        <a:ext cx="1178561" cy="7163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Content Placeholder 2"/>
          <p:cNvSpPr>
            <a:spLocks noGrp="1"/>
          </p:cNvSpPr>
          <p:nvPr>
            <p:ph idx="1"/>
          </p:nvPr>
        </p:nvSpPr>
        <p:spPr>
          <a:xfrm>
            <a:off x="6084168" y="5373216"/>
            <a:ext cx="1735950" cy="507504"/>
          </a:xfrm>
        </p:spPr>
        <p:txBody>
          <a:bodyPr/>
          <a:lstStyle/>
          <a:p>
            <a:pPr marL="0" indent="0">
              <a:buNone/>
            </a:pPr>
            <a:r>
              <a:rPr lang="en-GB"/>
              <a:t>Equation 1</a:t>
            </a:r>
          </a:p>
        </p:txBody>
      </p:sp>
    </p:spTree>
    <p:extLst>
      <p:ext uri="{BB962C8B-B14F-4D97-AF65-F5344CB8AC3E}">
        <p14:creationId xmlns:p14="http://schemas.microsoft.com/office/powerpoint/2010/main" val="5305483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1485900" y="1063229"/>
            <a:ext cx="4876800" cy="400050"/>
          </a:xfrm>
        </p:spPr>
        <p:txBody>
          <a:bodyPr>
            <a:normAutofit fontScale="90000"/>
          </a:bodyPr>
          <a:lstStyle/>
          <a:p>
            <a:pPr algn="l"/>
            <a:r>
              <a:rPr lang="en-GB" sz="2400">
                <a:latin typeface="+mn-lt"/>
              </a:rPr>
              <a:t>Steady state of H</a:t>
            </a:r>
            <a:r>
              <a:rPr lang="en-US" sz="2400">
                <a:latin typeface="+mn-lt"/>
                <a:cs typeface="Arial" charset="0"/>
              </a:rPr>
              <a:t>·</a:t>
            </a:r>
          </a:p>
        </p:txBody>
      </p:sp>
      <p:graphicFrame>
        <p:nvGraphicFramePr>
          <p:cNvPr id="71685" name="Object 5"/>
          <p:cNvGraphicFramePr>
            <a:graphicFrameLocks noGrp="1" noChangeAspect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345301137"/>
              </p:ext>
            </p:extLst>
          </p:nvPr>
        </p:nvGraphicFramePr>
        <p:xfrm>
          <a:off x="6005514" y="2438337"/>
          <a:ext cx="1516856" cy="4691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36560" imgH="228600" progId="Equation.3">
                  <p:embed/>
                </p:oleObj>
              </mc:Choice>
              <mc:Fallback>
                <p:oleObj name="Equation" r:id="rId3" imgW="736560" imgH="228600" progId="Equation.3">
                  <p:embed/>
                  <p:pic>
                    <p:nvPicPr>
                      <p:cNvPr id="716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5514" y="2438337"/>
                        <a:ext cx="1516856" cy="4691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6036913"/>
              </p:ext>
            </p:extLst>
          </p:nvPr>
        </p:nvGraphicFramePr>
        <p:xfrm>
          <a:off x="5868145" y="1743013"/>
          <a:ext cx="1541859" cy="4369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61760" imgH="215640" progId="Equation.3">
                  <p:embed/>
                </p:oleObj>
              </mc:Choice>
              <mc:Fallback>
                <p:oleObj name="Equation" r:id="rId5" imgW="761760" imgH="215640" progId="Equation.3">
                  <p:embed/>
                  <p:pic>
                    <p:nvPicPr>
                      <p:cNvPr id="716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5" y="1743013"/>
                        <a:ext cx="1541859" cy="4369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7" name="Text Box 7"/>
          <p:cNvSpPr txBox="1">
            <a:spLocks noChangeArrowheads="1"/>
          </p:cNvSpPr>
          <p:nvPr/>
        </p:nvSpPr>
        <p:spPr bwMode="auto">
          <a:xfrm>
            <a:off x="1302544" y="1764506"/>
            <a:ext cx="4782078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100">
                <a:solidFill>
                  <a:prstClr val="black"/>
                </a:solidFill>
                <a:latin typeface="+mn-lt"/>
              </a:rPr>
              <a:t>Producing H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· 	Step (2) 	Rate</a:t>
            </a:r>
            <a:r>
              <a:rPr lang="en-GB" sz="2100" baseline="-25000">
                <a:solidFill>
                  <a:prstClr val="black"/>
                </a:solidFill>
                <a:latin typeface="+mn-lt"/>
                <a:cs typeface="Arial" charset="0"/>
              </a:rPr>
              <a:t>2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 = </a:t>
            </a:r>
          </a:p>
        </p:txBody>
      </p:sp>
      <p:sp>
        <p:nvSpPr>
          <p:cNvPr id="71688" name="Text Box 8"/>
          <p:cNvSpPr txBox="1">
            <a:spLocks noChangeArrowheads="1"/>
          </p:cNvSpPr>
          <p:nvPr/>
        </p:nvSpPr>
        <p:spPr bwMode="auto">
          <a:xfrm>
            <a:off x="1302544" y="2426494"/>
            <a:ext cx="482055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100">
                <a:solidFill>
                  <a:prstClr val="black"/>
                </a:solidFill>
                <a:latin typeface="+mn-lt"/>
              </a:rPr>
              <a:t>Removing H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· 	Step (3) 	Rate</a:t>
            </a:r>
            <a:r>
              <a:rPr lang="en-GB" sz="2100" baseline="-25000">
                <a:solidFill>
                  <a:prstClr val="black"/>
                </a:solidFill>
                <a:latin typeface="+mn-lt"/>
                <a:cs typeface="Arial" charset="0"/>
              </a:rPr>
              <a:t> 3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 = </a:t>
            </a:r>
          </a:p>
        </p:txBody>
      </p:sp>
      <p:sp>
        <p:nvSpPr>
          <p:cNvPr id="71689" name="Text Box 9"/>
          <p:cNvSpPr txBox="1">
            <a:spLocks noChangeArrowheads="1"/>
          </p:cNvSpPr>
          <p:nvPr/>
        </p:nvSpPr>
        <p:spPr bwMode="auto">
          <a:xfrm>
            <a:off x="7359954" y="4091808"/>
            <a:ext cx="55175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100">
                <a:solidFill>
                  <a:prstClr val="black"/>
                </a:solidFill>
                <a:latin typeface="+mn-lt"/>
                <a:sym typeface="Mathematica1" pitchFamily="2" charset="2"/>
              </a:rPr>
              <a:t>≈ 0</a:t>
            </a:r>
          </a:p>
        </p:txBody>
      </p:sp>
      <p:sp>
        <p:nvSpPr>
          <p:cNvPr id="71690" name="Text Box 10"/>
          <p:cNvSpPr txBox="1">
            <a:spLocks noChangeArrowheads="1"/>
          </p:cNvSpPr>
          <p:nvPr/>
        </p:nvSpPr>
        <p:spPr bwMode="auto">
          <a:xfrm>
            <a:off x="1143001" y="3211116"/>
            <a:ext cx="1775222" cy="106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100">
                <a:solidFill>
                  <a:prstClr val="black"/>
                </a:solidFill>
                <a:latin typeface="+mn-lt"/>
                <a:sym typeface="Mathematica1" pitchFamily="2" charset="2"/>
              </a:rPr>
              <a:t>Overall rate of change of H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  <a:sym typeface="Mathematica1" pitchFamily="2" charset="2"/>
              </a:rPr>
              <a:t>·</a:t>
            </a:r>
          </a:p>
        </p:txBody>
      </p:sp>
      <p:sp>
        <p:nvSpPr>
          <p:cNvPr id="71691" name="Text Box 11"/>
          <p:cNvSpPr txBox="1">
            <a:spLocks noChangeArrowheads="1"/>
          </p:cNvSpPr>
          <p:nvPr/>
        </p:nvSpPr>
        <p:spPr bwMode="auto">
          <a:xfrm>
            <a:off x="1143001" y="4088606"/>
            <a:ext cx="177522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100">
                <a:solidFill>
                  <a:prstClr val="black"/>
                </a:solidFill>
                <a:latin typeface="+mn-lt"/>
                <a:sym typeface="Mathematica1" pitchFamily="2" charset="2"/>
              </a:rPr>
              <a:t>Steady-state:</a:t>
            </a:r>
            <a:endParaRPr lang="en-US" sz="2100">
              <a:solidFill>
                <a:prstClr val="black"/>
              </a:solidFill>
              <a:latin typeface="+mn-lt"/>
              <a:cs typeface="Arial" charset="0"/>
              <a:sym typeface="Mathematica1" pitchFamily="2" charset="2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702457" y="4708422"/>
            <a:ext cx="3300413" cy="469106"/>
            <a:chOff x="2082800" y="4970463"/>
            <a:chExt cx="4400550" cy="625475"/>
          </a:xfrm>
        </p:grpSpPr>
        <p:graphicFrame>
          <p:nvGraphicFramePr>
            <p:cNvPr id="71692" name="Object 12"/>
            <p:cNvGraphicFramePr>
              <a:graphicFrameLocks noChangeAspect="1"/>
            </p:cNvGraphicFramePr>
            <p:nvPr/>
          </p:nvGraphicFramePr>
          <p:xfrm>
            <a:off x="4460875" y="4970463"/>
            <a:ext cx="2022475" cy="6254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736560" imgH="228600" progId="Equation.3">
                    <p:embed/>
                  </p:oleObj>
                </mc:Choice>
                <mc:Fallback>
                  <p:oleObj name="Equation" r:id="rId7" imgW="736560" imgH="228600" progId="Equation.3">
                    <p:embed/>
                    <p:pic>
                      <p:nvPicPr>
                        <p:cNvPr id="7169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0875" y="4970463"/>
                          <a:ext cx="2022475" cy="6254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693" name="Object 13"/>
            <p:cNvGraphicFramePr>
              <a:graphicFrameLocks noChangeAspect="1"/>
            </p:cNvGraphicFramePr>
            <p:nvPr/>
          </p:nvGraphicFramePr>
          <p:xfrm>
            <a:off x="2082800" y="4991100"/>
            <a:ext cx="2365375" cy="582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876240" imgH="215640" progId="Equation.3">
                    <p:embed/>
                  </p:oleObj>
                </mc:Choice>
                <mc:Fallback>
                  <p:oleObj name="Equation" r:id="rId9" imgW="876240" imgH="215640" progId="Equation.3">
                    <p:embed/>
                    <p:pic>
                      <p:nvPicPr>
                        <p:cNvPr id="71693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2800" y="4991100"/>
                          <a:ext cx="2365375" cy="582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169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1830511"/>
              </p:ext>
            </p:extLst>
          </p:nvPr>
        </p:nvGraphicFramePr>
        <p:xfrm>
          <a:off x="4250270" y="5359693"/>
          <a:ext cx="1483519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99920" imgH="431640" progId="Equation.3">
                  <p:embed/>
                </p:oleObj>
              </mc:Choice>
              <mc:Fallback>
                <p:oleObj name="Equation" r:id="rId11" imgW="799920" imgH="431640" progId="Equation.3">
                  <p:embed/>
                  <p:pic>
                    <p:nvPicPr>
                      <p:cNvPr id="7169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0270" y="5359693"/>
                        <a:ext cx="1483519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95" name="Text Box 15"/>
          <p:cNvSpPr txBox="1">
            <a:spLocks noChangeArrowheads="1"/>
          </p:cNvSpPr>
          <p:nvPr/>
        </p:nvSpPr>
        <p:spPr bwMode="auto">
          <a:xfrm>
            <a:off x="6494332" y="5428060"/>
            <a:ext cx="141737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100">
                <a:solidFill>
                  <a:prstClr val="black"/>
                </a:solidFill>
                <a:latin typeface="+mn-lt"/>
              </a:rPr>
              <a:t>Equation 2</a:t>
            </a:r>
            <a:endParaRPr lang="en-US" sz="2100">
              <a:solidFill>
                <a:prstClr val="black"/>
              </a:solidFill>
              <a:latin typeface="+mn-lt"/>
            </a:endParaRPr>
          </a:p>
        </p:txBody>
      </p:sp>
      <p:graphicFrame>
        <p:nvGraphicFramePr>
          <p:cNvPr id="532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4479515"/>
              </p:ext>
            </p:extLst>
          </p:nvPr>
        </p:nvGraphicFramePr>
        <p:xfrm>
          <a:off x="4024051" y="4141685"/>
          <a:ext cx="3178969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714320" imgH="228600" progId="Equation.3">
                  <p:embed/>
                </p:oleObj>
              </mc:Choice>
              <mc:Fallback>
                <p:oleObj name="Equation" r:id="rId13" imgW="1714320" imgH="228600" progId="Equation.3">
                  <p:embed/>
                  <p:pic>
                    <p:nvPicPr>
                      <p:cNvPr id="5325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4051" y="4141685"/>
                        <a:ext cx="3178969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175861"/>
              </p:ext>
            </p:extLst>
          </p:nvPr>
        </p:nvGraphicFramePr>
        <p:xfrm>
          <a:off x="3125382" y="3375423"/>
          <a:ext cx="989409" cy="7298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33160" imgH="393480" progId="Equation.3">
                  <p:embed/>
                </p:oleObj>
              </mc:Choice>
              <mc:Fallback>
                <p:oleObj name="Equation" r:id="rId15" imgW="533160" imgH="393480" progId="Equation.3">
                  <p:embed/>
                  <p:pic>
                    <p:nvPicPr>
                      <p:cNvPr id="5325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5382" y="3375423"/>
                        <a:ext cx="989409" cy="7298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8"/>
          <p:cNvSpPr/>
          <p:nvPr/>
        </p:nvSpPr>
        <p:spPr>
          <a:xfrm>
            <a:off x="4089795" y="3482580"/>
            <a:ext cx="210666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700">
                <a:solidFill>
                  <a:srgbClr val="FF0000"/>
                </a:solidFill>
                <a:latin typeface="+mn-lt"/>
                <a:cs typeface="Arial" charset="0"/>
              </a:rPr>
              <a:t>Rate</a:t>
            </a:r>
            <a:r>
              <a:rPr lang="en-GB" sz="2700" baseline="-25000">
                <a:solidFill>
                  <a:srgbClr val="FF0000"/>
                </a:solidFill>
                <a:latin typeface="+mn-lt"/>
                <a:cs typeface="Arial" charset="0"/>
              </a:rPr>
              <a:t>2</a:t>
            </a:r>
            <a:r>
              <a:rPr lang="en-GB" sz="2700">
                <a:solidFill>
                  <a:srgbClr val="FF0000"/>
                </a:solidFill>
                <a:latin typeface="+mn-lt"/>
                <a:cs typeface="Arial" charset="0"/>
              </a:rPr>
              <a:t> - Rate</a:t>
            </a:r>
            <a:r>
              <a:rPr lang="en-GB" sz="2700" baseline="-25000">
                <a:solidFill>
                  <a:srgbClr val="FF0000"/>
                </a:solidFill>
                <a:latin typeface="+mn-lt"/>
                <a:cs typeface="Arial" charset="0"/>
              </a:rPr>
              <a:t>3</a:t>
            </a:r>
            <a:r>
              <a:rPr lang="en-GB" sz="2700">
                <a:solidFill>
                  <a:srgbClr val="FF0000"/>
                </a:solidFill>
                <a:latin typeface="+mn-lt"/>
                <a:cs typeface="Arial" charset="0"/>
              </a:rPr>
              <a:t> </a:t>
            </a:r>
            <a:endParaRPr lang="en-US" sz="2700">
              <a:solidFill>
                <a:srgbClr val="FF0000"/>
              </a:solidFill>
              <a:latin typeface="+mn-lt"/>
            </a:endParaRPr>
          </a:p>
        </p:txBody>
      </p:sp>
      <p:graphicFrame>
        <p:nvGraphicFramePr>
          <p:cNvPr id="5325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8281638"/>
              </p:ext>
            </p:extLst>
          </p:nvPr>
        </p:nvGraphicFramePr>
        <p:xfrm>
          <a:off x="2586951" y="5481151"/>
          <a:ext cx="1013222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45760" imgH="228600" progId="Equation.3">
                  <p:embed/>
                </p:oleObj>
              </mc:Choice>
              <mc:Fallback>
                <p:oleObj name="Equation" r:id="rId17" imgW="545760" imgH="228600" progId="Equation.3">
                  <p:embed/>
                  <p:pic>
                    <p:nvPicPr>
                      <p:cNvPr id="5325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951" y="5481151"/>
                        <a:ext cx="1013222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6462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1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9" grpId="0"/>
      <p:bldP spid="71691" grpId="0"/>
      <p:bldP spid="71695" grpId="0"/>
      <p:bldP spid="1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 dirty="0">
                <a:latin typeface="+mn-lt"/>
              </a:rPr>
              <a:t>Substitute into one part of the rate equation</a:t>
            </a:r>
            <a:endParaRPr lang="en-US" sz="3000" dirty="0">
              <a:latin typeface="+mn-lt"/>
            </a:endParaRPr>
          </a:p>
        </p:txBody>
      </p:sp>
      <p:graphicFrame>
        <p:nvGraphicFramePr>
          <p:cNvPr id="72707" name="Object 3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31443105"/>
              </p:ext>
            </p:extLst>
          </p:nvPr>
        </p:nvGraphicFramePr>
        <p:xfrm>
          <a:off x="5651709" y="2284815"/>
          <a:ext cx="200025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33440" imgH="431640" progId="Equation.3">
                  <p:embed/>
                </p:oleObj>
              </mc:Choice>
              <mc:Fallback>
                <p:oleObj name="Equation" r:id="rId3" imgW="1333440" imgH="431640" progId="Equation.3">
                  <p:embed/>
                  <p:pic>
                    <p:nvPicPr>
                      <p:cNvPr id="727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709" y="2284815"/>
                        <a:ext cx="200025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8" name="Text Box 4"/>
          <p:cNvSpPr txBox="1">
            <a:spLocks noChangeArrowheads="1"/>
          </p:cNvSpPr>
          <p:nvPr/>
        </p:nvSpPr>
        <p:spPr bwMode="auto">
          <a:xfrm>
            <a:off x="1312070" y="2351486"/>
            <a:ext cx="43043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solidFill>
                  <a:prstClr val="black"/>
                </a:solidFill>
                <a:latin typeface="+mn-lt"/>
              </a:rPr>
              <a:t>Substitute [H</a:t>
            </a:r>
            <a:r>
              <a:rPr lang="en-US">
                <a:solidFill>
                  <a:prstClr val="black"/>
                </a:solidFill>
                <a:latin typeface="+mn-lt"/>
                <a:cs typeface="Arial" charset="0"/>
              </a:rPr>
              <a:t>·] from equation 2</a:t>
            </a:r>
          </a:p>
        </p:txBody>
      </p:sp>
      <p:sp>
        <p:nvSpPr>
          <p:cNvPr id="72709" name="Text Box 5"/>
          <p:cNvSpPr txBox="1">
            <a:spLocks noChangeArrowheads="1"/>
          </p:cNvSpPr>
          <p:nvPr/>
        </p:nvSpPr>
        <p:spPr bwMode="auto">
          <a:xfrm>
            <a:off x="1312070" y="3323036"/>
            <a:ext cx="21977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solidFill>
                  <a:prstClr val="black"/>
                </a:solidFill>
                <a:latin typeface="+mn-lt"/>
              </a:rPr>
              <a:t>into equation 1</a:t>
            </a:r>
            <a:endParaRPr lang="en-US">
              <a:solidFill>
                <a:prstClr val="black"/>
              </a:solidFill>
              <a:latin typeface="+mn-lt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3626895" y="3163141"/>
            <a:ext cx="4648200" cy="738188"/>
            <a:chOff x="672" y="2506"/>
            <a:chExt cx="3904" cy="620"/>
          </a:xfrm>
        </p:grpSpPr>
        <p:graphicFrame>
          <p:nvGraphicFramePr>
            <p:cNvPr id="72711" name="Object 7"/>
            <p:cNvGraphicFramePr>
              <a:graphicFrameLocks noChangeAspect="1"/>
            </p:cNvGraphicFramePr>
            <p:nvPr/>
          </p:nvGraphicFramePr>
          <p:xfrm>
            <a:off x="1458" y="2552"/>
            <a:ext cx="3118" cy="5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2234880" imgH="393480" progId="Equation.3">
                    <p:embed/>
                  </p:oleObj>
                </mc:Choice>
                <mc:Fallback>
                  <p:oleObj name="Equation" r:id="rId5" imgW="2234880" imgH="393480" progId="Equation.3">
                    <p:embed/>
                    <p:pic>
                      <p:nvPicPr>
                        <p:cNvPr id="72711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8" y="2552"/>
                          <a:ext cx="3118" cy="54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712" name="Text Box 8"/>
            <p:cNvSpPr txBox="1">
              <a:spLocks noChangeArrowheads="1"/>
            </p:cNvSpPr>
            <p:nvPr/>
          </p:nvSpPr>
          <p:spPr bwMode="auto">
            <a:xfrm>
              <a:off x="672" y="2506"/>
              <a:ext cx="1123" cy="6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GB" sz="2100">
                  <a:solidFill>
                    <a:prstClr val="black"/>
                  </a:solidFill>
                  <a:latin typeface="+mn-lt"/>
                </a:rPr>
                <a:t>Overall rate = </a:t>
              </a:r>
              <a:endParaRPr lang="en-US" sz="2100">
                <a:solidFill>
                  <a:prstClr val="black"/>
                </a:solidFill>
                <a:latin typeface="+mn-lt"/>
              </a:endParaRPr>
            </a:p>
          </p:txBody>
        </p:sp>
      </p:grpSp>
      <p:graphicFrame>
        <p:nvGraphicFramePr>
          <p:cNvPr id="72713" name="Object 9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682955258"/>
              </p:ext>
            </p:extLst>
          </p:nvPr>
        </p:nvGraphicFramePr>
        <p:xfrm>
          <a:off x="3095626" y="4104086"/>
          <a:ext cx="4562475" cy="7179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43200" imgH="431640" progId="Equation.3">
                  <p:embed/>
                </p:oleObj>
              </mc:Choice>
              <mc:Fallback>
                <p:oleObj name="Equation" r:id="rId7" imgW="2743200" imgH="431640" progId="Equation.3">
                  <p:embed/>
                  <p:pic>
                    <p:nvPicPr>
                      <p:cNvPr id="7271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6" y="4104086"/>
                        <a:ext cx="4562475" cy="7179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4" name="Text Box 10"/>
          <p:cNvSpPr txBox="1">
            <a:spLocks noChangeArrowheads="1"/>
          </p:cNvSpPr>
          <p:nvPr/>
        </p:nvSpPr>
        <p:spPr bwMode="auto">
          <a:xfrm>
            <a:off x="1175402" y="4230291"/>
            <a:ext cx="180209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100">
                <a:solidFill>
                  <a:prstClr val="black"/>
                </a:solidFill>
                <a:latin typeface="+mn-lt"/>
              </a:rPr>
              <a:t>Overall rate = </a:t>
            </a:r>
            <a:endParaRPr lang="en-US" sz="2100">
              <a:solidFill>
                <a:prstClr val="black"/>
              </a:solidFill>
              <a:latin typeface="+mn-lt"/>
            </a:endParaRPr>
          </a:p>
        </p:txBody>
      </p:sp>
      <p:graphicFrame>
        <p:nvGraphicFramePr>
          <p:cNvPr id="72715" name="Object 11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16679270"/>
              </p:ext>
            </p:extLst>
          </p:nvPr>
        </p:nvGraphicFramePr>
        <p:xfrm>
          <a:off x="3982641" y="4955382"/>
          <a:ext cx="3009900" cy="3655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77680" imgH="215640" progId="Equation.3">
                  <p:embed/>
                </p:oleObj>
              </mc:Choice>
              <mc:Fallback>
                <p:oleObj name="Equation" r:id="rId9" imgW="1777680" imgH="215640" progId="Equation.3">
                  <p:embed/>
                  <p:pic>
                    <p:nvPicPr>
                      <p:cNvPr id="7271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2641" y="4955382"/>
                        <a:ext cx="3009900" cy="3655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6" name="Text Box 12"/>
          <p:cNvSpPr txBox="1">
            <a:spLocks noChangeArrowheads="1"/>
          </p:cNvSpPr>
          <p:nvPr/>
        </p:nvSpPr>
        <p:spPr bwMode="auto">
          <a:xfrm>
            <a:off x="2076450" y="5201841"/>
            <a:ext cx="223138" cy="30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1350">
                <a:solidFill>
                  <a:prstClr val="black"/>
                </a:solidFill>
                <a:latin typeface="+mn-lt"/>
              </a:rPr>
              <a:t> </a:t>
            </a:r>
            <a:endParaRPr lang="en-US" sz="1350">
              <a:solidFill>
                <a:prstClr val="black"/>
              </a:solidFill>
              <a:latin typeface="+mn-lt"/>
            </a:endParaRPr>
          </a:p>
        </p:txBody>
      </p:sp>
      <p:graphicFrame>
        <p:nvGraphicFramePr>
          <p:cNvPr id="7271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4799456"/>
              </p:ext>
            </p:extLst>
          </p:nvPr>
        </p:nvGraphicFramePr>
        <p:xfrm>
          <a:off x="3993357" y="5429250"/>
          <a:ext cx="1874044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65160" imgH="215640" progId="Equation.3">
                  <p:embed/>
                </p:oleObj>
              </mc:Choice>
              <mc:Fallback>
                <p:oleObj name="Equation" r:id="rId11" imgW="965160" imgH="215640" progId="Equation.3">
                  <p:embed/>
                  <p:pic>
                    <p:nvPicPr>
                      <p:cNvPr id="7271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3357" y="5429250"/>
                        <a:ext cx="1874044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8" name="Text Box 14"/>
          <p:cNvSpPr txBox="1">
            <a:spLocks noChangeArrowheads="1"/>
          </p:cNvSpPr>
          <p:nvPr/>
        </p:nvSpPr>
        <p:spPr bwMode="auto">
          <a:xfrm>
            <a:off x="6717377" y="5608335"/>
            <a:ext cx="141737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100">
                <a:solidFill>
                  <a:prstClr val="black"/>
                </a:solidFill>
                <a:latin typeface="+mn-lt"/>
              </a:rPr>
              <a:t>Equation 3</a:t>
            </a:r>
            <a:endParaRPr lang="en-US" sz="2100">
              <a:solidFill>
                <a:prstClr val="black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90999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857250"/>
            <a:ext cx="6172200" cy="857250"/>
          </a:xfrm>
        </p:spPr>
        <p:txBody>
          <a:bodyPr/>
          <a:lstStyle/>
          <a:p>
            <a:pPr algn="l"/>
            <a:r>
              <a:rPr lang="en-GB" sz="2400">
                <a:latin typeface="+mn-lt"/>
              </a:rPr>
              <a:t>Consider steady-state of Br</a:t>
            </a:r>
            <a:r>
              <a:rPr lang="en-US" sz="2400">
                <a:latin typeface="+mn-lt"/>
                <a:cs typeface="Arial" charset="0"/>
              </a:rPr>
              <a:t>· with all steps:</a:t>
            </a:r>
          </a:p>
        </p:txBody>
      </p:sp>
      <p:sp>
        <p:nvSpPr>
          <p:cNvPr id="74757" name="Text Box 5"/>
          <p:cNvSpPr txBox="1">
            <a:spLocks noChangeArrowheads="1"/>
          </p:cNvSpPr>
          <p:nvPr/>
        </p:nvSpPr>
        <p:spPr bwMode="auto">
          <a:xfrm>
            <a:off x="3013863" y="5072104"/>
            <a:ext cx="2430474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700">
                <a:solidFill>
                  <a:prstClr val="black"/>
                </a:solidFill>
                <a:latin typeface="+mn-lt"/>
              </a:rPr>
              <a:t>Producing Br</a:t>
            </a:r>
            <a:r>
              <a:rPr lang="en-US" sz="2700">
                <a:solidFill>
                  <a:prstClr val="black"/>
                </a:solidFill>
                <a:latin typeface="+mn-lt"/>
                <a:cs typeface="Arial" charset="0"/>
              </a:rPr>
              <a:t>·? </a:t>
            </a:r>
          </a:p>
          <a:p>
            <a:r>
              <a:rPr lang="en-GB" sz="2700">
                <a:solidFill>
                  <a:prstClr val="black"/>
                </a:solidFill>
                <a:latin typeface="+mn-lt"/>
              </a:rPr>
              <a:t>Removing Br</a:t>
            </a:r>
            <a:r>
              <a:rPr lang="en-US" sz="2700">
                <a:solidFill>
                  <a:prstClr val="black"/>
                </a:solidFill>
                <a:latin typeface="+mn-lt"/>
                <a:cs typeface="Arial" charset="0"/>
              </a:rPr>
              <a:t>·?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2636785" y="2399786"/>
            <a:ext cx="3590925" cy="1866901"/>
            <a:chOff x="136" y="1388"/>
            <a:chExt cx="3016" cy="1568"/>
          </a:xfrm>
        </p:grpSpPr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136" y="1388"/>
              <a:ext cx="2024" cy="473"/>
              <a:chOff x="136" y="964"/>
              <a:chExt cx="2024" cy="473"/>
            </a:xfrm>
          </p:grpSpPr>
          <p:sp>
            <p:nvSpPr>
              <p:cNvPr id="74761" name="Text Box 9"/>
              <p:cNvSpPr txBox="1">
                <a:spLocks noChangeArrowheads="1"/>
              </p:cNvSpPr>
              <p:nvPr/>
            </p:nvSpPr>
            <p:spPr bwMode="auto">
              <a:xfrm>
                <a:off x="868" y="964"/>
                <a:ext cx="271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1350" i="1">
                    <a:solidFill>
                      <a:prstClr val="black"/>
                    </a:solidFill>
                    <a:latin typeface="+mn-lt"/>
                  </a:rPr>
                  <a:t>k</a:t>
                </a:r>
                <a:r>
                  <a:rPr lang="en-GB" sz="1350" i="1" baseline="-25000">
                    <a:solidFill>
                      <a:prstClr val="black"/>
                    </a:solidFill>
                    <a:latin typeface="+mn-lt"/>
                  </a:rPr>
                  <a:t>1</a:t>
                </a:r>
                <a:endParaRPr lang="en-US" sz="1350" i="1" baseline="-25000">
                  <a:solidFill>
                    <a:prstClr val="black"/>
                  </a:solidFill>
                  <a:latin typeface="+mn-lt"/>
                </a:endParaRPr>
              </a:p>
            </p:txBody>
          </p:sp>
          <p:sp>
            <p:nvSpPr>
              <p:cNvPr id="74762" name="Rectangle 10"/>
              <p:cNvSpPr>
                <a:spLocks noChangeArrowheads="1"/>
              </p:cNvSpPr>
              <p:nvPr/>
            </p:nvSpPr>
            <p:spPr bwMode="auto">
              <a:xfrm>
                <a:off x="136" y="1088"/>
                <a:ext cx="2024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2100">
                    <a:solidFill>
                      <a:prstClr val="black"/>
                    </a:solidFill>
                    <a:latin typeface="+mn-lt"/>
                  </a:rPr>
                  <a:t>Br</a:t>
                </a:r>
                <a:r>
                  <a:rPr lang="en-GB" sz="2100" baseline="-25000">
                    <a:solidFill>
                      <a:prstClr val="black"/>
                    </a:solidFill>
                    <a:latin typeface="+mn-lt"/>
                  </a:rPr>
                  <a:t>2</a:t>
                </a:r>
                <a:r>
                  <a:rPr lang="en-GB" sz="2100">
                    <a:solidFill>
                      <a:prstClr val="black"/>
                    </a:solidFill>
                    <a:latin typeface="+mn-lt"/>
                  </a:rPr>
                  <a:t> + M </a:t>
                </a:r>
                <a:r>
                  <a:rPr lang="en-GB" sz="2100">
                    <a:solidFill>
                      <a:prstClr val="black"/>
                    </a:solidFill>
                    <a:latin typeface="+mn-lt"/>
                    <a:cs typeface="Arial" charset="0"/>
                  </a:rPr>
                  <a:t>→ </a:t>
                </a:r>
                <a:r>
                  <a:rPr lang="en-GB" sz="2100">
                    <a:solidFill>
                      <a:prstClr val="black"/>
                    </a:solidFill>
                    <a:latin typeface="+mn-lt"/>
                  </a:rPr>
                  <a:t>2Br</a:t>
                </a:r>
                <a:r>
                  <a:rPr lang="en-US" sz="2100">
                    <a:solidFill>
                      <a:prstClr val="black"/>
                    </a:solidFill>
                    <a:latin typeface="+mn-lt"/>
                    <a:cs typeface="Arial" charset="0"/>
                  </a:rPr>
                  <a:t>· + M</a:t>
                </a:r>
              </a:p>
            </p:txBody>
          </p:sp>
        </p:grpSp>
        <p:grpSp>
          <p:nvGrpSpPr>
            <p:cNvPr id="4" name="Group 11"/>
            <p:cNvGrpSpPr>
              <a:grpSpLocks/>
            </p:cNvGrpSpPr>
            <p:nvPr/>
          </p:nvGrpSpPr>
          <p:grpSpPr bwMode="auto">
            <a:xfrm>
              <a:off x="136" y="2121"/>
              <a:ext cx="2110" cy="473"/>
              <a:chOff x="136" y="2098"/>
              <a:chExt cx="2110" cy="473"/>
            </a:xfrm>
          </p:grpSpPr>
          <p:sp>
            <p:nvSpPr>
              <p:cNvPr id="74764" name="Text Box 12"/>
              <p:cNvSpPr txBox="1">
                <a:spLocks noChangeArrowheads="1"/>
              </p:cNvSpPr>
              <p:nvPr/>
            </p:nvSpPr>
            <p:spPr bwMode="auto">
              <a:xfrm>
                <a:off x="897" y="2098"/>
                <a:ext cx="271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1350" i="1">
                    <a:solidFill>
                      <a:prstClr val="black"/>
                    </a:solidFill>
                    <a:latin typeface="+mn-lt"/>
                  </a:rPr>
                  <a:t>k</a:t>
                </a:r>
                <a:r>
                  <a:rPr lang="en-GB" sz="1350" i="1" baseline="-25000">
                    <a:solidFill>
                      <a:prstClr val="black"/>
                    </a:solidFill>
                    <a:latin typeface="+mn-lt"/>
                  </a:rPr>
                  <a:t>3</a:t>
                </a:r>
                <a:endParaRPr lang="en-US" sz="1350" i="1" baseline="-25000">
                  <a:solidFill>
                    <a:prstClr val="black"/>
                  </a:solidFill>
                  <a:latin typeface="+mn-lt"/>
                </a:endParaRPr>
              </a:p>
            </p:txBody>
          </p:sp>
          <p:sp>
            <p:nvSpPr>
              <p:cNvPr id="74765" name="Rectangle 13"/>
              <p:cNvSpPr>
                <a:spLocks noChangeArrowheads="1"/>
              </p:cNvSpPr>
              <p:nvPr/>
            </p:nvSpPr>
            <p:spPr bwMode="auto">
              <a:xfrm>
                <a:off x="136" y="2222"/>
                <a:ext cx="2110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2100">
                    <a:solidFill>
                      <a:prstClr val="black"/>
                    </a:solidFill>
                    <a:latin typeface="+mn-lt"/>
                  </a:rPr>
                  <a:t>H</a:t>
                </a:r>
                <a:r>
                  <a:rPr lang="en-US" sz="2100">
                    <a:solidFill>
                      <a:prstClr val="black"/>
                    </a:solidFill>
                    <a:latin typeface="+mn-lt"/>
                    <a:cs typeface="Arial" charset="0"/>
                  </a:rPr>
                  <a:t>· + </a:t>
                </a:r>
                <a:r>
                  <a:rPr lang="en-GB" sz="2100">
                    <a:solidFill>
                      <a:prstClr val="black"/>
                    </a:solidFill>
                    <a:latin typeface="+mn-lt"/>
                  </a:rPr>
                  <a:t>Br</a:t>
                </a:r>
                <a:r>
                  <a:rPr lang="en-GB" sz="2100" baseline="-25000">
                    <a:solidFill>
                      <a:prstClr val="black"/>
                    </a:solidFill>
                    <a:latin typeface="+mn-lt"/>
                  </a:rPr>
                  <a:t>2</a:t>
                </a:r>
                <a:r>
                  <a:rPr lang="en-GB" sz="2100">
                    <a:solidFill>
                      <a:prstClr val="black"/>
                    </a:solidFill>
                    <a:latin typeface="+mn-lt"/>
                  </a:rPr>
                  <a:t> </a:t>
                </a:r>
                <a:r>
                  <a:rPr lang="en-GB" sz="2100">
                    <a:solidFill>
                      <a:prstClr val="black"/>
                    </a:solidFill>
                    <a:latin typeface="+mn-lt"/>
                    <a:cs typeface="Arial" charset="0"/>
                  </a:rPr>
                  <a:t>→ </a:t>
                </a:r>
                <a:r>
                  <a:rPr lang="en-GB" sz="2100">
                    <a:solidFill>
                      <a:prstClr val="black"/>
                    </a:solidFill>
                    <a:latin typeface="+mn-lt"/>
                  </a:rPr>
                  <a:t>Br</a:t>
                </a:r>
                <a:r>
                  <a:rPr lang="en-US" sz="2100">
                    <a:solidFill>
                      <a:prstClr val="black"/>
                    </a:solidFill>
                    <a:latin typeface="+mn-lt"/>
                    <a:cs typeface="Arial" charset="0"/>
                  </a:rPr>
                  <a:t>· + HBr</a:t>
                </a:r>
              </a:p>
            </p:txBody>
          </p:sp>
        </p:grpSp>
        <p:grpSp>
          <p:nvGrpSpPr>
            <p:cNvPr id="5" name="Group 14"/>
            <p:cNvGrpSpPr>
              <a:grpSpLocks/>
            </p:cNvGrpSpPr>
            <p:nvPr/>
          </p:nvGrpSpPr>
          <p:grpSpPr bwMode="auto">
            <a:xfrm>
              <a:off x="136" y="2491"/>
              <a:ext cx="2412" cy="465"/>
              <a:chOff x="136" y="2731"/>
              <a:chExt cx="2412" cy="465"/>
            </a:xfrm>
          </p:grpSpPr>
          <p:sp>
            <p:nvSpPr>
              <p:cNvPr id="74767" name="Text Box 15"/>
              <p:cNvSpPr txBox="1">
                <a:spLocks noChangeArrowheads="1"/>
              </p:cNvSpPr>
              <p:nvPr/>
            </p:nvSpPr>
            <p:spPr bwMode="auto">
              <a:xfrm>
                <a:off x="1263" y="2731"/>
                <a:ext cx="271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1350" i="1">
                    <a:solidFill>
                      <a:prstClr val="black"/>
                    </a:solidFill>
                    <a:latin typeface="+mn-lt"/>
                  </a:rPr>
                  <a:t>k</a:t>
                </a:r>
                <a:r>
                  <a:rPr lang="en-GB" sz="1350" i="1" baseline="-25000">
                    <a:solidFill>
                      <a:prstClr val="black"/>
                    </a:solidFill>
                    <a:latin typeface="+mn-lt"/>
                  </a:rPr>
                  <a:t>4</a:t>
                </a:r>
                <a:endParaRPr lang="en-US" sz="1350" i="1" baseline="-25000">
                  <a:solidFill>
                    <a:prstClr val="black"/>
                  </a:solidFill>
                  <a:latin typeface="+mn-lt"/>
                </a:endParaRPr>
              </a:p>
            </p:txBody>
          </p:sp>
          <p:sp>
            <p:nvSpPr>
              <p:cNvPr id="74768" name="Rectangle 16"/>
              <p:cNvSpPr>
                <a:spLocks noChangeArrowheads="1"/>
              </p:cNvSpPr>
              <p:nvPr/>
            </p:nvSpPr>
            <p:spPr bwMode="auto">
              <a:xfrm>
                <a:off x="136" y="2847"/>
                <a:ext cx="2412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2100">
                    <a:solidFill>
                      <a:prstClr val="black"/>
                    </a:solidFill>
                    <a:latin typeface="+mn-lt"/>
                  </a:rPr>
                  <a:t>Br</a:t>
                </a:r>
                <a:r>
                  <a:rPr lang="en-US" sz="2100">
                    <a:solidFill>
                      <a:prstClr val="black"/>
                    </a:solidFill>
                    <a:latin typeface="+mn-lt"/>
                    <a:cs typeface="Arial" charset="0"/>
                  </a:rPr>
                  <a:t>· + </a:t>
                </a:r>
                <a:r>
                  <a:rPr lang="en-GB" sz="2100">
                    <a:solidFill>
                      <a:prstClr val="black"/>
                    </a:solidFill>
                    <a:latin typeface="+mn-lt"/>
                  </a:rPr>
                  <a:t>Br</a:t>
                </a:r>
                <a:r>
                  <a:rPr lang="en-US" sz="2100">
                    <a:solidFill>
                      <a:prstClr val="black"/>
                    </a:solidFill>
                    <a:latin typeface="+mn-lt"/>
                    <a:cs typeface="Arial" charset="0"/>
                  </a:rPr>
                  <a:t>· + </a:t>
                </a:r>
                <a:r>
                  <a:rPr lang="en-GB" sz="2100">
                    <a:solidFill>
                      <a:prstClr val="black"/>
                    </a:solidFill>
                    <a:latin typeface="+mn-lt"/>
                  </a:rPr>
                  <a:t>M </a:t>
                </a:r>
                <a:r>
                  <a:rPr lang="en-GB" sz="2100">
                    <a:solidFill>
                      <a:prstClr val="black"/>
                    </a:solidFill>
                    <a:latin typeface="+mn-lt"/>
                    <a:cs typeface="Arial" charset="0"/>
                  </a:rPr>
                  <a:t>→ </a:t>
                </a:r>
                <a:r>
                  <a:rPr lang="en-GB" sz="2100">
                    <a:solidFill>
                      <a:prstClr val="black"/>
                    </a:solidFill>
                    <a:latin typeface="+mn-lt"/>
                  </a:rPr>
                  <a:t>Br</a:t>
                </a:r>
                <a:r>
                  <a:rPr lang="en-GB" sz="2100" baseline="-25000">
                    <a:solidFill>
                      <a:prstClr val="black"/>
                    </a:solidFill>
                    <a:latin typeface="+mn-lt"/>
                  </a:rPr>
                  <a:t>2</a:t>
                </a:r>
                <a:r>
                  <a:rPr lang="en-GB" sz="2100">
                    <a:solidFill>
                      <a:prstClr val="black"/>
                    </a:solidFill>
                    <a:latin typeface="+mn-lt"/>
                  </a:rPr>
                  <a:t> </a:t>
                </a:r>
                <a:r>
                  <a:rPr lang="en-US" sz="2100">
                    <a:solidFill>
                      <a:prstClr val="black"/>
                    </a:solidFill>
                    <a:latin typeface="+mn-lt"/>
                    <a:cs typeface="Arial" charset="0"/>
                  </a:rPr>
                  <a:t>+ M</a:t>
                </a:r>
              </a:p>
            </p:txBody>
          </p:sp>
        </p:grpSp>
        <p:sp>
          <p:nvSpPr>
            <p:cNvPr id="74769" name="Rectangle 17"/>
            <p:cNvSpPr>
              <a:spLocks noChangeArrowheads="1"/>
            </p:cNvSpPr>
            <p:nvPr/>
          </p:nvSpPr>
          <p:spPr bwMode="auto">
            <a:xfrm>
              <a:off x="2690" y="1512"/>
              <a:ext cx="454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(1)</a:t>
              </a:r>
            </a:p>
          </p:txBody>
        </p:sp>
        <p:grpSp>
          <p:nvGrpSpPr>
            <p:cNvPr id="6" name="Group 18"/>
            <p:cNvGrpSpPr>
              <a:grpSpLocks/>
            </p:cNvGrpSpPr>
            <p:nvPr/>
          </p:nvGrpSpPr>
          <p:grpSpPr bwMode="auto">
            <a:xfrm>
              <a:off x="136" y="1757"/>
              <a:ext cx="2482" cy="468"/>
              <a:chOff x="136" y="1668"/>
              <a:chExt cx="2482" cy="468"/>
            </a:xfrm>
          </p:grpSpPr>
          <p:sp>
            <p:nvSpPr>
              <p:cNvPr id="74771" name="Text Box 19"/>
              <p:cNvSpPr txBox="1">
                <a:spLocks noChangeArrowheads="1"/>
              </p:cNvSpPr>
              <p:nvPr/>
            </p:nvSpPr>
            <p:spPr bwMode="auto">
              <a:xfrm>
                <a:off x="890" y="1668"/>
                <a:ext cx="271" cy="25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1350" i="1">
                    <a:solidFill>
                      <a:prstClr val="black"/>
                    </a:solidFill>
                    <a:latin typeface="+mn-lt"/>
                  </a:rPr>
                  <a:t>k</a:t>
                </a:r>
                <a:r>
                  <a:rPr lang="en-GB" sz="1350" i="1" baseline="-25000">
                    <a:solidFill>
                      <a:prstClr val="black"/>
                    </a:solidFill>
                    <a:latin typeface="+mn-lt"/>
                  </a:rPr>
                  <a:t>2</a:t>
                </a:r>
                <a:endParaRPr lang="en-US" sz="1350" i="1" baseline="-25000">
                  <a:solidFill>
                    <a:prstClr val="black"/>
                  </a:solidFill>
                  <a:latin typeface="+mn-lt"/>
                </a:endParaRPr>
              </a:p>
            </p:txBody>
          </p:sp>
          <p:sp>
            <p:nvSpPr>
              <p:cNvPr id="74772" name="Rectangle 20"/>
              <p:cNvSpPr>
                <a:spLocks noChangeArrowheads="1"/>
              </p:cNvSpPr>
              <p:nvPr/>
            </p:nvSpPr>
            <p:spPr bwMode="auto">
              <a:xfrm>
                <a:off x="136" y="1787"/>
                <a:ext cx="2482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GB" sz="2100">
                    <a:solidFill>
                      <a:prstClr val="black"/>
                    </a:solidFill>
                    <a:latin typeface="+mn-lt"/>
                  </a:rPr>
                  <a:t>Br</a:t>
                </a:r>
                <a:r>
                  <a:rPr lang="en-US" sz="2100">
                    <a:solidFill>
                      <a:prstClr val="black"/>
                    </a:solidFill>
                    <a:latin typeface="+mn-lt"/>
                    <a:cs typeface="Arial" charset="0"/>
                  </a:rPr>
                  <a:t>· + </a:t>
                </a:r>
                <a:r>
                  <a:rPr lang="en-GB" sz="2100">
                    <a:solidFill>
                      <a:prstClr val="black"/>
                    </a:solidFill>
                    <a:latin typeface="+mn-lt"/>
                  </a:rPr>
                  <a:t>H</a:t>
                </a:r>
                <a:r>
                  <a:rPr lang="en-GB" sz="2100" baseline="-25000">
                    <a:solidFill>
                      <a:prstClr val="black"/>
                    </a:solidFill>
                    <a:latin typeface="+mn-lt"/>
                  </a:rPr>
                  <a:t>2</a:t>
                </a:r>
                <a:r>
                  <a:rPr lang="en-GB" sz="2100">
                    <a:solidFill>
                      <a:prstClr val="black"/>
                    </a:solidFill>
                    <a:latin typeface="+mn-lt"/>
                  </a:rPr>
                  <a:t> </a:t>
                </a:r>
                <a:r>
                  <a:rPr lang="en-GB" sz="2100">
                    <a:solidFill>
                      <a:prstClr val="black"/>
                    </a:solidFill>
                    <a:latin typeface="+mn-lt"/>
                    <a:cs typeface="Arial" charset="0"/>
                  </a:rPr>
                  <a:t>→ </a:t>
                </a:r>
                <a:r>
                  <a:rPr lang="en-GB" sz="2100">
                    <a:solidFill>
                      <a:prstClr val="black"/>
                    </a:solidFill>
                    <a:latin typeface="+mn-lt"/>
                  </a:rPr>
                  <a:t>H</a:t>
                </a:r>
                <a:r>
                  <a:rPr lang="en-US" sz="2100">
                    <a:solidFill>
                      <a:prstClr val="black"/>
                    </a:solidFill>
                    <a:latin typeface="+mn-lt"/>
                    <a:cs typeface="Arial" charset="0"/>
                  </a:rPr>
                  <a:t>· + HBr	</a:t>
                </a:r>
              </a:p>
            </p:txBody>
          </p:sp>
        </p:grpSp>
        <p:sp>
          <p:nvSpPr>
            <p:cNvPr id="74773" name="Rectangle 21"/>
            <p:cNvSpPr>
              <a:spLocks noChangeArrowheads="1"/>
            </p:cNvSpPr>
            <p:nvPr/>
          </p:nvSpPr>
          <p:spPr bwMode="auto">
            <a:xfrm>
              <a:off x="2698" y="1876"/>
              <a:ext cx="454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(2)</a:t>
              </a:r>
            </a:p>
          </p:txBody>
        </p:sp>
        <p:sp>
          <p:nvSpPr>
            <p:cNvPr id="74774" name="Rectangle 22"/>
            <p:cNvSpPr>
              <a:spLocks noChangeArrowheads="1"/>
            </p:cNvSpPr>
            <p:nvPr/>
          </p:nvSpPr>
          <p:spPr bwMode="auto">
            <a:xfrm>
              <a:off x="2698" y="2245"/>
              <a:ext cx="454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(3)</a:t>
              </a:r>
            </a:p>
          </p:txBody>
        </p:sp>
        <p:sp>
          <p:nvSpPr>
            <p:cNvPr id="74775" name="Rectangle 23"/>
            <p:cNvSpPr>
              <a:spLocks noChangeArrowheads="1"/>
            </p:cNvSpPr>
            <p:nvPr/>
          </p:nvSpPr>
          <p:spPr bwMode="auto">
            <a:xfrm>
              <a:off x="2690" y="2607"/>
              <a:ext cx="454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100">
                  <a:solidFill>
                    <a:prstClr val="black"/>
                  </a:solidFill>
                  <a:latin typeface="+mn-lt"/>
                  <a:cs typeface="Arial" charset="0"/>
                </a:rPr>
                <a:t>(4)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01628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778" name="Object 2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39993037"/>
              </p:ext>
            </p:extLst>
          </p:nvPr>
        </p:nvGraphicFramePr>
        <p:xfrm>
          <a:off x="2185989" y="4251723"/>
          <a:ext cx="3793331" cy="646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311200" imgH="393480" progId="Equation.3">
                  <p:embed/>
                </p:oleObj>
              </mc:Choice>
              <mc:Fallback>
                <p:oleObj name="Equation" r:id="rId3" imgW="2311200" imgH="393480" progId="Equation.3">
                  <p:embed/>
                  <p:pic>
                    <p:nvPicPr>
                      <p:cNvPr id="7577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989" y="4251723"/>
                        <a:ext cx="3793331" cy="6465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0" name="Text Box 4"/>
          <p:cNvSpPr txBox="1">
            <a:spLocks noChangeArrowheads="1"/>
          </p:cNvSpPr>
          <p:nvPr/>
        </p:nvSpPr>
        <p:spPr bwMode="auto">
          <a:xfrm>
            <a:off x="1276350" y="998731"/>
            <a:ext cx="210751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+mn-lt"/>
                <a:sym typeface="Mathematica1" pitchFamily="2" charset="2"/>
              </a:rPr>
              <a:t>Overall rate of change of Br</a:t>
            </a:r>
            <a:r>
              <a:rPr lang="en-US">
                <a:solidFill>
                  <a:prstClr val="black"/>
                </a:solidFill>
                <a:latin typeface="+mn-lt"/>
                <a:cs typeface="Arial" charset="0"/>
                <a:sym typeface="Mathematica1" pitchFamily="2" charset="2"/>
              </a:rPr>
              <a:t>·</a:t>
            </a:r>
          </a:p>
        </p:txBody>
      </p:sp>
      <p:sp>
        <p:nvSpPr>
          <p:cNvPr id="75785" name="Text Box 9"/>
          <p:cNvSpPr txBox="1">
            <a:spLocks noChangeArrowheads="1"/>
          </p:cNvSpPr>
          <p:nvPr/>
        </p:nvSpPr>
        <p:spPr bwMode="auto">
          <a:xfrm>
            <a:off x="1160089" y="2726922"/>
            <a:ext cx="7176708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100">
                <a:solidFill>
                  <a:prstClr val="black"/>
                </a:solidFill>
                <a:latin typeface="+mn-lt"/>
              </a:rPr>
              <a:t>But we already know that Rate</a:t>
            </a:r>
            <a:r>
              <a:rPr lang="en-GB" sz="2100" baseline="-25000">
                <a:solidFill>
                  <a:prstClr val="black"/>
                </a:solidFill>
                <a:latin typeface="+mn-lt"/>
              </a:rPr>
              <a:t>3</a:t>
            </a:r>
            <a:r>
              <a:rPr lang="en-GB" sz="2100">
                <a:solidFill>
                  <a:prstClr val="black"/>
                </a:solidFill>
                <a:latin typeface="+mn-lt"/>
              </a:rPr>
              <a:t>-Rate</a:t>
            </a:r>
            <a:r>
              <a:rPr lang="en-GB" sz="2100" baseline="-25000">
                <a:solidFill>
                  <a:prstClr val="black"/>
                </a:solidFill>
                <a:latin typeface="+mn-lt"/>
              </a:rPr>
              <a:t>2</a:t>
            </a:r>
            <a:r>
              <a:rPr lang="en-GB" sz="2100">
                <a:solidFill>
                  <a:prstClr val="black"/>
                </a:solidFill>
                <a:latin typeface="+mn-lt"/>
              </a:rPr>
              <a:t> = 0 (steady-state of H</a:t>
            </a:r>
            <a:r>
              <a:rPr lang="en-US" sz="2100">
                <a:solidFill>
                  <a:prstClr val="black"/>
                </a:solidFill>
                <a:latin typeface="+mn-lt"/>
                <a:cs typeface="Arial" charset="0"/>
              </a:rPr>
              <a:t>·)</a:t>
            </a:r>
          </a:p>
        </p:txBody>
      </p:sp>
      <p:sp>
        <p:nvSpPr>
          <p:cNvPr id="75786" name="Text Box 10"/>
          <p:cNvSpPr txBox="1">
            <a:spLocks noChangeArrowheads="1"/>
          </p:cNvSpPr>
          <p:nvPr/>
        </p:nvSpPr>
        <p:spPr bwMode="auto">
          <a:xfrm>
            <a:off x="6303169" y="4419600"/>
            <a:ext cx="1814664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100">
                <a:solidFill>
                  <a:prstClr val="black"/>
                </a:solidFill>
                <a:latin typeface="+mn-lt"/>
                <a:sym typeface="Mathematica1" pitchFamily="2" charset="2"/>
              </a:rPr>
              <a:t>≈ </a:t>
            </a:r>
            <a:r>
              <a:rPr lang="en-GB" sz="2100">
                <a:solidFill>
                  <a:prstClr val="black"/>
                </a:solidFill>
                <a:latin typeface="+mn-lt"/>
                <a:sym typeface="Mathematica1" pitchFamily="2" charset="2"/>
              </a:rPr>
              <a:t>0</a:t>
            </a:r>
          </a:p>
          <a:p>
            <a:r>
              <a:rPr lang="en-GB" sz="2100">
                <a:solidFill>
                  <a:prstClr val="black"/>
                </a:solidFill>
                <a:latin typeface="+mn-lt"/>
                <a:sym typeface="Mathematica1" pitchFamily="2" charset="2"/>
              </a:rPr>
              <a:t>(Steady State)</a:t>
            </a:r>
            <a:endParaRPr lang="en-GB" sz="2100">
              <a:solidFill>
                <a:prstClr val="black"/>
              </a:solidFill>
              <a:latin typeface="+mn-lt"/>
              <a:cs typeface="Arial" charset="0"/>
              <a:sym typeface="Mathematica1" pitchFamily="2" charset="2"/>
            </a:endParaRPr>
          </a:p>
        </p:txBody>
      </p:sp>
      <p:graphicFrame>
        <p:nvGraphicFramePr>
          <p:cNvPr id="75787" name="Object 11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98740365"/>
              </p:ext>
            </p:extLst>
          </p:nvPr>
        </p:nvGraphicFramePr>
        <p:xfrm>
          <a:off x="1928814" y="5344716"/>
          <a:ext cx="3476625" cy="472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66600" imgH="253800" progId="Equation.3">
                  <p:embed/>
                </p:oleObj>
              </mc:Choice>
              <mc:Fallback>
                <p:oleObj name="Equation" r:id="rId5" imgW="1866600" imgH="253800" progId="Equation.3">
                  <p:embed/>
                  <p:pic>
                    <p:nvPicPr>
                      <p:cNvPr id="7578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8814" y="5344716"/>
                        <a:ext cx="3476625" cy="4726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34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3583118"/>
              </p:ext>
            </p:extLst>
          </p:nvPr>
        </p:nvGraphicFramePr>
        <p:xfrm>
          <a:off x="2411762" y="1875236"/>
          <a:ext cx="98226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71320" imgH="393480" progId="Equation.3">
                  <p:embed/>
                </p:oleObj>
              </mc:Choice>
              <mc:Fallback>
                <p:oleObj name="Equation" r:id="rId7" imgW="571320" imgH="393480" progId="Equation.3">
                  <p:embed/>
                  <p:pic>
                    <p:nvPicPr>
                      <p:cNvPr id="573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2" y="1875236"/>
                        <a:ext cx="982265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3383869" y="1970839"/>
            <a:ext cx="4759636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700">
                <a:solidFill>
                  <a:srgbClr val="FF0000"/>
                </a:solidFill>
                <a:latin typeface="+mn-lt"/>
                <a:cs typeface="Arial" charset="0"/>
              </a:rPr>
              <a:t>2Rate</a:t>
            </a:r>
            <a:r>
              <a:rPr lang="en-GB" sz="2700" baseline="-25000">
                <a:solidFill>
                  <a:srgbClr val="FF0000"/>
                </a:solidFill>
                <a:latin typeface="+mn-lt"/>
                <a:cs typeface="Arial" charset="0"/>
              </a:rPr>
              <a:t>1</a:t>
            </a:r>
            <a:r>
              <a:rPr lang="en-GB" sz="2700">
                <a:solidFill>
                  <a:srgbClr val="FF0000"/>
                </a:solidFill>
                <a:latin typeface="+mn-lt"/>
                <a:cs typeface="Arial" charset="0"/>
              </a:rPr>
              <a:t> + Rate</a:t>
            </a:r>
            <a:r>
              <a:rPr lang="en-GB" sz="2700" baseline="-25000">
                <a:solidFill>
                  <a:srgbClr val="FF0000"/>
                </a:solidFill>
                <a:latin typeface="+mn-lt"/>
                <a:cs typeface="Arial" charset="0"/>
              </a:rPr>
              <a:t>3</a:t>
            </a:r>
            <a:r>
              <a:rPr lang="en-GB" sz="2700">
                <a:solidFill>
                  <a:srgbClr val="FF0000"/>
                </a:solidFill>
                <a:latin typeface="+mn-lt"/>
                <a:cs typeface="Arial" charset="0"/>
              </a:rPr>
              <a:t> – Rate</a:t>
            </a:r>
            <a:r>
              <a:rPr lang="en-GB" sz="2700" baseline="-25000">
                <a:solidFill>
                  <a:srgbClr val="FF0000"/>
                </a:solidFill>
                <a:latin typeface="+mn-lt"/>
                <a:cs typeface="Arial" charset="0"/>
              </a:rPr>
              <a:t>2</a:t>
            </a:r>
            <a:r>
              <a:rPr lang="en-GB" sz="2700">
                <a:solidFill>
                  <a:srgbClr val="FF0000"/>
                </a:solidFill>
                <a:latin typeface="+mn-lt"/>
                <a:cs typeface="Arial" charset="0"/>
              </a:rPr>
              <a:t> – 2Rate</a:t>
            </a:r>
            <a:r>
              <a:rPr lang="en-GB" sz="2700" baseline="-25000">
                <a:solidFill>
                  <a:srgbClr val="FF0000"/>
                </a:solidFill>
                <a:latin typeface="+mn-lt"/>
                <a:cs typeface="Arial" charset="0"/>
              </a:rPr>
              <a:t>4</a:t>
            </a:r>
            <a:endParaRPr lang="en-US" sz="2700">
              <a:solidFill>
                <a:srgbClr val="FF0000"/>
              </a:solidFill>
              <a:latin typeface="+mn-lt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097090"/>
              </p:ext>
            </p:extLst>
          </p:nvPr>
        </p:nvGraphicFramePr>
        <p:xfrm>
          <a:off x="2560439" y="3266983"/>
          <a:ext cx="982266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71320" imgH="393480" progId="Equation.3">
                  <p:embed/>
                </p:oleObj>
              </mc:Choice>
              <mc:Fallback>
                <p:oleObj name="Equation" r:id="rId7" imgW="571320" imgH="39348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0439" y="3266983"/>
                        <a:ext cx="982266" cy="676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2048726" y="3374994"/>
            <a:ext cx="532518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100">
                <a:solidFill>
                  <a:prstClr val="black"/>
                </a:solidFill>
                <a:latin typeface="+mn-lt"/>
              </a:rPr>
              <a:t>So </a:t>
            </a:r>
            <a:endParaRPr lang="en-US" sz="2100">
              <a:solidFill>
                <a:prstClr val="black"/>
              </a:solidFill>
              <a:latin typeface="+mn-lt"/>
              <a:cs typeface="Arial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545886" y="3374996"/>
            <a:ext cx="2483372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700">
                <a:solidFill>
                  <a:srgbClr val="FF0000"/>
                </a:solidFill>
                <a:latin typeface="+mn-lt"/>
                <a:cs typeface="Arial" charset="0"/>
              </a:rPr>
              <a:t>2Rate</a:t>
            </a:r>
            <a:r>
              <a:rPr lang="en-GB" sz="2700" baseline="-25000">
                <a:solidFill>
                  <a:srgbClr val="FF0000"/>
                </a:solidFill>
                <a:latin typeface="+mn-lt"/>
                <a:cs typeface="Arial" charset="0"/>
              </a:rPr>
              <a:t>1</a:t>
            </a:r>
            <a:r>
              <a:rPr lang="en-GB" sz="2700">
                <a:solidFill>
                  <a:srgbClr val="FF0000"/>
                </a:solidFill>
                <a:latin typeface="+mn-lt"/>
                <a:cs typeface="Arial" charset="0"/>
              </a:rPr>
              <a:t> – 2Rate</a:t>
            </a:r>
            <a:r>
              <a:rPr lang="en-GB" sz="2700" baseline="-25000">
                <a:solidFill>
                  <a:srgbClr val="FF0000"/>
                </a:solidFill>
                <a:latin typeface="+mn-lt"/>
                <a:cs typeface="Arial" charset="0"/>
              </a:rPr>
              <a:t>4</a:t>
            </a:r>
            <a:endParaRPr lang="en-US" sz="270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183929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5" grpId="0"/>
      <p:bldP spid="75786" grpId="0"/>
      <p:bldP spid="10" grpId="0"/>
      <p:bldP spid="12" grpId="0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+mn-lt"/>
              </a:rPr>
              <a:t>Solve to find [Br</a:t>
            </a:r>
            <a:r>
              <a:rPr lang="en-US">
                <a:latin typeface="+mn-lt"/>
                <a:cs typeface="Arial" charset="0"/>
              </a:rPr>
              <a:t>·]</a:t>
            </a:r>
            <a:r>
              <a:rPr lang="en-US" baseline="-25000">
                <a:latin typeface="+mn-lt"/>
                <a:cs typeface="Arial" charset="0"/>
              </a:rPr>
              <a:t>SS</a:t>
            </a:r>
          </a:p>
        </p:txBody>
      </p:sp>
      <p:graphicFrame>
        <p:nvGraphicFramePr>
          <p:cNvPr id="76803" name="Object 3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223426702"/>
              </p:ext>
            </p:extLst>
          </p:nvPr>
        </p:nvGraphicFramePr>
        <p:xfrm>
          <a:off x="1709682" y="1970839"/>
          <a:ext cx="4517176" cy="614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66600" imgH="253800" progId="Equation.3">
                  <p:embed/>
                </p:oleObj>
              </mc:Choice>
              <mc:Fallback>
                <p:oleObj name="Equation" r:id="rId3" imgW="1866600" imgH="253800" progId="Equation.3">
                  <p:embed/>
                  <p:pic>
                    <p:nvPicPr>
                      <p:cNvPr id="7680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9682" y="1970839"/>
                        <a:ext cx="4517176" cy="6146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04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2513164579"/>
              </p:ext>
            </p:extLst>
          </p:nvPr>
        </p:nvGraphicFramePr>
        <p:xfrm>
          <a:off x="1741970" y="2946794"/>
          <a:ext cx="2656183" cy="8062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22360" imgH="431640" progId="Equation.3">
                  <p:embed/>
                </p:oleObj>
              </mc:Choice>
              <mc:Fallback>
                <p:oleObj name="Equation" r:id="rId5" imgW="1422360" imgH="431640" progId="Equation.3">
                  <p:embed/>
                  <p:pic>
                    <p:nvPicPr>
                      <p:cNvPr id="7680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970" y="2946794"/>
                        <a:ext cx="2656183" cy="8062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2" name="Text Box 12"/>
          <p:cNvSpPr txBox="1">
            <a:spLocks noChangeArrowheads="1"/>
          </p:cNvSpPr>
          <p:nvPr/>
        </p:nvSpPr>
        <p:spPr bwMode="auto">
          <a:xfrm>
            <a:off x="6350794" y="4294585"/>
            <a:ext cx="141737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100">
                <a:solidFill>
                  <a:prstClr val="black"/>
                </a:solidFill>
                <a:latin typeface="+mn-lt"/>
              </a:rPr>
              <a:t>Equation 4</a:t>
            </a:r>
            <a:endParaRPr lang="en-US" sz="2100">
              <a:solidFill>
                <a:prstClr val="black"/>
              </a:solidFill>
              <a:latin typeface="+mn-lt"/>
            </a:endParaRPr>
          </a:p>
        </p:txBody>
      </p:sp>
      <p:sp>
        <p:nvSpPr>
          <p:cNvPr id="76813" name="Text Box 13"/>
          <p:cNvSpPr txBox="1">
            <a:spLocks noChangeArrowheads="1"/>
          </p:cNvSpPr>
          <p:nvPr/>
        </p:nvSpPr>
        <p:spPr bwMode="auto">
          <a:xfrm>
            <a:off x="1692544" y="5610134"/>
            <a:ext cx="71686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>
                <a:solidFill>
                  <a:prstClr val="black"/>
                </a:solidFill>
                <a:latin typeface="+mn-lt"/>
              </a:rPr>
              <a:t>Substituting back into Equation 3 (for Overall Rate</a:t>
            </a:r>
            <a:r>
              <a:rPr lang="en-US">
                <a:solidFill>
                  <a:prstClr val="black"/>
                </a:solidFill>
                <a:latin typeface="+mn-lt"/>
                <a:cs typeface="Arial" charset="0"/>
              </a:rPr>
              <a:t>)… </a:t>
            </a:r>
          </a:p>
        </p:txBody>
      </p:sp>
      <p:graphicFrame>
        <p:nvGraphicFramePr>
          <p:cNvPr id="5837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900808"/>
              </p:ext>
            </p:extLst>
          </p:nvPr>
        </p:nvGraphicFramePr>
        <p:xfrm>
          <a:off x="1732341" y="3750472"/>
          <a:ext cx="2699147" cy="1064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20480" imgH="520560" progId="Equation.3">
                  <p:embed/>
                </p:oleObj>
              </mc:Choice>
              <mc:Fallback>
                <p:oleObj name="Equation" r:id="rId7" imgW="1320480" imgH="520560" progId="Equation.3">
                  <p:embed/>
                  <p:pic>
                    <p:nvPicPr>
                      <p:cNvPr id="583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2341" y="3750472"/>
                        <a:ext cx="2699147" cy="10644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0012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12" grpId="0"/>
      <p:bldP spid="768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826" name="Object 2"/>
          <p:cNvGraphicFramePr>
            <a:graphicFrameLocks noGrp="1" noChangeAspect="1"/>
          </p:cNvGraphicFramePr>
          <p:nvPr>
            <p:ph/>
          </p:nvPr>
        </p:nvGraphicFramePr>
        <p:xfrm>
          <a:off x="4409983" y="2545089"/>
          <a:ext cx="2663429" cy="650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12800" imgH="393480" progId="Equation.3">
                  <p:embed/>
                </p:oleObj>
              </mc:Choice>
              <mc:Fallback>
                <p:oleObj name="Equation" r:id="rId3" imgW="1612800" imgH="393480" progId="Equation.3">
                  <p:embed/>
                  <p:pic>
                    <p:nvPicPr>
                      <p:cNvPr id="778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9983" y="2545089"/>
                        <a:ext cx="2663429" cy="6500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41" name="Text Box 17"/>
          <p:cNvSpPr txBox="1">
            <a:spLocks noChangeArrowheads="1"/>
          </p:cNvSpPr>
          <p:nvPr/>
        </p:nvSpPr>
        <p:spPr bwMode="auto">
          <a:xfrm>
            <a:off x="1785918" y="4607727"/>
            <a:ext cx="4849084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100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(Overall) rate = 2</a:t>
            </a:r>
            <a:r>
              <a:rPr lang="en-GB" sz="2100" i="1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k</a:t>
            </a:r>
            <a:r>
              <a:rPr lang="en-GB" sz="2100" i="1" baseline="-25000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2</a:t>
            </a:r>
            <a:r>
              <a:rPr lang="en-GB" sz="2100" i="1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(k</a:t>
            </a:r>
            <a:r>
              <a:rPr lang="en-GB" sz="2100" i="1" baseline="-25000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1</a:t>
            </a:r>
            <a:r>
              <a:rPr lang="en-GB" sz="2100" i="1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/k</a:t>
            </a:r>
            <a:r>
              <a:rPr lang="en-GB" sz="2100" i="1" baseline="-25000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4</a:t>
            </a:r>
            <a:r>
              <a:rPr lang="en-GB" sz="2100" i="1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)</a:t>
            </a:r>
            <a:r>
              <a:rPr lang="en-GB" sz="2100" i="1" baseline="30000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1/2</a:t>
            </a:r>
            <a:r>
              <a:rPr lang="en-GB" sz="2100" i="1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[H</a:t>
            </a:r>
            <a:r>
              <a:rPr lang="en-GB" sz="2100" i="1" baseline="-25000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2</a:t>
            </a:r>
            <a:r>
              <a:rPr lang="en-GB" sz="2100" i="1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] [Br</a:t>
            </a:r>
            <a:r>
              <a:rPr lang="en-GB" sz="2100" i="1" baseline="-25000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2</a:t>
            </a:r>
            <a:r>
              <a:rPr lang="en-GB" sz="2100" i="1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]</a:t>
            </a:r>
            <a:r>
              <a:rPr lang="en-GB" sz="2100" i="1" baseline="30000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1/2</a:t>
            </a:r>
            <a:r>
              <a:rPr lang="en-GB" sz="2100">
                <a:solidFill>
                  <a:prstClr val="black"/>
                </a:solidFill>
                <a:latin typeface="+mn-lt"/>
                <a:cs typeface="Times New Roman" panose="02020603050405020304" pitchFamily="18" charset="0"/>
              </a:rPr>
              <a:t>  </a:t>
            </a:r>
          </a:p>
          <a:p>
            <a:r>
              <a:rPr lang="en-GB" sz="2100">
                <a:solidFill>
                  <a:prstClr val="black"/>
                </a:solidFill>
                <a:latin typeface="+mn-lt"/>
              </a:rPr>
              <a:t>This is first-order in H</a:t>
            </a:r>
            <a:r>
              <a:rPr lang="en-GB" sz="2100" baseline="-25000">
                <a:solidFill>
                  <a:prstClr val="black"/>
                </a:solidFill>
                <a:latin typeface="+mn-lt"/>
              </a:rPr>
              <a:t>2</a:t>
            </a:r>
            <a:r>
              <a:rPr lang="en-GB" sz="2100">
                <a:solidFill>
                  <a:prstClr val="black"/>
                </a:solidFill>
                <a:latin typeface="+mn-lt"/>
              </a:rPr>
              <a:t>, “half-order” in Br</a:t>
            </a:r>
            <a:r>
              <a:rPr lang="en-GB" sz="2100" baseline="-25000">
                <a:solidFill>
                  <a:prstClr val="black"/>
                </a:solidFill>
                <a:latin typeface="+mn-lt"/>
              </a:rPr>
              <a:t>2</a:t>
            </a:r>
          </a:p>
        </p:txBody>
      </p:sp>
      <p:sp>
        <p:nvSpPr>
          <p:cNvPr id="77842" name="Text Box 18"/>
          <p:cNvSpPr txBox="1">
            <a:spLocks noChangeArrowheads="1"/>
          </p:cNvSpPr>
          <p:nvPr/>
        </p:nvSpPr>
        <p:spPr bwMode="auto">
          <a:xfrm>
            <a:off x="1111675" y="5705255"/>
            <a:ext cx="6596615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GB" sz="2100">
                <a:solidFill>
                  <a:prstClr val="black"/>
                </a:solidFill>
                <a:latin typeface="+mn-lt"/>
              </a:rPr>
              <a:t>Rate laws with “half-powers” are a common feature of chain reactions.</a:t>
            </a:r>
            <a:endParaRPr lang="en-GB" sz="2100" baseline="-25000">
              <a:solidFill>
                <a:prstClr val="black"/>
              </a:solidFill>
              <a:latin typeface="+mn-lt"/>
            </a:endParaRPr>
          </a:p>
        </p:txBody>
      </p:sp>
      <p:graphicFrame>
        <p:nvGraphicFramePr>
          <p:cNvPr id="59397" name="Object 5"/>
          <p:cNvGraphicFramePr>
            <a:graphicFrameLocks noChangeAspect="1"/>
          </p:cNvGraphicFramePr>
          <p:nvPr/>
        </p:nvGraphicFramePr>
        <p:xfrm>
          <a:off x="3653899" y="1214755"/>
          <a:ext cx="2699147" cy="1064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20480" imgH="520560" progId="Equation.3">
                  <p:embed/>
                </p:oleObj>
              </mc:Choice>
              <mc:Fallback>
                <p:oleObj name="Equation" r:id="rId5" imgW="1320480" imgH="520560" progId="Equation.3">
                  <p:embed/>
                  <p:pic>
                    <p:nvPicPr>
                      <p:cNvPr id="593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3899" y="1214755"/>
                        <a:ext cx="2699147" cy="10644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398" name="Object 6"/>
          <p:cNvGraphicFramePr>
            <a:graphicFrameLocks noChangeAspect="1"/>
          </p:cNvGraphicFramePr>
          <p:nvPr/>
        </p:nvGraphicFramePr>
        <p:xfrm>
          <a:off x="2107390" y="3465562"/>
          <a:ext cx="2402679" cy="920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58640" imgH="520560" progId="Equation.3">
                  <p:embed/>
                </p:oleObj>
              </mc:Choice>
              <mc:Fallback>
                <p:oleObj name="Equation" r:id="rId7" imgW="1358640" imgH="520560" progId="Equation.3">
                  <p:embed/>
                  <p:pic>
                    <p:nvPicPr>
                      <p:cNvPr id="593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7390" y="3465562"/>
                        <a:ext cx="2402679" cy="9207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1385646" y="1052736"/>
            <a:ext cx="267733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100">
                <a:solidFill>
                  <a:prstClr val="black"/>
                </a:solidFill>
                <a:latin typeface="+mn-lt"/>
              </a:rPr>
              <a:t>Substitute equation 4</a:t>
            </a:r>
            <a:endParaRPr lang="en-US" sz="2100">
              <a:solidFill>
                <a:prstClr val="black"/>
              </a:solidFill>
              <a:latin typeface="+mn-lt"/>
            </a:endParaRPr>
          </a:p>
        </p:txBody>
      </p:sp>
      <p:sp>
        <p:nvSpPr>
          <p:cNvPr id="8" name="Text Box 12"/>
          <p:cNvSpPr txBox="1">
            <a:spLocks noChangeArrowheads="1"/>
          </p:cNvSpPr>
          <p:nvPr/>
        </p:nvSpPr>
        <p:spPr bwMode="auto">
          <a:xfrm>
            <a:off x="1223630" y="2348880"/>
            <a:ext cx="195758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100">
                <a:solidFill>
                  <a:prstClr val="black"/>
                </a:solidFill>
                <a:latin typeface="+mn-lt"/>
              </a:rPr>
              <a:t>Into equation 3</a:t>
            </a:r>
            <a:endParaRPr lang="en-US" sz="2100">
              <a:solidFill>
                <a:prstClr val="black"/>
              </a:solidFill>
              <a:latin typeface="+mn-lt"/>
            </a:endParaRPr>
          </a:p>
        </p:txBody>
      </p:sp>
      <p:sp>
        <p:nvSpPr>
          <p:cNvPr id="9" name="Text Box 12"/>
          <p:cNvSpPr txBox="1">
            <a:spLocks noChangeArrowheads="1"/>
          </p:cNvSpPr>
          <p:nvPr/>
        </p:nvSpPr>
        <p:spPr bwMode="auto">
          <a:xfrm>
            <a:off x="3024688" y="2659387"/>
            <a:ext cx="151676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GB" sz="2100">
                <a:solidFill>
                  <a:prstClr val="black"/>
                </a:solidFill>
                <a:latin typeface="+mn-lt"/>
              </a:rPr>
              <a:t>Overall rate</a:t>
            </a:r>
            <a:endParaRPr lang="en-US" sz="2100">
              <a:solidFill>
                <a:prstClr val="black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04326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41" grpId="0"/>
      <p:bldP spid="77842" grpId="0"/>
      <p:bldP spid="7" grpId="0"/>
      <p:bldP spid="8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000">
                <a:latin typeface="+mn-lt"/>
              </a:rPr>
              <a:t>Which other reactions did we ignore, and why?</a:t>
            </a:r>
            <a:endParaRPr lang="en-US" sz="3000">
              <a:latin typeface="+mn-lt"/>
            </a:endParaRPr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5900" y="2057402"/>
            <a:ext cx="6172200" cy="3784997"/>
          </a:xfrm>
        </p:spPr>
        <p:txBody>
          <a:bodyPr/>
          <a:lstStyle/>
          <a:p>
            <a:r>
              <a:rPr lang="en-GB"/>
              <a:t>In theory there could have been other reactions, like</a:t>
            </a:r>
          </a:p>
          <a:p>
            <a:pPr lvl="1">
              <a:buFontTx/>
              <a:buNone/>
            </a:pPr>
            <a:r>
              <a:rPr lang="en-GB"/>
              <a:t>H</a:t>
            </a:r>
            <a:r>
              <a:rPr lang="en-GB" baseline="-25000"/>
              <a:t>2</a:t>
            </a:r>
            <a:r>
              <a:rPr lang="en-GB"/>
              <a:t> + M </a:t>
            </a:r>
            <a:r>
              <a:rPr lang="en-GB">
                <a:cs typeface="Arial" charset="0"/>
              </a:rPr>
              <a:t>→2H</a:t>
            </a:r>
            <a:r>
              <a:rPr lang="en-US">
                <a:cs typeface="Arial" charset="0"/>
              </a:rPr>
              <a:t>·+ M		another initiation</a:t>
            </a:r>
          </a:p>
          <a:p>
            <a:pPr lvl="1">
              <a:buFontTx/>
              <a:buNone/>
            </a:pPr>
            <a:endParaRPr lang="en-US">
              <a:cs typeface="Arial" charset="0"/>
            </a:endParaRPr>
          </a:p>
          <a:p>
            <a:pPr lvl="1">
              <a:buFontTx/>
              <a:buNone/>
            </a:pPr>
            <a:r>
              <a:rPr lang="en-GB">
                <a:cs typeface="Arial" charset="0"/>
              </a:rPr>
              <a:t>H</a:t>
            </a:r>
            <a:r>
              <a:rPr lang="en-US">
                <a:cs typeface="Arial" charset="0"/>
              </a:rPr>
              <a:t>· + </a:t>
            </a:r>
            <a:r>
              <a:rPr lang="en-GB">
                <a:cs typeface="Arial" charset="0"/>
              </a:rPr>
              <a:t>H</a:t>
            </a:r>
            <a:r>
              <a:rPr lang="en-US">
                <a:cs typeface="Arial" charset="0"/>
              </a:rPr>
              <a:t>· </a:t>
            </a:r>
            <a:r>
              <a:rPr lang="en-GB"/>
              <a:t>+ M </a:t>
            </a:r>
            <a:r>
              <a:rPr lang="en-GB">
                <a:cs typeface="Arial" charset="0"/>
              </a:rPr>
              <a:t>→ </a:t>
            </a:r>
            <a:r>
              <a:rPr lang="en-GB"/>
              <a:t>H</a:t>
            </a:r>
            <a:r>
              <a:rPr lang="en-GB" baseline="-25000"/>
              <a:t>2</a:t>
            </a:r>
            <a:r>
              <a:rPr lang="en-GB">
                <a:cs typeface="Arial" charset="0"/>
              </a:rPr>
              <a:t> </a:t>
            </a:r>
            <a:r>
              <a:rPr lang="en-US">
                <a:cs typeface="Arial" charset="0"/>
              </a:rPr>
              <a:t>+ M	another termination</a:t>
            </a:r>
          </a:p>
          <a:p>
            <a:pPr lvl="1">
              <a:buFontTx/>
              <a:buNone/>
            </a:pPr>
            <a:endParaRPr lang="en-US">
              <a:cs typeface="Arial" charset="0"/>
            </a:endParaRPr>
          </a:p>
          <a:p>
            <a:pPr lvl="1">
              <a:buFontTx/>
              <a:buNone/>
            </a:pPr>
            <a:r>
              <a:rPr lang="en-GB">
                <a:cs typeface="Arial" charset="0"/>
              </a:rPr>
              <a:t>H</a:t>
            </a:r>
            <a:r>
              <a:rPr lang="en-US">
                <a:cs typeface="Arial" charset="0"/>
              </a:rPr>
              <a:t>· + </a:t>
            </a:r>
            <a:r>
              <a:rPr lang="en-GB">
                <a:cs typeface="Arial" charset="0"/>
              </a:rPr>
              <a:t>Br</a:t>
            </a:r>
            <a:r>
              <a:rPr lang="en-US">
                <a:cs typeface="Arial" charset="0"/>
              </a:rPr>
              <a:t>· </a:t>
            </a:r>
            <a:r>
              <a:rPr lang="en-GB"/>
              <a:t>+ M </a:t>
            </a:r>
            <a:r>
              <a:rPr lang="en-GB">
                <a:cs typeface="Arial" charset="0"/>
              </a:rPr>
              <a:t>→ </a:t>
            </a:r>
            <a:r>
              <a:rPr lang="en-GB" err="1"/>
              <a:t>HBr</a:t>
            </a:r>
            <a:r>
              <a:rPr lang="en-GB">
                <a:cs typeface="Arial" charset="0"/>
              </a:rPr>
              <a:t> </a:t>
            </a:r>
            <a:r>
              <a:rPr lang="en-US">
                <a:cs typeface="Arial" charset="0"/>
              </a:rPr>
              <a:t>+ M	another termination</a:t>
            </a:r>
          </a:p>
          <a:p>
            <a:pPr lvl="1">
              <a:buFontTx/>
              <a:buNone/>
            </a:pPr>
            <a:endParaRPr lang="en-US">
              <a:cs typeface="Arial" charset="0"/>
            </a:endParaRPr>
          </a:p>
          <a:p>
            <a:r>
              <a:rPr lang="en-GB">
                <a:cs typeface="Arial" charset="0"/>
              </a:rPr>
              <a:t>In practice, these are insignificant compared with the initiation and termination steps we have considered</a:t>
            </a:r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4714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78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78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78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788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85900" y="2057402"/>
            <a:ext cx="6172200" cy="378499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/>
              <a:t>Initiation steps are all very endothermic, some more than others.</a:t>
            </a:r>
          </a:p>
          <a:p>
            <a:pPr>
              <a:lnSpc>
                <a:spcPct val="90000"/>
              </a:lnSpc>
            </a:pPr>
            <a:r>
              <a:rPr lang="en-GB"/>
              <a:t>The more endothermic, the greater the activation barrier.</a:t>
            </a:r>
          </a:p>
          <a:p>
            <a:pPr>
              <a:lnSpc>
                <a:spcPct val="90000"/>
              </a:lnSpc>
            </a:pPr>
            <a:endParaRPr lang="en-GB"/>
          </a:p>
          <a:p>
            <a:pPr>
              <a:lnSpc>
                <a:spcPct val="90000"/>
              </a:lnSpc>
            </a:pPr>
            <a:endParaRPr lang="en-GB"/>
          </a:p>
          <a:p>
            <a:pPr>
              <a:lnSpc>
                <a:spcPct val="90000"/>
              </a:lnSpc>
            </a:pPr>
            <a:endParaRPr lang="en-GB"/>
          </a:p>
          <a:p>
            <a:pPr>
              <a:lnSpc>
                <a:spcPct val="90000"/>
              </a:lnSpc>
            </a:pPr>
            <a:r>
              <a:rPr lang="en-GB"/>
              <a:t>H-H bond energy 436 kJ/</a:t>
            </a:r>
            <a:r>
              <a:rPr lang="en-GB" err="1"/>
              <a:t>mol</a:t>
            </a:r>
            <a:endParaRPr lang="en-GB"/>
          </a:p>
          <a:p>
            <a:pPr>
              <a:lnSpc>
                <a:spcPct val="90000"/>
              </a:lnSpc>
            </a:pPr>
            <a:r>
              <a:rPr lang="en-GB"/>
              <a:t>Br-Br bond energy 193 kJ/</a:t>
            </a:r>
            <a:r>
              <a:rPr lang="en-GB" err="1"/>
              <a:t>mol</a:t>
            </a:r>
            <a:endParaRPr lang="en-GB">
              <a:cs typeface="Arial" charset="0"/>
              <a:sym typeface="Mathematica1" pitchFamily="2" charset="2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2585F4E-3A78-4010-882A-A7EA20C5DCCA}"/>
              </a:ext>
            </a:extLst>
          </p:cNvPr>
          <p:cNvGrpSpPr/>
          <p:nvPr/>
        </p:nvGrpSpPr>
        <p:grpSpPr>
          <a:xfrm>
            <a:off x="4419600" y="3177778"/>
            <a:ext cx="1476375" cy="1298972"/>
            <a:chOff x="4419600" y="3177778"/>
            <a:chExt cx="1476375" cy="1298972"/>
          </a:xfrm>
        </p:grpSpPr>
        <p:sp>
          <p:nvSpPr>
            <p:cNvPr id="79875" name="Line 3"/>
            <p:cNvSpPr>
              <a:spLocks noChangeShapeType="1"/>
            </p:cNvSpPr>
            <p:nvPr/>
          </p:nvSpPr>
          <p:spPr bwMode="auto">
            <a:xfrm>
              <a:off x="4419600" y="4476750"/>
              <a:ext cx="552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9876" name="Line 4"/>
            <p:cNvSpPr>
              <a:spLocks noChangeShapeType="1"/>
            </p:cNvSpPr>
            <p:nvPr/>
          </p:nvSpPr>
          <p:spPr bwMode="auto">
            <a:xfrm>
              <a:off x="5343525" y="3543300"/>
              <a:ext cx="5524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350">
                <a:solidFill>
                  <a:prstClr val="black"/>
                </a:solidFill>
                <a:latin typeface="+mn-lt"/>
              </a:endParaRPr>
            </a:p>
          </p:txBody>
        </p:sp>
        <p:sp>
          <p:nvSpPr>
            <p:cNvPr id="79877" name="Freeform 5"/>
            <p:cNvSpPr>
              <a:spLocks/>
            </p:cNvSpPr>
            <p:nvPr/>
          </p:nvSpPr>
          <p:spPr bwMode="auto">
            <a:xfrm>
              <a:off x="4680013" y="3177778"/>
              <a:ext cx="834963" cy="1298972"/>
            </a:xfrm>
            <a:custGeom>
              <a:avLst/>
              <a:gdLst/>
              <a:ahLst/>
              <a:cxnLst>
                <a:cxn ang="0">
                  <a:pos x="0" y="1083"/>
                </a:cxn>
                <a:cxn ang="0">
                  <a:pos x="472" y="131"/>
                </a:cxn>
                <a:cxn ang="0">
                  <a:pos x="744" y="299"/>
                </a:cxn>
              </a:cxnLst>
              <a:rect l="0" t="0" r="r" b="b"/>
              <a:pathLst>
                <a:path w="744" h="1083">
                  <a:moveTo>
                    <a:pt x="0" y="1083"/>
                  </a:moveTo>
                  <a:cubicBezTo>
                    <a:pt x="174" y="672"/>
                    <a:pt x="348" y="262"/>
                    <a:pt x="472" y="131"/>
                  </a:cubicBezTo>
                  <a:cubicBezTo>
                    <a:pt x="596" y="0"/>
                    <a:pt x="670" y="149"/>
                    <a:pt x="744" y="299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sz="1350">
                <a:solidFill>
                  <a:prstClr val="black"/>
                </a:solidFill>
                <a:latin typeface="+mn-lt"/>
              </a:endParaRPr>
            </a:p>
          </p:txBody>
        </p:sp>
      </p:grp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1063229"/>
            <a:ext cx="6172200" cy="857250"/>
          </a:xfrm>
        </p:spPr>
        <p:txBody>
          <a:bodyPr>
            <a:normAutofit/>
          </a:bodyPr>
          <a:lstStyle/>
          <a:p>
            <a:r>
              <a:rPr lang="en-GB" sz="3000" dirty="0">
                <a:latin typeface="+mn-lt"/>
              </a:rPr>
              <a:t>Why ignore the other initiation steps?</a:t>
            </a:r>
            <a:endParaRPr lang="en-US" sz="3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57970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85900" y="2057402"/>
            <a:ext cx="6172200" cy="3784997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GB"/>
              <a:t>Termination steps are all very exothermic.</a:t>
            </a:r>
          </a:p>
          <a:p>
            <a:pPr>
              <a:lnSpc>
                <a:spcPct val="80000"/>
              </a:lnSpc>
            </a:pPr>
            <a:r>
              <a:rPr lang="en-GB"/>
              <a:t>Assume that as soon as two radicals collide (with M), they will react (so, zero activation energy in all cases)</a:t>
            </a:r>
          </a:p>
          <a:p>
            <a:pPr>
              <a:lnSpc>
                <a:spcPct val="80000"/>
              </a:lnSpc>
            </a:pPr>
            <a:r>
              <a:rPr lang="en-GB"/>
              <a:t>[Br</a:t>
            </a:r>
            <a:r>
              <a:rPr lang="en-US">
                <a:cs typeface="Arial" charset="0"/>
              </a:rPr>
              <a:t>·]&gt;&gt; </a:t>
            </a:r>
            <a:r>
              <a:rPr lang="en-GB"/>
              <a:t>[H</a:t>
            </a:r>
            <a:r>
              <a:rPr lang="en-US">
                <a:cs typeface="Arial" charset="0"/>
              </a:rPr>
              <a:t>·] so bromine-bromine is most likely radical collision.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>
              <a:cs typeface="Arial" charset="0"/>
            </a:endParaRP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1485900" y="1063229"/>
            <a:ext cx="6172200" cy="857250"/>
          </a:xfrm>
        </p:spPr>
        <p:txBody>
          <a:bodyPr>
            <a:normAutofit/>
          </a:bodyPr>
          <a:lstStyle/>
          <a:p>
            <a:r>
              <a:rPr lang="en-GB" sz="3000">
                <a:latin typeface="+mn-lt"/>
              </a:rPr>
              <a:t>Why ignore other termination steps?</a:t>
            </a:r>
            <a:endParaRPr lang="en-US" sz="30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156382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+mn-lt"/>
              </a:rPr>
              <a:t>Why is [Br</a:t>
            </a:r>
            <a:r>
              <a:rPr lang="en-US">
                <a:latin typeface="+mn-lt"/>
                <a:cs typeface="Arial" charset="0"/>
              </a:rPr>
              <a:t>·]&gt;&gt; </a:t>
            </a:r>
            <a:r>
              <a:rPr lang="en-GB">
                <a:latin typeface="+mn-lt"/>
              </a:rPr>
              <a:t>[H</a:t>
            </a:r>
            <a:r>
              <a:rPr lang="en-US">
                <a:latin typeface="+mn-lt"/>
                <a:cs typeface="Arial" charset="0"/>
              </a:rPr>
              <a:t>·]?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04896" y="1916833"/>
            <a:ext cx="7515576" cy="19448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/>
              <a:t>H-H bond stronger than Br-Br</a:t>
            </a:r>
          </a:p>
          <a:p>
            <a:pPr>
              <a:lnSpc>
                <a:spcPct val="90000"/>
              </a:lnSpc>
            </a:pPr>
            <a:r>
              <a:rPr lang="en-GB"/>
              <a:t>[H</a:t>
            </a:r>
            <a:r>
              <a:rPr lang="en-US">
                <a:cs typeface="Arial" charset="0"/>
              </a:rPr>
              <a:t>·] radical more reactive than [Br·]</a:t>
            </a:r>
          </a:p>
          <a:p>
            <a:pPr>
              <a:lnSpc>
                <a:spcPct val="90000"/>
              </a:lnSpc>
            </a:pPr>
            <a:r>
              <a:rPr lang="en-GB">
                <a:cs typeface="Arial" charset="0"/>
              </a:rPr>
              <a:t>Propagation step (2) is endothermic and unfavourable. Propagation step (3) is exothermic, and favourable, and about 10</a:t>
            </a:r>
            <a:r>
              <a:rPr lang="en-GB" baseline="30000">
                <a:cs typeface="Arial" charset="0"/>
              </a:rPr>
              <a:t>8</a:t>
            </a:r>
            <a:r>
              <a:rPr lang="en-GB">
                <a:cs typeface="Arial" charset="0"/>
              </a:rPr>
              <a:t>x faster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1659142" y="5605607"/>
            <a:ext cx="6210173" cy="7636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>
                <a:solidFill>
                  <a:prstClr val="black"/>
                </a:solidFill>
                <a:latin typeface="+mn-lt"/>
                <a:cs typeface="Arial" charset="0"/>
              </a:rPr>
              <a:t>See equation 2 (assume [Br</a:t>
            </a:r>
            <a:r>
              <a:rPr lang="en-GB" baseline="-25000">
                <a:solidFill>
                  <a:prstClr val="black"/>
                </a:solidFill>
                <a:latin typeface="+mn-lt"/>
                <a:cs typeface="Arial" charset="0"/>
              </a:rPr>
              <a:t>2</a:t>
            </a:r>
            <a:r>
              <a:rPr lang="en-GB">
                <a:solidFill>
                  <a:prstClr val="black"/>
                </a:solidFill>
                <a:latin typeface="+mn-lt"/>
                <a:cs typeface="Arial" charset="0"/>
              </a:rPr>
              <a:t>]=[H</a:t>
            </a:r>
            <a:r>
              <a:rPr lang="en-GB" baseline="-25000">
                <a:solidFill>
                  <a:prstClr val="black"/>
                </a:solidFill>
                <a:latin typeface="+mn-lt"/>
                <a:cs typeface="Arial" charset="0"/>
              </a:rPr>
              <a:t>2</a:t>
            </a:r>
            <a:r>
              <a:rPr lang="en-GB">
                <a:solidFill>
                  <a:prstClr val="black"/>
                </a:solidFill>
                <a:latin typeface="+mn-lt"/>
                <a:cs typeface="Arial" charset="0"/>
              </a:rPr>
              <a:t>])</a:t>
            </a:r>
          </a:p>
          <a:p>
            <a:pPr>
              <a:lnSpc>
                <a:spcPct val="90000"/>
              </a:lnSpc>
            </a:pPr>
            <a:r>
              <a:rPr lang="en-GB">
                <a:solidFill>
                  <a:prstClr val="black"/>
                </a:solidFill>
                <a:latin typeface="+mn-lt"/>
                <a:cs typeface="Arial" charset="0"/>
              </a:rPr>
              <a:t>		</a:t>
            </a:r>
            <a:r>
              <a:rPr lang="en-GB" i="1">
                <a:solidFill>
                  <a:prstClr val="black"/>
                </a:solidFill>
                <a:latin typeface="+mn-lt"/>
                <a:cs typeface="Arial" charset="0"/>
              </a:rPr>
              <a:t>k</a:t>
            </a:r>
            <a:r>
              <a:rPr lang="en-GB" i="1" baseline="-25000">
                <a:solidFill>
                  <a:prstClr val="black"/>
                </a:solidFill>
                <a:latin typeface="+mn-lt"/>
                <a:cs typeface="Arial" charset="0"/>
              </a:rPr>
              <a:t>2</a:t>
            </a:r>
            <a:r>
              <a:rPr lang="en-GB">
                <a:solidFill>
                  <a:prstClr val="black"/>
                </a:solidFill>
                <a:latin typeface="+mn-lt"/>
                <a:cs typeface="Arial" charset="0"/>
              </a:rPr>
              <a:t>[H</a:t>
            </a:r>
            <a:r>
              <a:rPr lang="en-GB" baseline="-25000">
                <a:solidFill>
                  <a:prstClr val="black"/>
                </a:solidFill>
                <a:latin typeface="+mn-lt"/>
                <a:cs typeface="Arial" charset="0"/>
              </a:rPr>
              <a:t>2</a:t>
            </a:r>
            <a:r>
              <a:rPr lang="en-GB">
                <a:solidFill>
                  <a:prstClr val="black"/>
                </a:solidFill>
                <a:latin typeface="+mn-lt"/>
                <a:cs typeface="Arial" charset="0"/>
              </a:rPr>
              <a:t>]&lt;&lt;</a:t>
            </a:r>
            <a:r>
              <a:rPr lang="en-GB" i="1">
                <a:solidFill>
                  <a:prstClr val="black"/>
                </a:solidFill>
                <a:latin typeface="+mn-lt"/>
                <a:cs typeface="Arial" charset="0"/>
              </a:rPr>
              <a:t>k</a:t>
            </a:r>
            <a:r>
              <a:rPr lang="en-GB" i="1" baseline="-25000">
                <a:solidFill>
                  <a:prstClr val="black"/>
                </a:solidFill>
                <a:latin typeface="+mn-lt"/>
                <a:cs typeface="Arial" charset="0"/>
              </a:rPr>
              <a:t>3</a:t>
            </a:r>
            <a:r>
              <a:rPr lang="en-GB">
                <a:solidFill>
                  <a:prstClr val="black"/>
                </a:solidFill>
                <a:latin typeface="+mn-lt"/>
                <a:cs typeface="Arial" charset="0"/>
              </a:rPr>
              <a:t>[Br</a:t>
            </a:r>
            <a:r>
              <a:rPr lang="en-GB" baseline="-25000">
                <a:solidFill>
                  <a:prstClr val="black"/>
                </a:solidFill>
                <a:latin typeface="+mn-lt"/>
                <a:cs typeface="Arial" charset="0"/>
              </a:rPr>
              <a:t>2</a:t>
            </a:r>
            <a:r>
              <a:rPr lang="en-GB">
                <a:solidFill>
                  <a:prstClr val="black"/>
                </a:solidFill>
                <a:latin typeface="+mn-lt"/>
                <a:cs typeface="Arial" charset="0"/>
              </a:rPr>
              <a:t>]</a:t>
            </a:r>
            <a:endParaRPr lang="en-US">
              <a:solidFill>
                <a:prstClr val="black"/>
              </a:solidFill>
              <a:latin typeface="+mn-lt"/>
              <a:cs typeface="Arial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416294B-CC43-4BD9-A433-2C5543F566BB}"/>
              </a:ext>
            </a:extLst>
          </p:cNvPr>
          <p:cNvGrpSpPr/>
          <p:nvPr/>
        </p:nvGrpSpPr>
        <p:grpSpPr>
          <a:xfrm>
            <a:off x="3764104" y="3786788"/>
            <a:ext cx="3646884" cy="1398986"/>
            <a:chOff x="3764104" y="3786788"/>
            <a:chExt cx="3646884" cy="1398986"/>
          </a:xfrm>
        </p:grpSpPr>
        <p:grpSp>
          <p:nvGrpSpPr>
            <p:cNvPr id="2" name="Group 4"/>
            <p:cNvGrpSpPr>
              <a:grpSpLocks/>
            </p:cNvGrpSpPr>
            <p:nvPr/>
          </p:nvGrpSpPr>
          <p:grpSpPr bwMode="auto">
            <a:xfrm>
              <a:off x="3764104" y="3786788"/>
              <a:ext cx="3646884" cy="1398986"/>
              <a:chOff x="1426" y="2834"/>
              <a:chExt cx="3063" cy="1175"/>
            </a:xfrm>
          </p:grpSpPr>
          <p:grpSp>
            <p:nvGrpSpPr>
              <p:cNvPr id="3" name="Group 5"/>
              <p:cNvGrpSpPr>
                <a:grpSpLocks/>
              </p:cNvGrpSpPr>
              <p:nvPr/>
            </p:nvGrpSpPr>
            <p:grpSpPr bwMode="auto">
              <a:xfrm>
                <a:off x="1431" y="3417"/>
                <a:ext cx="2389" cy="592"/>
                <a:chOff x="136" y="2018"/>
                <a:chExt cx="2389" cy="592"/>
              </a:xfrm>
            </p:grpSpPr>
            <p:sp>
              <p:nvSpPr>
                <p:cNvPr id="81926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971" y="2018"/>
                  <a:ext cx="336" cy="3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GB" sz="2100" i="1">
                      <a:solidFill>
                        <a:prstClr val="black"/>
                      </a:solidFill>
                      <a:latin typeface="+mn-lt"/>
                    </a:rPr>
                    <a:t>k</a:t>
                  </a:r>
                  <a:r>
                    <a:rPr lang="en-GB" sz="2100" i="1" baseline="-25000">
                      <a:solidFill>
                        <a:prstClr val="black"/>
                      </a:solidFill>
                      <a:latin typeface="+mn-lt"/>
                    </a:rPr>
                    <a:t>3</a:t>
                  </a:r>
                  <a:endParaRPr lang="en-US" sz="2100" i="1" baseline="-25000">
                    <a:solidFill>
                      <a:prstClr val="black"/>
                    </a:solidFill>
                    <a:latin typeface="+mn-lt"/>
                  </a:endParaRPr>
                </a:p>
              </p:txBody>
            </p:sp>
            <p:sp>
              <p:nvSpPr>
                <p:cNvPr id="81927" name="Rectangle 7"/>
                <p:cNvSpPr>
                  <a:spLocks noChangeArrowheads="1"/>
                </p:cNvSpPr>
                <p:nvPr/>
              </p:nvSpPr>
              <p:spPr bwMode="auto">
                <a:xfrm>
                  <a:off x="136" y="2222"/>
                  <a:ext cx="2389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GB">
                      <a:solidFill>
                        <a:prstClr val="black"/>
                      </a:solidFill>
                      <a:latin typeface="+mn-lt"/>
                    </a:rPr>
                    <a:t>H</a:t>
                  </a:r>
                  <a:r>
                    <a:rPr lang="en-US">
                      <a:solidFill>
                        <a:prstClr val="black"/>
                      </a:solidFill>
                      <a:latin typeface="+mn-lt"/>
                      <a:cs typeface="Arial" charset="0"/>
                    </a:rPr>
                    <a:t>· + </a:t>
                  </a:r>
                  <a:r>
                    <a:rPr lang="en-GB">
                      <a:solidFill>
                        <a:prstClr val="black"/>
                      </a:solidFill>
                      <a:latin typeface="+mn-lt"/>
                    </a:rPr>
                    <a:t>Br</a:t>
                  </a:r>
                  <a:r>
                    <a:rPr lang="en-GB" baseline="-25000">
                      <a:solidFill>
                        <a:prstClr val="black"/>
                      </a:solidFill>
                      <a:latin typeface="+mn-lt"/>
                    </a:rPr>
                    <a:t>2</a:t>
                  </a:r>
                  <a:r>
                    <a:rPr lang="en-GB">
                      <a:solidFill>
                        <a:prstClr val="black"/>
                      </a:solidFill>
                      <a:latin typeface="+mn-lt"/>
                    </a:rPr>
                    <a:t> </a:t>
                  </a:r>
                  <a:r>
                    <a:rPr lang="en-GB">
                      <a:solidFill>
                        <a:prstClr val="black"/>
                      </a:solidFill>
                      <a:latin typeface="+mn-lt"/>
                      <a:cs typeface="Arial" charset="0"/>
                    </a:rPr>
                    <a:t>→ </a:t>
                  </a:r>
                  <a:r>
                    <a:rPr lang="en-GB">
                      <a:solidFill>
                        <a:prstClr val="black"/>
                      </a:solidFill>
                      <a:latin typeface="+mn-lt"/>
                    </a:rPr>
                    <a:t>Br</a:t>
                  </a:r>
                  <a:r>
                    <a:rPr lang="en-US">
                      <a:solidFill>
                        <a:prstClr val="black"/>
                      </a:solidFill>
                      <a:latin typeface="+mn-lt"/>
                      <a:cs typeface="Arial" charset="0"/>
                    </a:rPr>
                    <a:t>· + </a:t>
                  </a:r>
                  <a:r>
                    <a:rPr lang="en-US" err="1">
                      <a:solidFill>
                        <a:prstClr val="black"/>
                      </a:solidFill>
                      <a:latin typeface="+mn-lt"/>
                      <a:cs typeface="Arial" charset="0"/>
                    </a:rPr>
                    <a:t>HBr</a:t>
                  </a:r>
                  <a:endParaRPr lang="en-US">
                    <a:solidFill>
                      <a:prstClr val="black"/>
                    </a:solidFill>
                    <a:latin typeface="+mn-lt"/>
                    <a:cs typeface="Arial" charset="0"/>
                  </a:endParaRPr>
                </a:p>
              </p:txBody>
            </p:sp>
          </p:grpSp>
          <p:grpSp>
            <p:nvGrpSpPr>
              <p:cNvPr id="4" name="Group 8"/>
              <p:cNvGrpSpPr>
                <a:grpSpLocks/>
              </p:cNvGrpSpPr>
              <p:nvPr/>
            </p:nvGrpSpPr>
            <p:grpSpPr bwMode="auto">
              <a:xfrm>
                <a:off x="1426" y="2834"/>
                <a:ext cx="2482" cy="603"/>
                <a:chOff x="131" y="1369"/>
                <a:chExt cx="2482" cy="603"/>
              </a:xfrm>
            </p:grpSpPr>
            <p:sp>
              <p:nvSpPr>
                <p:cNvPr id="81929" name="Text Box 9"/>
                <p:cNvSpPr txBox="1">
                  <a:spLocks noChangeArrowheads="1"/>
                </p:cNvSpPr>
                <p:nvPr/>
              </p:nvSpPr>
              <p:spPr bwMode="auto">
                <a:xfrm>
                  <a:off x="971" y="1369"/>
                  <a:ext cx="336" cy="3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GB" sz="2100" i="1">
                      <a:solidFill>
                        <a:prstClr val="black"/>
                      </a:solidFill>
                      <a:latin typeface="+mn-lt"/>
                    </a:rPr>
                    <a:t>k</a:t>
                  </a:r>
                  <a:r>
                    <a:rPr lang="en-GB" sz="2100" i="1" baseline="-25000">
                      <a:solidFill>
                        <a:prstClr val="black"/>
                      </a:solidFill>
                      <a:latin typeface="+mn-lt"/>
                    </a:rPr>
                    <a:t>2</a:t>
                  </a:r>
                  <a:endParaRPr lang="en-US" sz="2100" i="1" baseline="-25000">
                    <a:solidFill>
                      <a:prstClr val="black"/>
                    </a:solidFill>
                    <a:latin typeface="+mn-lt"/>
                  </a:endParaRPr>
                </a:p>
              </p:txBody>
            </p:sp>
            <p:sp>
              <p:nvSpPr>
                <p:cNvPr id="81930" name="Rectangle 10"/>
                <p:cNvSpPr>
                  <a:spLocks noChangeArrowheads="1"/>
                </p:cNvSpPr>
                <p:nvPr/>
              </p:nvSpPr>
              <p:spPr bwMode="auto">
                <a:xfrm>
                  <a:off x="131" y="1584"/>
                  <a:ext cx="2482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r>
                    <a:rPr lang="en-GB">
                      <a:solidFill>
                        <a:prstClr val="black"/>
                      </a:solidFill>
                      <a:latin typeface="+mn-lt"/>
                    </a:rPr>
                    <a:t>Br</a:t>
                  </a:r>
                  <a:r>
                    <a:rPr lang="en-US">
                      <a:solidFill>
                        <a:prstClr val="black"/>
                      </a:solidFill>
                      <a:latin typeface="+mn-lt"/>
                      <a:cs typeface="Arial" charset="0"/>
                    </a:rPr>
                    <a:t>· + </a:t>
                  </a:r>
                  <a:r>
                    <a:rPr lang="en-GB">
                      <a:solidFill>
                        <a:prstClr val="black"/>
                      </a:solidFill>
                      <a:latin typeface="+mn-lt"/>
                    </a:rPr>
                    <a:t>H</a:t>
                  </a:r>
                  <a:r>
                    <a:rPr lang="en-GB" baseline="-25000">
                      <a:solidFill>
                        <a:prstClr val="black"/>
                      </a:solidFill>
                      <a:latin typeface="+mn-lt"/>
                    </a:rPr>
                    <a:t>2</a:t>
                  </a:r>
                  <a:r>
                    <a:rPr lang="en-GB">
                      <a:solidFill>
                        <a:prstClr val="black"/>
                      </a:solidFill>
                      <a:latin typeface="+mn-lt"/>
                    </a:rPr>
                    <a:t> </a:t>
                  </a:r>
                  <a:r>
                    <a:rPr lang="en-GB">
                      <a:solidFill>
                        <a:prstClr val="black"/>
                      </a:solidFill>
                      <a:latin typeface="+mn-lt"/>
                      <a:cs typeface="Arial" charset="0"/>
                    </a:rPr>
                    <a:t>→ </a:t>
                  </a:r>
                  <a:r>
                    <a:rPr lang="en-GB">
                      <a:solidFill>
                        <a:prstClr val="black"/>
                      </a:solidFill>
                      <a:latin typeface="+mn-lt"/>
                    </a:rPr>
                    <a:t>H</a:t>
                  </a:r>
                  <a:r>
                    <a:rPr lang="en-US">
                      <a:solidFill>
                        <a:prstClr val="black"/>
                      </a:solidFill>
                      <a:latin typeface="+mn-lt"/>
                      <a:cs typeface="Arial" charset="0"/>
                    </a:rPr>
                    <a:t>· + </a:t>
                  </a:r>
                  <a:r>
                    <a:rPr lang="en-US" err="1">
                      <a:solidFill>
                        <a:prstClr val="black"/>
                      </a:solidFill>
                      <a:latin typeface="+mn-lt"/>
                      <a:cs typeface="Arial" charset="0"/>
                    </a:rPr>
                    <a:t>HBr</a:t>
                  </a:r>
                  <a:r>
                    <a:rPr lang="en-US">
                      <a:solidFill>
                        <a:prstClr val="black"/>
                      </a:solidFill>
                      <a:latin typeface="+mn-lt"/>
                      <a:cs typeface="Arial" charset="0"/>
                    </a:rPr>
                    <a:t>	</a:t>
                  </a:r>
                </a:p>
              </p:txBody>
            </p:sp>
          </p:grpSp>
          <p:sp>
            <p:nvSpPr>
              <p:cNvPr id="81931" name="Rectangle 11"/>
              <p:cNvSpPr>
                <a:spLocks noChangeArrowheads="1"/>
              </p:cNvSpPr>
              <p:nvPr/>
            </p:nvSpPr>
            <p:spPr bwMode="auto">
              <a:xfrm>
                <a:off x="3993" y="3252"/>
                <a:ext cx="155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endParaRPr lang="en-US">
                  <a:solidFill>
                    <a:prstClr val="black"/>
                  </a:solidFill>
                  <a:latin typeface="+mn-lt"/>
                  <a:cs typeface="Arial" charset="0"/>
                </a:endParaRPr>
              </a:p>
            </p:txBody>
          </p:sp>
          <p:sp>
            <p:nvSpPr>
              <p:cNvPr id="81932" name="Rectangle 12"/>
              <p:cNvSpPr>
                <a:spLocks noChangeArrowheads="1"/>
              </p:cNvSpPr>
              <p:nvPr/>
            </p:nvSpPr>
            <p:spPr bwMode="auto">
              <a:xfrm>
                <a:off x="3993" y="3621"/>
                <a:ext cx="496" cy="3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>
                    <a:solidFill>
                      <a:prstClr val="black"/>
                    </a:solidFill>
                    <a:latin typeface="+mn-lt"/>
                    <a:cs typeface="Arial" charset="0"/>
                  </a:rPr>
                  <a:t>(3)</a:t>
                </a:r>
              </a:p>
            </p:txBody>
          </p:sp>
        </p:grpSp>
        <p:sp>
          <p:nvSpPr>
            <p:cNvPr id="7" name="Rectangle 6"/>
            <p:cNvSpPr/>
            <p:nvPr/>
          </p:nvSpPr>
          <p:spPr>
            <a:xfrm>
              <a:off x="6820438" y="4064965"/>
              <a:ext cx="59022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prstClr val="black"/>
                  </a:solidFill>
                  <a:latin typeface="+mn-lt"/>
                </a:rPr>
                <a:t>(2)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82060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Rate constants and complicated </a:t>
            </a:r>
            <a:br>
              <a:rPr lang="en-GB" dirty="0"/>
            </a:br>
            <a:r>
              <a:rPr lang="en-GB" dirty="0"/>
              <a:t>rate equations</a:t>
            </a:r>
            <a:endParaRPr lang="en-US" dirty="0"/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600200"/>
            <a:ext cx="8461922" cy="43434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Chain reactions can have particularly complicated rate equations, with several </a:t>
            </a:r>
            <a:r>
              <a:rPr lang="en-GB" dirty="0">
                <a:solidFill>
                  <a:srgbClr val="FF0000"/>
                </a:solidFill>
              </a:rPr>
              <a:t>rate constants</a:t>
            </a:r>
          </a:p>
          <a:p>
            <a:r>
              <a:rPr lang="en-GB" dirty="0"/>
              <a:t>Rate normally expressed as “concentration of stuff”/”some time”, e.g. mM/s, </a:t>
            </a:r>
            <a:r>
              <a:rPr lang="en-GB" dirty="0" err="1"/>
              <a:t>nM</a:t>
            </a:r>
            <a:r>
              <a:rPr lang="en-GB" dirty="0"/>
              <a:t>/nanosecond…</a:t>
            </a:r>
          </a:p>
          <a:p>
            <a:r>
              <a:rPr lang="en-GB" dirty="0"/>
              <a:t>Simplest case: </a:t>
            </a:r>
            <a:br>
              <a:rPr lang="en-GB" dirty="0"/>
            </a:br>
            <a:r>
              <a:rPr lang="en-GB" dirty="0"/>
              <a:t>rate (concentration/time) = </a:t>
            </a:r>
            <a:r>
              <a:rPr lang="en-GB" i="1" dirty="0"/>
              <a:t>k</a:t>
            </a:r>
            <a:r>
              <a:rPr lang="en-GB" dirty="0"/>
              <a:t> (???) [A](concentration)</a:t>
            </a:r>
          </a:p>
          <a:p>
            <a:r>
              <a:rPr lang="en-GB" dirty="0"/>
              <a:t>Balance equation – units of k must be 1/time</a:t>
            </a:r>
          </a:p>
          <a:p>
            <a:r>
              <a:rPr lang="en-GB" dirty="0"/>
              <a:t>To compare </a:t>
            </a:r>
            <a:r>
              <a:rPr lang="en-GB" dirty="0">
                <a:solidFill>
                  <a:srgbClr val="FF0000"/>
                </a:solidFill>
              </a:rPr>
              <a:t>two rate constants, </a:t>
            </a:r>
            <a:r>
              <a:rPr lang="en-GB" dirty="0"/>
              <a:t>they must </a:t>
            </a:r>
            <a:r>
              <a:rPr lang="en-GB" dirty="0">
                <a:solidFill>
                  <a:srgbClr val="FF0000"/>
                </a:solidFill>
              </a:rPr>
              <a:t>have the same units</a:t>
            </a:r>
          </a:p>
          <a:p>
            <a:r>
              <a:rPr lang="en-GB" dirty="0"/>
              <a:t>What about more complicated cases?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0685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1" y="274638"/>
            <a:ext cx="6192838" cy="1143000"/>
          </a:xfrm>
        </p:spPr>
        <p:txBody>
          <a:bodyPr>
            <a:normAutofit fontScale="90000"/>
          </a:bodyPr>
          <a:lstStyle/>
          <a:p>
            <a:r>
              <a:rPr lang="en-GB" dirty="0"/>
              <a:t>Rate constants and complicated</a:t>
            </a:r>
            <a:br>
              <a:rPr lang="en-GB" dirty="0"/>
            </a:br>
            <a:r>
              <a:rPr lang="en-GB" dirty="0"/>
              <a:t>rate equations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F88942-A7AA-4F2F-919A-40C9E335FE19}"/>
                  </a:ext>
                </a:extLst>
              </p:cNvPr>
              <p:cNvSpPr txBox="1"/>
              <p:nvPr/>
            </p:nvSpPr>
            <p:spPr>
              <a:xfrm>
                <a:off x="258460" y="1943472"/>
                <a:ext cx="2519664" cy="383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𝑘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[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CH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CHO</m:t>
                          </m:r>
                          <m:r>
                            <m:rPr>
                              <m:nor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3/2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6F88942-A7AA-4F2F-919A-40C9E335F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60" y="1943472"/>
                <a:ext cx="2519664" cy="3836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D33EE359-4BAF-4D75-9652-75CD95E7F1E2}"/>
              </a:ext>
            </a:extLst>
          </p:cNvPr>
          <p:cNvSpPr txBox="1"/>
          <p:nvPr/>
        </p:nvSpPr>
        <p:spPr>
          <a:xfrm>
            <a:off x="179512" y="2852937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 s</a:t>
            </a:r>
            <a:r>
              <a:rPr lang="en-GB" baseline="30000" dirty="0"/>
              <a:t>-1</a:t>
            </a:r>
            <a:r>
              <a:rPr lang="en-GB" dirty="0"/>
              <a:t>= units of k × M</a:t>
            </a:r>
            <a:r>
              <a:rPr lang="en-GB" baseline="30000" dirty="0"/>
              <a:t>3/2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C74047-0049-49DB-B53A-2C7B3ED368DD}"/>
              </a:ext>
            </a:extLst>
          </p:cNvPr>
          <p:cNvSpPr txBox="1"/>
          <p:nvPr/>
        </p:nvSpPr>
        <p:spPr>
          <a:xfrm>
            <a:off x="179512" y="3470040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 s</a:t>
            </a:r>
            <a:r>
              <a:rPr lang="en-GB" baseline="30000" dirty="0"/>
              <a:t>-1</a:t>
            </a:r>
            <a:r>
              <a:rPr lang="en-GB" dirty="0"/>
              <a:t> / M</a:t>
            </a:r>
            <a:r>
              <a:rPr lang="en-GB" baseline="30000" dirty="0"/>
              <a:t>3/2 </a:t>
            </a:r>
            <a:r>
              <a:rPr lang="en-GB" dirty="0"/>
              <a:t>= units of 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97E429-686F-41E2-9CF3-E5346AD99D99}"/>
              </a:ext>
            </a:extLst>
          </p:cNvPr>
          <p:cNvSpPr txBox="1"/>
          <p:nvPr/>
        </p:nvSpPr>
        <p:spPr>
          <a:xfrm>
            <a:off x="179512" y="3970060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 s</a:t>
            </a:r>
            <a:r>
              <a:rPr lang="en-GB" baseline="30000" dirty="0"/>
              <a:t>-1</a:t>
            </a:r>
            <a:r>
              <a:rPr lang="en-GB" dirty="0"/>
              <a:t> ×  M</a:t>
            </a:r>
            <a:r>
              <a:rPr lang="en-GB" baseline="30000" dirty="0"/>
              <a:t>-3/2 </a:t>
            </a:r>
            <a:r>
              <a:rPr lang="en-GB" dirty="0"/>
              <a:t>= units of 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78D63E-5EA3-4EB9-B665-568DCD5F3E53}"/>
              </a:ext>
            </a:extLst>
          </p:cNvPr>
          <p:cNvSpPr txBox="1"/>
          <p:nvPr/>
        </p:nvSpPr>
        <p:spPr>
          <a:xfrm>
            <a:off x="177889" y="4470080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</a:t>
            </a:r>
            <a:r>
              <a:rPr lang="en-GB" baseline="30000" dirty="0"/>
              <a:t>-1</a:t>
            </a:r>
            <a:r>
              <a:rPr lang="en-GB" dirty="0"/>
              <a:t> ×  M</a:t>
            </a:r>
            <a:r>
              <a:rPr lang="en-GB" baseline="30000" dirty="0"/>
              <a:t>-1/2 </a:t>
            </a:r>
            <a:r>
              <a:rPr lang="en-GB" dirty="0"/>
              <a:t>= units of 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221936-45BE-45F9-990B-B20474077BAC}"/>
                  </a:ext>
                </a:extLst>
              </p:cNvPr>
              <p:cNvSpPr txBox="1"/>
              <p:nvPr/>
            </p:nvSpPr>
            <p:spPr>
              <a:xfrm>
                <a:off x="5883414" y="1710558"/>
                <a:ext cx="1903983" cy="8224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m:rPr>
                                  <m:nor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3/2</m:t>
                              </m:r>
                            </m:sup>
                          </m:sSup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221936-45BE-45F9-990B-B20474077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3414" y="1710558"/>
                <a:ext cx="1903983" cy="82246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F7ADFEFD-174D-49D6-8A97-0981C0735BEF}"/>
              </a:ext>
            </a:extLst>
          </p:cNvPr>
          <p:cNvSpPr txBox="1"/>
          <p:nvPr/>
        </p:nvSpPr>
        <p:spPr>
          <a:xfrm>
            <a:off x="4680237" y="3533113"/>
            <a:ext cx="45365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 we add two things together, they MUST have the same units – so k</a:t>
            </a:r>
            <a:r>
              <a:rPr lang="en-GB" baseline="-25000" dirty="0"/>
              <a:t>2</a:t>
            </a:r>
            <a:r>
              <a:rPr lang="en-GB" dirty="0"/>
              <a:t> × M must have same units as 1 » units of k</a:t>
            </a:r>
            <a:r>
              <a:rPr lang="en-GB" baseline="-25000" dirty="0"/>
              <a:t>2</a:t>
            </a:r>
            <a:r>
              <a:rPr lang="en-GB" dirty="0"/>
              <a:t> = 1/M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81D029-4F1B-40E1-8A7C-CEF2950FFEA2}"/>
              </a:ext>
            </a:extLst>
          </p:cNvPr>
          <p:cNvSpPr txBox="1"/>
          <p:nvPr/>
        </p:nvSpPr>
        <p:spPr>
          <a:xfrm>
            <a:off x="4725975" y="5102773"/>
            <a:ext cx="4536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 s</a:t>
            </a:r>
            <a:r>
              <a:rPr lang="en-GB" baseline="30000" dirty="0"/>
              <a:t>-1</a:t>
            </a:r>
            <a:r>
              <a:rPr lang="en-GB" dirty="0"/>
              <a:t>= units of k</a:t>
            </a:r>
            <a:r>
              <a:rPr lang="en-GB" baseline="-25000" dirty="0"/>
              <a:t>1</a:t>
            </a:r>
            <a:r>
              <a:rPr lang="en-GB" dirty="0"/>
              <a:t> × M</a:t>
            </a:r>
            <a:r>
              <a:rPr lang="en-GB" baseline="30000" dirty="0"/>
              <a:t>3/2</a:t>
            </a:r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E170AF8-6DF4-48FC-A0BB-D8F436D8626F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3059832" y="3140969"/>
            <a:ext cx="1666143" cy="219263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146E129-95BB-4ADD-9CDC-6BBF13621FE3}"/>
              </a:ext>
            </a:extLst>
          </p:cNvPr>
          <p:cNvCxnSpPr>
            <a:cxnSpLocks/>
          </p:cNvCxnSpPr>
          <p:nvPr/>
        </p:nvCxnSpPr>
        <p:spPr>
          <a:xfrm>
            <a:off x="3123555" y="4787796"/>
            <a:ext cx="1448445" cy="115961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B74BA46-9F21-4724-B180-BB89A0B12FD8}"/>
              </a:ext>
            </a:extLst>
          </p:cNvPr>
          <p:cNvSpPr txBox="1"/>
          <p:nvPr/>
        </p:nvSpPr>
        <p:spPr>
          <a:xfrm>
            <a:off x="4725975" y="5716574"/>
            <a:ext cx="3096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</a:t>
            </a:r>
            <a:r>
              <a:rPr lang="en-GB" baseline="30000" dirty="0"/>
              <a:t>-1</a:t>
            </a:r>
            <a:r>
              <a:rPr lang="en-GB" dirty="0"/>
              <a:t> ×  M</a:t>
            </a:r>
            <a:r>
              <a:rPr lang="en-GB" baseline="30000" dirty="0"/>
              <a:t>-1/2 </a:t>
            </a:r>
            <a:r>
              <a:rPr lang="en-GB" dirty="0"/>
              <a:t>= units of k</a:t>
            </a:r>
            <a:r>
              <a:rPr lang="en-GB" baseline="-25000" dirty="0"/>
              <a:t>1</a:t>
            </a:r>
            <a:endParaRPr lang="en-GB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B95E2F1-0700-5AC1-C65B-AD2CA400B50A}"/>
              </a:ext>
            </a:extLst>
          </p:cNvPr>
          <p:cNvGrpSpPr/>
          <p:nvPr/>
        </p:nvGrpSpPr>
        <p:grpSpPr>
          <a:xfrm>
            <a:off x="5139559" y="2657704"/>
            <a:ext cx="4122919" cy="830997"/>
            <a:chOff x="5139559" y="2657704"/>
            <a:chExt cx="4122919" cy="83099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8B30A3E-6046-4330-A8B6-3A8EC21319B9}"/>
                </a:ext>
              </a:extLst>
            </p:cNvPr>
            <p:cNvSpPr txBox="1"/>
            <p:nvPr/>
          </p:nvSpPr>
          <p:spPr>
            <a:xfrm>
              <a:off x="5139559" y="2657704"/>
              <a:ext cx="412291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M s</a:t>
              </a:r>
              <a:r>
                <a:rPr lang="en-GB" baseline="30000" dirty="0"/>
                <a:t>-1</a:t>
              </a:r>
              <a:r>
                <a:rPr lang="en-GB" dirty="0"/>
                <a:t>=   (units of k</a:t>
              </a:r>
              <a:r>
                <a:rPr lang="en-GB" baseline="-25000" dirty="0"/>
                <a:t>1</a:t>
              </a:r>
              <a:r>
                <a:rPr lang="en-GB" dirty="0"/>
                <a:t> × M</a:t>
              </a:r>
              <a:r>
                <a:rPr lang="en-GB" baseline="30000" dirty="0"/>
                <a:t>3/2</a:t>
              </a:r>
              <a:r>
                <a:rPr lang="en-GB" dirty="0"/>
                <a:t>)</a:t>
              </a:r>
            </a:p>
            <a:p>
              <a:r>
                <a:rPr lang="en-GB" dirty="0"/>
                <a:t>	 (1+ units of k</a:t>
              </a:r>
              <a:r>
                <a:rPr lang="en-GB" baseline="-25000" dirty="0"/>
                <a:t>2</a:t>
              </a:r>
              <a:r>
                <a:rPr lang="en-GB" dirty="0"/>
                <a:t> × M)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5240BEE-058F-E13F-761C-D61B1B90024A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288799" y="3073202"/>
              <a:ext cx="2308663" cy="1056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34639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/>
      <p:bldP spid="12" grpId="0"/>
      <p:bldP spid="13" grpId="0"/>
      <p:bldP spid="14" grpId="0"/>
      <p:bldP spid="16" grpId="0"/>
      <p:bldP spid="17" grpId="0"/>
      <p:bldP spid="2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B64CC-4643-2551-7556-7F386BF8F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78669-764D-5EFE-F209-9A443F2E9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 we have:</a:t>
            </a:r>
            <a:br>
              <a:rPr lang="en-US" dirty="0"/>
            </a:br>
            <a:r>
              <a:rPr lang="en-US" dirty="0"/>
              <a:t>Introduced the concept of enzyme-</a:t>
            </a:r>
            <a:r>
              <a:rPr lang="en-US" dirty="0" err="1"/>
              <a:t>catalysed</a:t>
            </a:r>
            <a:r>
              <a:rPr lang="en-US" dirty="0"/>
              <a:t> (MM) kinetics</a:t>
            </a:r>
            <a:br>
              <a:rPr lang="en-US" dirty="0"/>
            </a:br>
            <a:r>
              <a:rPr lang="en-US" dirty="0"/>
              <a:t>Understood the limiting cases of MM kinetics</a:t>
            </a:r>
            <a:br>
              <a:rPr lang="en-US" dirty="0"/>
            </a:br>
            <a:r>
              <a:rPr lang="en-US" dirty="0"/>
              <a:t>Understood the graphical method for solving MM kinetics equations</a:t>
            </a:r>
            <a:br>
              <a:rPr lang="en-US" dirty="0"/>
            </a:br>
            <a:r>
              <a:rPr lang="en-US" dirty="0"/>
              <a:t>Introduced the concept of chain reactions</a:t>
            </a:r>
            <a:br>
              <a:rPr lang="en-US" dirty="0"/>
            </a:br>
            <a:r>
              <a:rPr lang="en-US" dirty="0"/>
              <a:t>Solved a simple chain reaction equation and described its limiting cases</a:t>
            </a:r>
            <a:br>
              <a:rPr lang="en-US" dirty="0"/>
            </a:br>
            <a:r>
              <a:rPr lang="en-US" dirty="0"/>
              <a:t>Reviewed rate constants for more complex rate equations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CE387-E240-7EB3-7B86-B76B7130E6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1805150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right colours jl">
  <a:themeElements>
    <a:clrScheme name="Bright colours jl 1">
      <a:dk1>
        <a:srgbClr val="000000"/>
      </a:dk1>
      <a:lt1>
        <a:srgbClr val="F8F8F8"/>
      </a:lt1>
      <a:dk2>
        <a:srgbClr val="BF0071"/>
      </a:dk2>
      <a:lt2>
        <a:srgbClr val="1C1C1C"/>
      </a:lt2>
      <a:accent1>
        <a:srgbClr val="BF0071"/>
      </a:accent1>
      <a:accent2>
        <a:srgbClr val="808080"/>
      </a:accent2>
      <a:accent3>
        <a:srgbClr val="FBFBFB"/>
      </a:accent3>
      <a:accent4>
        <a:srgbClr val="000000"/>
      </a:accent4>
      <a:accent5>
        <a:srgbClr val="DCAABB"/>
      </a:accent5>
      <a:accent6>
        <a:srgbClr val="737373"/>
      </a:accent6>
      <a:hlink>
        <a:srgbClr val="BF0071"/>
      </a:hlink>
      <a:folHlink>
        <a:srgbClr val="777777"/>
      </a:folHlink>
    </a:clrScheme>
    <a:fontScheme name="Custom 1">
      <a:majorFont>
        <a:latin typeface="Rdg Vesta"/>
        <a:ea typeface=""/>
        <a:cs typeface=""/>
      </a:majorFont>
      <a:minorFont>
        <a:latin typeface="Rdg Ves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</a:objectDefaults>
  <a:extraClrSchemeLst>
    <a:extraClrScheme>
      <a:clrScheme name="Bright colours jl 1">
        <a:dk1>
          <a:srgbClr val="000000"/>
        </a:dk1>
        <a:lt1>
          <a:srgbClr val="F8F8F8"/>
        </a:lt1>
        <a:dk2>
          <a:srgbClr val="BF0071"/>
        </a:dk2>
        <a:lt2>
          <a:srgbClr val="1C1C1C"/>
        </a:lt2>
        <a:accent1>
          <a:srgbClr val="BF0071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DCAABB"/>
        </a:accent5>
        <a:accent6>
          <a:srgbClr val="737373"/>
        </a:accent6>
        <a:hlink>
          <a:srgbClr val="BF0071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2">
        <a:dk1>
          <a:srgbClr val="000000"/>
        </a:dk1>
        <a:lt1>
          <a:srgbClr val="F8F8F8"/>
        </a:lt1>
        <a:dk2>
          <a:srgbClr val="642864"/>
        </a:dk2>
        <a:lt2>
          <a:srgbClr val="1C1C1C"/>
        </a:lt2>
        <a:accent1>
          <a:srgbClr val="642864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B8ACB8"/>
        </a:accent5>
        <a:accent6>
          <a:srgbClr val="737373"/>
        </a:accent6>
        <a:hlink>
          <a:srgbClr val="642864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3">
        <a:dk1>
          <a:srgbClr val="000000"/>
        </a:dk1>
        <a:lt1>
          <a:srgbClr val="F8F8F8"/>
        </a:lt1>
        <a:dk2>
          <a:srgbClr val="0F5C9D"/>
        </a:dk2>
        <a:lt2>
          <a:srgbClr val="1C1C1C"/>
        </a:lt2>
        <a:accent1>
          <a:srgbClr val="0F5C9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AAB5CC"/>
        </a:accent5>
        <a:accent6>
          <a:srgbClr val="737373"/>
        </a:accent6>
        <a:hlink>
          <a:srgbClr val="0F5C9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4">
        <a:dk1>
          <a:srgbClr val="000000"/>
        </a:dk1>
        <a:lt1>
          <a:srgbClr val="F8F8F8"/>
        </a:lt1>
        <a:dk2>
          <a:srgbClr val="FF6600"/>
        </a:dk2>
        <a:lt2>
          <a:srgbClr val="1C1C1C"/>
        </a:lt2>
        <a:accent1>
          <a:srgbClr val="FF6600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FFB8AA"/>
        </a:accent5>
        <a:accent6>
          <a:srgbClr val="737373"/>
        </a:accent6>
        <a:hlink>
          <a:srgbClr val="FF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5">
        <a:dk1>
          <a:srgbClr val="000000"/>
        </a:dk1>
        <a:lt1>
          <a:srgbClr val="F8F8F8"/>
        </a:lt1>
        <a:dk2>
          <a:srgbClr val="12AD2B"/>
        </a:dk2>
        <a:lt2>
          <a:srgbClr val="1C1C1C"/>
        </a:lt2>
        <a:accent1>
          <a:srgbClr val="12AD2B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AAD3AC"/>
        </a:accent5>
        <a:accent6>
          <a:srgbClr val="737373"/>
        </a:accent6>
        <a:hlink>
          <a:srgbClr val="12AD2B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A881222930B44B81C1568F36C77FDA" ma:contentTypeVersion="13" ma:contentTypeDescription="Create a new document." ma:contentTypeScope="" ma:versionID="d4477ea23f4783088fda36cf7f63ac4c">
  <xsd:schema xmlns:xsd="http://www.w3.org/2001/XMLSchema" xmlns:xs="http://www.w3.org/2001/XMLSchema" xmlns:p="http://schemas.microsoft.com/office/2006/metadata/properties" xmlns:ns3="fb559037-4165-4a9e-8f16-1975300428b9" xmlns:ns4="ef4b941a-e2aa-4a0c-b5ee-9460c3e03c49" targetNamespace="http://schemas.microsoft.com/office/2006/metadata/properties" ma:root="true" ma:fieldsID="3e83be21e9964a9da75c45f035671791" ns3:_="" ns4:_="">
    <xsd:import namespace="fb559037-4165-4a9e-8f16-1975300428b9"/>
    <xsd:import namespace="ef4b941a-e2aa-4a0c-b5ee-9460c3e03c4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559037-4165-4a9e-8f16-1975300428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4b941a-e2aa-4a0c-b5ee-9460c3e03c4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355681-7D01-4FE3-A0E4-657FBC8464B7}">
  <ds:schemaRefs>
    <ds:schemaRef ds:uri="ef4b941a-e2aa-4a0c-b5ee-9460c3e03c49"/>
    <ds:schemaRef ds:uri="fb559037-4165-4a9e-8f16-1975300428b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EDECFB1-561F-4050-9DD5-8EE50BCDF076}">
  <ds:schemaRefs>
    <ds:schemaRef ds:uri="http://purl.org/dc/elements/1.1/"/>
    <ds:schemaRef ds:uri="http://purl.org/dc/dcmitype/"/>
    <ds:schemaRef ds:uri="fb559037-4165-4a9e-8f16-1975300428b9"/>
    <ds:schemaRef ds:uri="http://purl.org/dc/terms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ef4b941a-e2aa-4a0c-b5ee-9460c3e03c49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77FB979C-D942-49AF-8F9C-A1A8DBAEF53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Rdg_PP_without_R_WHITE_slides</Template>
  <TotalTime>142</TotalTime>
  <Words>1985</Words>
  <Application>Microsoft Macintosh PowerPoint</Application>
  <PresentationFormat>On-screen Show (4:3)</PresentationFormat>
  <Paragraphs>371</Paragraphs>
  <Slides>34</Slides>
  <Notes>25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Times</vt:lpstr>
      <vt:lpstr>Symbol</vt:lpstr>
      <vt:lpstr>Arial</vt:lpstr>
      <vt:lpstr>Cambria Math</vt:lpstr>
      <vt:lpstr>Rdg Vesta</vt:lpstr>
      <vt:lpstr>Mathematica1</vt:lpstr>
      <vt:lpstr>Bright colours jl</vt:lpstr>
      <vt:lpstr>Equation</vt:lpstr>
      <vt:lpstr>CH2PH2:  Chemical Kinetics </vt:lpstr>
      <vt:lpstr>Lecture 3</vt:lpstr>
      <vt:lpstr>michaelis-menten kinetics</vt:lpstr>
      <vt:lpstr>Michaelis-Menten Kinetics</vt:lpstr>
      <vt:lpstr>Michaelis-Menten Kinetics (cont)</vt:lpstr>
      <vt:lpstr>Michaelis-Menten: Limiting Cases</vt:lpstr>
      <vt:lpstr>Michaelis-Menten in practice</vt:lpstr>
      <vt:lpstr>chain reactions</vt:lpstr>
      <vt:lpstr>Chain Reactions</vt:lpstr>
      <vt:lpstr>Chain reactions: an example</vt:lpstr>
      <vt:lpstr>Initiation and termination</vt:lpstr>
      <vt:lpstr>Simplified kinetic scheme</vt:lpstr>
      <vt:lpstr>Worked example</vt:lpstr>
      <vt:lpstr>Worked example</vt:lpstr>
      <vt:lpstr>Relative rates and concentrations</vt:lpstr>
      <vt:lpstr>Steady-state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Steady state of H·</vt:lpstr>
      <vt:lpstr>Substitute into one part of the rate equation</vt:lpstr>
      <vt:lpstr>Consider steady-state of Br· with all steps:</vt:lpstr>
      <vt:lpstr>PowerPoint Presentation</vt:lpstr>
      <vt:lpstr>Solve to find [Br·]SS</vt:lpstr>
      <vt:lpstr>PowerPoint Presentation</vt:lpstr>
      <vt:lpstr>Which other reactions did we ignore, and why?</vt:lpstr>
      <vt:lpstr>Why ignore the other initiation steps?</vt:lpstr>
      <vt:lpstr>Why ignore other termination steps?</vt:lpstr>
      <vt:lpstr>Why is [Br·]&gt;&gt; [H·]?</vt:lpstr>
      <vt:lpstr>Rate constants and complicated  rate equations</vt:lpstr>
      <vt:lpstr>Rate constants and complicated rate equations</vt:lpstr>
      <vt:lpstr>Learning Outcomes</vt:lpstr>
    </vt:vector>
  </TitlesOfParts>
  <Company>University of Reading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scs07dn</dc:creator>
  <cp:lastModifiedBy>James Hallett</cp:lastModifiedBy>
  <cp:revision>8</cp:revision>
  <cp:lastPrinted>2006-09-19T14:59:33Z</cp:lastPrinted>
  <dcterms:created xsi:type="dcterms:W3CDTF">2009-08-10T15:23:00Z</dcterms:created>
  <dcterms:modified xsi:type="dcterms:W3CDTF">2026-02-10T10:03:28Z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0x01010064A881222930B44B81C1568F36C77FDA</vt:lpwstr>
  </property>
</Properties>
</file>