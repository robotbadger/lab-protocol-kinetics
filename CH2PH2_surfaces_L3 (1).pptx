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31"/>
  </p:notesMasterIdLst>
  <p:handoutMasterIdLst>
    <p:handoutMasterId r:id="rId32"/>
  </p:handoutMasterIdLst>
  <p:sldIdLst>
    <p:sldId id="402" r:id="rId2"/>
    <p:sldId id="284" r:id="rId3"/>
    <p:sldId id="560" r:id="rId4"/>
    <p:sldId id="563" r:id="rId5"/>
    <p:sldId id="562" r:id="rId6"/>
    <p:sldId id="561" r:id="rId7"/>
    <p:sldId id="283" r:id="rId8"/>
    <p:sldId id="564" r:id="rId9"/>
    <p:sldId id="557" r:id="rId10"/>
    <p:sldId id="285" r:id="rId11"/>
    <p:sldId id="286" r:id="rId12"/>
    <p:sldId id="287" r:id="rId13"/>
    <p:sldId id="288" r:id="rId14"/>
    <p:sldId id="565" r:id="rId15"/>
    <p:sldId id="290" r:id="rId16"/>
    <p:sldId id="291" r:id="rId17"/>
    <p:sldId id="558" r:id="rId18"/>
    <p:sldId id="289" r:id="rId19"/>
    <p:sldId id="292" r:id="rId20"/>
    <p:sldId id="293" r:id="rId21"/>
    <p:sldId id="294" r:id="rId22"/>
    <p:sldId id="299" r:id="rId23"/>
    <p:sldId id="295" r:id="rId24"/>
    <p:sldId id="296" r:id="rId25"/>
    <p:sldId id="297" r:id="rId26"/>
    <p:sldId id="298" r:id="rId27"/>
    <p:sldId id="300" r:id="rId28"/>
    <p:sldId id="559" r:id="rId29"/>
    <p:sldId id="566" r:id="rId30"/>
  </p:sldIdLst>
  <p:sldSz cx="9144000" cy="6858000" type="screen4x3"/>
  <p:notesSz cx="7099300" cy="10234613"/>
  <p:embeddedFontLst>
    <p:embeddedFont>
      <p:font typeface="Cambria Math" panose="02040503050406030204" pitchFamily="18" charset="0"/>
      <p:regular r:id="rId33"/>
    </p:embeddedFont>
    <p:embeddedFont>
      <p:font typeface="Rdg Vesta" panose="020B0604020202020204" charset="0"/>
      <p:regular r:id="rId34"/>
      <p:bold r:id="rId35"/>
      <p:italic r:id="rId36"/>
      <p:boldItalic r:id="rId37"/>
    </p:embeddedFont>
  </p:embeddedFontLst>
  <p:defaultTextStyle>
    <a:defPPr>
      <a:defRPr lang="en-GB"/>
    </a:defPPr>
    <a:lvl1pPr algn="l" rtl="0" fontAlgn="base">
      <a:spcBef>
        <a:spcPct val="0"/>
      </a:spcBef>
      <a:spcAft>
        <a:spcPct val="0"/>
      </a:spcAft>
      <a:defRPr sz="2400" kern="1200">
        <a:solidFill>
          <a:schemeClr val="tx1"/>
        </a:solidFill>
        <a:latin typeface="Rdg Vesta" pitchFamily="2" charset="0"/>
        <a:ea typeface="+mn-ea"/>
        <a:cs typeface="+mn-cs"/>
      </a:defRPr>
    </a:lvl1pPr>
    <a:lvl2pPr marL="457200" algn="l" rtl="0" fontAlgn="base">
      <a:spcBef>
        <a:spcPct val="0"/>
      </a:spcBef>
      <a:spcAft>
        <a:spcPct val="0"/>
      </a:spcAft>
      <a:defRPr sz="2400" kern="1200">
        <a:solidFill>
          <a:schemeClr val="tx1"/>
        </a:solidFill>
        <a:latin typeface="Rdg Vesta" pitchFamily="2" charset="0"/>
        <a:ea typeface="+mn-ea"/>
        <a:cs typeface="+mn-cs"/>
      </a:defRPr>
    </a:lvl2pPr>
    <a:lvl3pPr marL="914400" algn="l" rtl="0" fontAlgn="base">
      <a:spcBef>
        <a:spcPct val="0"/>
      </a:spcBef>
      <a:spcAft>
        <a:spcPct val="0"/>
      </a:spcAft>
      <a:defRPr sz="2400" kern="1200">
        <a:solidFill>
          <a:schemeClr val="tx1"/>
        </a:solidFill>
        <a:latin typeface="Rdg Vesta" pitchFamily="2" charset="0"/>
        <a:ea typeface="+mn-ea"/>
        <a:cs typeface="+mn-cs"/>
      </a:defRPr>
    </a:lvl3pPr>
    <a:lvl4pPr marL="1371600" algn="l" rtl="0" fontAlgn="base">
      <a:spcBef>
        <a:spcPct val="0"/>
      </a:spcBef>
      <a:spcAft>
        <a:spcPct val="0"/>
      </a:spcAft>
      <a:defRPr sz="2400" kern="1200">
        <a:solidFill>
          <a:schemeClr val="tx1"/>
        </a:solidFill>
        <a:latin typeface="Rdg Vesta" pitchFamily="2" charset="0"/>
        <a:ea typeface="+mn-ea"/>
        <a:cs typeface="+mn-cs"/>
      </a:defRPr>
    </a:lvl4pPr>
    <a:lvl5pPr marL="1828800" algn="l" rtl="0" fontAlgn="base">
      <a:spcBef>
        <a:spcPct val="0"/>
      </a:spcBef>
      <a:spcAft>
        <a:spcPct val="0"/>
      </a:spcAft>
      <a:defRPr sz="2400" kern="1200">
        <a:solidFill>
          <a:schemeClr val="tx1"/>
        </a:solidFill>
        <a:latin typeface="Rdg Vesta" pitchFamily="2" charset="0"/>
        <a:ea typeface="+mn-ea"/>
        <a:cs typeface="+mn-cs"/>
      </a:defRPr>
    </a:lvl5pPr>
    <a:lvl6pPr marL="2286000" algn="l" defTabSz="914400" rtl="0" eaLnBrk="1" latinLnBrk="0" hangingPunct="1">
      <a:defRPr sz="2400" kern="1200">
        <a:solidFill>
          <a:schemeClr val="tx1"/>
        </a:solidFill>
        <a:latin typeface="Rdg Vesta" pitchFamily="2" charset="0"/>
        <a:ea typeface="+mn-ea"/>
        <a:cs typeface="+mn-cs"/>
      </a:defRPr>
    </a:lvl6pPr>
    <a:lvl7pPr marL="2743200" algn="l" defTabSz="914400" rtl="0" eaLnBrk="1" latinLnBrk="0" hangingPunct="1">
      <a:defRPr sz="2400" kern="1200">
        <a:solidFill>
          <a:schemeClr val="tx1"/>
        </a:solidFill>
        <a:latin typeface="Rdg Vesta" pitchFamily="2" charset="0"/>
        <a:ea typeface="+mn-ea"/>
        <a:cs typeface="+mn-cs"/>
      </a:defRPr>
    </a:lvl7pPr>
    <a:lvl8pPr marL="3200400" algn="l" defTabSz="914400" rtl="0" eaLnBrk="1" latinLnBrk="0" hangingPunct="1">
      <a:defRPr sz="2400" kern="1200">
        <a:solidFill>
          <a:schemeClr val="tx1"/>
        </a:solidFill>
        <a:latin typeface="Rdg Vesta" pitchFamily="2" charset="0"/>
        <a:ea typeface="+mn-ea"/>
        <a:cs typeface="+mn-cs"/>
      </a:defRPr>
    </a:lvl8pPr>
    <a:lvl9pPr marL="3657600" algn="l" defTabSz="914400" rtl="0" eaLnBrk="1" latinLnBrk="0" hangingPunct="1">
      <a:defRPr sz="2400" kern="1200">
        <a:solidFill>
          <a:schemeClr val="tx1"/>
        </a:solidFill>
        <a:latin typeface="Rdg Vesta" pitchFamily="2"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AF35"/>
    <a:srgbClr val="FFFFCC"/>
    <a:srgbClr val="D799A1"/>
    <a:srgbClr val="000000"/>
    <a:srgbClr val="BF0071"/>
    <a:srgbClr val="F3F3F3"/>
    <a:srgbClr val="F0F0F0"/>
    <a:srgbClr val="EEEEEE"/>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D8C6B3-25C1-4A28-A0B8-96642D3DC917}" v="193" dt="2026-02-10T12:42:39.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586" autoAdjust="0"/>
    <p:restoredTop sz="92686" autoAdjust="0"/>
  </p:normalViewPr>
  <p:slideViewPr>
    <p:cSldViewPr>
      <p:cViewPr varScale="1">
        <p:scale>
          <a:sx n="114" d="100"/>
          <a:sy n="114" d="100"/>
        </p:scale>
        <p:origin x="984" y="176"/>
      </p:cViewPr>
      <p:guideLst>
        <p:guide orient="horz" pos="2160"/>
        <p:guide pos="2880"/>
      </p:guideLst>
    </p:cSldViewPr>
  </p:slideViewPr>
  <p:outlineViewPr>
    <p:cViewPr>
      <p:scale>
        <a:sx n="33" d="100"/>
        <a:sy n="33" d="100"/>
      </p:scale>
      <p:origin x="0" y="15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2.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Hallett" userId="c714d19a-e50d-439a-876c-0e1be1458f92" providerId="ADAL" clId="{9E63729E-F98D-59AE-8FA6-FDDC881E90FE}"/>
    <pc:docChg chg="addSld">
      <pc:chgData name="James Hallett" userId="c714d19a-e50d-439a-876c-0e1be1458f92" providerId="ADAL" clId="{9E63729E-F98D-59AE-8FA6-FDDC881E90FE}" dt="2026-02-03T16:29:34.807" v="0" actId="680"/>
      <pc:docMkLst>
        <pc:docMk/>
      </pc:docMkLst>
      <pc:sldChg chg="new">
        <pc:chgData name="James Hallett" userId="c714d19a-e50d-439a-876c-0e1be1458f92" providerId="ADAL" clId="{9E63729E-F98D-59AE-8FA6-FDDC881E90FE}" dt="2026-02-03T16:29:34.807" v="0" actId="680"/>
        <pc:sldMkLst>
          <pc:docMk/>
          <pc:sldMk cId="2075226486" sldId="565"/>
        </pc:sldMkLst>
      </pc:sldChg>
    </pc:docChg>
  </pc:docChgLst>
  <pc:docChgLst>
    <pc:chgData name="James Hallett" userId="S::je925493@reading.ac.uk::c714d19a-e50d-439a-876c-0e1be1458f92" providerId="AD" clId="Web-{E0D8C6B3-25C1-4A28-A0B8-96642D3DC917}"/>
    <pc:docChg chg="addSld modSld">
      <pc:chgData name="James Hallett" userId="S::je925493@reading.ac.uk::c714d19a-e50d-439a-876c-0e1be1458f92" providerId="AD" clId="Web-{E0D8C6B3-25C1-4A28-A0B8-96642D3DC917}" dt="2026-02-10T12:42:39.993" v="190" actId="20577"/>
      <pc:docMkLst>
        <pc:docMk/>
      </pc:docMkLst>
      <pc:sldChg chg="addSp modSp new mod modClrScheme chgLayout">
        <pc:chgData name="James Hallett" userId="S::je925493@reading.ac.uk::c714d19a-e50d-439a-876c-0e1be1458f92" providerId="AD" clId="Web-{E0D8C6B3-25C1-4A28-A0B8-96642D3DC917}" dt="2026-02-10T12:42:39.993" v="190" actId="20577"/>
        <pc:sldMkLst>
          <pc:docMk/>
          <pc:sldMk cId="2393038859" sldId="566"/>
        </pc:sldMkLst>
        <pc:spChg chg="mod ord">
          <ac:chgData name="James Hallett" userId="S::je925493@reading.ac.uk::c714d19a-e50d-439a-876c-0e1be1458f92" providerId="AD" clId="Web-{E0D8C6B3-25C1-4A28-A0B8-96642D3DC917}" dt="2026-02-10T12:40:17.344" v="1"/>
          <ac:spMkLst>
            <pc:docMk/>
            <pc:sldMk cId="2393038859" sldId="566"/>
            <ac:spMk id="2" creationId="{5268B0DB-43CD-A28F-495B-20A72BFACA4C}"/>
          </ac:spMkLst>
        </pc:spChg>
        <pc:spChg chg="add mod ord">
          <ac:chgData name="James Hallett" userId="S::je925493@reading.ac.uk::c714d19a-e50d-439a-876c-0e1be1458f92" providerId="AD" clId="Web-{E0D8C6B3-25C1-4A28-A0B8-96642D3DC917}" dt="2026-02-10T12:40:21.610" v="14" actId="20577"/>
          <ac:spMkLst>
            <pc:docMk/>
            <pc:sldMk cId="2393038859" sldId="566"/>
            <ac:spMk id="3" creationId="{8E0625BE-CB77-6804-833E-23C6FE54E310}"/>
          </ac:spMkLst>
        </pc:spChg>
        <pc:spChg chg="add mod ord">
          <ac:chgData name="James Hallett" userId="S::je925493@reading.ac.uk::c714d19a-e50d-439a-876c-0e1be1458f92" providerId="AD" clId="Web-{E0D8C6B3-25C1-4A28-A0B8-96642D3DC917}" dt="2026-02-10T12:42:39.993" v="190" actId="20577"/>
          <ac:spMkLst>
            <pc:docMk/>
            <pc:sldMk cId="2393038859" sldId="566"/>
            <ac:spMk id="4" creationId="{746D11C5-EDA2-7B33-2ED3-64DEB35DBB5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9778" name="Rectangle 2"/>
          <p:cNvSpPr>
            <a:spLocks noGrp="1" noChangeArrowheads="1"/>
          </p:cNvSpPr>
          <p:nvPr>
            <p:ph type="hdr" sz="quarter"/>
          </p:nvPr>
        </p:nvSpPr>
        <p:spPr bwMode="auto">
          <a:xfrm>
            <a:off x="1" y="1"/>
            <a:ext cx="3076587" cy="512060"/>
          </a:xfrm>
          <a:prstGeom prst="rect">
            <a:avLst/>
          </a:prstGeom>
          <a:noFill/>
          <a:ln w="9525">
            <a:noFill/>
            <a:miter lim="800000"/>
            <a:headEnd/>
            <a:tailEnd/>
          </a:ln>
          <a:effectLst/>
        </p:spPr>
        <p:txBody>
          <a:bodyPr vert="horz" wrap="square" lIns="95549" tIns="47773" rIns="95549" bIns="47773" numCol="1" anchor="ctr" anchorCtr="0" compatLnSpc="1">
            <a:prstTxWarp prst="textNoShape">
              <a:avLst/>
            </a:prstTxWarp>
          </a:bodyPr>
          <a:lstStyle>
            <a:lvl1pPr>
              <a:defRPr sz="1300">
                <a:solidFill>
                  <a:schemeClr val="bg1"/>
                </a:solidFill>
              </a:defRPr>
            </a:lvl1pPr>
          </a:lstStyle>
          <a:p>
            <a:endParaRPr lang="en-GB"/>
          </a:p>
        </p:txBody>
      </p:sp>
      <p:sp>
        <p:nvSpPr>
          <p:cNvPr id="459779" name="Rectangle 3"/>
          <p:cNvSpPr>
            <a:spLocks noGrp="1" noChangeArrowheads="1"/>
          </p:cNvSpPr>
          <p:nvPr>
            <p:ph type="dt" sz="quarter" idx="1"/>
          </p:nvPr>
        </p:nvSpPr>
        <p:spPr bwMode="auto">
          <a:xfrm>
            <a:off x="4022714" y="1"/>
            <a:ext cx="3076587" cy="512060"/>
          </a:xfrm>
          <a:prstGeom prst="rect">
            <a:avLst/>
          </a:prstGeom>
          <a:noFill/>
          <a:ln w="9525">
            <a:noFill/>
            <a:miter lim="800000"/>
            <a:headEnd/>
            <a:tailEnd/>
          </a:ln>
          <a:effectLst/>
        </p:spPr>
        <p:txBody>
          <a:bodyPr vert="horz" wrap="square" lIns="95549" tIns="47773" rIns="95549" bIns="47773" numCol="1" anchor="ctr" anchorCtr="0" compatLnSpc="1">
            <a:prstTxWarp prst="textNoShape">
              <a:avLst/>
            </a:prstTxWarp>
          </a:bodyPr>
          <a:lstStyle>
            <a:lvl1pPr algn="r">
              <a:defRPr sz="1300">
                <a:solidFill>
                  <a:schemeClr val="bg1"/>
                </a:solidFill>
              </a:defRPr>
            </a:lvl1pPr>
          </a:lstStyle>
          <a:p>
            <a:endParaRPr lang="en-GB"/>
          </a:p>
        </p:txBody>
      </p:sp>
      <p:sp>
        <p:nvSpPr>
          <p:cNvPr id="459780" name="Rectangle 4"/>
          <p:cNvSpPr>
            <a:spLocks noGrp="1" noChangeArrowheads="1"/>
          </p:cNvSpPr>
          <p:nvPr>
            <p:ph type="ftr" sz="quarter" idx="2"/>
          </p:nvPr>
        </p:nvSpPr>
        <p:spPr bwMode="auto">
          <a:xfrm>
            <a:off x="1" y="9722554"/>
            <a:ext cx="3076587" cy="512059"/>
          </a:xfrm>
          <a:prstGeom prst="rect">
            <a:avLst/>
          </a:prstGeom>
          <a:noFill/>
          <a:ln w="9525">
            <a:noFill/>
            <a:miter lim="800000"/>
            <a:headEnd/>
            <a:tailEnd/>
          </a:ln>
          <a:effectLst/>
        </p:spPr>
        <p:txBody>
          <a:bodyPr vert="horz" wrap="square" lIns="95549" tIns="47773" rIns="95549" bIns="47773" numCol="1" anchor="b" anchorCtr="0" compatLnSpc="1">
            <a:prstTxWarp prst="textNoShape">
              <a:avLst/>
            </a:prstTxWarp>
          </a:bodyPr>
          <a:lstStyle>
            <a:lvl1pPr>
              <a:defRPr sz="1300">
                <a:solidFill>
                  <a:schemeClr val="bg1"/>
                </a:solidFill>
              </a:defRPr>
            </a:lvl1pPr>
          </a:lstStyle>
          <a:p>
            <a:endParaRPr lang="en-GB"/>
          </a:p>
        </p:txBody>
      </p:sp>
      <p:sp>
        <p:nvSpPr>
          <p:cNvPr id="459781" name="Rectangle 5"/>
          <p:cNvSpPr>
            <a:spLocks noGrp="1" noChangeArrowheads="1"/>
          </p:cNvSpPr>
          <p:nvPr>
            <p:ph type="sldNum" sz="quarter" idx="3"/>
          </p:nvPr>
        </p:nvSpPr>
        <p:spPr bwMode="auto">
          <a:xfrm>
            <a:off x="4022714" y="9722554"/>
            <a:ext cx="3076587" cy="512059"/>
          </a:xfrm>
          <a:prstGeom prst="rect">
            <a:avLst/>
          </a:prstGeom>
          <a:noFill/>
          <a:ln w="9525">
            <a:noFill/>
            <a:miter lim="800000"/>
            <a:headEnd/>
            <a:tailEnd/>
          </a:ln>
          <a:effectLst/>
        </p:spPr>
        <p:txBody>
          <a:bodyPr vert="horz" wrap="square" lIns="95549" tIns="47773" rIns="95549" bIns="47773" numCol="1" anchor="b" anchorCtr="0" compatLnSpc="1">
            <a:prstTxWarp prst="textNoShape">
              <a:avLst/>
            </a:prstTxWarp>
          </a:bodyPr>
          <a:lstStyle>
            <a:lvl1pPr algn="r">
              <a:defRPr sz="1300">
                <a:solidFill>
                  <a:schemeClr val="bg1"/>
                </a:solidFill>
              </a:defRPr>
            </a:lvl1pPr>
          </a:lstStyle>
          <a:p>
            <a:fld id="{DC1C926E-E5D6-49FD-80FB-3D308DC41FF0}" type="slidenum">
              <a:rPr lang="en-GB"/>
              <a:pPr/>
              <a:t>‹#›</a:t>
            </a:fld>
            <a:endParaRPr lang="en-GB"/>
          </a:p>
        </p:txBody>
      </p:sp>
    </p:spTree>
    <p:extLst>
      <p:ext uri="{BB962C8B-B14F-4D97-AF65-F5344CB8AC3E}">
        <p14:creationId xmlns:p14="http://schemas.microsoft.com/office/powerpoint/2010/main" val="40232984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1" y="1"/>
            <a:ext cx="3076587" cy="512060"/>
          </a:xfrm>
          <a:prstGeom prst="rect">
            <a:avLst/>
          </a:prstGeom>
          <a:noFill/>
          <a:ln w="9525">
            <a:noFill/>
            <a:miter lim="800000"/>
            <a:headEnd/>
            <a:tailEnd/>
          </a:ln>
          <a:effectLst/>
        </p:spPr>
        <p:txBody>
          <a:bodyPr vert="horz" wrap="square" lIns="95549" tIns="47773" rIns="95549" bIns="47773" numCol="1" anchor="t" anchorCtr="0" compatLnSpc="1">
            <a:prstTxWarp prst="textNoShape">
              <a:avLst/>
            </a:prstTxWarp>
          </a:bodyPr>
          <a:lstStyle>
            <a:lvl1pPr>
              <a:defRPr sz="1300"/>
            </a:lvl1pPr>
          </a:lstStyle>
          <a:p>
            <a:endParaRPr lang="en-GB"/>
          </a:p>
        </p:txBody>
      </p:sp>
      <p:sp>
        <p:nvSpPr>
          <p:cNvPr id="9219" name="Rectangle 3"/>
          <p:cNvSpPr>
            <a:spLocks noGrp="1" noChangeArrowheads="1"/>
          </p:cNvSpPr>
          <p:nvPr>
            <p:ph type="dt" idx="1"/>
          </p:nvPr>
        </p:nvSpPr>
        <p:spPr bwMode="auto">
          <a:xfrm>
            <a:off x="4021037" y="1"/>
            <a:ext cx="3076587" cy="512060"/>
          </a:xfrm>
          <a:prstGeom prst="rect">
            <a:avLst/>
          </a:prstGeom>
          <a:noFill/>
          <a:ln w="9525">
            <a:noFill/>
            <a:miter lim="800000"/>
            <a:headEnd/>
            <a:tailEnd/>
          </a:ln>
          <a:effectLst/>
        </p:spPr>
        <p:txBody>
          <a:bodyPr vert="horz" wrap="square" lIns="95549" tIns="47773" rIns="95549" bIns="47773" numCol="1" anchor="t" anchorCtr="0" compatLnSpc="1">
            <a:prstTxWarp prst="textNoShape">
              <a:avLst/>
            </a:prstTxWarp>
          </a:bodyPr>
          <a:lstStyle>
            <a:lvl1pPr algn="r">
              <a:defRPr sz="1300"/>
            </a:lvl1pPr>
          </a:lstStyle>
          <a:p>
            <a:endParaRPr lang="en-GB"/>
          </a:p>
        </p:txBody>
      </p:sp>
      <p:sp>
        <p:nvSpPr>
          <p:cNvPr id="9220" name="Rectangle 4"/>
          <p:cNvSpPr>
            <a:spLocks noGrp="1" noRot="1" noChangeAspect="1" noChangeArrowheads="1" noTextEdit="1"/>
          </p:cNvSpPr>
          <p:nvPr>
            <p:ph type="sldImg" idx="2"/>
          </p:nvPr>
        </p:nvSpPr>
        <p:spPr bwMode="auto">
          <a:xfrm>
            <a:off x="992188" y="766763"/>
            <a:ext cx="5118100" cy="3838575"/>
          </a:xfrm>
          <a:prstGeom prst="rect">
            <a:avLst/>
          </a:prstGeom>
          <a:noFill/>
          <a:ln w="9525">
            <a:solidFill>
              <a:srgbClr val="000000"/>
            </a:solidFill>
            <a:miter lim="800000"/>
            <a:headEnd/>
            <a:tailEnd/>
          </a:ln>
          <a:effectLst/>
        </p:spPr>
      </p:sp>
      <p:sp>
        <p:nvSpPr>
          <p:cNvPr id="9221" name="Rectangle 5"/>
          <p:cNvSpPr>
            <a:spLocks noGrp="1" noChangeArrowheads="1"/>
          </p:cNvSpPr>
          <p:nvPr>
            <p:ph type="body" sz="quarter" idx="3"/>
          </p:nvPr>
        </p:nvSpPr>
        <p:spPr bwMode="auto">
          <a:xfrm>
            <a:off x="709596" y="4862101"/>
            <a:ext cx="5680111" cy="4605246"/>
          </a:xfrm>
          <a:prstGeom prst="rect">
            <a:avLst/>
          </a:prstGeom>
          <a:noFill/>
          <a:ln w="9525">
            <a:noFill/>
            <a:miter lim="800000"/>
            <a:headEnd/>
            <a:tailEnd/>
          </a:ln>
          <a:effectLst/>
        </p:spPr>
        <p:txBody>
          <a:bodyPr vert="horz" wrap="square" lIns="95549" tIns="47773" rIns="95549" bIns="47773"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222" name="Rectangle 6"/>
          <p:cNvSpPr>
            <a:spLocks noGrp="1" noChangeArrowheads="1"/>
          </p:cNvSpPr>
          <p:nvPr>
            <p:ph type="ftr" sz="quarter" idx="4"/>
          </p:nvPr>
        </p:nvSpPr>
        <p:spPr bwMode="auto">
          <a:xfrm>
            <a:off x="1" y="9720907"/>
            <a:ext cx="3076587" cy="512060"/>
          </a:xfrm>
          <a:prstGeom prst="rect">
            <a:avLst/>
          </a:prstGeom>
          <a:noFill/>
          <a:ln w="9525">
            <a:noFill/>
            <a:miter lim="800000"/>
            <a:headEnd/>
            <a:tailEnd/>
          </a:ln>
          <a:effectLst/>
        </p:spPr>
        <p:txBody>
          <a:bodyPr vert="horz" wrap="square" lIns="95549" tIns="47773" rIns="95549" bIns="47773" numCol="1" anchor="b" anchorCtr="0" compatLnSpc="1">
            <a:prstTxWarp prst="textNoShape">
              <a:avLst/>
            </a:prstTxWarp>
          </a:bodyPr>
          <a:lstStyle>
            <a:lvl1pPr>
              <a:defRPr sz="1300"/>
            </a:lvl1pPr>
          </a:lstStyle>
          <a:p>
            <a:endParaRPr lang="en-GB"/>
          </a:p>
        </p:txBody>
      </p:sp>
      <p:sp>
        <p:nvSpPr>
          <p:cNvPr id="9223" name="Rectangle 7"/>
          <p:cNvSpPr>
            <a:spLocks noGrp="1" noChangeArrowheads="1"/>
          </p:cNvSpPr>
          <p:nvPr>
            <p:ph type="sldNum" sz="quarter" idx="5"/>
          </p:nvPr>
        </p:nvSpPr>
        <p:spPr bwMode="auto">
          <a:xfrm>
            <a:off x="4021037" y="9720907"/>
            <a:ext cx="3076587" cy="512060"/>
          </a:xfrm>
          <a:prstGeom prst="rect">
            <a:avLst/>
          </a:prstGeom>
          <a:noFill/>
          <a:ln w="9525">
            <a:noFill/>
            <a:miter lim="800000"/>
            <a:headEnd/>
            <a:tailEnd/>
          </a:ln>
          <a:effectLst/>
        </p:spPr>
        <p:txBody>
          <a:bodyPr vert="horz" wrap="square" lIns="95549" tIns="47773" rIns="95549" bIns="47773" numCol="1" anchor="b" anchorCtr="0" compatLnSpc="1">
            <a:prstTxWarp prst="textNoShape">
              <a:avLst/>
            </a:prstTxWarp>
          </a:bodyPr>
          <a:lstStyle>
            <a:lvl1pPr algn="r">
              <a:defRPr sz="1300"/>
            </a:lvl1pPr>
          </a:lstStyle>
          <a:p>
            <a:fld id="{600D5460-E14D-44CF-821C-69F40963C657}" type="slidenum">
              <a:rPr lang="en-GB"/>
              <a:pPr/>
              <a:t>‹#›</a:t>
            </a:fld>
            <a:endParaRPr lang="en-GB"/>
          </a:p>
        </p:txBody>
      </p:sp>
    </p:spTree>
    <p:extLst>
      <p:ext uri="{BB962C8B-B14F-4D97-AF65-F5344CB8AC3E}">
        <p14:creationId xmlns:p14="http://schemas.microsoft.com/office/powerpoint/2010/main" val="348432858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Rdg Vesta" pitchFamily="2" charset="0"/>
        <a:ea typeface="+mn-ea"/>
        <a:cs typeface="+mn-cs"/>
      </a:defRPr>
    </a:lvl1pPr>
    <a:lvl2pPr marL="457200" algn="l" rtl="0" fontAlgn="base">
      <a:spcBef>
        <a:spcPct val="30000"/>
      </a:spcBef>
      <a:spcAft>
        <a:spcPct val="0"/>
      </a:spcAft>
      <a:defRPr sz="1200" kern="1200">
        <a:solidFill>
          <a:schemeClr val="tx1"/>
        </a:solidFill>
        <a:latin typeface="Rdg Vesta" pitchFamily="2" charset="0"/>
        <a:ea typeface="+mn-ea"/>
        <a:cs typeface="+mn-cs"/>
      </a:defRPr>
    </a:lvl2pPr>
    <a:lvl3pPr marL="914400" algn="l" rtl="0" fontAlgn="base">
      <a:spcBef>
        <a:spcPct val="30000"/>
      </a:spcBef>
      <a:spcAft>
        <a:spcPct val="0"/>
      </a:spcAft>
      <a:defRPr sz="1200" kern="1200">
        <a:solidFill>
          <a:schemeClr val="tx1"/>
        </a:solidFill>
        <a:latin typeface="Rdg Vesta" pitchFamily="2" charset="0"/>
        <a:ea typeface="+mn-ea"/>
        <a:cs typeface="+mn-cs"/>
      </a:defRPr>
    </a:lvl3pPr>
    <a:lvl4pPr marL="1371600" algn="l" rtl="0" fontAlgn="base">
      <a:spcBef>
        <a:spcPct val="30000"/>
      </a:spcBef>
      <a:spcAft>
        <a:spcPct val="0"/>
      </a:spcAft>
      <a:defRPr sz="1200" kern="1200">
        <a:solidFill>
          <a:schemeClr val="tx1"/>
        </a:solidFill>
        <a:latin typeface="Rdg Vesta" pitchFamily="2" charset="0"/>
        <a:ea typeface="+mn-ea"/>
        <a:cs typeface="+mn-cs"/>
      </a:defRPr>
    </a:lvl4pPr>
    <a:lvl5pPr marL="1828800" algn="l" rtl="0" fontAlgn="base">
      <a:spcBef>
        <a:spcPct val="30000"/>
      </a:spcBef>
      <a:spcAft>
        <a:spcPct val="0"/>
      </a:spcAft>
      <a:defRPr sz="1200" kern="1200">
        <a:solidFill>
          <a:schemeClr val="tx1"/>
        </a:solidFill>
        <a:latin typeface="Rdg Vesta"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6763"/>
            <a:ext cx="5118100" cy="38385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00D5460-E14D-44CF-821C-69F40963C657}" type="slidenum">
              <a:rPr lang="en-GB" smtClean="0"/>
              <a:pPr/>
              <a:t>1</a:t>
            </a:fld>
            <a:endParaRPr lang="en-GB"/>
          </a:p>
        </p:txBody>
      </p:sp>
    </p:spTree>
    <p:extLst>
      <p:ext uri="{BB962C8B-B14F-4D97-AF65-F5344CB8AC3E}">
        <p14:creationId xmlns:p14="http://schemas.microsoft.com/office/powerpoint/2010/main" val="446645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0D5460-E14D-44CF-821C-69F40963C657}" type="slidenum">
              <a:rPr lang="en-GB" smtClean="0"/>
              <a:pPr/>
              <a:t>9</a:t>
            </a:fld>
            <a:endParaRPr lang="en-GB"/>
          </a:p>
        </p:txBody>
      </p:sp>
    </p:spTree>
    <p:extLst>
      <p:ext uri="{BB962C8B-B14F-4D97-AF65-F5344CB8AC3E}">
        <p14:creationId xmlns:p14="http://schemas.microsoft.com/office/powerpoint/2010/main" val="3705290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P number of free surfactant molecules or associated surfactant molecules </a:t>
            </a:r>
            <a:r>
              <a:rPr lang="en-US" dirty="0" err="1"/>
              <a:t>S_p</a:t>
            </a:r>
            <a:r>
              <a:rPr lang="en-US" dirty="0"/>
              <a:t> containing p molecules</a:t>
            </a:r>
          </a:p>
          <a:p>
            <a:r>
              <a:rPr lang="en-US" dirty="0"/>
              <a:t>Cp concentration of micelles of association number p</a:t>
            </a:r>
          </a:p>
          <a:p>
            <a:r>
              <a:rPr lang="en-US" dirty="0"/>
              <a:t>Cs concentration of unassociated surfactant.</a:t>
            </a:r>
          </a:p>
        </p:txBody>
      </p:sp>
      <p:sp>
        <p:nvSpPr>
          <p:cNvPr id="4" name="Slide Number Placeholder 3"/>
          <p:cNvSpPr>
            <a:spLocks noGrp="1"/>
          </p:cNvSpPr>
          <p:nvPr>
            <p:ph type="sldNum" sz="quarter" idx="5"/>
          </p:nvPr>
        </p:nvSpPr>
        <p:spPr/>
        <p:txBody>
          <a:bodyPr/>
          <a:lstStyle/>
          <a:p>
            <a:fld id="{600D5460-E14D-44CF-821C-69F40963C657}" type="slidenum">
              <a:rPr lang="en-GB" smtClean="0"/>
              <a:pPr/>
              <a:t>18</a:t>
            </a:fld>
            <a:endParaRPr lang="en-GB"/>
          </a:p>
        </p:txBody>
      </p:sp>
    </p:spTree>
    <p:extLst>
      <p:ext uri="{BB962C8B-B14F-4D97-AF65-F5344CB8AC3E}">
        <p14:creationId xmlns:p14="http://schemas.microsoft.com/office/powerpoint/2010/main" val="3918640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0D5460-E14D-44CF-821C-69F40963C657}" type="slidenum">
              <a:rPr lang="en-GB" smtClean="0"/>
              <a:pPr/>
              <a:t>19</a:t>
            </a:fld>
            <a:endParaRPr lang="en-GB"/>
          </a:p>
        </p:txBody>
      </p:sp>
    </p:spTree>
    <p:extLst>
      <p:ext uri="{BB962C8B-B14F-4D97-AF65-F5344CB8AC3E}">
        <p14:creationId xmlns:p14="http://schemas.microsoft.com/office/powerpoint/2010/main" val="2345506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Title Slide">
    <p:spTree>
      <p:nvGrpSpPr>
        <p:cNvPr id="1" name=""/>
        <p:cNvGrpSpPr/>
        <p:nvPr/>
      </p:nvGrpSpPr>
      <p:grpSpPr>
        <a:xfrm>
          <a:off x="0" y="0"/>
          <a:ext cx="0" cy="0"/>
          <a:chOff x="0" y="0"/>
          <a:chExt cx="0" cy="0"/>
        </a:xfrm>
      </p:grpSpPr>
      <p:sp>
        <p:nvSpPr>
          <p:cNvPr id="3113" name="Rectangle 41"/>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2400"/>
          </a:p>
        </p:txBody>
      </p:sp>
      <p:pic>
        <p:nvPicPr>
          <p:cNvPr id="3111" name="Picture 39" descr="Device-blac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4751" y="438150"/>
            <a:ext cx="1184275" cy="387350"/>
          </a:xfrm>
          <a:prstGeom prst="rect">
            <a:avLst/>
          </a:prstGeom>
          <a:noFill/>
          <a:extLst>
            <a:ext uri="{909E8E84-426E-40DD-AFC4-6F175D3DCCD1}">
              <a14:hiddenFill xmlns:a14="http://schemas.microsoft.com/office/drawing/2010/main">
                <a:solidFill>
                  <a:srgbClr val="FFFFFF"/>
                </a:solidFill>
              </a14:hiddenFill>
            </a:ext>
          </a:extLst>
        </p:spPr>
      </p:pic>
      <p:sp>
        <p:nvSpPr>
          <p:cNvPr id="3083" name="Rectangle 11"/>
          <p:cNvSpPr>
            <a:spLocks noGrp="1" noChangeArrowheads="1"/>
          </p:cNvSpPr>
          <p:nvPr>
            <p:ph type="ctrTitle"/>
          </p:nvPr>
        </p:nvSpPr>
        <p:spPr>
          <a:xfrm>
            <a:off x="755650" y="2987675"/>
            <a:ext cx="7920038" cy="2387600"/>
          </a:xfrm>
        </p:spPr>
        <p:txBody>
          <a:bodyPr wrap="square"/>
          <a:lstStyle>
            <a:lvl1pPr>
              <a:lnSpc>
                <a:spcPct val="90000"/>
              </a:lnSpc>
              <a:tabLst>
                <a:tab pos="4038600" algn="l"/>
              </a:tabLst>
              <a:defRPr sz="8200"/>
            </a:lvl1pPr>
          </a:lstStyle>
          <a:p>
            <a:pPr lvl="0"/>
            <a:r>
              <a:rPr lang="en-US" noProof="0"/>
              <a:t>Click to edit Master title style</a:t>
            </a:r>
            <a:endParaRPr lang="en-GB" noProof="0"/>
          </a:p>
        </p:txBody>
      </p:sp>
      <p:sp>
        <p:nvSpPr>
          <p:cNvPr id="3084" name="Rectangle 12"/>
          <p:cNvSpPr>
            <a:spLocks noGrp="1" noChangeArrowheads="1"/>
          </p:cNvSpPr>
          <p:nvPr>
            <p:ph type="subTitle" idx="1"/>
          </p:nvPr>
        </p:nvSpPr>
        <p:spPr>
          <a:xfrm>
            <a:off x="755650" y="5373688"/>
            <a:ext cx="7920038" cy="925512"/>
          </a:xfrm>
        </p:spPr>
        <p:txBody>
          <a:bodyPr/>
          <a:lstStyle>
            <a:lvl1pPr marL="0" indent="0">
              <a:buFontTx/>
              <a:buNone/>
              <a:defRPr sz="3600">
                <a:solidFill>
                  <a:srgbClr val="000000"/>
                </a:solidFill>
              </a:defRPr>
            </a:lvl1pPr>
          </a:lstStyle>
          <a:p>
            <a:pPr lvl="0"/>
            <a:r>
              <a:rPr lang="en-US" noProof="0"/>
              <a:t>Click to edit Master subtitle style</a:t>
            </a:r>
            <a:endParaRPr lang="en-GB" noProof="0"/>
          </a:p>
        </p:txBody>
      </p:sp>
      <p:sp>
        <p:nvSpPr>
          <p:cNvPr id="3089" name="Rectangle 17"/>
          <p:cNvSpPr>
            <a:spLocks noGrp="1" noChangeArrowheads="1"/>
          </p:cNvSpPr>
          <p:nvPr>
            <p:ph type="dt" sz="half" idx="2"/>
          </p:nvPr>
        </p:nvSpPr>
        <p:spPr bwMode="auto">
          <a:xfrm>
            <a:off x="755651" y="6519863"/>
            <a:ext cx="1773238"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901E09E9-B828-4F07-8691-56061D7C279E}" type="datetime4">
              <a:rPr lang="en-GB"/>
              <a:pPr/>
              <a:t>10 February 2026</a:t>
            </a:fld>
            <a:endParaRPr lang="en-GB"/>
          </a:p>
        </p:txBody>
      </p:sp>
      <p:sp>
        <p:nvSpPr>
          <p:cNvPr id="3090" name="Rectangle 18"/>
          <p:cNvSpPr>
            <a:spLocks noChangeArrowheads="1"/>
          </p:cNvSpPr>
          <p:nvPr/>
        </p:nvSpPr>
        <p:spPr bwMode="auto">
          <a:xfrm>
            <a:off x="2555876" y="6519863"/>
            <a:ext cx="439261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sz="1400">
                <a:solidFill>
                  <a:schemeClr val="tx2"/>
                </a:solidFill>
              </a:rPr>
              <a:t>© University of Reading 2008</a:t>
            </a:r>
          </a:p>
        </p:txBody>
      </p:sp>
      <p:sp>
        <p:nvSpPr>
          <p:cNvPr id="3091" name="Text Box 19"/>
          <p:cNvSpPr txBox="1">
            <a:spLocks noChangeArrowheads="1"/>
          </p:cNvSpPr>
          <p:nvPr/>
        </p:nvSpPr>
        <p:spPr bwMode="auto">
          <a:xfrm>
            <a:off x="5292725" y="6519863"/>
            <a:ext cx="34464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n-GB" sz="1400" b="1">
                <a:solidFill>
                  <a:schemeClr val="tx2"/>
                </a:solidFill>
              </a:rPr>
              <a:t>www.reading.ac.uk</a:t>
            </a:r>
          </a:p>
        </p:txBody>
      </p:sp>
      <p:sp>
        <p:nvSpPr>
          <p:cNvPr id="3108" name="Rectangle 36"/>
          <p:cNvSpPr>
            <a:spLocks noChangeArrowheads="1"/>
          </p:cNvSpPr>
          <p:nvPr/>
        </p:nvSpPr>
        <p:spPr bwMode="hidden">
          <a:xfrm>
            <a:off x="6588126" y="2"/>
            <a:ext cx="2555875" cy="1196975"/>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2400"/>
          </a:p>
        </p:txBody>
      </p:sp>
      <p:sp>
        <p:nvSpPr>
          <p:cNvPr id="3110" name="Text Box 38"/>
          <p:cNvSpPr txBox="1">
            <a:spLocks noChangeArrowheads="1"/>
          </p:cNvSpPr>
          <p:nvPr/>
        </p:nvSpPr>
        <p:spPr bwMode="auto">
          <a:xfrm>
            <a:off x="855664" y="333375"/>
            <a:ext cx="367188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GB" sz="1300" b="1"/>
              <a:t>Go to View &gt; Master &gt; Slide Master </a:t>
            </a:r>
            <a:br>
              <a:rPr lang="en-GB" sz="1300" b="1"/>
            </a:br>
            <a:r>
              <a:rPr lang="en-GB" sz="1300" b="1"/>
              <a:t>to put your unit name here</a:t>
            </a:r>
          </a:p>
        </p:txBody>
      </p:sp>
      <p:pic>
        <p:nvPicPr>
          <p:cNvPr id="3107" name="Picture 35" descr="Device-whit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hidden">
          <a:xfrm>
            <a:off x="7524751" y="438150"/>
            <a:ext cx="1184275" cy="387350"/>
          </a:xfrm>
          <a:prstGeom prst="rect">
            <a:avLst/>
          </a:prstGeom>
          <a:solidFill>
            <a:srgbClr val="FFFFFF"/>
          </a:solidFill>
        </p:spPr>
      </p:pic>
      <p:pic>
        <p:nvPicPr>
          <p:cNvPr id="3114" name="Picture 42" descr="powerpoint-imag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4089" y="981077"/>
            <a:ext cx="5346700" cy="194627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41"/>
          <p:cNvSpPr>
            <a:spLocks noChangeArrowheads="1"/>
          </p:cNvSpPr>
          <p:nvPr userDrawn="1"/>
        </p:nvSpPr>
        <p:spPr bwMode="auto">
          <a:xfrm>
            <a:off x="0" y="0"/>
            <a:ext cx="9144000" cy="6858000"/>
          </a:xfrm>
          <a:prstGeom prst="rect">
            <a:avLst/>
          </a:prstGeom>
          <a:solidFill>
            <a:srgbClr val="FFFFFF"/>
          </a:solidFill>
          <a:ln w="9525" algn="ctr">
            <a:noFill/>
            <a:miter lim="800000"/>
            <a:headEnd/>
            <a:tailEnd/>
          </a:ln>
          <a:effectLst/>
        </p:spPr>
        <p:txBody>
          <a:bodyPr wrap="none" anchor="ctr"/>
          <a:lstStyle/>
          <a:p>
            <a:endParaRPr lang="en-GB" sz="2400"/>
          </a:p>
        </p:txBody>
      </p:sp>
      <p:pic>
        <p:nvPicPr>
          <p:cNvPr id="14" name="Picture 39" descr="Device-black"/>
          <p:cNvPicPr>
            <a:picLocks noChangeAspect="1" noChangeArrowheads="1"/>
          </p:cNvPicPr>
          <p:nvPr userDrawn="1"/>
        </p:nvPicPr>
        <p:blipFill>
          <a:blip r:embed="rId2" cstate="print"/>
          <a:srcRect/>
          <a:stretch>
            <a:fillRect/>
          </a:stretch>
        </p:blipFill>
        <p:spPr bwMode="auto">
          <a:xfrm>
            <a:off x="7524751" y="438150"/>
            <a:ext cx="1184275" cy="387350"/>
          </a:xfrm>
          <a:prstGeom prst="rect">
            <a:avLst/>
          </a:prstGeom>
          <a:noFill/>
        </p:spPr>
      </p:pic>
      <p:pic>
        <p:nvPicPr>
          <p:cNvPr id="15" name="Picture 42" descr="powerpoint-images"/>
          <p:cNvPicPr>
            <a:picLocks noChangeAspect="1" noChangeArrowheads="1"/>
          </p:cNvPicPr>
          <p:nvPr userDrawn="1"/>
        </p:nvPicPr>
        <p:blipFill>
          <a:blip r:embed="rId4" cstate="print"/>
          <a:srcRect/>
          <a:stretch>
            <a:fillRect/>
          </a:stretch>
        </p:blipFill>
        <p:spPr bwMode="auto">
          <a:xfrm>
            <a:off x="954089" y="981077"/>
            <a:ext cx="5346700" cy="1946275"/>
          </a:xfrm>
          <a:prstGeom prst="rect">
            <a:avLst/>
          </a:prstGeom>
          <a:noFill/>
        </p:spPr>
      </p:pic>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p:cNvSpPr>
            <a:spLocks noGrp="1"/>
          </p:cNvSpPr>
          <p:nvPr>
            <p:ph type="sldNum" sz="quarter" idx="10"/>
          </p:nvPr>
        </p:nvSpPr>
        <p:spPr/>
        <p:txBody>
          <a:bodyPr/>
          <a:lstStyle>
            <a:lvl1pPr>
              <a:defRPr/>
            </a:lvl1pPr>
          </a:lstStyle>
          <a:p>
            <a:fld id="{759D1556-5B33-4675-B4F7-DF410413ABF8}" type="slidenum">
              <a:rPr lang="en-GB" smtClean="0"/>
              <a:pPr/>
              <a:t>‹#›</a:t>
            </a:fld>
            <a:endParaRPr lang="en-GB"/>
          </a:p>
        </p:txBody>
      </p:sp>
    </p:spTree>
    <p:extLst>
      <p:ext uri="{BB962C8B-B14F-4D97-AF65-F5344CB8AC3E}">
        <p14:creationId xmlns:p14="http://schemas.microsoft.com/office/powerpoint/2010/main" val="406612036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D8A0146E-E93F-40FA-95C0-5D26FF87133A}" type="slidenum">
              <a:rPr lang="en-GB" smtClean="0"/>
              <a:pPr/>
              <a:t>‹#›</a:t>
            </a:fld>
            <a:endParaRPr lang="en-GB"/>
          </a:p>
        </p:txBody>
      </p:sp>
    </p:spTree>
    <p:extLst>
      <p:ext uri="{BB962C8B-B14F-4D97-AF65-F5344CB8AC3E}">
        <p14:creationId xmlns:p14="http://schemas.microsoft.com/office/powerpoint/2010/main" val="366842907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755651" y="1600200"/>
            <a:ext cx="3889375"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797426" y="1600200"/>
            <a:ext cx="3889375"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4"/>
          <p:cNvSpPr>
            <a:spLocks noGrp="1"/>
          </p:cNvSpPr>
          <p:nvPr>
            <p:ph type="sldNum" sz="quarter" idx="10"/>
          </p:nvPr>
        </p:nvSpPr>
        <p:spPr/>
        <p:txBody>
          <a:bodyPr/>
          <a:lstStyle>
            <a:lvl1pPr>
              <a:defRPr/>
            </a:lvl1pPr>
          </a:lstStyle>
          <a:p>
            <a:fld id="{17953796-1D7D-417A-8CFA-8A437F7CE2F3}" type="slidenum">
              <a:rPr lang="en-GB" smtClean="0"/>
              <a:pPr/>
              <a:t>‹#›</a:t>
            </a:fld>
            <a:endParaRPr lang="en-GB"/>
          </a:p>
        </p:txBody>
      </p:sp>
    </p:spTree>
    <p:extLst>
      <p:ext uri="{BB962C8B-B14F-4D97-AF65-F5344CB8AC3E}">
        <p14:creationId xmlns:p14="http://schemas.microsoft.com/office/powerpoint/2010/main" val="89700308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p:cNvSpPr>
            <a:spLocks noGrp="1"/>
          </p:cNvSpPr>
          <p:nvPr>
            <p:ph type="sldNum" sz="quarter" idx="10"/>
          </p:nvPr>
        </p:nvSpPr>
        <p:spPr/>
        <p:txBody>
          <a:bodyPr/>
          <a:lstStyle>
            <a:lvl1pPr>
              <a:defRPr/>
            </a:lvl1pPr>
          </a:lstStyle>
          <a:p>
            <a:fld id="{9280D11D-4F9A-40E8-A8A2-19DCF5485138}" type="slidenum">
              <a:rPr lang="en-GB" smtClean="0"/>
              <a:pPr/>
              <a:t>‹#›</a:t>
            </a:fld>
            <a:endParaRPr lang="en-GB"/>
          </a:p>
        </p:txBody>
      </p:sp>
    </p:spTree>
    <p:extLst>
      <p:ext uri="{BB962C8B-B14F-4D97-AF65-F5344CB8AC3E}">
        <p14:creationId xmlns:p14="http://schemas.microsoft.com/office/powerpoint/2010/main" val="346368726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lvl1pPr>
              <a:defRPr/>
            </a:lvl1pPr>
          </a:lstStyle>
          <a:p>
            <a:fld id="{3BBBB062-E9BC-46FC-A221-AD28C64C6177}" type="slidenum">
              <a:rPr lang="en-GB" smtClean="0"/>
              <a:pPr/>
              <a:t>‹#›</a:t>
            </a:fld>
            <a:endParaRPr lang="en-GB"/>
          </a:p>
        </p:txBody>
      </p:sp>
    </p:spTree>
    <p:extLst>
      <p:ext uri="{BB962C8B-B14F-4D97-AF65-F5344CB8AC3E}">
        <p14:creationId xmlns:p14="http://schemas.microsoft.com/office/powerpoint/2010/main" val="62743751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2B36FD51-1015-4304-9645-AC62F2AE25BF}" type="slidenum">
              <a:rPr lang="en-GB" smtClean="0"/>
              <a:pPr/>
              <a:t>‹#›</a:t>
            </a:fld>
            <a:endParaRPr lang="en-GB"/>
          </a:p>
        </p:txBody>
      </p:sp>
    </p:spTree>
    <p:extLst>
      <p:ext uri="{BB962C8B-B14F-4D97-AF65-F5344CB8AC3E}">
        <p14:creationId xmlns:p14="http://schemas.microsoft.com/office/powerpoint/2010/main" val="7453859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3B398DC1-42D3-4E19-9786-FDC6B5B9933F}" type="slidenum">
              <a:rPr lang="en-GB" smtClean="0"/>
              <a:pPr/>
              <a:t>‹#›</a:t>
            </a:fld>
            <a:endParaRPr lang="en-GB"/>
          </a:p>
        </p:txBody>
      </p:sp>
    </p:spTree>
    <p:extLst>
      <p:ext uri="{BB962C8B-B14F-4D97-AF65-F5344CB8AC3E}">
        <p14:creationId xmlns:p14="http://schemas.microsoft.com/office/powerpoint/2010/main" val="371213775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B7C4F427-71DA-42BF-9A23-26EEB255A747}" type="slidenum">
              <a:rPr lang="en-GB" smtClean="0"/>
              <a:pPr/>
              <a:t>‹#›</a:t>
            </a:fld>
            <a:endParaRPr lang="en-GB"/>
          </a:p>
        </p:txBody>
      </p:sp>
    </p:spTree>
    <p:extLst>
      <p:ext uri="{BB962C8B-B14F-4D97-AF65-F5344CB8AC3E}">
        <p14:creationId xmlns:p14="http://schemas.microsoft.com/office/powerpoint/2010/main" val="73860868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p:cNvSpPr>
            <a:spLocks noGrp="1"/>
          </p:cNvSpPr>
          <p:nvPr>
            <p:ph type="sldNum" sz="quarter" idx="10"/>
          </p:nvPr>
        </p:nvSpPr>
        <p:spPr/>
        <p:txBody>
          <a:bodyPr/>
          <a:lstStyle>
            <a:lvl1pPr>
              <a:defRPr/>
            </a:lvl1pPr>
          </a:lstStyle>
          <a:p>
            <a:fld id="{9955E386-501C-4B8D-95FE-5F35F50D7F60}" type="slidenum">
              <a:rPr lang="en-GB" smtClean="0"/>
              <a:pPr/>
              <a:t>‹#›</a:t>
            </a:fld>
            <a:endParaRPr lang="en-GB"/>
          </a:p>
        </p:txBody>
      </p:sp>
    </p:spTree>
    <p:extLst>
      <p:ext uri="{BB962C8B-B14F-4D97-AF65-F5344CB8AC3E}">
        <p14:creationId xmlns:p14="http://schemas.microsoft.com/office/powerpoint/2010/main" val="175065532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4014" y="274638"/>
            <a:ext cx="1982787" cy="56689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755651" y="274638"/>
            <a:ext cx="5795963" cy="5668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p:cNvSpPr>
            <a:spLocks noGrp="1"/>
          </p:cNvSpPr>
          <p:nvPr>
            <p:ph type="sldNum" sz="quarter" idx="10"/>
          </p:nvPr>
        </p:nvSpPr>
        <p:spPr/>
        <p:txBody>
          <a:bodyPr/>
          <a:lstStyle>
            <a:lvl1pPr>
              <a:defRPr/>
            </a:lvl1pPr>
          </a:lstStyle>
          <a:p>
            <a:fld id="{B5D204FA-AD45-4274-8CB5-C19925E50E44}" type="slidenum">
              <a:rPr lang="en-GB" smtClean="0"/>
              <a:pPr/>
              <a:t>‹#›</a:t>
            </a:fld>
            <a:endParaRPr lang="en-GB"/>
          </a:p>
        </p:txBody>
      </p:sp>
    </p:spTree>
    <p:extLst>
      <p:ext uri="{BB962C8B-B14F-4D97-AF65-F5344CB8AC3E}">
        <p14:creationId xmlns:p14="http://schemas.microsoft.com/office/powerpoint/2010/main" val="324834144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pic>
        <p:nvPicPr>
          <p:cNvPr id="1077" name="Picture 53" descr="Device-black"/>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524751" y="438150"/>
            <a:ext cx="1184275" cy="387350"/>
          </a:xfrm>
          <a:prstGeom prst="rect">
            <a:avLst/>
          </a:prstGeom>
          <a:noFill/>
          <a:extLst>
            <a:ext uri="{909E8E84-426E-40DD-AFC4-6F175D3DCCD1}">
              <a14:hiddenFill xmlns:a14="http://schemas.microsoft.com/office/drawing/2010/main">
                <a:solidFill>
                  <a:srgbClr val="FFFFFF"/>
                </a:solidFill>
              </a14:hiddenFill>
            </a:ext>
          </a:extLst>
        </p:spPr>
      </p:pic>
      <p:sp>
        <p:nvSpPr>
          <p:cNvPr id="1026" name="Rectangle 2"/>
          <p:cNvSpPr>
            <a:spLocks noGrp="1" noChangeArrowheads="1"/>
          </p:cNvSpPr>
          <p:nvPr>
            <p:ph type="title"/>
          </p:nvPr>
        </p:nvSpPr>
        <p:spPr bwMode="auto">
          <a:xfrm>
            <a:off x="755651" y="274638"/>
            <a:ext cx="619283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755650" y="1600200"/>
            <a:ext cx="793115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37" name="Rectangle 13"/>
          <p:cNvSpPr>
            <a:spLocks noGrp="1" noChangeArrowheads="1"/>
          </p:cNvSpPr>
          <p:nvPr>
            <p:ph type="sldNum" sz="quarter" idx="4"/>
          </p:nvPr>
        </p:nvSpPr>
        <p:spPr bwMode="auto">
          <a:xfrm>
            <a:off x="8116888" y="6281738"/>
            <a:ext cx="676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2000"/>
            </a:lvl1pPr>
          </a:lstStyle>
          <a:p>
            <a:fld id="{B840E540-F2F8-41E1-849D-65A0688D08AF}" type="slidenum">
              <a:rPr lang="en-GB" smtClean="0"/>
              <a:pPr/>
              <a:t>‹#›</a:t>
            </a:fld>
            <a:endParaRPr lang="en-GB" dirty="0"/>
          </a:p>
        </p:txBody>
      </p:sp>
      <p:sp>
        <p:nvSpPr>
          <p:cNvPr id="1043" name="Rectangle 19"/>
          <p:cNvSpPr>
            <a:spLocks noChangeArrowheads="1"/>
          </p:cNvSpPr>
          <p:nvPr/>
        </p:nvSpPr>
        <p:spPr bwMode="auto">
          <a:xfrm>
            <a:off x="755651" y="6519863"/>
            <a:ext cx="63373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400" dirty="0"/>
          </a:p>
        </p:txBody>
      </p:sp>
      <p:pic>
        <p:nvPicPr>
          <p:cNvPr id="1074" name="Picture 50" descr="Device-wine"/>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hidden">
          <a:xfrm>
            <a:off x="7524751" y="438152"/>
            <a:ext cx="1184275" cy="385763"/>
          </a:xfrm>
          <a:prstGeom prst="rect">
            <a:avLst/>
          </a:prstGeom>
          <a:solidFill>
            <a:schemeClr val="accent1"/>
          </a:solidFill>
        </p:spPr>
      </p:pic>
      <p:pic>
        <p:nvPicPr>
          <p:cNvPr id="1079" name="Picture 55" descr="Device-white"/>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hidden">
          <a:xfrm>
            <a:off x="7524751" y="438150"/>
            <a:ext cx="1184275"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hf hdr="0" ftr="0" dt="0"/>
  <p:txStyles>
    <p:titleStyle>
      <a:lvl1pPr algn="l" rtl="0" eaLnBrk="1" fontAlgn="base" hangingPunct="1">
        <a:spcBef>
          <a:spcPct val="0"/>
        </a:spcBef>
        <a:spcAft>
          <a:spcPct val="0"/>
        </a:spcAft>
        <a:defRPr sz="3600">
          <a:solidFill>
            <a:schemeClr val="tx2"/>
          </a:solidFill>
          <a:latin typeface="+mj-lt"/>
          <a:ea typeface="+mj-ea"/>
          <a:cs typeface="+mj-cs"/>
        </a:defRPr>
      </a:lvl1pPr>
      <a:lvl2pPr algn="l" rtl="0" eaLnBrk="1" fontAlgn="base" hangingPunct="1">
        <a:spcBef>
          <a:spcPct val="0"/>
        </a:spcBef>
        <a:spcAft>
          <a:spcPct val="0"/>
        </a:spcAft>
        <a:defRPr sz="3600">
          <a:solidFill>
            <a:schemeClr val="tx2"/>
          </a:solidFill>
          <a:latin typeface="Rdg Vesta" pitchFamily="2" charset="0"/>
        </a:defRPr>
      </a:lvl2pPr>
      <a:lvl3pPr algn="l" rtl="0" eaLnBrk="1" fontAlgn="base" hangingPunct="1">
        <a:spcBef>
          <a:spcPct val="0"/>
        </a:spcBef>
        <a:spcAft>
          <a:spcPct val="0"/>
        </a:spcAft>
        <a:defRPr sz="3600">
          <a:solidFill>
            <a:schemeClr val="tx2"/>
          </a:solidFill>
          <a:latin typeface="Rdg Vesta" pitchFamily="2" charset="0"/>
        </a:defRPr>
      </a:lvl3pPr>
      <a:lvl4pPr algn="l" rtl="0" eaLnBrk="1" fontAlgn="base" hangingPunct="1">
        <a:spcBef>
          <a:spcPct val="0"/>
        </a:spcBef>
        <a:spcAft>
          <a:spcPct val="0"/>
        </a:spcAft>
        <a:defRPr sz="3600">
          <a:solidFill>
            <a:schemeClr val="tx2"/>
          </a:solidFill>
          <a:latin typeface="Rdg Vesta" pitchFamily="2" charset="0"/>
        </a:defRPr>
      </a:lvl4pPr>
      <a:lvl5pPr algn="l" rtl="0" eaLnBrk="1" fontAlgn="base" hangingPunct="1">
        <a:spcBef>
          <a:spcPct val="0"/>
        </a:spcBef>
        <a:spcAft>
          <a:spcPct val="0"/>
        </a:spcAft>
        <a:defRPr sz="3600">
          <a:solidFill>
            <a:schemeClr val="tx2"/>
          </a:solidFill>
          <a:latin typeface="Rdg Vesta" pitchFamily="2" charset="0"/>
        </a:defRPr>
      </a:lvl5pPr>
      <a:lvl6pPr marL="457200" algn="l" rtl="0" eaLnBrk="1" fontAlgn="base" hangingPunct="1">
        <a:spcBef>
          <a:spcPct val="0"/>
        </a:spcBef>
        <a:spcAft>
          <a:spcPct val="0"/>
        </a:spcAft>
        <a:defRPr sz="3600">
          <a:solidFill>
            <a:schemeClr val="tx2"/>
          </a:solidFill>
          <a:latin typeface="Rdg Vesta" pitchFamily="2" charset="0"/>
        </a:defRPr>
      </a:lvl6pPr>
      <a:lvl7pPr marL="914400" algn="l" rtl="0" eaLnBrk="1" fontAlgn="base" hangingPunct="1">
        <a:spcBef>
          <a:spcPct val="0"/>
        </a:spcBef>
        <a:spcAft>
          <a:spcPct val="0"/>
        </a:spcAft>
        <a:defRPr sz="3600">
          <a:solidFill>
            <a:schemeClr val="tx2"/>
          </a:solidFill>
          <a:latin typeface="Rdg Vesta" pitchFamily="2" charset="0"/>
        </a:defRPr>
      </a:lvl7pPr>
      <a:lvl8pPr marL="1371600" algn="l" rtl="0" eaLnBrk="1" fontAlgn="base" hangingPunct="1">
        <a:spcBef>
          <a:spcPct val="0"/>
        </a:spcBef>
        <a:spcAft>
          <a:spcPct val="0"/>
        </a:spcAft>
        <a:defRPr sz="3600">
          <a:solidFill>
            <a:schemeClr val="tx2"/>
          </a:solidFill>
          <a:latin typeface="Rdg Vesta" pitchFamily="2" charset="0"/>
        </a:defRPr>
      </a:lvl8pPr>
      <a:lvl9pPr marL="1828800" algn="l" rtl="0" eaLnBrk="1" fontAlgn="base" hangingPunct="1">
        <a:spcBef>
          <a:spcPct val="0"/>
        </a:spcBef>
        <a:spcAft>
          <a:spcPct val="0"/>
        </a:spcAft>
        <a:defRPr sz="3600">
          <a:solidFill>
            <a:schemeClr val="tx2"/>
          </a:solidFill>
          <a:latin typeface="Rdg Vesta" pitchFamily="2" charset="0"/>
        </a:defRPr>
      </a:lvl9pPr>
    </p:titleStyle>
    <p:bodyStyle>
      <a:lvl1pPr marL="342900" indent="-342900" algn="l" rtl="0" eaLnBrk="1" fontAlgn="base" hangingPunct="1">
        <a:lnSpc>
          <a:spcPct val="110000"/>
        </a:lnSpc>
        <a:spcBef>
          <a:spcPct val="20000"/>
        </a:spcBef>
        <a:spcAft>
          <a:spcPct val="0"/>
        </a:spcAft>
        <a:buClr>
          <a:schemeClr val="tx2"/>
        </a:buClr>
        <a:buChar char="•"/>
        <a:defRPr sz="2400">
          <a:solidFill>
            <a:schemeClr val="tx1"/>
          </a:solidFill>
          <a:latin typeface="+mn-lt"/>
          <a:ea typeface="+mn-ea"/>
          <a:cs typeface="+mn-cs"/>
        </a:defRPr>
      </a:lvl1pPr>
      <a:lvl2pPr marL="742950" indent="-28575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2pPr>
      <a:lvl3pPr marL="1143000" indent="-228600" algn="l" rtl="0" eaLnBrk="1" fontAlgn="base" hangingPunct="1">
        <a:lnSpc>
          <a:spcPct val="110000"/>
        </a:lnSpc>
        <a:spcBef>
          <a:spcPct val="10000"/>
        </a:spcBef>
        <a:spcAft>
          <a:spcPct val="0"/>
        </a:spcAft>
        <a:buClr>
          <a:schemeClr val="tx2"/>
        </a:buClr>
        <a:buChar char="•"/>
        <a:defRPr sz="2000">
          <a:solidFill>
            <a:schemeClr val="tx1"/>
          </a:solidFill>
          <a:latin typeface="+mn-lt"/>
        </a:defRPr>
      </a:lvl3pPr>
      <a:lvl4pPr marL="16002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4pPr>
      <a:lvl5pPr marL="20574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5pPr>
      <a:lvl6pPr marL="25146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6pPr>
      <a:lvl7pPr marL="29718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7pPr>
      <a:lvl8pPr marL="34290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8pPr>
      <a:lvl9pPr marL="3886200" indent="-228600" algn="l" rtl="0" eaLnBrk="1" fontAlgn="base" hangingPunct="1">
        <a:lnSpc>
          <a:spcPct val="110000"/>
        </a:lnSpc>
        <a:spcBef>
          <a:spcPct val="10000"/>
        </a:spcBef>
        <a:spcAft>
          <a:spcPct val="0"/>
        </a:spcAft>
        <a:buClr>
          <a:schemeClr val="tx2"/>
        </a:buClr>
        <a:buFont typeface="Rdg Vesta" pitchFamily="2"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19.png"/><Relationship Id="rId2" Type="http://schemas.openxmlformats.org/officeDocument/2006/relationships/image" Target="../media/image140.png"/><Relationship Id="rId1" Type="http://schemas.openxmlformats.org/officeDocument/2006/relationships/slideLayout" Target="../slideLayouts/slideLayout7.xml"/><Relationship Id="rId6" Type="http://schemas.openxmlformats.org/officeDocument/2006/relationships/image" Target="../media/image180.png"/><Relationship Id="rId5" Type="http://schemas.openxmlformats.org/officeDocument/2006/relationships/image" Target="../media/image170.png"/><Relationship Id="rId4" Type="http://schemas.openxmlformats.org/officeDocument/2006/relationships/image" Target="../media/image16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ctrTitle"/>
          </p:nvPr>
        </p:nvSpPr>
        <p:spPr/>
        <p:txBody>
          <a:bodyPr/>
          <a:lstStyle/>
          <a:p>
            <a:r>
              <a:rPr lang="en-US" sz="4800" dirty="0"/>
              <a:t>CH2PH2: </a:t>
            </a:r>
            <a:br>
              <a:rPr lang="en-US" sz="4800" dirty="0"/>
            </a:br>
            <a:r>
              <a:rPr lang="en-US" sz="4800" dirty="0"/>
              <a:t>Surfaces and Interfaces</a:t>
            </a:r>
            <a:br>
              <a:rPr lang="en-US" sz="4800" dirty="0"/>
            </a:br>
            <a:endParaRPr lang="en-US" sz="4800" dirty="0"/>
          </a:p>
        </p:txBody>
      </p:sp>
      <p:sp>
        <p:nvSpPr>
          <p:cNvPr id="534531" name="Rectangle 3"/>
          <p:cNvSpPr>
            <a:spLocks noGrp="1" noChangeArrowheads="1"/>
          </p:cNvSpPr>
          <p:nvPr>
            <p:ph type="subTitle" idx="1"/>
          </p:nvPr>
        </p:nvSpPr>
        <p:spPr>
          <a:xfrm>
            <a:off x="755576" y="5004175"/>
            <a:ext cx="7920038" cy="925512"/>
          </a:xfrm>
        </p:spPr>
        <p:txBody>
          <a:bodyPr/>
          <a:lstStyle/>
          <a:p>
            <a:r>
              <a:rPr lang="en-US" dirty="0"/>
              <a:t>Dr. James Hallett</a:t>
            </a:r>
          </a:p>
          <a:p>
            <a:r>
              <a:rPr lang="en-US" dirty="0"/>
              <a:t>j.e.hallett@reading.ac.uk</a:t>
            </a:r>
          </a:p>
        </p:txBody>
      </p:sp>
    </p:spTree>
    <p:extLst>
      <p:ext uri="{BB962C8B-B14F-4D97-AF65-F5344CB8AC3E}">
        <p14:creationId xmlns:p14="http://schemas.microsoft.com/office/powerpoint/2010/main" val="113737658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8AF2FC-1BAA-D606-61D7-6E0CAF2F171F}"/>
              </a:ext>
            </a:extLst>
          </p:cNvPr>
          <p:cNvSpPr txBox="1"/>
          <p:nvPr/>
        </p:nvSpPr>
        <p:spPr>
          <a:xfrm>
            <a:off x="838200" y="838200"/>
            <a:ext cx="8229600" cy="5078313"/>
          </a:xfrm>
          <a:prstGeom prst="rect">
            <a:avLst/>
          </a:prstGeom>
          <a:noFill/>
        </p:spPr>
        <p:txBody>
          <a:bodyPr wrap="square" rtlCol="0">
            <a:spAutoFit/>
          </a:bodyPr>
          <a:lstStyle/>
          <a:p>
            <a:r>
              <a:rPr lang="en-GB" sz="5400" dirty="0"/>
              <a:t>CH2PH2</a:t>
            </a:r>
          </a:p>
          <a:p>
            <a:endParaRPr lang="en-GB" sz="5400" dirty="0"/>
          </a:p>
          <a:p>
            <a:r>
              <a:rPr lang="en-GB" sz="5400" dirty="0"/>
              <a:t>Lecture 3: Thermodynamics of micelles</a:t>
            </a:r>
          </a:p>
          <a:p>
            <a:endParaRPr lang="en-GB" sz="5400" dirty="0"/>
          </a:p>
        </p:txBody>
      </p:sp>
    </p:spTree>
    <p:extLst>
      <p:ext uri="{BB962C8B-B14F-4D97-AF65-F5344CB8AC3E}">
        <p14:creationId xmlns:p14="http://schemas.microsoft.com/office/powerpoint/2010/main" val="187617634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7E0D9B-E4DC-6747-5834-03ED49E60D78}"/>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Micelle applications</a:t>
            </a:r>
          </a:p>
        </p:txBody>
      </p:sp>
      <p:pic>
        <p:nvPicPr>
          <p:cNvPr id="1026" name="Picture 2">
            <a:extLst>
              <a:ext uri="{FF2B5EF4-FFF2-40B4-BE49-F238E27FC236}">
                <a16:creationId xmlns:a16="http://schemas.microsoft.com/office/drawing/2014/main" id="{E45D83E0-9F7E-256D-ED88-7868C192D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129" y="2464188"/>
            <a:ext cx="3321115" cy="33211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1FC01D3-AFB1-1E91-EFEF-B0185E9A004B}"/>
              </a:ext>
            </a:extLst>
          </p:cNvPr>
          <p:cNvSpPr txBox="1"/>
          <p:nvPr/>
        </p:nvSpPr>
        <p:spPr>
          <a:xfrm>
            <a:off x="4310590" y="1718810"/>
            <a:ext cx="4612200" cy="1569660"/>
          </a:xfrm>
          <a:prstGeom prst="rect">
            <a:avLst/>
          </a:prstGeom>
          <a:noFill/>
        </p:spPr>
        <p:txBody>
          <a:bodyPr wrap="square" rtlCol="0">
            <a:spAutoFit/>
          </a:bodyPr>
          <a:lstStyle/>
          <a:p>
            <a:pPr marL="285750" indent="-285750">
              <a:buFont typeface="Arial" panose="020B0604020202020204" pitchFamily="34" charset="0"/>
              <a:buChar char="•"/>
            </a:pPr>
            <a:r>
              <a:rPr lang="en-GB" dirty="0"/>
              <a:t>Widely used as active ingredient in cosmetics, formulations for household products</a:t>
            </a:r>
          </a:p>
        </p:txBody>
      </p:sp>
      <p:pic>
        <p:nvPicPr>
          <p:cNvPr id="2050" name="Picture 2" descr="image 1 of Fairy Original Washing Up Liquid 1015ML">
            <a:extLst>
              <a:ext uri="{FF2B5EF4-FFF2-40B4-BE49-F238E27FC236}">
                <a16:creationId xmlns:a16="http://schemas.microsoft.com/office/drawing/2014/main" id="{76BFD6E6-DFA9-E48D-EEDB-B99D4502B9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6915" y="3569531"/>
            <a:ext cx="2322385" cy="232238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cover Washing Up Liquid Chamomile Clementine 950Ml">
            <a:extLst>
              <a:ext uri="{FF2B5EF4-FFF2-40B4-BE49-F238E27FC236}">
                <a16:creationId xmlns:a16="http://schemas.microsoft.com/office/drawing/2014/main" id="{56F830CA-A333-3D79-A248-F3FB98D0A3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486" y="3569530"/>
            <a:ext cx="2322385" cy="2322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8743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7E0D9B-E4DC-6747-5834-03ED49E60D78}"/>
              </a:ext>
            </a:extLst>
          </p:cNvPr>
          <p:cNvSpPr txBox="1">
            <a:spLocks noChangeArrowheads="1"/>
          </p:cNvSpPr>
          <p:nvPr/>
        </p:nvSpPr>
        <p:spPr bwMode="auto">
          <a:xfrm>
            <a:off x="119590" y="319971"/>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What makes a good washing up liquid?</a:t>
            </a:r>
          </a:p>
        </p:txBody>
      </p:sp>
      <p:pic>
        <p:nvPicPr>
          <p:cNvPr id="2050" name="Picture 2" descr="image 1 of Fairy Original Washing Up Liquid 1015ML">
            <a:extLst>
              <a:ext uri="{FF2B5EF4-FFF2-40B4-BE49-F238E27FC236}">
                <a16:creationId xmlns:a16="http://schemas.microsoft.com/office/drawing/2014/main" id="{76BFD6E6-DFA9-E48D-EEDB-B99D4502B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6675" y="2744986"/>
            <a:ext cx="2322385" cy="232238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cover Washing Up Liquid Chamomile Clementine 950Ml">
            <a:extLst>
              <a:ext uri="{FF2B5EF4-FFF2-40B4-BE49-F238E27FC236}">
                <a16:creationId xmlns:a16="http://schemas.microsoft.com/office/drawing/2014/main" id="{56F830CA-A333-3D79-A248-F3FB98D0A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8262" y="2740600"/>
            <a:ext cx="2322385" cy="2322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7905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7E0D9B-E4DC-6747-5834-03ED49E60D78}"/>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Micelle applications</a:t>
            </a:r>
          </a:p>
        </p:txBody>
      </p:sp>
      <p:pic>
        <p:nvPicPr>
          <p:cNvPr id="2" name="Picture 1">
            <a:extLst>
              <a:ext uri="{FF2B5EF4-FFF2-40B4-BE49-F238E27FC236}">
                <a16:creationId xmlns:a16="http://schemas.microsoft.com/office/drawing/2014/main" id="{0691F9BE-D4DE-FD28-F91E-47C0663EFD3C}"/>
              </a:ext>
            </a:extLst>
          </p:cNvPr>
          <p:cNvPicPr>
            <a:picLocks noChangeAspect="1"/>
          </p:cNvPicPr>
          <p:nvPr/>
        </p:nvPicPr>
        <p:blipFill>
          <a:blip r:embed="rId2"/>
          <a:stretch>
            <a:fillRect/>
          </a:stretch>
        </p:blipFill>
        <p:spPr>
          <a:xfrm>
            <a:off x="1016604" y="1117069"/>
            <a:ext cx="7441595" cy="2861562"/>
          </a:xfrm>
          <a:prstGeom prst="rect">
            <a:avLst/>
          </a:prstGeom>
        </p:spPr>
      </p:pic>
      <p:pic>
        <p:nvPicPr>
          <p:cNvPr id="3" name="Picture 2">
            <a:extLst>
              <a:ext uri="{FF2B5EF4-FFF2-40B4-BE49-F238E27FC236}">
                <a16:creationId xmlns:a16="http://schemas.microsoft.com/office/drawing/2014/main" id="{42F29109-2549-827C-B946-EC11EAB6BCAF}"/>
              </a:ext>
            </a:extLst>
          </p:cNvPr>
          <p:cNvPicPr>
            <a:picLocks noChangeAspect="1"/>
          </p:cNvPicPr>
          <p:nvPr/>
        </p:nvPicPr>
        <p:blipFill>
          <a:blip r:embed="rId3"/>
          <a:stretch>
            <a:fillRect/>
          </a:stretch>
        </p:blipFill>
        <p:spPr>
          <a:xfrm>
            <a:off x="1016603" y="4068583"/>
            <a:ext cx="7441596" cy="2602321"/>
          </a:xfrm>
          <a:prstGeom prst="rect">
            <a:avLst/>
          </a:prstGeom>
        </p:spPr>
      </p:pic>
    </p:spTree>
    <p:extLst>
      <p:ext uri="{BB962C8B-B14F-4D97-AF65-F5344CB8AC3E}">
        <p14:creationId xmlns:p14="http://schemas.microsoft.com/office/powerpoint/2010/main" val="37682480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7E0D9B-E4DC-6747-5834-03ED49E60D78}"/>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Micelle applications</a:t>
            </a:r>
          </a:p>
        </p:txBody>
      </p:sp>
      <p:pic>
        <p:nvPicPr>
          <p:cNvPr id="2" name="Picture 1">
            <a:extLst>
              <a:ext uri="{FF2B5EF4-FFF2-40B4-BE49-F238E27FC236}">
                <a16:creationId xmlns:a16="http://schemas.microsoft.com/office/drawing/2014/main" id="{CAE75B54-8DE4-0135-F1D1-16AA2F4AB3F5}"/>
              </a:ext>
            </a:extLst>
          </p:cNvPr>
          <p:cNvPicPr>
            <a:picLocks noChangeAspect="1"/>
          </p:cNvPicPr>
          <p:nvPr/>
        </p:nvPicPr>
        <p:blipFill>
          <a:blip r:embed="rId2"/>
          <a:stretch>
            <a:fillRect/>
          </a:stretch>
        </p:blipFill>
        <p:spPr>
          <a:xfrm>
            <a:off x="292774" y="1810016"/>
            <a:ext cx="4426260" cy="1491284"/>
          </a:xfrm>
          <a:prstGeom prst="rect">
            <a:avLst/>
          </a:prstGeom>
        </p:spPr>
      </p:pic>
      <p:pic>
        <p:nvPicPr>
          <p:cNvPr id="3" name="Picture 2">
            <a:extLst>
              <a:ext uri="{FF2B5EF4-FFF2-40B4-BE49-F238E27FC236}">
                <a16:creationId xmlns:a16="http://schemas.microsoft.com/office/drawing/2014/main" id="{31154CC1-B765-4293-C629-B53BBD995744}"/>
              </a:ext>
            </a:extLst>
          </p:cNvPr>
          <p:cNvPicPr>
            <a:picLocks noChangeAspect="1"/>
          </p:cNvPicPr>
          <p:nvPr/>
        </p:nvPicPr>
        <p:blipFill>
          <a:blip r:embed="rId3"/>
          <a:stretch>
            <a:fillRect/>
          </a:stretch>
        </p:blipFill>
        <p:spPr>
          <a:xfrm>
            <a:off x="304800" y="4374105"/>
            <a:ext cx="4517335" cy="1267454"/>
          </a:xfrm>
          <a:prstGeom prst="rect">
            <a:avLst/>
          </a:prstGeom>
        </p:spPr>
      </p:pic>
      <p:sp>
        <p:nvSpPr>
          <p:cNvPr id="4" name="TextBox 3">
            <a:extLst>
              <a:ext uri="{FF2B5EF4-FFF2-40B4-BE49-F238E27FC236}">
                <a16:creationId xmlns:a16="http://schemas.microsoft.com/office/drawing/2014/main" id="{957BA392-E39F-532C-E5A5-135366471886}"/>
              </a:ext>
            </a:extLst>
          </p:cNvPr>
          <p:cNvSpPr txBox="1"/>
          <p:nvPr/>
        </p:nvSpPr>
        <p:spPr>
          <a:xfrm>
            <a:off x="4719034" y="1810016"/>
            <a:ext cx="4424966" cy="1938992"/>
          </a:xfrm>
          <a:prstGeom prst="rect">
            <a:avLst/>
          </a:prstGeom>
          <a:noFill/>
        </p:spPr>
        <p:txBody>
          <a:bodyPr wrap="square" rtlCol="0">
            <a:spAutoFit/>
          </a:bodyPr>
          <a:lstStyle/>
          <a:p>
            <a:pPr marL="285750" indent="-285750">
              <a:buFont typeface="Arial" panose="020B0604020202020204" pitchFamily="34" charset="0"/>
              <a:buChar char="•"/>
            </a:pPr>
            <a:r>
              <a:rPr lang="en-GB" dirty="0"/>
              <a:t>Of growing use in targeted drug delivery</a:t>
            </a:r>
          </a:p>
          <a:p>
            <a:pPr marL="285750" indent="-285750">
              <a:buFont typeface="Arial" panose="020B0604020202020204" pitchFamily="34" charset="0"/>
              <a:buChar char="•"/>
            </a:pPr>
            <a:r>
              <a:rPr lang="en-GB" dirty="0"/>
              <a:t>Allows for previously disregarded drugs to be re-evaluated</a:t>
            </a:r>
          </a:p>
        </p:txBody>
      </p:sp>
      <p:pic>
        <p:nvPicPr>
          <p:cNvPr id="5" name="Picture 4">
            <a:extLst>
              <a:ext uri="{FF2B5EF4-FFF2-40B4-BE49-F238E27FC236}">
                <a16:creationId xmlns:a16="http://schemas.microsoft.com/office/drawing/2014/main" id="{45DECDC9-966C-9181-9373-FA208C9F5C7D}"/>
              </a:ext>
            </a:extLst>
          </p:cNvPr>
          <p:cNvPicPr>
            <a:picLocks noChangeAspect="1"/>
          </p:cNvPicPr>
          <p:nvPr/>
        </p:nvPicPr>
        <p:blipFill>
          <a:blip r:embed="rId4"/>
          <a:stretch>
            <a:fillRect/>
          </a:stretch>
        </p:blipFill>
        <p:spPr>
          <a:xfrm>
            <a:off x="5202070" y="3749008"/>
            <a:ext cx="2857500" cy="2959100"/>
          </a:xfrm>
          <a:prstGeom prst="rect">
            <a:avLst/>
          </a:prstGeom>
        </p:spPr>
      </p:pic>
    </p:spTree>
    <p:extLst>
      <p:ext uri="{BB962C8B-B14F-4D97-AF65-F5344CB8AC3E}">
        <p14:creationId xmlns:p14="http://schemas.microsoft.com/office/powerpoint/2010/main" val="294521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8FE931-E3D8-225F-A7C4-EAFC463BB2C5}"/>
              </a:ext>
            </a:extLst>
          </p:cNvPr>
          <p:cNvPicPr>
            <a:picLocks noChangeAspect="1"/>
          </p:cNvPicPr>
          <p:nvPr/>
        </p:nvPicPr>
        <p:blipFill>
          <a:blip r:embed="rId2"/>
          <a:stretch>
            <a:fillRect/>
          </a:stretch>
        </p:blipFill>
        <p:spPr>
          <a:xfrm>
            <a:off x="1117600" y="1680248"/>
            <a:ext cx="7092950" cy="5009622"/>
          </a:xfrm>
          <a:prstGeom prst="rect">
            <a:avLst/>
          </a:prstGeom>
        </p:spPr>
      </p:pic>
      <p:sp>
        <p:nvSpPr>
          <p:cNvPr id="5" name="TextBox 4">
            <a:extLst>
              <a:ext uri="{FF2B5EF4-FFF2-40B4-BE49-F238E27FC236}">
                <a16:creationId xmlns:a16="http://schemas.microsoft.com/office/drawing/2014/main" id="{BA1FE700-32CF-8578-414B-13B1B632D401}"/>
              </a:ext>
            </a:extLst>
          </p:cNvPr>
          <p:cNvSpPr txBox="1">
            <a:spLocks noChangeArrowheads="1"/>
          </p:cNvSpPr>
          <p:nvPr/>
        </p:nvSpPr>
        <p:spPr bwMode="auto">
          <a:xfrm>
            <a:off x="304800" y="381002"/>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latin typeface="+mj-lt"/>
              </a:rPr>
              <a:t>Recap: surface tension</a:t>
            </a:r>
          </a:p>
        </p:txBody>
      </p:sp>
      <p:sp>
        <p:nvSpPr>
          <p:cNvPr id="7" name="TextBox 6">
            <a:extLst>
              <a:ext uri="{FF2B5EF4-FFF2-40B4-BE49-F238E27FC236}">
                <a16:creationId xmlns:a16="http://schemas.microsoft.com/office/drawing/2014/main" id="{65ACC1D3-93BF-AA82-32CF-62AFCFB97187}"/>
              </a:ext>
            </a:extLst>
          </p:cNvPr>
          <p:cNvSpPr txBox="1"/>
          <p:nvPr/>
        </p:nvSpPr>
        <p:spPr>
          <a:xfrm>
            <a:off x="762000" y="1225550"/>
            <a:ext cx="8130480" cy="461665"/>
          </a:xfrm>
          <a:prstGeom prst="rect">
            <a:avLst/>
          </a:prstGeom>
          <a:noFill/>
        </p:spPr>
        <p:txBody>
          <a:bodyPr wrap="square" rtlCol="0">
            <a:spAutoFit/>
          </a:bodyPr>
          <a:lstStyle/>
          <a:p>
            <a:r>
              <a:rPr lang="en-GB" dirty="0"/>
              <a:t>Correlation between surface activity and micelle formation.</a:t>
            </a:r>
          </a:p>
        </p:txBody>
      </p:sp>
    </p:spTree>
    <p:extLst>
      <p:ext uri="{BB962C8B-B14F-4D97-AF65-F5344CB8AC3E}">
        <p14:creationId xmlns:p14="http://schemas.microsoft.com/office/powerpoint/2010/main" val="38915973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04875D-C810-7592-D0F7-3576A5C1538F}"/>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Recap: Surface tension regimes</a:t>
            </a:r>
          </a:p>
        </p:txBody>
      </p:sp>
      <p:sp>
        <p:nvSpPr>
          <p:cNvPr id="4" name="TextBox 3">
            <a:extLst>
              <a:ext uri="{FF2B5EF4-FFF2-40B4-BE49-F238E27FC236}">
                <a16:creationId xmlns:a16="http://schemas.microsoft.com/office/drawing/2014/main" id="{2D6D788E-4B5A-56E8-2BE4-12100B9BE7CA}"/>
              </a:ext>
            </a:extLst>
          </p:cNvPr>
          <p:cNvSpPr txBox="1"/>
          <p:nvPr/>
        </p:nvSpPr>
        <p:spPr>
          <a:xfrm>
            <a:off x="859899" y="3113965"/>
            <a:ext cx="7424201" cy="2677656"/>
          </a:xfrm>
          <a:prstGeom prst="rect">
            <a:avLst/>
          </a:prstGeom>
          <a:noFill/>
        </p:spPr>
        <p:txBody>
          <a:bodyPr wrap="square" rtlCol="0">
            <a:spAutoFit/>
          </a:bodyPr>
          <a:lstStyle/>
          <a:p>
            <a:pPr marL="285750" indent="-285750">
              <a:buFont typeface="Arial" panose="020B0604020202020204" pitchFamily="34" charset="0"/>
              <a:buChar char="•"/>
            </a:pPr>
            <a:r>
              <a:rPr lang="en-GB" dirty="0"/>
              <a:t>Consider behaviour in three regimes </a:t>
            </a:r>
          </a:p>
          <a:p>
            <a:pPr marL="285750" indent="-285750">
              <a:buFont typeface="Arial" panose="020B0604020202020204" pitchFamily="34" charset="0"/>
              <a:buChar char="•"/>
            </a:pPr>
            <a:r>
              <a:rPr lang="en-GB" dirty="0"/>
              <a:t>(</a:t>
            </a:r>
            <a:r>
              <a:rPr lang="en-GB" dirty="0" err="1"/>
              <a:t>i</a:t>
            </a:r>
            <a:r>
              <a:rPr lang="en-GB" dirty="0"/>
              <a:t>) Regime I: Two-dimensional “ideal gas behaviour” </a:t>
            </a:r>
          </a:p>
          <a:p>
            <a:pPr marL="285750" indent="-285750">
              <a:buFont typeface="Arial" panose="020B0604020202020204" pitchFamily="34" charset="0"/>
              <a:buChar char="•"/>
            </a:pPr>
            <a:r>
              <a:rPr lang="en-GB" dirty="0"/>
              <a:t>(ii)Regime II: Linear relationship (between 𝛾 and </a:t>
            </a:r>
            <a:r>
              <a:rPr lang="en-GB" dirty="0" err="1"/>
              <a:t>lnc</a:t>
            </a:r>
            <a:r>
              <a:rPr lang="en-GB" dirty="0"/>
              <a:t>) – Gibbs adsorption isotherm </a:t>
            </a:r>
          </a:p>
          <a:p>
            <a:pPr marL="285750" indent="-285750">
              <a:buFont typeface="Arial" panose="020B0604020202020204" pitchFamily="34" charset="0"/>
              <a:buChar char="•"/>
            </a:pPr>
            <a:r>
              <a:rPr lang="en-GB" dirty="0"/>
              <a:t>(iii) Regime III: Increasing the concentration leads to more micelles forming in bulk, with no further changes at the surface</a:t>
            </a:r>
          </a:p>
        </p:txBody>
      </p:sp>
      <p:pic>
        <p:nvPicPr>
          <p:cNvPr id="2" name="Picture 1">
            <a:extLst>
              <a:ext uri="{FF2B5EF4-FFF2-40B4-BE49-F238E27FC236}">
                <a16:creationId xmlns:a16="http://schemas.microsoft.com/office/drawing/2014/main" id="{8421EA07-5B80-C32E-8253-014A8BD67AA0}"/>
              </a:ext>
            </a:extLst>
          </p:cNvPr>
          <p:cNvPicPr>
            <a:picLocks noChangeAspect="1"/>
          </p:cNvPicPr>
          <p:nvPr/>
        </p:nvPicPr>
        <p:blipFill rotWithShape="1">
          <a:blip r:embed="rId2"/>
          <a:srcRect t="14642" r="44710" b="25712"/>
          <a:stretch/>
        </p:blipFill>
        <p:spPr>
          <a:xfrm>
            <a:off x="5517105" y="924883"/>
            <a:ext cx="2700300" cy="2054615"/>
          </a:xfrm>
          <a:prstGeom prst="rect">
            <a:avLst/>
          </a:prstGeom>
        </p:spPr>
      </p:pic>
    </p:spTree>
    <p:extLst>
      <p:ext uri="{BB962C8B-B14F-4D97-AF65-F5344CB8AC3E}">
        <p14:creationId xmlns:p14="http://schemas.microsoft.com/office/powerpoint/2010/main" val="4256416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04875D-C810-7592-D0F7-3576A5C1538F}"/>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Recap: Surface excess</a:t>
            </a:r>
          </a:p>
        </p:txBody>
      </p:sp>
      <p:sp>
        <p:nvSpPr>
          <p:cNvPr id="5" name="TextBox 4">
            <a:extLst>
              <a:ext uri="{FF2B5EF4-FFF2-40B4-BE49-F238E27FC236}">
                <a16:creationId xmlns:a16="http://schemas.microsoft.com/office/drawing/2014/main" id="{6EB519F6-5BE4-F868-45A7-E5491FBE5F38}"/>
              </a:ext>
            </a:extLst>
          </p:cNvPr>
          <p:cNvSpPr txBox="1"/>
          <p:nvPr/>
        </p:nvSpPr>
        <p:spPr>
          <a:xfrm>
            <a:off x="319552" y="1241434"/>
            <a:ext cx="4972528" cy="2677656"/>
          </a:xfrm>
          <a:prstGeom prst="rect">
            <a:avLst/>
          </a:prstGeom>
          <a:noFill/>
        </p:spPr>
        <p:txBody>
          <a:bodyPr wrap="square" rtlCol="0">
            <a:spAutoFit/>
          </a:bodyPr>
          <a:lstStyle/>
          <a:p>
            <a:r>
              <a:rPr lang="en-GB" dirty="0"/>
              <a:t>The Gibbs adsorption equation Relates surface excess (number of moles in excess at surface per unit area) to gradient of 𝛾 versus ln(c) plot in regime II (where this slope is linear). </a:t>
            </a:r>
          </a:p>
          <a:p>
            <a:endParaRPr lang="en-GB" dirty="0"/>
          </a:p>
        </p:txBody>
      </p:sp>
      <p:sp>
        <p:nvSpPr>
          <p:cNvPr id="6" name="TextBox 5">
            <a:extLst>
              <a:ext uri="{FF2B5EF4-FFF2-40B4-BE49-F238E27FC236}">
                <a16:creationId xmlns:a16="http://schemas.microsoft.com/office/drawing/2014/main" id="{96905A93-11BF-9564-9CFF-667AC4DA9900}"/>
              </a:ext>
            </a:extLst>
          </p:cNvPr>
          <p:cNvSpPr txBox="1"/>
          <p:nvPr/>
        </p:nvSpPr>
        <p:spPr>
          <a:xfrm>
            <a:off x="294267" y="3976852"/>
            <a:ext cx="4997813" cy="2308324"/>
          </a:xfrm>
          <a:prstGeom prst="rect">
            <a:avLst/>
          </a:prstGeom>
          <a:noFill/>
        </p:spPr>
        <p:txBody>
          <a:bodyPr wrap="square" rtlCol="0">
            <a:spAutoFit/>
          </a:bodyPr>
          <a:lstStyle/>
          <a:p>
            <a:r>
              <a:rPr lang="en-GB" dirty="0"/>
              <a:t>The surface excess </a:t>
            </a:r>
            <a:r>
              <a:rPr lang="en-GB" dirty="0" err="1"/>
              <a:t>Γ</a:t>
            </a:r>
            <a:r>
              <a:rPr lang="en-GB" dirty="0"/>
              <a:t> may be inverted to obtain the area per molecule. So, surface tension vs concentration measurements can give us the area per molecule in surface monolayers, as well as determination of the </a:t>
            </a:r>
            <a:r>
              <a:rPr lang="en-GB" dirty="0" err="1"/>
              <a:t>cmc</a:t>
            </a:r>
            <a:r>
              <a:rPr lang="en-GB" dirty="0"/>
              <a:t>.</a:t>
            </a:r>
          </a:p>
        </p:txBody>
      </p:sp>
      <p:pic>
        <p:nvPicPr>
          <p:cNvPr id="7" name="Picture 6">
            <a:extLst>
              <a:ext uri="{FF2B5EF4-FFF2-40B4-BE49-F238E27FC236}">
                <a16:creationId xmlns:a16="http://schemas.microsoft.com/office/drawing/2014/main" id="{4233CF8B-4B54-9911-F171-FB9C1F45A307}"/>
              </a:ext>
            </a:extLst>
          </p:cNvPr>
          <p:cNvPicPr>
            <a:picLocks noChangeAspect="1"/>
          </p:cNvPicPr>
          <p:nvPr/>
        </p:nvPicPr>
        <p:blipFill rotWithShape="1">
          <a:blip r:embed="rId3"/>
          <a:srcRect t="14642" r="44710" b="25712"/>
          <a:stretch/>
        </p:blipFill>
        <p:spPr>
          <a:xfrm>
            <a:off x="5517105" y="924883"/>
            <a:ext cx="2700300" cy="2054615"/>
          </a:xfrm>
          <a:prstGeom prst="rect">
            <a:avLst/>
          </a:prstGeom>
        </p:spPr>
      </p:pic>
      <p:sp>
        <p:nvSpPr>
          <p:cNvPr id="2" name="TextBox 1">
            <a:extLst>
              <a:ext uri="{FF2B5EF4-FFF2-40B4-BE49-F238E27FC236}">
                <a16:creationId xmlns:a16="http://schemas.microsoft.com/office/drawing/2014/main" id="{82D83FB7-6E0D-B168-0BA8-C731822BB267}"/>
              </a:ext>
            </a:extLst>
          </p:cNvPr>
          <p:cNvSpPr txBox="1"/>
          <p:nvPr/>
        </p:nvSpPr>
        <p:spPr>
          <a:xfrm>
            <a:off x="5517105" y="3419557"/>
            <a:ext cx="3467643" cy="3785652"/>
          </a:xfrm>
          <a:prstGeom prst="rect">
            <a:avLst/>
          </a:prstGeom>
          <a:noFill/>
        </p:spPr>
        <p:txBody>
          <a:bodyPr wrap="square" rtlCol="0">
            <a:spAutoFit/>
          </a:bodyPr>
          <a:lstStyle/>
          <a:p>
            <a:pPr marL="342900" indent="-342900">
              <a:buFont typeface="Arial" panose="020B0604020202020204" pitchFamily="34" charset="0"/>
              <a:buChar char="•"/>
            </a:pPr>
            <a:r>
              <a:rPr lang="en-GB" dirty="0"/>
              <a:t>For example:</a:t>
            </a:r>
          </a:p>
          <a:p>
            <a:pPr marL="342900" indent="-342900">
              <a:buFont typeface="Arial" panose="020B0604020202020204" pitchFamily="34" charset="0"/>
              <a:buChar char="•"/>
            </a:pPr>
            <a:r>
              <a:rPr lang="en-GB" dirty="0" err="1"/>
              <a:t>Γ</a:t>
            </a:r>
            <a:r>
              <a:rPr lang="en-GB" baseline="-25000" dirty="0" err="1"/>
              <a:t>s</a:t>
            </a:r>
            <a:r>
              <a:rPr lang="en-GB" dirty="0"/>
              <a:t>=10</a:t>
            </a:r>
            <a:r>
              <a:rPr lang="en-GB" baseline="30000" dirty="0"/>
              <a:t>-6 </a:t>
            </a:r>
            <a:r>
              <a:rPr lang="en-GB" dirty="0"/>
              <a:t>mol m</a:t>
            </a:r>
            <a:r>
              <a:rPr lang="en-GB" baseline="30000" dirty="0"/>
              <a:t>-2</a:t>
            </a:r>
          </a:p>
          <a:p>
            <a:pPr marL="342900" indent="-342900">
              <a:buFont typeface="Arial" panose="020B0604020202020204" pitchFamily="34" charset="0"/>
              <a:buChar char="•"/>
            </a:pPr>
            <a:endParaRPr lang="en-GB" baseline="30000" dirty="0"/>
          </a:p>
          <a:p>
            <a:pPr marL="342900" indent="-342900">
              <a:buFont typeface="Arial" panose="020B0604020202020204" pitchFamily="34" charset="0"/>
              <a:buChar char="•"/>
            </a:pPr>
            <a:r>
              <a:rPr lang="en-GB" dirty="0"/>
              <a:t>1/</a:t>
            </a:r>
            <a:r>
              <a:rPr lang="en-GB" dirty="0" err="1"/>
              <a:t>N</a:t>
            </a:r>
            <a:r>
              <a:rPr lang="en-GB" baseline="-25000" dirty="0" err="1"/>
              <a:t>a</a:t>
            </a:r>
            <a:r>
              <a:rPr lang="en-GB" dirty="0" err="1"/>
              <a:t>Γ</a:t>
            </a:r>
            <a:r>
              <a:rPr lang="en-GB" baseline="-25000" dirty="0" err="1"/>
              <a:t>s</a:t>
            </a:r>
            <a:r>
              <a:rPr lang="en-GB" dirty="0"/>
              <a:t>=1.66 ✕ 10</a:t>
            </a:r>
            <a:r>
              <a:rPr lang="en-GB" baseline="30000" dirty="0"/>
              <a:t>-18 </a:t>
            </a:r>
            <a:r>
              <a:rPr lang="en-GB" dirty="0"/>
              <a:t>m</a:t>
            </a:r>
            <a:r>
              <a:rPr lang="en-GB" baseline="30000" dirty="0"/>
              <a:t>2 </a:t>
            </a:r>
            <a:r>
              <a:rPr lang="en-GB" dirty="0"/>
              <a:t>per molecule</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1/</a:t>
            </a:r>
            <a:r>
              <a:rPr lang="en-GB" dirty="0" err="1"/>
              <a:t>N</a:t>
            </a:r>
            <a:r>
              <a:rPr lang="en-GB" baseline="-25000" dirty="0" err="1"/>
              <a:t>a</a:t>
            </a:r>
            <a:r>
              <a:rPr lang="en-GB" dirty="0" err="1"/>
              <a:t>Γ</a:t>
            </a:r>
            <a:r>
              <a:rPr lang="en-GB" baseline="-25000" dirty="0" err="1"/>
              <a:t>s</a:t>
            </a:r>
            <a:r>
              <a:rPr lang="en-GB" dirty="0"/>
              <a:t>=1.66</a:t>
            </a:r>
            <a:r>
              <a:rPr lang="en-GB" baseline="30000" dirty="0"/>
              <a:t> </a:t>
            </a:r>
            <a:r>
              <a:rPr lang="en-GB" dirty="0"/>
              <a:t>nm</a:t>
            </a:r>
            <a:r>
              <a:rPr lang="en-GB" baseline="30000" dirty="0"/>
              <a:t>2 </a:t>
            </a:r>
            <a:r>
              <a:rPr lang="en-GB" dirty="0"/>
              <a:t>per molecule</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baseline="30000" dirty="0"/>
          </a:p>
          <a:p>
            <a:pPr marL="342900" indent="-342900">
              <a:buFont typeface="Arial" panose="020B0604020202020204" pitchFamily="34" charset="0"/>
              <a:buChar char="•"/>
            </a:pPr>
            <a:endParaRPr lang="en-GB" baseline="-25000" dirty="0"/>
          </a:p>
        </p:txBody>
      </p:sp>
    </p:spTree>
    <p:extLst>
      <p:ext uri="{BB962C8B-B14F-4D97-AF65-F5344CB8AC3E}">
        <p14:creationId xmlns:p14="http://schemas.microsoft.com/office/powerpoint/2010/main" val="2205703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2">
                                            <p:txEl>
                                              <p:pRg st="1" end="1"/>
                                            </p:txEl>
                                          </p:spTgt>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2" grpId="0" build="p"/>
      <p:bldP spid="2" grpId="1"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062BD7-E067-2BD8-29FC-F28B9D5BBF16}"/>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Excess Gibbs Energy</a:t>
            </a:r>
          </a:p>
        </p:txBody>
      </p:sp>
      <p:pic>
        <p:nvPicPr>
          <p:cNvPr id="5" name="Picture 4">
            <a:extLst>
              <a:ext uri="{FF2B5EF4-FFF2-40B4-BE49-F238E27FC236}">
                <a16:creationId xmlns:a16="http://schemas.microsoft.com/office/drawing/2014/main" id="{BC975B6D-A253-2280-13D0-56CB3E7112BC}"/>
              </a:ext>
            </a:extLst>
          </p:cNvPr>
          <p:cNvPicPr>
            <a:picLocks noChangeAspect="1"/>
          </p:cNvPicPr>
          <p:nvPr/>
        </p:nvPicPr>
        <p:blipFill>
          <a:blip r:embed="rId2"/>
          <a:stretch>
            <a:fillRect/>
          </a:stretch>
        </p:blipFill>
        <p:spPr>
          <a:xfrm>
            <a:off x="884122" y="978358"/>
            <a:ext cx="6885250" cy="1544465"/>
          </a:xfrm>
          <a:prstGeom prst="rect">
            <a:avLst/>
          </a:prstGeom>
        </p:spPr>
      </p:pic>
      <p:sp>
        <p:nvSpPr>
          <p:cNvPr id="6" name="TextBox 5">
            <a:extLst>
              <a:ext uri="{FF2B5EF4-FFF2-40B4-BE49-F238E27FC236}">
                <a16:creationId xmlns:a16="http://schemas.microsoft.com/office/drawing/2014/main" id="{5A06313B-C8CB-9142-208E-808F05FF86E5}"/>
              </a:ext>
            </a:extLst>
          </p:cNvPr>
          <p:cNvSpPr txBox="1"/>
          <p:nvPr/>
        </p:nvSpPr>
        <p:spPr>
          <a:xfrm>
            <a:off x="599507" y="2664477"/>
            <a:ext cx="7696705" cy="646331"/>
          </a:xfrm>
          <a:prstGeom prst="rect">
            <a:avLst/>
          </a:prstGeom>
          <a:noFill/>
        </p:spPr>
        <p:txBody>
          <a:bodyPr wrap="square" rtlCol="0">
            <a:spAutoFit/>
          </a:bodyPr>
          <a:lstStyle/>
          <a:p>
            <a:r>
              <a:rPr lang="en-GB" dirty="0"/>
              <a:t>The excess Gibbs energy is the difference between the Gibbs energy of the total system and that of the two isolated phases: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630838B-3869-7102-2A84-2E888557C098}"/>
                  </a:ext>
                </a:extLst>
              </p:cNvPr>
              <p:cNvSpPr txBox="1"/>
              <p:nvPr/>
            </p:nvSpPr>
            <p:spPr>
              <a:xfrm>
                <a:off x="3001416" y="3408693"/>
                <a:ext cx="26506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𝐺</m:t>
                          </m:r>
                        </m:e>
                        <m:sub>
                          <m:r>
                            <a:rPr lang="en-GB" b="0" i="1" smtClean="0">
                              <a:latin typeface="Cambria Math" panose="02040503050406030204" pitchFamily="18" charset="0"/>
                            </a:rPr>
                            <m:t>𝑒𝑥𝑐</m:t>
                          </m:r>
                        </m:sub>
                      </m:sSub>
                      <m:r>
                        <a:rPr lang="en-GB" b="0" i="1" smtClean="0">
                          <a:latin typeface="Cambria Math" panose="02040503050406030204" pitchFamily="18" charset="0"/>
                        </a:rPr>
                        <m:t>=</m:t>
                      </m:r>
                      <m:r>
                        <a:rPr lang="en-GB" b="0" i="1" smtClean="0">
                          <a:latin typeface="Cambria Math" panose="02040503050406030204" pitchFamily="18" charset="0"/>
                        </a:rPr>
                        <m:t>𝐺</m:t>
                      </m:r>
                      <m:r>
                        <a:rPr lang="en-GB" b="0" i="1" smtClean="0">
                          <a:latin typeface="Cambria Math" panose="02040503050406030204" pitchFamily="18" charset="0"/>
                        </a:rPr>
                        <m:t>−{</m:t>
                      </m:r>
                      <m:r>
                        <a:rPr lang="en-GB" b="0" i="1" smtClean="0">
                          <a:latin typeface="Cambria Math" panose="02040503050406030204" pitchFamily="18" charset="0"/>
                        </a:rPr>
                        <m:t>𝐺</m:t>
                      </m:r>
                      <m:d>
                        <m:dPr>
                          <m:ctrlPr>
                            <a:rPr lang="en-GB" b="0" i="1" smtClean="0">
                              <a:latin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𝛼</m:t>
                          </m:r>
                        </m:e>
                      </m:d>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𝐺</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𝛽</m:t>
                          </m:r>
                        </m:e>
                      </m:d>
                      <m:r>
                        <a:rPr lang="en-GB" b="0" i="1" smtClean="0">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8" name="TextBox 7">
                <a:extLst>
                  <a:ext uri="{FF2B5EF4-FFF2-40B4-BE49-F238E27FC236}">
                    <a16:creationId xmlns:a16="http://schemas.microsoft.com/office/drawing/2014/main" id="{1630838B-3869-7102-2A84-2E888557C098}"/>
                  </a:ext>
                </a:extLst>
              </p:cNvPr>
              <p:cNvSpPr txBox="1">
                <a:spLocks noRot="1" noChangeAspect="1" noMove="1" noResize="1" noEditPoints="1" noAdjustHandles="1" noChangeArrowheads="1" noChangeShapeType="1" noTextEdit="1"/>
              </p:cNvSpPr>
              <p:nvPr/>
            </p:nvSpPr>
            <p:spPr>
              <a:xfrm>
                <a:off x="3001416" y="3408693"/>
                <a:ext cx="2650662" cy="276999"/>
              </a:xfrm>
              <a:prstGeom prst="rect">
                <a:avLst/>
              </a:prstGeom>
              <a:blipFill>
                <a:blip r:embed="rId3"/>
                <a:stretch>
                  <a:fillRect l="-1609" t="-2174" r="-2989" b="-36957"/>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1A40FA67-F557-BA30-E827-935B57DCD38F}"/>
              </a:ext>
            </a:extLst>
          </p:cNvPr>
          <p:cNvSpPr txBox="1"/>
          <p:nvPr/>
        </p:nvSpPr>
        <p:spPr>
          <a:xfrm>
            <a:off x="599506" y="3931112"/>
            <a:ext cx="7696705" cy="369332"/>
          </a:xfrm>
          <a:prstGeom prst="rect">
            <a:avLst/>
          </a:prstGeom>
          <a:noFill/>
        </p:spPr>
        <p:txBody>
          <a:bodyPr wrap="square" rtlCol="0">
            <a:spAutoFit/>
          </a:bodyPr>
          <a:lstStyle/>
          <a:p>
            <a:r>
              <a:rPr lang="en-GB" dirty="0"/>
              <a:t>The excess moles of surfactant can be defined similarly: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93D25B5-309F-62FB-684F-F4912C995D65}"/>
                  </a:ext>
                </a:extLst>
              </p:cNvPr>
              <p:cNvSpPr txBox="1"/>
              <p:nvPr/>
            </p:nvSpPr>
            <p:spPr>
              <a:xfrm>
                <a:off x="3001416" y="4535326"/>
                <a:ext cx="2911695" cy="296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𝑒𝑥𝑐</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𝐽</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𝐽</m:t>
                          </m:r>
                        </m:sub>
                      </m:sSub>
                      <m:d>
                        <m:dPr>
                          <m:ctrlPr>
                            <a:rPr lang="en-GB" b="0" i="1" smtClean="0">
                              <a:latin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𝛼</m:t>
                          </m:r>
                        </m:e>
                      </m:d>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𝑛</m:t>
                          </m:r>
                        </m:e>
                        <m:sub>
                          <m:r>
                            <a:rPr lang="en-GB" b="0" i="1" smtClean="0">
                              <a:latin typeface="Cambria Math" panose="02040503050406030204" pitchFamily="18" charset="0"/>
                              <a:ea typeface="Cambria Math" panose="02040503050406030204" pitchFamily="18" charset="0"/>
                            </a:rPr>
                            <m:t>𝐽</m:t>
                          </m:r>
                        </m:sub>
                      </m:sSub>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𝛽</m:t>
                          </m:r>
                        </m:e>
                      </m:d>
                      <m:r>
                        <a:rPr lang="en-GB" b="0" i="1" smtClean="0">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12" name="TextBox 11">
                <a:extLst>
                  <a:ext uri="{FF2B5EF4-FFF2-40B4-BE49-F238E27FC236}">
                    <a16:creationId xmlns:a16="http://schemas.microsoft.com/office/drawing/2014/main" id="{693D25B5-309F-62FB-684F-F4912C995D65}"/>
                  </a:ext>
                </a:extLst>
              </p:cNvPr>
              <p:cNvSpPr txBox="1">
                <a:spLocks noRot="1" noChangeAspect="1" noMove="1" noResize="1" noEditPoints="1" noAdjustHandles="1" noChangeArrowheads="1" noChangeShapeType="1" noTextEdit="1"/>
              </p:cNvSpPr>
              <p:nvPr/>
            </p:nvSpPr>
            <p:spPr>
              <a:xfrm>
                <a:off x="3001416" y="4535326"/>
                <a:ext cx="2911695" cy="296428"/>
              </a:xfrm>
              <a:prstGeom prst="rect">
                <a:avLst/>
              </a:prstGeom>
              <a:blipFill>
                <a:blip r:embed="rId4"/>
                <a:stretch>
                  <a:fillRect t="-2041" r="-1464" b="-28571"/>
                </a:stretch>
              </a:blipFill>
            </p:spPr>
            <p:txBody>
              <a:bodyPr/>
              <a:lstStyle/>
              <a:p>
                <a:r>
                  <a:rPr lang="en-GB">
                    <a:noFill/>
                  </a:rPr>
                  <a:t> </a:t>
                </a:r>
              </a:p>
            </p:txBody>
          </p:sp>
        </mc:Fallback>
      </mc:AlternateContent>
      <p:sp>
        <p:nvSpPr>
          <p:cNvPr id="14" name="TextBox 13">
            <a:extLst>
              <a:ext uri="{FF2B5EF4-FFF2-40B4-BE49-F238E27FC236}">
                <a16:creationId xmlns:a16="http://schemas.microsoft.com/office/drawing/2014/main" id="{9CD8E6A9-0DD0-8F35-F047-335C2271D96A}"/>
              </a:ext>
            </a:extLst>
          </p:cNvPr>
          <p:cNvSpPr txBox="1"/>
          <p:nvPr/>
        </p:nvSpPr>
        <p:spPr>
          <a:xfrm>
            <a:off x="599505" y="5066636"/>
            <a:ext cx="7696705" cy="369332"/>
          </a:xfrm>
          <a:prstGeom prst="rect">
            <a:avLst/>
          </a:prstGeom>
          <a:noFill/>
        </p:spPr>
        <p:txBody>
          <a:bodyPr wrap="square" rtlCol="0">
            <a:spAutoFit/>
          </a:bodyPr>
          <a:lstStyle/>
          <a:p>
            <a:r>
              <a:rPr lang="en-GB" dirty="0"/>
              <a:t>The surface excess is thus defined as: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E6C200A-AF45-25A9-FC99-12FED04CC391}"/>
                  </a:ext>
                </a:extLst>
              </p:cNvPr>
              <p:cNvSpPr txBox="1"/>
              <p:nvPr/>
            </p:nvSpPr>
            <p:spPr>
              <a:xfrm>
                <a:off x="3800759" y="5643359"/>
                <a:ext cx="901337" cy="4725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Γ</m:t>
                      </m:r>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𝑛</m:t>
                              </m:r>
                            </m:e>
                            <m:sub>
                              <m:r>
                                <a:rPr lang="en-GB" b="0" i="1" smtClean="0">
                                  <a:latin typeface="Cambria Math" panose="02040503050406030204" pitchFamily="18" charset="0"/>
                                  <a:ea typeface="Cambria Math" panose="02040503050406030204" pitchFamily="18" charset="0"/>
                                </a:rPr>
                                <m:t>𝑒𝑥𝑐</m:t>
                              </m:r>
                            </m:sub>
                          </m:sSub>
                        </m:num>
                        <m:den>
                          <m:r>
                            <a:rPr lang="en-GB" b="0" i="1" smtClean="0">
                              <a:latin typeface="Cambria Math" panose="02040503050406030204" pitchFamily="18" charset="0"/>
                              <a:ea typeface="Cambria Math" panose="02040503050406030204" pitchFamily="18" charset="0"/>
                            </a:rPr>
                            <m:t>𝐴</m:t>
                          </m:r>
                        </m:den>
                      </m:f>
                    </m:oMath>
                  </m:oMathPara>
                </a14:m>
                <a:endParaRPr lang="en-GB" dirty="0"/>
              </a:p>
            </p:txBody>
          </p:sp>
        </mc:Choice>
        <mc:Fallback xmlns="">
          <p:sp>
            <p:nvSpPr>
              <p:cNvPr id="16" name="TextBox 15">
                <a:extLst>
                  <a:ext uri="{FF2B5EF4-FFF2-40B4-BE49-F238E27FC236}">
                    <a16:creationId xmlns:a16="http://schemas.microsoft.com/office/drawing/2014/main" id="{BE6C200A-AF45-25A9-FC99-12FED04CC391}"/>
                  </a:ext>
                </a:extLst>
              </p:cNvPr>
              <p:cNvSpPr txBox="1">
                <a:spLocks noRot="1" noChangeAspect="1" noMove="1" noResize="1" noEditPoints="1" noAdjustHandles="1" noChangeArrowheads="1" noChangeShapeType="1" noTextEdit="1"/>
              </p:cNvSpPr>
              <p:nvPr/>
            </p:nvSpPr>
            <p:spPr>
              <a:xfrm>
                <a:off x="3800759" y="5643359"/>
                <a:ext cx="901337" cy="472565"/>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328872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P spid="1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914550-F5D1-CE41-A902-4A9625830952}"/>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Surface excess and surface tension</a:t>
            </a:r>
          </a:p>
        </p:txBody>
      </p:sp>
      <p:sp>
        <p:nvSpPr>
          <p:cNvPr id="5" name="TextBox 4">
            <a:extLst>
              <a:ext uri="{FF2B5EF4-FFF2-40B4-BE49-F238E27FC236}">
                <a16:creationId xmlns:a16="http://schemas.microsoft.com/office/drawing/2014/main" id="{629029A5-F6F9-3AEB-AE3B-43827ABB16A0}"/>
              </a:ext>
            </a:extLst>
          </p:cNvPr>
          <p:cNvSpPr txBox="1"/>
          <p:nvPr/>
        </p:nvSpPr>
        <p:spPr>
          <a:xfrm>
            <a:off x="545007" y="1174792"/>
            <a:ext cx="7696705" cy="369332"/>
          </a:xfrm>
          <a:prstGeom prst="rect">
            <a:avLst/>
          </a:prstGeom>
          <a:noFill/>
        </p:spPr>
        <p:txBody>
          <a:bodyPr wrap="square" rtlCol="0">
            <a:spAutoFit/>
          </a:bodyPr>
          <a:lstStyle/>
          <a:p>
            <a:r>
              <a:rPr lang="en-GB" dirty="0"/>
              <a:t>From the Gibbs-</a:t>
            </a:r>
            <a:r>
              <a:rPr lang="en-GB" dirty="0" err="1"/>
              <a:t>Duhem</a:t>
            </a:r>
            <a:r>
              <a:rPr lang="en-GB" dirty="0"/>
              <a:t> equation: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15D1C09-72D7-1F93-8029-3D7AD08D01C9}"/>
                  </a:ext>
                </a:extLst>
              </p:cNvPr>
              <p:cNvSpPr txBox="1"/>
              <p:nvPr/>
            </p:nvSpPr>
            <p:spPr>
              <a:xfrm>
                <a:off x="1244431" y="1816689"/>
                <a:ext cx="2040366"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𝛾</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Γ</m:t>
                          </m:r>
                        </m:e>
                        <m:sub>
                          <m:r>
                            <a:rPr lang="en-GB" b="0" i="1" smtClean="0">
                              <a:latin typeface="Cambria Math" panose="02040503050406030204" pitchFamily="18" charset="0"/>
                              <a:ea typeface="Cambria Math" panose="02040503050406030204" pitchFamily="18" charset="0"/>
                            </a:rPr>
                            <m:t>𝑠</m:t>
                          </m:r>
                        </m:sub>
                      </m:sSub>
                      <m:r>
                        <a:rPr lang="en-GB" b="0" i="1" smtClean="0">
                          <a:latin typeface="Cambria Math" panose="02040503050406030204" pitchFamily="18" charset="0"/>
                          <a:ea typeface="Cambria Math" panose="02040503050406030204" pitchFamily="18" charset="0"/>
                        </a:rPr>
                        <m:t>𝑑</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ea typeface="Cambria Math" panose="02040503050406030204" pitchFamily="18" charset="0"/>
                            </a:rPr>
                            <m:t>𝑠</m:t>
                          </m:r>
                        </m:sub>
                      </m:sSub>
                    </m:oMath>
                  </m:oMathPara>
                </a14:m>
                <a:endParaRPr lang="en-GB" dirty="0"/>
              </a:p>
            </p:txBody>
          </p:sp>
        </mc:Choice>
        <mc:Fallback xmlns="">
          <p:sp>
            <p:nvSpPr>
              <p:cNvPr id="6" name="TextBox 5">
                <a:extLst>
                  <a:ext uri="{FF2B5EF4-FFF2-40B4-BE49-F238E27FC236}">
                    <a16:creationId xmlns:a16="http://schemas.microsoft.com/office/drawing/2014/main" id="{F15D1C09-72D7-1F93-8029-3D7AD08D01C9}"/>
                  </a:ext>
                </a:extLst>
              </p:cNvPr>
              <p:cNvSpPr txBox="1">
                <a:spLocks noRot="1" noChangeAspect="1" noMove="1" noResize="1" noEditPoints="1" noAdjustHandles="1" noChangeArrowheads="1" noChangeShapeType="1" noTextEdit="1"/>
              </p:cNvSpPr>
              <p:nvPr/>
            </p:nvSpPr>
            <p:spPr>
              <a:xfrm>
                <a:off x="1244431" y="1816689"/>
                <a:ext cx="2040366" cy="369332"/>
              </a:xfrm>
              <a:prstGeom prst="rect">
                <a:avLst/>
              </a:prstGeom>
              <a:blipFill>
                <a:blip r:embed="rId2"/>
                <a:stretch>
                  <a:fillRect b="-2333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4E109D4-96E7-74F1-1418-DACD38FD6706}"/>
              </a:ext>
            </a:extLst>
          </p:cNvPr>
          <p:cNvSpPr txBox="1"/>
          <p:nvPr/>
        </p:nvSpPr>
        <p:spPr>
          <a:xfrm>
            <a:off x="4544752" y="1770522"/>
            <a:ext cx="4142048" cy="461665"/>
          </a:xfrm>
          <a:prstGeom prst="rect">
            <a:avLst/>
          </a:prstGeom>
          <a:noFill/>
        </p:spPr>
        <p:txBody>
          <a:bodyPr wrap="square" rtlCol="0">
            <a:spAutoFit/>
          </a:bodyPr>
          <a:lstStyle/>
          <a:p>
            <a:pPr marL="285750" indent="-285750">
              <a:buFont typeface="Arial" panose="020B0604020202020204" pitchFamily="34" charset="0"/>
              <a:buChar char="•"/>
            </a:pPr>
            <a:r>
              <a:rPr lang="en-GB" i="1" dirty="0" err="1"/>
              <a:t>μ</a:t>
            </a:r>
            <a:r>
              <a:rPr lang="en-GB" dirty="0"/>
              <a:t> is the chemical potential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179C6EA-593F-B316-22AF-9F8CBA4A079A}"/>
                  </a:ext>
                </a:extLst>
              </p:cNvPr>
              <p:cNvSpPr txBox="1"/>
              <p:nvPr/>
            </p:nvSpPr>
            <p:spPr>
              <a:xfrm>
                <a:off x="1244430" y="2544374"/>
                <a:ext cx="3103512" cy="276999"/>
              </a:xfrm>
              <a:prstGeom prst="rect">
                <a:avLst/>
              </a:prstGeom>
              <a:noFill/>
            </p:spPr>
            <p:txBody>
              <a:bodyPr wrap="square" lIns="0" tIns="0" rIns="0" bIns="0" rtlCol="0">
                <a:spAutoFit/>
              </a:bodyPr>
              <a:lstStyle/>
              <a:p>
                <a14:m>
                  <m:oMath xmlns:m="http://schemas.openxmlformats.org/officeDocument/2006/math">
                    <m:r>
                      <a:rPr lang="en-GB" b="0" i="1" smtClean="0">
                        <a:latin typeface="Cambria Math" panose="02040503050406030204" pitchFamily="18" charset="0"/>
                        <a:ea typeface="Cambria Math" panose="02040503050406030204" pitchFamily="18" charset="0"/>
                      </a:rPr>
                      <m:t>𝑑</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ea typeface="Cambria Math" panose="02040503050406030204" pitchFamily="18" charset="0"/>
                          </a:rPr>
                          <m:t>𝑠</m:t>
                        </m:r>
                      </m:sub>
                    </m:sSub>
                    <m:r>
                      <a:rPr lang="en-GB" b="0" i="0"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RT</m:t>
                    </m:r>
                    <m:r>
                      <a:rPr lang="en-GB" b="0" i="0"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𝑑</m:t>
                    </m:r>
                    <m:r>
                      <a:rPr lang="en-GB" b="0" i="0" smtClean="0">
                        <a:latin typeface="Cambria Math" panose="02040503050406030204" pitchFamily="18" charset="0"/>
                        <a:ea typeface="Cambria Math" panose="02040503050406030204" pitchFamily="18" charset="0"/>
                      </a:rPr>
                      <m:t> </m:t>
                    </m:r>
                    <m:r>
                      <m:rPr>
                        <m:sty m:val="p"/>
                      </m:rPr>
                      <a:rPr lang="en-GB" b="0" i="0" smtClean="0">
                        <a:latin typeface="Cambria Math" panose="02040503050406030204" pitchFamily="18" charset="0"/>
                        <a:ea typeface="Cambria Math" panose="02040503050406030204" pitchFamily="18" charset="0"/>
                      </a:rPr>
                      <m:t>ln</m:t>
                    </m:r>
                    <m:r>
                      <a:rPr lang="en-GB" b="0" i="0"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a</m:t>
                    </m:r>
                    <m:r>
                      <a:rPr lang="en-GB" b="0" i="0" smtClean="0">
                        <a:latin typeface="Cambria Math" panose="02040503050406030204" pitchFamily="18" charset="0"/>
                        <a:ea typeface="Cambria Math" panose="02040503050406030204" pitchFamily="18" charset="0"/>
                      </a:rPr>
                      <m:t>)</m:t>
                    </m:r>
                  </m:oMath>
                </a14:m>
                <a:r>
                  <a:rPr lang="en-GB" dirty="0"/>
                  <a:t> </a:t>
                </a:r>
              </a:p>
            </p:txBody>
          </p:sp>
        </mc:Choice>
        <mc:Fallback xmlns="">
          <p:sp>
            <p:nvSpPr>
              <p:cNvPr id="9" name="TextBox 8">
                <a:extLst>
                  <a:ext uri="{FF2B5EF4-FFF2-40B4-BE49-F238E27FC236}">
                    <a16:creationId xmlns:a16="http://schemas.microsoft.com/office/drawing/2014/main" id="{6179C6EA-593F-B316-22AF-9F8CBA4A079A}"/>
                  </a:ext>
                </a:extLst>
              </p:cNvPr>
              <p:cNvSpPr txBox="1">
                <a:spLocks noRot="1" noChangeAspect="1" noMove="1" noResize="1" noEditPoints="1" noAdjustHandles="1" noChangeArrowheads="1" noChangeShapeType="1" noTextEdit="1"/>
              </p:cNvSpPr>
              <p:nvPr/>
            </p:nvSpPr>
            <p:spPr>
              <a:xfrm>
                <a:off x="1244430" y="2544374"/>
                <a:ext cx="3103512" cy="276999"/>
              </a:xfrm>
              <a:prstGeom prst="rect">
                <a:avLst/>
              </a:prstGeom>
              <a:blipFill>
                <a:blip r:embed="rId3"/>
                <a:stretch>
                  <a:fillRect l="-2750" t="-2174" b="-32609"/>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0DBCF445-71C1-8A00-55CC-92AE754A0847}"/>
              </a:ext>
            </a:extLst>
          </p:cNvPr>
          <p:cNvSpPr txBox="1"/>
          <p:nvPr/>
        </p:nvSpPr>
        <p:spPr>
          <a:xfrm>
            <a:off x="4544752" y="2274836"/>
            <a:ext cx="4599248" cy="830997"/>
          </a:xfrm>
          <a:prstGeom prst="rect">
            <a:avLst/>
          </a:prstGeom>
          <a:noFill/>
        </p:spPr>
        <p:txBody>
          <a:bodyPr wrap="square" rtlCol="0">
            <a:spAutoFit/>
          </a:bodyPr>
          <a:lstStyle/>
          <a:p>
            <a:pPr marL="285750" indent="-285750">
              <a:buFont typeface="Arial" panose="020B0604020202020204" pitchFamily="34" charset="0"/>
              <a:buChar char="•"/>
            </a:pPr>
            <a:r>
              <a:rPr lang="en-GB" dirty="0"/>
              <a:t>From the definition of chemical potential</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C726DAE-A520-EA88-40E5-0F89D7EFE994}"/>
                  </a:ext>
                </a:extLst>
              </p:cNvPr>
              <p:cNvSpPr txBox="1"/>
              <p:nvPr/>
            </p:nvSpPr>
            <p:spPr>
              <a:xfrm>
                <a:off x="1244430" y="3290500"/>
                <a:ext cx="3103512" cy="276999"/>
              </a:xfrm>
              <a:prstGeom prst="rect">
                <a:avLst/>
              </a:prstGeom>
              <a:noFill/>
            </p:spPr>
            <p:txBody>
              <a:bodyPr wrap="square" lIns="0" tIns="0" rIns="0" bIns="0" rtlCol="0">
                <a:spAutoFit/>
              </a:bodyPr>
              <a:lstStyle/>
              <a:p>
                <a14:m>
                  <m:oMath xmlns:m="http://schemas.openxmlformats.org/officeDocument/2006/math">
                    <m:r>
                      <a:rPr lang="en-GB" b="0" i="1" smtClean="0">
                        <a:latin typeface="Cambria Math" panose="02040503050406030204" pitchFamily="18" charset="0"/>
                        <a:ea typeface="Cambria Math" panose="02040503050406030204" pitchFamily="18" charset="0"/>
                      </a:rPr>
                      <m:t>𝑑</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ea typeface="Cambria Math" panose="02040503050406030204" pitchFamily="18" charset="0"/>
                          </a:rPr>
                          <m:t>𝑠</m:t>
                        </m:r>
                      </m:sub>
                    </m:sSub>
                    <m:r>
                      <a:rPr lang="en-GB" b="0" i="0"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RT</m:t>
                    </m:r>
                    <m:r>
                      <a:rPr lang="en-GB" b="0" i="0"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𝑑</m:t>
                    </m:r>
                    <m:r>
                      <a:rPr lang="en-GB" b="0" i="0" smtClean="0">
                        <a:latin typeface="Cambria Math" panose="02040503050406030204" pitchFamily="18" charset="0"/>
                        <a:ea typeface="Cambria Math" panose="02040503050406030204" pitchFamily="18" charset="0"/>
                      </a:rPr>
                      <m:t> </m:t>
                    </m:r>
                    <m:r>
                      <m:rPr>
                        <m:sty m:val="p"/>
                      </m:rPr>
                      <a:rPr lang="en-GB" b="0" i="0" smtClean="0">
                        <a:latin typeface="Cambria Math" panose="02040503050406030204" pitchFamily="18" charset="0"/>
                        <a:ea typeface="Cambria Math" panose="02040503050406030204" pitchFamily="18" charset="0"/>
                      </a:rPr>
                      <m:t>ln</m:t>
                    </m:r>
                    <m:r>
                      <a:rPr lang="en-GB" b="0" i="0"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c</m:t>
                    </m:r>
                    <m:r>
                      <a:rPr lang="en-GB" b="0" i="0" smtClean="0">
                        <a:latin typeface="Cambria Math" panose="02040503050406030204" pitchFamily="18" charset="0"/>
                        <a:ea typeface="Cambria Math" panose="02040503050406030204" pitchFamily="18" charset="0"/>
                      </a:rPr>
                      <m:t>)</m:t>
                    </m:r>
                  </m:oMath>
                </a14:m>
                <a:r>
                  <a:rPr lang="en-GB" dirty="0"/>
                  <a:t> </a:t>
                </a:r>
              </a:p>
            </p:txBody>
          </p:sp>
        </mc:Choice>
        <mc:Fallback xmlns="">
          <p:sp>
            <p:nvSpPr>
              <p:cNvPr id="13" name="TextBox 12">
                <a:extLst>
                  <a:ext uri="{FF2B5EF4-FFF2-40B4-BE49-F238E27FC236}">
                    <a16:creationId xmlns:a16="http://schemas.microsoft.com/office/drawing/2014/main" id="{AC726DAE-A520-EA88-40E5-0F89D7EFE994}"/>
                  </a:ext>
                </a:extLst>
              </p:cNvPr>
              <p:cNvSpPr txBox="1">
                <a:spLocks noRot="1" noChangeAspect="1" noMove="1" noResize="1" noEditPoints="1" noAdjustHandles="1" noChangeArrowheads="1" noChangeShapeType="1" noTextEdit="1"/>
              </p:cNvSpPr>
              <p:nvPr/>
            </p:nvSpPr>
            <p:spPr>
              <a:xfrm>
                <a:off x="1244430" y="3290500"/>
                <a:ext cx="3103512" cy="276999"/>
              </a:xfrm>
              <a:prstGeom prst="rect">
                <a:avLst/>
              </a:prstGeom>
              <a:blipFill>
                <a:blip r:embed="rId4"/>
                <a:stretch>
                  <a:fillRect l="-2750" t="-2222" b="-35556"/>
                </a:stretch>
              </a:blipFill>
            </p:spPr>
            <p:txBody>
              <a:bodyPr/>
              <a:lstStyle/>
              <a:p>
                <a:r>
                  <a:rPr lang="en-GB">
                    <a:noFill/>
                  </a:rPr>
                  <a:t> </a:t>
                </a:r>
              </a:p>
            </p:txBody>
          </p:sp>
        </mc:Fallback>
      </mc:AlternateContent>
      <p:sp>
        <p:nvSpPr>
          <p:cNvPr id="15" name="TextBox 14">
            <a:extLst>
              <a:ext uri="{FF2B5EF4-FFF2-40B4-BE49-F238E27FC236}">
                <a16:creationId xmlns:a16="http://schemas.microsoft.com/office/drawing/2014/main" id="{C0DBAA58-B419-B7F7-F632-FA1E4D17F2BA}"/>
              </a:ext>
            </a:extLst>
          </p:cNvPr>
          <p:cNvSpPr txBox="1"/>
          <p:nvPr/>
        </p:nvSpPr>
        <p:spPr>
          <a:xfrm>
            <a:off x="4572000" y="3105833"/>
            <a:ext cx="4500500" cy="1200329"/>
          </a:xfrm>
          <a:prstGeom prst="rect">
            <a:avLst/>
          </a:prstGeom>
          <a:noFill/>
        </p:spPr>
        <p:txBody>
          <a:bodyPr wrap="square" rtlCol="0">
            <a:spAutoFit/>
          </a:bodyPr>
          <a:lstStyle/>
          <a:p>
            <a:pPr marL="285750" indent="-285750">
              <a:buFont typeface="Arial" panose="020B0604020202020204" pitchFamily="34" charset="0"/>
              <a:buChar char="•"/>
            </a:pPr>
            <a:r>
              <a:rPr lang="en-GB" dirty="0"/>
              <a:t>For dilute solutions where activity and concentration are approximately equal</a:t>
            </a:r>
          </a:p>
        </p:txBody>
      </p:sp>
      <p:sp>
        <p:nvSpPr>
          <p:cNvPr id="17" name="TextBox 16">
            <a:extLst>
              <a:ext uri="{FF2B5EF4-FFF2-40B4-BE49-F238E27FC236}">
                <a16:creationId xmlns:a16="http://schemas.microsoft.com/office/drawing/2014/main" id="{DCA433D2-1D20-6F5B-B425-F18AD65B98D1}"/>
              </a:ext>
            </a:extLst>
          </p:cNvPr>
          <p:cNvSpPr txBox="1"/>
          <p:nvPr/>
        </p:nvSpPr>
        <p:spPr>
          <a:xfrm>
            <a:off x="545007" y="4222654"/>
            <a:ext cx="7696705" cy="369332"/>
          </a:xfrm>
          <a:prstGeom prst="rect">
            <a:avLst/>
          </a:prstGeom>
          <a:noFill/>
        </p:spPr>
        <p:txBody>
          <a:bodyPr wrap="square" rtlCol="0">
            <a:spAutoFit/>
          </a:bodyPr>
          <a:lstStyle/>
          <a:p>
            <a:r>
              <a:rPr lang="en-GB" dirty="0"/>
              <a:t>Combining the first and third equations: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0B07A0D-D8BA-BD5C-1548-F3A065138CF7}"/>
                  </a:ext>
                </a:extLst>
              </p:cNvPr>
              <p:cNvSpPr txBox="1"/>
              <p:nvPr/>
            </p:nvSpPr>
            <p:spPr>
              <a:xfrm>
                <a:off x="1241572" y="4842012"/>
                <a:ext cx="2040367"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Γ</m:t>
                          </m:r>
                        </m:e>
                        <m:sub>
                          <m:r>
                            <a:rPr lang="en-GB" b="0" i="1" smtClean="0">
                              <a:latin typeface="Cambria Math" panose="02040503050406030204" pitchFamily="18" charset="0"/>
                              <a:ea typeface="Cambria Math" panose="02040503050406030204" pitchFamily="18" charset="0"/>
                            </a:rPr>
                            <m:t>𝑠</m:t>
                          </m:r>
                        </m:sub>
                      </m:sSub>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𝑅𝑇</m:t>
                          </m:r>
                        </m:den>
                      </m:f>
                      <m:d>
                        <m:dPr>
                          <m:ctrlPr>
                            <a:rPr lang="en-GB" b="0" i="1" smtClean="0">
                              <a:latin typeface="Cambria Math" panose="02040503050406030204" pitchFamily="18" charset="0"/>
                              <a:ea typeface="Cambria Math" panose="02040503050406030204" pitchFamily="18" charset="0"/>
                            </a:rPr>
                          </m:ctrlPr>
                        </m:dPr>
                        <m:e>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𝛾</m:t>
                              </m:r>
                            </m:num>
                            <m:den>
                              <m:r>
                                <a:rPr lang="en-GB" b="0" i="1" smtClean="0">
                                  <a:latin typeface="Cambria Math" panose="02040503050406030204" pitchFamily="18" charset="0"/>
                                  <a:ea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 </m:t>
                              </m:r>
                              <m:r>
                                <m:rPr>
                                  <m:sty m:val="p"/>
                                </m:rPr>
                                <a:rPr lang="en-GB" b="0" i="0" smtClean="0">
                                  <a:latin typeface="Cambria Math" panose="02040503050406030204" pitchFamily="18" charset="0"/>
                                  <a:ea typeface="Cambria Math" panose="02040503050406030204" pitchFamily="18" charset="0"/>
                                </a:rPr>
                                <m:t>ln</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den>
                          </m:f>
                        </m:e>
                      </m:d>
                    </m:oMath>
                  </m:oMathPara>
                </a14:m>
                <a:endParaRPr lang="en-GB" dirty="0"/>
              </a:p>
            </p:txBody>
          </p:sp>
        </mc:Choice>
        <mc:Fallback xmlns="">
          <p:sp>
            <p:nvSpPr>
              <p:cNvPr id="18" name="TextBox 17">
                <a:extLst>
                  <a:ext uri="{FF2B5EF4-FFF2-40B4-BE49-F238E27FC236}">
                    <a16:creationId xmlns:a16="http://schemas.microsoft.com/office/drawing/2014/main" id="{50B07A0D-D8BA-BD5C-1548-F3A065138CF7}"/>
                  </a:ext>
                </a:extLst>
              </p:cNvPr>
              <p:cNvSpPr txBox="1">
                <a:spLocks noRot="1" noChangeAspect="1" noMove="1" noResize="1" noEditPoints="1" noAdjustHandles="1" noChangeArrowheads="1" noChangeShapeType="1" noTextEdit="1"/>
              </p:cNvSpPr>
              <p:nvPr/>
            </p:nvSpPr>
            <p:spPr>
              <a:xfrm>
                <a:off x="1241572" y="4842012"/>
                <a:ext cx="2040367" cy="622350"/>
              </a:xfrm>
              <a:prstGeom prst="rect">
                <a:avLst/>
              </a:prstGeom>
              <a:blipFill>
                <a:blip r:embed="rId5"/>
                <a:stretch>
                  <a:fillRect l="-4938" t="-6000" r="-25309" b="-46000"/>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1703933B-39FB-2535-7507-159206ACE40D}"/>
              </a:ext>
            </a:extLst>
          </p:cNvPr>
          <p:cNvSpPr txBox="1"/>
          <p:nvPr/>
        </p:nvSpPr>
        <p:spPr>
          <a:xfrm>
            <a:off x="4531078" y="5742630"/>
            <a:ext cx="4540368" cy="1200329"/>
          </a:xfrm>
          <a:prstGeom prst="rect">
            <a:avLst/>
          </a:prstGeom>
          <a:noFill/>
        </p:spPr>
        <p:txBody>
          <a:bodyPr wrap="square" rtlCol="0">
            <a:spAutoFit/>
          </a:bodyPr>
          <a:lstStyle/>
          <a:p>
            <a:pPr marL="285750" indent="-285750">
              <a:buFont typeface="Arial" panose="020B0604020202020204" pitchFamily="34" charset="0"/>
              <a:buChar char="•"/>
            </a:pPr>
            <a:r>
              <a:rPr lang="en-GB" dirty="0"/>
              <a:t>Form used if each mole of surfactant produced n moles of ions.</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6FCA946-66F0-F319-5A99-FE111F460509}"/>
                  </a:ext>
                </a:extLst>
              </p:cNvPr>
              <p:cNvSpPr txBox="1"/>
              <p:nvPr/>
            </p:nvSpPr>
            <p:spPr>
              <a:xfrm>
                <a:off x="1241572" y="5995398"/>
                <a:ext cx="2173415"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Γ</m:t>
                          </m:r>
                        </m:e>
                        <m:sub>
                          <m:r>
                            <a:rPr lang="en-GB" b="0" i="1" smtClean="0">
                              <a:latin typeface="Cambria Math" panose="02040503050406030204" pitchFamily="18" charset="0"/>
                              <a:ea typeface="Cambria Math" panose="02040503050406030204" pitchFamily="18" charset="0"/>
                            </a:rPr>
                            <m:t>𝑠</m:t>
                          </m:r>
                        </m:sub>
                      </m:sSub>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𝑛𝑅𝑇</m:t>
                          </m:r>
                        </m:den>
                      </m:f>
                      <m:d>
                        <m:dPr>
                          <m:ctrlPr>
                            <a:rPr lang="en-GB" b="0" i="1" smtClean="0">
                              <a:latin typeface="Cambria Math" panose="02040503050406030204" pitchFamily="18" charset="0"/>
                              <a:ea typeface="Cambria Math" panose="02040503050406030204" pitchFamily="18" charset="0"/>
                            </a:rPr>
                          </m:ctrlPr>
                        </m:dPr>
                        <m:e>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𝛾</m:t>
                              </m:r>
                            </m:num>
                            <m:den>
                              <m:r>
                                <a:rPr lang="en-GB" b="0" i="1" smtClean="0">
                                  <a:latin typeface="Cambria Math" panose="02040503050406030204" pitchFamily="18" charset="0"/>
                                  <a:ea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 </m:t>
                              </m:r>
                              <m:r>
                                <m:rPr>
                                  <m:sty m:val="p"/>
                                </m:rPr>
                                <a:rPr lang="en-GB" b="0" i="0" smtClean="0">
                                  <a:latin typeface="Cambria Math" panose="02040503050406030204" pitchFamily="18" charset="0"/>
                                  <a:ea typeface="Cambria Math" panose="02040503050406030204" pitchFamily="18" charset="0"/>
                                </a:rPr>
                                <m:t>ln</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den>
                          </m:f>
                        </m:e>
                      </m:d>
                    </m:oMath>
                  </m:oMathPara>
                </a14:m>
                <a:endParaRPr lang="en-GB" dirty="0"/>
              </a:p>
            </p:txBody>
          </p:sp>
        </mc:Choice>
        <mc:Fallback xmlns="">
          <p:sp>
            <p:nvSpPr>
              <p:cNvPr id="22" name="TextBox 21">
                <a:extLst>
                  <a:ext uri="{FF2B5EF4-FFF2-40B4-BE49-F238E27FC236}">
                    <a16:creationId xmlns:a16="http://schemas.microsoft.com/office/drawing/2014/main" id="{56FCA946-66F0-F319-5A99-FE111F460509}"/>
                  </a:ext>
                </a:extLst>
              </p:cNvPr>
              <p:cNvSpPr txBox="1">
                <a:spLocks noRot="1" noChangeAspect="1" noMove="1" noResize="1" noEditPoints="1" noAdjustHandles="1" noChangeArrowheads="1" noChangeShapeType="1" noTextEdit="1"/>
              </p:cNvSpPr>
              <p:nvPr/>
            </p:nvSpPr>
            <p:spPr>
              <a:xfrm>
                <a:off x="1241572" y="5995398"/>
                <a:ext cx="2173415" cy="622350"/>
              </a:xfrm>
              <a:prstGeom prst="rect">
                <a:avLst/>
              </a:prstGeom>
              <a:blipFill>
                <a:blip r:embed="rId6"/>
                <a:stretch>
                  <a:fillRect l="-4651" t="-5882" r="-26163" b="-43137"/>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C320F1EF-CDF2-6D0C-897C-6B6E9794B9E1}"/>
              </a:ext>
            </a:extLst>
          </p:cNvPr>
          <p:cNvSpPr txBox="1"/>
          <p:nvPr/>
        </p:nvSpPr>
        <p:spPr>
          <a:xfrm>
            <a:off x="4532132" y="4653444"/>
            <a:ext cx="4278300" cy="646331"/>
          </a:xfrm>
          <a:prstGeom prst="rect">
            <a:avLst/>
          </a:prstGeom>
          <a:noFill/>
        </p:spPr>
        <p:txBody>
          <a:bodyPr wrap="square" rtlCol="0">
            <a:spAutoFit/>
          </a:bodyPr>
          <a:lstStyle/>
          <a:p>
            <a:pPr marL="285750" indent="-285750">
              <a:buFont typeface="Arial" panose="020B0604020202020204" pitchFamily="34" charset="0"/>
              <a:buChar char="•"/>
            </a:pPr>
            <a:r>
              <a:rPr lang="en-GB" dirty="0"/>
              <a:t>So excess surfactant can be measure by plotting surface tension versus ln(c).</a:t>
            </a:r>
          </a:p>
        </p:txBody>
      </p:sp>
    </p:spTree>
    <p:extLst>
      <p:ext uri="{BB962C8B-B14F-4D97-AF65-F5344CB8AC3E}">
        <p14:creationId xmlns:p14="http://schemas.microsoft.com/office/powerpoint/2010/main" val="2774420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1" grpId="0"/>
      <p:bldP spid="13" grpId="0"/>
      <p:bldP spid="15" grpId="0"/>
      <p:bldP spid="17" grpId="0"/>
      <p:bldP spid="18" grpId="0"/>
      <p:bldP spid="20" grpId="0"/>
      <p:bldP spid="22" grpId="0"/>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5B5183-D718-24F2-060C-B46D0A954175}"/>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Surface excess and surface tension</a:t>
            </a:r>
          </a:p>
        </p:txBody>
      </p:sp>
      <p:pic>
        <p:nvPicPr>
          <p:cNvPr id="5" name="Picture 4">
            <a:extLst>
              <a:ext uri="{FF2B5EF4-FFF2-40B4-BE49-F238E27FC236}">
                <a16:creationId xmlns:a16="http://schemas.microsoft.com/office/drawing/2014/main" id="{BABE3958-CACC-DBEE-8FC1-054BFCC75C12}"/>
              </a:ext>
            </a:extLst>
          </p:cNvPr>
          <p:cNvPicPr>
            <a:picLocks noChangeAspect="1"/>
          </p:cNvPicPr>
          <p:nvPr/>
        </p:nvPicPr>
        <p:blipFill>
          <a:blip r:embed="rId2"/>
          <a:stretch>
            <a:fillRect/>
          </a:stretch>
        </p:blipFill>
        <p:spPr>
          <a:xfrm>
            <a:off x="763010" y="1263379"/>
            <a:ext cx="7181976" cy="3326389"/>
          </a:xfrm>
          <a:prstGeom prst="rect">
            <a:avLst/>
          </a:prstGeom>
        </p:spPr>
      </p:pic>
      <p:pic>
        <p:nvPicPr>
          <p:cNvPr id="7" name="Picture 6">
            <a:extLst>
              <a:ext uri="{FF2B5EF4-FFF2-40B4-BE49-F238E27FC236}">
                <a16:creationId xmlns:a16="http://schemas.microsoft.com/office/drawing/2014/main" id="{344BE991-E1E3-3D47-2BD5-F3452156B5FE}"/>
              </a:ext>
            </a:extLst>
          </p:cNvPr>
          <p:cNvPicPr>
            <a:picLocks noChangeAspect="1"/>
          </p:cNvPicPr>
          <p:nvPr/>
        </p:nvPicPr>
        <p:blipFill>
          <a:blip r:embed="rId3"/>
          <a:stretch>
            <a:fillRect/>
          </a:stretch>
        </p:blipFill>
        <p:spPr>
          <a:xfrm>
            <a:off x="990095" y="4589768"/>
            <a:ext cx="7260699" cy="1640272"/>
          </a:xfrm>
          <a:prstGeom prst="rect">
            <a:avLst/>
          </a:prstGeom>
        </p:spPr>
      </p:pic>
    </p:spTree>
    <p:extLst>
      <p:ext uri="{BB962C8B-B14F-4D97-AF65-F5344CB8AC3E}">
        <p14:creationId xmlns:p14="http://schemas.microsoft.com/office/powerpoint/2010/main" val="2021666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D34CF0-B487-72DB-97B9-DFC9E1C3EF37}"/>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Surface excess and surface tension</a:t>
            </a:r>
          </a:p>
        </p:txBody>
      </p:sp>
      <p:pic>
        <p:nvPicPr>
          <p:cNvPr id="5" name="Picture 4">
            <a:extLst>
              <a:ext uri="{FF2B5EF4-FFF2-40B4-BE49-F238E27FC236}">
                <a16:creationId xmlns:a16="http://schemas.microsoft.com/office/drawing/2014/main" id="{50A4C9C4-FBCB-3F22-F9B8-569695165540}"/>
              </a:ext>
            </a:extLst>
          </p:cNvPr>
          <p:cNvPicPr>
            <a:picLocks noChangeAspect="1"/>
          </p:cNvPicPr>
          <p:nvPr/>
        </p:nvPicPr>
        <p:blipFill>
          <a:blip r:embed="rId2"/>
          <a:stretch>
            <a:fillRect/>
          </a:stretch>
        </p:blipFill>
        <p:spPr>
          <a:xfrm>
            <a:off x="563174" y="1368400"/>
            <a:ext cx="7702760" cy="4736443"/>
          </a:xfrm>
          <a:prstGeom prst="rect">
            <a:avLst/>
          </a:prstGeom>
        </p:spPr>
      </p:pic>
    </p:spTree>
    <p:extLst>
      <p:ext uri="{BB962C8B-B14F-4D97-AF65-F5344CB8AC3E}">
        <p14:creationId xmlns:p14="http://schemas.microsoft.com/office/powerpoint/2010/main" val="19281146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30CA7C-B763-C5FE-4738-ECFB84708B03}"/>
              </a:ext>
            </a:extLst>
          </p:cNvPr>
          <p:cNvSpPr>
            <a:spLocks noGrp="1"/>
          </p:cNvSpPr>
          <p:nvPr>
            <p:ph type="sldNum" sz="quarter" idx="10"/>
          </p:nvPr>
        </p:nvSpPr>
        <p:spPr/>
        <p:txBody>
          <a:bodyPr/>
          <a:lstStyle/>
          <a:p>
            <a:fld id="{2B36FD51-1015-4304-9645-AC62F2AE25BF}" type="slidenum">
              <a:rPr lang="en-GB" smtClean="0"/>
              <a:pPr/>
              <a:t>14</a:t>
            </a:fld>
            <a:endParaRPr lang="en-GB"/>
          </a:p>
        </p:txBody>
      </p:sp>
    </p:spTree>
    <p:extLst>
      <p:ext uri="{BB962C8B-B14F-4D97-AF65-F5344CB8AC3E}">
        <p14:creationId xmlns:p14="http://schemas.microsoft.com/office/powerpoint/2010/main" val="207522648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331029-1562-C5EE-ABF4-3E74E4140DD1}"/>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Surface excess and surface tension</a:t>
            </a:r>
          </a:p>
        </p:txBody>
      </p:sp>
      <p:sp>
        <p:nvSpPr>
          <p:cNvPr id="5" name="TextBox 4">
            <a:extLst>
              <a:ext uri="{FF2B5EF4-FFF2-40B4-BE49-F238E27FC236}">
                <a16:creationId xmlns:a16="http://schemas.microsoft.com/office/drawing/2014/main" id="{7B8F96F7-D2E2-2982-4CA2-94AC459CE0C9}"/>
              </a:ext>
            </a:extLst>
          </p:cNvPr>
          <p:cNvSpPr txBox="1"/>
          <p:nvPr/>
        </p:nvSpPr>
        <p:spPr>
          <a:xfrm>
            <a:off x="545007" y="1174792"/>
            <a:ext cx="7696705" cy="369332"/>
          </a:xfrm>
          <a:prstGeom prst="rect">
            <a:avLst/>
          </a:prstGeom>
          <a:noFill/>
        </p:spPr>
        <p:txBody>
          <a:bodyPr wrap="square" rtlCol="0">
            <a:spAutoFit/>
          </a:bodyPr>
          <a:lstStyle/>
          <a:p>
            <a:r>
              <a:rPr lang="en-GB" dirty="0"/>
              <a:t>Going back to regime I:</a:t>
            </a:r>
          </a:p>
        </p:txBody>
      </p:sp>
      <p:sp>
        <p:nvSpPr>
          <p:cNvPr id="6" name="TextBox 5">
            <a:extLst>
              <a:ext uri="{FF2B5EF4-FFF2-40B4-BE49-F238E27FC236}">
                <a16:creationId xmlns:a16="http://schemas.microsoft.com/office/drawing/2014/main" id="{EFD19613-F5EF-C7DB-0AC9-687DC35C519D}"/>
              </a:ext>
            </a:extLst>
          </p:cNvPr>
          <p:cNvSpPr txBox="1"/>
          <p:nvPr/>
        </p:nvSpPr>
        <p:spPr>
          <a:xfrm>
            <a:off x="926511" y="1782330"/>
            <a:ext cx="8055979" cy="461665"/>
          </a:xfrm>
          <a:prstGeom prst="rect">
            <a:avLst/>
          </a:prstGeom>
          <a:noFill/>
        </p:spPr>
        <p:txBody>
          <a:bodyPr wrap="square" rtlCol="0">
            <a:spAutoFit/>
          </a:bodyPr>
          <a:lstStyle/>
          <a:p>
            <a:pPr marL="285750" indent="-285750">
              <a:buFont typeface="Arial" panose="020B0604020202020204" pitchFamily="34" charset="0"/>
              <a:buChar char="•"/>
            </a:pPr>
            <a:r>
              <a:rPr lang="en-GB" dirty="0"/>
              <a:t>the surface tension decreases linearly with concentration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8B94B3-7CFC-5A26-3A99-257179EADDFE}"/>
                  </a:ext>
                </a:extLst>
              </p:cNvPr>
              <p:cNvSpPr txBox="1"/>
              <p:nvPr/>
            </p:nvSpPr>
            <p:spPr>
              <a:xfrm>
                <a:off x="926511" y="2251945"/>
                <a:ext cx="12192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𝛾</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ea typeface="Cambria Math" panose="02040503050406030204" pitchFamily="18" charset="0"/>
                            </a:rPr>
                            <m:t>0</m:t>
                          </m:r>
                        </m:sub>
                      </m:s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𝑘𝑐</m:t>
                      </m:r>
                    </m:oMath>
                  </m:oMathPara>
                </a14:m>
                <a:endParaRPr lang="en-GB" dirty="0"/>
              </a:p>
            </p:txBody>
          </p:sp>
        </mc:Choice>
        <mc:Fallback xmlns="">
          <p:sp>
            <p:nvSpPr>
              <p:cNvPr id="7" name="TextBox 6">
                <a:extLst>
                  <a:ext uri="{FF2B5EF4-FFF2-40B4-BE49-F238E27FC236}">
                    <a16:creationId xmlns:a16="http://schemas.microsoft.com/office/drawing/2014/main" id="{F98B94B3-7CFC-5A26-3A99-257179EADDFE}"/>
                  </a:ext>
                </a:extLst>
              </p:cNvPr>
              <p:cNvSpPr txBox="1">
                <a:spLocks noRot="1" noChangeAspect="1" noMove="1" noResize="1" noEditPoints="1" noAdjustHandles="1" noChangeArrowheads="1" noChangeShapeType="1" noTextEdit="1"/>
              </p:cNvSpPr>
              <p:nvPr/>
            </p:nvSpPr>
            <p:spPr>
              <a:xfrm>
                <a:off x="926511" y="2251945"/>
                <a:ext cx="1219245" cy="276999"/>
              </a:xfrm>
              <a:prstGeom prst="rect">
                <a:avLst/>
              </a:prstGeom>
              <a:blipFill>
                <a:blip r:embed="rId2"/>
                <a:stretch>
                  <a:fillRect l="-4500" r="-4000" b="-21739"/>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1E15D1EA-DC68-9A95-0F56-2B1CE2EB54BA}"/>
              </a:ext>
            </a:extLst>
          </p:cNvPr>
          <p:cNvSpPr txBox="1"/>
          <p:nvPr/>
        </p:nvSpPr>
        <p:spPr>
          <a:xfrm>
            <a:off x="4293440" y="2211101"/>
            <a:ext cx="3439597" cy="369332"/>
          </a:xfrm>
          <a:prstGeom prst="rect">
            <a:avLst/>
          </a:prstGeom>
          <a:noFill/>
        </p:spPr>
        <p:txBody>
          <a:bodyPr wrap="square" rtlCol="0">
            <a:spAutoFit/>
          </a:bodyPr>
          <a:lstStyle/>
          <a:p>
            <a:pPr marL="285750" indent="-285750">
              <a:buFont typeface="Arial" panose="020B0604020202020204" pitchFamily="34" charset="0"/>
              <a:buChar char="•"/>
            </a:pPr>
            <a:r>
              <a:rPr lang="en-GB" dirty="0"/>
              <a:t>k is a constant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691EC20-5684-4FB3-DC55-4E164DEE9381}"/>
                  </a:ext>
                </a:extLst>
              </p:cNvPr>
              <p:cNvSpPr txBox="1"/>
              <p:nvPr/>
            </p:nvSpPr>
            <p:spPr>
              <a:xfrm>
                <a:off x="1025928" y="2887881"/>
                <a:ext cx="921855" cy="52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𝛾</m:t>
                          </m:r>
                        </m:num>
                        <m:den>
                          <m:r>
                            <a:rPr lang="en-GB" b="0" i="1" smtClean="0">
                              <a:latin typeface="Cambria Math" panose="02040503050406030204" pitchFamily="18" charset="0"/>
                            </a:rPr>
                            <m:t>𝑑𝑐</m:t>
                          </m:r>
                        </m:den>
                      </m:f>
                      <m:r>
                        <a:rPr lang="en-GB" b="0" i="1" smtClean="0">
                          <a:latin typeface="Cambria Math" panose="02040503050406030204" pitchFamily="18" charset="0"/>
                        </a:rPr>
                        <m:t>=−</m:t>
                      </m:r>
                      <m:r>
                        <a:rPr lang="en-GB" b="0" i="1" smtClean="0">
                          <a:latin typeface="Cambria Math" panose="02040503050406030204" pitchFamily="18" charset="0"/>
                        </a:rPr>
                        <m:t>𝑘</m:t>
                      </m:r>
                    </m:oMath>
                  </m:oMathPara>
                </a14:m>
                <a:endParaRPr lang="en-GB" dirty="0"/>
              </a:p>
            </p:txBody>
          </p:sp>
        </mc:Choice>
        <mc:Fallback xmlns="">
          <p:sp>
            <p:nvSpPr>
              <p:cNvPr id="15" name="TextBox 14">
                <a:extLst>
                  <a:ext uri="{FF2B5EF4-FFF2-40B4-BE49-F238E27FC236}">
                    <a16:creationId xmlns:a16="http://schemas.microsoft.com/office/drawing/2014/main" id="{2691EC20-5684-4FB3-DC55-4E164DEE9381}"/>
                  </a:ext>
                </a:extLst>
              </p:cNvPr>
              <p:cNvSpPr txBox="1">
                <a:spLocks noRot="1" noChangeAspect="1" noMove="1" noResize="1" noEditPoints="1" noAdjustHandles="1" noChangeArrowheads="1" noChangeShapeType="1" noTextEdit="1"/>
              </p:cNvSpPr>
              <p:nvPr/>
            </p:nvSpPr>
            <p:spPr>
              <a:xfrm>
                <a:off x="1025928" y="2887881"/>
                <a:ext cx="921855" cy="525978"/>
              </a:xfrm>
              <a:prstGeom prst="rect">
                <a:avLst/>
              </a:prstGeom>
              <a:blipFill>
                <a:blip r:embed="rId3"/>
                <a:stretch>
                  <a:fillRect/>
                </a:stretch>
              </a:blipFill>
            </p:spPr>
            <p:txBody>
              <a:bodyPr/>
              <a:lstStyle/>
              <a:p>
                <a:r>
                  <a:rPr lang="en-GB">
                    <a:noFill/>
                  </a:rPr>
                  <a:t> </a:t>
                </a:r>
              </a:p>
            </p:txBody>
          </p:sp>
        </mc:Fallback>
      </mc:AlternateContent>
      <p:sp>
        <p:nvSpPr>
          <p:cNvPr id="17" name="TextBox 16">
            <a:extLst>
              <a:ext uri="{FF2B5EF4-FFF2-40B4-BE49-F238E27FC236}">
                <a16:creationId xmlns:a16="http://schemas.microsoft.com/office/drawing/2014/main" id="{E23ECE14-71B4-47A9-0499-5C385DC3A801}"/>
              </a:ext>
            </a:extLst>
          </p:cNvPr>
          <p:cNvSpPr txBox="1"/>
          <p:nvPr/>
        </p:nvSpPr>
        <p:spPr>
          <a:xfrm>
            <a:off x="4293439" y="2966204"/>
            <a:ext cx="3439597" cy="369332"/>
          </a:xfrm>
          <a:prstGeom prst="rect">
            <a:avLst/>
          </a:prstGeom>
          <a:noFill/>
        </p:spPr>
        <p:txBody>
          <a:bodyPr wrap="square" rtlCol="0">
            <a:spAutoFit/>
          </a:bodyPr>
          <a:lstStyle/>
          <a:p>
            <a:pPr marL="285750" indent="-285750">
              <a:buFont typeface="Arial" panose="020B0604020202020204" pitchFamily="34" charset="0"/>
              <a:buChar char="•"/>
            </a:pPr>
            <a:r>
              <a:rPr lang="en-GB" dirty="0"/>
              <a:t>Taking the derivative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2C13092-921E-EFBA-36EC-31896A22BD81}"/>
                  </a:ext>
                </a:extLst>
              </p:cNvPr>
              <p:cNvSpPr txBox="1"/>
              <p:nvPr/>
            </p:nvSpPr>
            <p:spPr>
              <a:xfrm>
                <a:off x="927599" y="3654496"/>
                <a:ext cx="2040367"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Γ</m:t>
                          </m:r>
                        </m:e>
                        <m:sub>
                          <m:r>
                            <a:rPr lang="en-GB" b="0" i="1" smtClean="0">
                              <a:latin typeface="Cambria Math" panose="02040503050406030204" pitchFamily="18" charset="0"/>
                              <a:ea typeface="Cambria Math" panose="02040503050406030204" pitchFamily="18" charset="0"/>
                            </a:rPr>
                            <m:t>𝑠</m:t>
                          </m:r>
                        </m:sub>
                      </m:sSub>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𝑅𝑇</m:t>
                          </m:r>
                        </m:den>
                      </m:f>
                      <m:d>
                        <m:dPr>
                          <m:ctrlPr>
                            <a:rPr lang="en-GB" b="0" i="1" smtClean="0">
                              <a:latin typeface="Cambria Math" panose="02040503050406030204" pitchFamily="18" charset="0"/>
                              <a:ea typeface="Cambria Math" panose="02040503050406030204" pitchFamily="18" charset="0"/>
                            </a:rPr>
                          </m:ctrlPr>
                        </m:dPr>
                        <m:e>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𝛾</m:t>
                              </m:r>
                            </m:num>
                            <m:den>
                              <m:r>
                                <a:rPr lang="en-GB" b="0" i="1" smtClean="0">
                                  <a:latin typeface="Cambria Math" panose="02040503050406030204" pitchFamily="18" charset="0"/>
                                  <a:ea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 </m:t>
                              </m:r>
                              <m:r>
                                <m:rPr>
                                  <m:sty m:val="p"/>
                                </m:rPr>
                                <a:rPr lang="en-GB" b="0" i="0" smtClean="0">
                                  <a:latin typeface="Cambria Math" panose="02040503050406030204" pitchFamily="18" charset="0"/>
                                  <a:ea typeface="Cambria Math" panose="02040503050406030204" pitchFamily="18" charset="0"/>
                                </a:rPr>
                                <m:t>ln</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den>
                          </m:f>
                        </m:e>
                      </m:d>
                    </m:oMath>
                  </m:oMathPara>
                </a14:m>
                <a:endParaRPr lang="en-GB" dirty="0"/>
              </a:p>
            </p:txBody>
          </p:sp>
        </mc:Choice>
        <mc:Fallback xmlns="">
          <p:sp>
            <p:nvSpPr>
              <p:cNvPr id="19" name="TextBox 18">
                <a:extLst>
                  <a:ext uri="{FF2B5EF4-FFF2-40B4-BE49-F238E27FC236}">
                    <a16:creationId xmlns:a16="http://schemas.microsoft.com/office/drawing/2014/main" id="{72C13092-921E-EFBA-36EC-31896A22BD81}"/>
                  </a:ext>
                </a:extLst>
              </p:cNvPr>
              <p:cNvSpPr txBox="1">
                <a:spLocks noRot="1" noChangeAspect="1" noMove="1" noResize="1" noEditPoints="1" noAdjustHandles="1" noChangeArrowheads="1" noChangeShapeType="1" noTextEdit="1"/>
              </p:cNvSpPr>
              <p:nvPr/>
            </p:nvSpPr>
            <p:spPr>
              <a:xfrm>
                <a:off x="927599" y="3654496"/>
                <a:ext cx="2040367" cy="622350"/>
              </a:xfrm>
              <a:prstGeom prst="rect">
                <a:avLst/>
              </a:prstGeom>
              <a:blipFill>
                <a:blip r:embed="rId4"/>
                <a:stretch>
                  <a:fillRect/>
                </a:stretch>
              </a:blipFill>
            </p:spPr>
            <p:txBody>
              <a:bodyPr/>
              <a:lstStyle/>
              <a:p>
                <a:r>
                  <a:rPr lang="en-GB">
                    <a:noFill/>
                  </a:rPr>
                  <a:t> </a:t>
                </a:r>
              </a:p>
            </p:txBody>
          </p:sp>
        </mc:Fallback>
      </mc:AlternateContent>
      <p:sp>
        <p:nvSpPr>
          <p:cNvPr id="21" name="TextBox 20">
            <a:extLst>
              <a:ext uri="{FF2B5EF4-FFF2-40B4-BE49-F238E27FC236}">
                <a16:creationId xmlns:a16="http://schemas.microsoft.com/office/drawing/2014/main" id="{D9B3F56F-22BC-5CFD-E183-7D3019D51880}"/>
              </a:ext>
            </a:extLst>
          </p:cNvPr>
          <p:cNvSpPr txBox="1"/>
          <p:nvPr/>
        </p:nvSpPr>
        <p:spPr>
          <a:xfrm>
            <a:off x="4293438" y="3630515"/>
            <a:ext cx="3439597" cy="646331"/>
          </a:xfrm>
          <a:prstGeom prst="rect">
            <a:avLst/>
          </a:prstGeom>
          <a:noFill/>
        </p:spPr>
        <p:txBody>
          <a:bodyPr wrap="square" rtlCol="0">
            <a:spAutoFit/>
          </a:bodyPr>
          <a:lstStyle/>
          <a:p>
            <a:pPr marL="285750" indent="-285750">
              <a:buFont typeface="Arial" panose="020B0604020202020204" pitchFamily="34" charset="0"/>
              <a:buChar char="•"/>
            </a:pPr>
            <a:r>
              <a:rPr lang="en-GB" dirty="0"/>
              <a:t>Borrow this from above and rearrange!</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6CBA8A-7D47-0F33-0C4A-4DE44A60AEB6}"/>
                  </a:ext>
                </a:extLst>
              </p:cNvPr>
              <p:cNvSpPr txBox="1"/>
              <p:nvPr/>
            </p:nvSpPr>
            <p:spPr>
              <a:xfrm>
                <a:off x="926511" y="4565014"/>
                <a:ext cx="1613583"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Γ</m:t>
                          </m:r>
                        </m:e>
                        <m:sub>
                          <m:r>
                            <a:rPr lang="en-GB" b="0" i="1" smtClean="0">
                              <a:latin typeface="Cambria Math" panose="02040503050406030204" pitchFamily="18" charset="0"/>
                              <a:ea typeface="Cambria Math" panose="02040503050406030204" pitchFamily="18" charset="0"/>
                            </a:rPr>
                            <m:t>𝑠</m:t>
                          </m:r>
                        </m:sub>
                      </m:sSub>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𝑐</m:t>
                          </m:r>
                        </m:num>
                        <m:den>
                          <m:r>
                            <a:rPr lang="en-GB" b="0" i="1" smtClean="0">
                              <a:latin typeface="Cambria Math" panose="02040503050406030204" pitchFamily="18" charset="0"/>
                              <a:ea typeface="Cambria Math" panose="02040503050406030204" pitchFamily="18" charset="0"/>
                            </a:rPr>
                            <m:t>𝑅𝑇</m:t>
                          </m:r>
                        </m:den>
                      </m:f>
                      <m:d>
                        <m:dPr>
                          <m:ctrlPr>
                            <a:rPr lang="en-GB" b="0" i="1" smtClean="0">
                              <a:latin typeface="Cambria Math" panose="02040503050406030204" pitchFamily="18" charset="0"/>
                              <a:ea typeface="Cambria Math" panose="02040503050406030204" pitchFamily="18" charset="0"/>
                            </a:rPr>
                          </m:ctrlPr>
                        </m:dPr>
                        <m:e>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𝑑</m:t>
                              </m:r>
                              <m:r>
                                <a:rPr lang="en-GB" b="0" i="1" smtClean="0">
                                  <a:latin typeface="Cambria Math" panose="02040503050406030204" pitchFamily="18" charset="0"/>
                                  <a:ea typeface="Cambria Math" panose="02040503050406030204" pitchFamily="18" charset="0"/>
                                </a:rPr>
                                <m:t>𝛾</m:t>
                              </m:r>
                            </m:num>
                            <m:den>
                              <m:r>
                                <a:rPr lang="en-GB" b="0" i="1" smtClean="0">
                                  <a:latin typeface="Cambria Math" panose="02040503050406030204" pitchFamily="18" charset="0"/>
                                  <a:ea typeface="Cambria Math" panose="02040503050406030204" pitchFamily="18" charset="0"/>
                                </a:rPr>
                                <m:t>𝑑𝑐</m:t>
                              </m:r>
                            </m:den>
                          </m:f>
                        </m:e>
                      </m:d>
                    </m:oMath>
                  </m:oMathPara>
                </a14:m>
                <a:endParaRPr lang="en-GB" dirty="0"/>
              </a:p>
            </p:txBody>
          </p:sp>
        </mc:Choice>
        <mc:Fallback xmlns="">
          <p:sp>
            <p:nvSpPr>
              <p:cNvPr id="23" name="TextBox 22">
                <a:extLst>
                  <a:ext uri="{FF2B5EF4-FFF2-40B4-BE49-F238E27FC236}">
                    <a16:creationId xmlns:a16="http://schemas.microsoft.com/office/drawing/2014/main" id="{226CBA8A-7D47-0F33-0C4A-4DE44A60AEB6}"/>
                  </a:ext>
                </a:extLst>
              </p:cNvPr>
              <p:cNvSpPr txBox="1">
                <a:spLocks noRot="1" noChangeAspect="1" noMove="1" noResize="1" noEditPoints="1" noAdjustHandles="1" noChangeArrowheads="1" noChangeShapeType="1" noTextEdit="1"/>
              </p:cNvSpPr>
              <p:nvPr/>
            </p:nvSpPr>
            <p:spPr>
              <a:xfrm>
                <a:off x="926511" y="4565014"/>
                <a:ext cx="1613583" cy="622350"/>
              </a:xfrm>
              <a:prstGeom prst="rect">
                <a:avLst/>
              </a:prstGeom>
              <a:blipFill>
                <a:blip r:embed="rId5"/>
                <a:stretch>
                  <a:fillRect l="-6202" t="-6000" r="-22481" b="-28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10AE76E5-F40B-ADC9-C0A5-99A61DB8D222}"/>
              </a:ext>
            </a:extLst>
          </p:cNvPr>
          <p:cNvSpPr txBox="1"/>
          <p:nvPr/>
        </p:nvSpPr>
        <p:spPr>
          <a:xfrm>
            <a:off x="4293437" y="4571825"/>
            <a:ext cx="4550126" cy="830997"/>
          </a:xfrm>
          <a:prstGeom prst="rect">
            <a:avLst/>
          </a:prstGeom>
          <a:noFill/>
        </p:spPr>
        <p:txBody>
          <a:bodyPr wrap="square" rtlCol="0">
            <a:spAutoFit/>
          </a:bodyPr>
          <a:lstStyle/>
          <a:p>
            <a:pPr marL="285750" indent="-285750">
              <a:buFont typeface="Arial" panose="020B0604020202020204" pitchFamily="34" charset="0"/>
              <a:buChar char="•"/>
            </a:pPr>
            <a:r>
              <a:rPr lang="en-GB" dirty="0"/>
              <a:t>And then setting the 2</a:t>
            </a:r>
            <a:r>
              <a:rPr lang="en-GB" baseline="30000" dirty="0"/>
              <a:t>nd</a:t>
            </a:r>
            <a:r>
              <a:rPr lang="en-GB" dirty="0"/>
              <a:t> and 4</a:t>
            </a:r>
            <a:r>
              <a:rPr lang="en-GB" baseline="30000" dirty="0"/>
              <a:t>th</a:t>
            </a:r>
            <a:r>
              <a:rPr lang="en-GB" dirty="0"/>
              <a:t> equations equal:</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7B5919-6540-43F1-D9BC-8902459293D0}"/>
                  </a:ext>
                </a:extLst>
              </p:cNvPr>
              <p:cNvSpPr txBox="1"/>
              <p:nvPr/>
            </p:nvSpPr>
            <p:spPr>
              <a:xfrm>
                <a:off x="1309104" y="5567369"/>
                <a:ext cx="970971" cy="5191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ea typeface="Cambria Math" panose="02040503050406030204" pitchFamily="18" charset="0"/>
                            </a:rPr>
                          </m:ctrlPr>
                        </m:fPr>
                        <m:num>
                          <m:sSub>
                            <m:sSubPr>
                              <m:ctrlPr>
                                <a:rPr lang="en-GB"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Γ</m:t>
                              </m:r>
                            </m:e>
                            <m:sub>
                              <m:r>
                                <a:rPr lang="en-GB" i="1">
                                  <a:latin typeface="Cambria Math" panose="02040503050406030204" pitchFamily="18" charset="0"/>
                                  <a:ea typeface="Cambria Math" panose="02040503050406030204" pitchFamily="18" charset="0"/>
                                </a:rPr>
                                <m:t>𝑠</m:t>
                              </m:r>
                            </m:sub>
                          </m:sSub>
                          <m:r>
                            <a:rPr lang="en-GB" b="0" i="1" smtClean="0">
                              <a:latin typeface="Cambria Math" panose="02040503050406030204" pitchFamily="18" charset="0"/>
                              <a:ea typeface="Cambria Math" panose="02040503050406030204" pitchFamily="18" charset="0"/>
                            </a:rPr>
                            <m:t>𝑅𝑇</m:t>
                          </m:r>
                        </m:num>
                        <m:den>
                          <m:r>
                            <a:rPr lang="en-GB" b="0" i="1" smtClean="0">
                              <a:latin typeface="Cambria Math" panose="02040503050406030204" pitchFamily="18" charset="0"/>
                              <a:ea typeface="Cambria Math" panose="02040503050406030204" pitchFamily="18" charset="0"/>
                            </a:rPr>
                            <m:t>𝑐</m:t>
                          </m:r>
                        </m:den>
                      </m:f>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𝑘</m:t>
                      </m:r>
                    </m:oMath>
                  </m:oMathPara>
                </a14:m>
                <a:endParaRPr lang="en-GB" dirty="0"/>
              </a:p>
            </p:txBody>
          </p:sp>
        </mc:Choice>
        <mc:Fallback xmlns="">
          <p:sp>
            <p:nvSpPr>
              <p:cNvPr id="27" name="TextBox 26">
                <a:extLst>
                  <a:ext uri="{FF2B5EF4-FFF2-40B4-BE49-F238E27FC236}">
                    <a16:creationId xmlns:a16="http://schemas.microsoft.com/office/drawing/2014/main" id="{947B5919-6540-43F1-D9BC-8902459293D0}"/>
                  </a:ext>
                </a:extLst>
              </p:cNvPr>
              <p:cNvSpPr txBox="1">
                <a:spLocks noRot="1" noChangeAspect="1" noMove="1" noResize="1" noEditPoints="1" noAdjustHandles="1" noChangeArrowheads="1" noChangeShapeType="1" noTextEdit="1"/>
              </p:cNvSpPr>
              <p:nvPr/>
            </p:nvSpPr>
            <p:spPr>
              <a:xfrm>
                <a:off x="1309104" y="5567369"/>
                <a:ext cx="970971" cy="519181"/>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659B952-3AF6-78FB-2140-CA2B41CEB5C5}"/>
                  </a:ext>
                </a:extLst>
              </p:cNvPr>
              <p:cNvSpPr txBox="1"/>
              <p:nvPr/>
            </p:nvSpPr>
            <p:spPr>
              <a:xfrm>
                <a:off x="3501112" y="5638570"/>
                <a:ext cx="11286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Γ</m:t>
                          </m:r>
                        </m:e>
                        <m:sub>
                          <m:r>
                            <a:rPr lang="en-GB" i="1">
                              <a:latin typeface="Cambria Math" panose="02040503050406030204" pitchFamily="18" charset="0"/>
                              <a:ea typeface="Cambria Math" panose="02040503050406030204" pitchFamily="18" charset="0"/>
                            </a:rPr>
                            <m:t>𝑠</m:t>
                          </m:r>
                        </m:sub>
                      </m:sSub>
                      <m:r>
                        <a:rPr lang="en-GB" i="1">
                          <a:latin typeface="Cambria Math" panose="02040503050406030204" pitchFamily="18" charset="0"/>
                          <a:ea typeface="Cambria Math" panose="02040503050406030204" pitchFamily="18" charset="0"/>
                        </a:rPr>
                        <m:t>𝑅𝑇</m:t>
                      </m:r>
                      <m:r>
                        <a:rPr lang="en-GB" i="1">
                          <a:latin typeface="Cambria Math" panose="02040503050406030204" pitchFamily="18" charset="0"/>
                          <a:ea typeface="Cambria Math" panose="02040503050406030204" pitchFamily="18" charset="0"/>
                        </a:rPr>
                        <m:t> =</m:t>
                      </m:r>
                      <m:r>
                        <a:rPr lang="en-GB" i="1">
                          <a:latin typeface="Cambria Math" panose="02040503050406030204" pitchFamily="18" charset="0"/>
                          <a:ea typeface="Cambria Math" panose="02040503050406030204" pitchFamily="18" charset="0"/>
                        </a:rPr>
                        <m:t>𝑘𝑐</m:t>
                      </m:r>
                    </m:oMath>
                  </m:oMathPara>
                </a14:m>
                <a:endParaRPr lang="en-GB" dirty="0"/>
              </a:p>
            </p:txBody>
          </p:sp>
        </mc:Choice>
        <mc:Fallback xmlns="">
          <p:sp>
            <p:nvSpPr>
              <p:cNvPr id="29" name="TextBox 28">
                <a:extLst>
                  <a:ext uri="{FF2B5EF4-FFF2-40B4-BE49-F238E27FC236}">
                    <a16:creationId xmlns:a16="http://schemas.microsoft.com/office/drawing/2014/main" id="{A659B952-3AF6-78FB-2140-CA2B41CEB5C5}"/>
                  </a:ext>
                </a:extLst>
              </p:cNvPr>
              <p:cNvSpPr txBox="1">
                <a:spLocks noRot="1" noChangeAspect="1" noMove="1" noResize="1" noEditPoints="1" noAdjustHandles="1" noChangeArrowheads="1" noChangeShapeType="1" noTextEdit="1"/>
              </p:cNvSpPr>
              <p:nvPr/>
            </p:nvSpPr>
            <p:spPr>
              <a:xfrm>
                <a:off x="3501112" y="5638570"/>
                <a:ext cx="1128642" cy="276999"/>
              </a:xfrm>
              <a:prstGeom prst="rect">
                <a:avLst/>
              </a:prstGeom>
              <a:blipFill>
                <a:blip r:embed="rId7"/>
                <a:stretch>
                  <a:fillRect l="-4324" r="-2162" b="-11111"/>
                </a:stretch>
              </a:blipFill>
            </p:spPr>
            <p:txBody>
              <a:bodyPr/>
              <a:lstStyle/>
              <a:p>
                <a:r>
                  <a:rPr lang="en-GB">
                    <a:noFill/>
                  </a:rPr>
                  <a:t> </a:t>
                </a:r>
              </a:p>
            </p:txBody>
          </p:sp>
        </mc:Fallback>
      </mc:AlternateContent>
      <p:cxnSp>
        <p:nvCxnSpPr>
          <p:cNvPr id="31" name="Straight Arrow Connector 30">
            <a:extLst>
              <a:ext uri="{FF2B5EF4-FFF2-40B4-BE49-F238E27FC236}">
                <a16:creationId xmlns:a16="http://schemas.microsoft.com/office/drawing/2014/main" id="{D1CD35BE-495D-B7E0-AFD5-3A0743097F97}"/>
              </a:ext>
            </a:extLst>
          </p:cNvPr>
          <p:cNvCxnSpPr/>
          <p:nvPr/>
        </p:nvCxnSpPr>
        <p:spPr>
          <a:xfrm>
            <a:off x="2541182" y="5777070"/>
            <a:ext cx="7773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2271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5" grpId="0"/>
      <p:bldP spid="17" grpId="0"/>
      <p:bldP spid="19" grpId="0"/>
      <p:bldP spid="21" grpId="0"/>
      <p:bldP spid="23" grpId="0"/>
      <p:bldP spid="25" grpId="0"/>
      <p:bldP spid="27"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620E87-43BA-EFB8-F845-9D12DA5C54D4}"/>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Surface pressure</a:t>
            </a:r>
          </a:p>
        </p:txBody>
      </p:sp>
      <p:sp>
        <p:nvSpPr>
          <p:cNvPr id="5" name="TextBox 4">
            <a:extLst>
              <a:ext uri="{FF2B5EF4-FFF2-40B4-BE49-F238E27FC236}">
                <a16:creationId xmlns:a16="http://schemas.microsoft.com/office/drawing/2014/main" id="{4037FCC5-F786-11D7-B334-140B4B4DD639}"/>
              </a:ext>
            </a:extLst>
          </p:cNvPr>
          <p:cNvSpPr txBox="1"/>
          <p:nvPr/>
        </p:nvSpPr>
        <p:spPr>
          <a:xfrm>
            <a:off x="766037" y="1165770"/>
            <a:ext cx="7611926" cy="461665"/>
          </a:xfrm>
          <a:prstGeom prst="rect">
            <a:avLst/>
          </a:prstGeom>
          <a:noFill/>
        </p:spPr>
        <p:txBody>
          <a:bodyPr wrap="square" rtlCol="0">
            <a:spAutoFit/>
          </a:bodyPr>
          <a:lstStyle/>
          <a:p>
            <a:pPr marL="285750" indent="-285750">
              <a:buFont typeface="Arial" panose="020B0604020202020204" pitchFamily="34" charset="0"/>
              <a:buChar char="•"/>
            </a:pPr>
            <a:r>
              <a:rPr lang="en-GB" dirty="0"/>
              <a:t>We define the </a:t>
            </a:r>
            <a:r>
              <a:rPr lang="en-GB" i="1" dirty="0"/>
              <a:t>surface pressure</a:t>
            </a:r>
            <a:r>
              <a:rPr lang="en-GB" dirty="0"/>
              <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79BB63-2706-C44D-7993-67DA1C5B481B}"/>
                  </a:ext>
                </a:extLst>
              </p:cNvPr>
              <p:cNvSpPr txBox="1"/>
              <p:nvPr/>
            </p:nvSpPr>
            <p:spPr>
              <a:xfrm>
                <a:off x="5652120" y="1218657"/>
                <a:ext cx="11206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𝜋</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ea typeface="Cambria Math" panose="02040503050406030204" pitchFamily="18" charset="0"/>
                            </a:rPr>
                            <m:t>0</m:t>
                          </m:r>
                        </m:sub>
                      </m:s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𝛾</m:t>
                      </m:r>
                    </m:oMath>
                  </m:oMathPara>
                </a14:m>
                <a:endParaRPr lang="en-GB" dirty="0"/>
              </a:p>
            </p:txBody>
          </p:sp>
        </mc:Choice>
        <mc:Fallback xmlns="">
          <p:sp>
            <p:nvSpPr>
              <p:cNvPr id="7" name="TextBox 6">
                <a:extLst>
                  <a:ext uri="{FF2B5EF4-FFF2-40B4-BE49-F238E27FC236}">
                    <a16:creationId xmlns:a16="http://schemas.microsoft.com/office/drawing/2014/main" id="{9079BB63-2706-C44D-7993-67DA1C5B481B}"/>
                  </a:ext>
                </a:extLst>
              </p:cNvPr>
              <p:cNvSpPr txBox="1">
                <a:spLocks noRot="1" noChangeAspect="1" noMove="1" noResize="1" noEditPoints="1" noAdjustHandles="1" noChangeArrowheads="1" noChangeShapeType="1" noTextEdit="1"/>
              </p:cNvSpPr>
              <p:nvPr/>
            </p:nvSpPr>
            <p:spPr>
              <a:xfrm>
                <a:off x="5652120" y="1218657"/>
                <a:ext cx="1120691" cy="276999"/>
              </a:xfrm>
              <a:prstGeom prst="rect">
                <a:avLst/>
              </a:prstGeom>
              <a:blipFill>
                <a:blip r:embed="rId2"/>
                <a:stretch>
                  <a:fillRect l="-5556" r="-33333" b="-6363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4DCA53BE-BF57-831D-0BA4-3C4E974B6C39}"/>
              </a:ext>
            </a:extLst>
          </p:cNvPr>
          <p:cNvSpPr txBox="1"/>
          <p:nvPr/>
        </p:nvSpPr>
        <p:spPr>
          <a:xfrm>
            <a:off x="766037" y="1651438"/>
            <a:ext cx="5046571" cy="830997"/>
          </a:xfrm>
          <a:prstGeom prst="rect">
            <a:avLst/>
          </a:prstGeom>
          <a:noFill/>
        </p:spPr>
        <p:txBody>
          <a:bodyPr wrap="square" rtlCol="0">
            <a:spAutoFit/>
          </a:bodyPr>
          <a:lstStyle/>
          <a:p>
            <a:pPr marL="285750" indent="-285750">
              <a:buFont typeface="Arial" panose="020B0604020202020204" pitchFamily="34" charset="0"/>
              <a:buChar char="•"/>
            </a:pPr>
            <a:r>
              <a:rPr lang="en-GB" dirty="0"/>
              <a:t>Using the first equation above we get: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075E640-5076-6BCE-ED2D-B965F7CEAB69}"/>
                  </a:ext>
                </a:extLst>
              </p:cNvPr>
              <p:cNvSpPr txBox="1"/>
              <p:nvPr/>
            </p:nvSpPr>
            <p:spPr>
              <a:xfrm>
                <a:off x="5652120" y="1642835"/>
                <a:ext cx="12192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𝛾</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ea typeface="Cambria Math" panose="02040503050406030204" pitchFamily="18" charset="0"/>
                            </a:rPr>
                            <m:t>0</m:t>
                          </m:r>
                        </m:sub>
                      </m:s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𝑘𝑐</m:t>
                      </m:r>
                    </m:oMath>
                  </m:oMathPara>
                </a14:m>
                <a:endParaRPr lang="en-GB" dirty="0"/>
              </a:p>
            </p:txBody>
          </p:sp>
        </mc:Choice>
        <mc:Fallback xmlns="">
          <p:sp>
            <p:nvSpPr>
              <p:cNvPr id="11" name="TextBox 10">
                <a:extLst>
                  <a:ext uri="{FF2B5EF4-FFF2-40B4-BE49-F238E27FC236}">
                    <a16:creationId xmlns:a16="http://schemas.microsoft.com/office/drawing/2014/main" id="{9075E640-5076-6BCE-ED2D-B965F7CEAB69}"/>
                  </a:ext>
                </a:extLst>
              </p:cNvPr>
              <p:cNvSpPr txBox="1">
                <a:spLocks noRot="1" noChangeAspect="1" noMove="1" noResize="1" noEditPoints="1" noAdjustHandles="1" noChangeArrowheads="1" noChangeShapeType="1" noTextEdit="1"/>
              </p:cNvSpPr>
              <p:nvPr/>
            </p:nvSpPr>
            <p:spPr>
              <a:xfrm>
                <a:off x="5652120" y="1642835"/>
                <a:ext cx="1219245" cy="276999"/>
              </a:xfrm>
              <a:prstGeom prst="rect">
                <a:avLst/>
              </a:prstGeom>
              <a:blipFill>
                <a:blip r:embed="rId3"/>
                <a:stretch>
                  <a:fillRect l="-8247" r="-35052" b="-6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CF1960F-DAAB-4B0E-7AC5-850F231861AE}"/>
                  </a:ext>
                </a:extLst>
              </p:cNvPr>
              <p:cNvSpPr txBox="1"/>
              <p:nvPr/>
            </p:nvSpPr>
            <p:spPr>
              <a:xfrm>
                <a:off x="5562110" y="2065358"/>
                <a:ext cx="103009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𝜋</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𝑘𝑐</m:t>
                      </m:r>
                    </m:oMath>
                  </m:oMathPara>
                </a14:m>
                <a:endParaRPr lang="en-GB" dirty="0"/>
              </a:p>
            </p:txBody>
          </p:sp>
        </mc:Choice>
        <mc:Fallback xmlns="">
          <p:sp>
            <p:nvSpPr>
              <p:cNvPr id="15" name="TextBox 14">
                <a:extLst>
                  <a:ext uri="{FF2B5EF4-FFF2-40B4-BE49-F238E27FC236}">
                    <a16:creationId xmlns:a16="http://schemas.microsoft.com/office/drawing/2014/main" id="{0CF1960F-DAAB-4B0E-7AC5-850F231861AE}"/>
                  </a:ext>
                </a:extLst>
              </p:cNvPr>
              <p:cNvSpPr txBox="1">
                <a:spLocks noRot="1" noChangeAspect="1" noMove="1" noResize="1" noEditPoints="1" noAdjustHandles="1" noChangeArrowheads="1" noChangeShapeType="1" noTextEdit="1"/>
              </p:cNvSpPr>
              <p:nvPr/>
            </p:nvSpPr>
            <p:spPr>
              <a:xfrm>
                <a:off x="5562110" y="2065358"/>
                <a:ext cx="1030090" cy="369332"/>
              </a:xfrm>
              <a:prstGeom prst="rect">
                <a:avLst/>
              </a:prstGeom>
              <a:blipFill>
                <a:blip r:embed="rId4"/>
                <a:stretch>
                  <a:fillRect r="-3659" b="-10000"/>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7357505-8C20-9604-59D7-65ADFB609B59}"/>
              </a:ext>
            </a:extLst>
          </p:cNvPr>
          <p:cNvSpPr txBox="1"/>
          <p:nvPr/>
        </p:nvSpPr>
        <p:spPr>
          <a:xfrm>
            <a:off x="701158" y="2911893"/>
            <a:ext cx="4965785" cy="461665"/>
          </a:xfrm>
          <a:prstGeom prst="rect">
            <a:avLst/>
          </a:prstGeom>
          <a:noFill/>
        </p:spPr>
        <p:txBody>
          <a:bodyPr wrap="square" rtlCol="0">
            <a:spAutoFit/>
          </a:bodyPr>
          <a:lstStyle/>
          <a:p>
            <a:pPr marL="285750" indent="-285750">
              <a:buFont typeface="Arial" panose="020B0604020202020204" pitchFamily="34" charset="0"/>
              <a:buChar char="•"/>
            </a:pPr>
            <a:r>
              <a:rPr lang="en-GB" dirty="0"/>
              <a:t>And finally we get: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9F7B176-FB8F-B573-C988-11D87F3B97B5}"/>
                  </a:ext>
                </a:extLst>
              </p:cNvPr>
              <p:cNvSpPr txBox="1"/>
              <p:nvPr/>
            </p:nvSpPr>
            <p:spPr>
              <a:xfrm>
                <a:off x="5472100" y="2896355"/>
                <a:ext cx="10300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Γ</m:t>
                          </m:r>
                        </m:e>
                        <m:sub>
                          <m:r>
                            <a:rPr lang="en-GB" i="1">
                              <a:latin typeface="Cambria Math" panose="02040503050406030204" pitchFamily="18" charset="0"/>
                              <a:ea typeface="Cambria Math" panose="02040503050406030204" pitchFamily="18" charset="0"/>
                            </a:rPr>
                            <m:t>𝑠</m:t>
                          </m:r>
                        </m:sub>
                      </m:sSub>
                      <m:r>
                        <a:rPr lang="en-GB" i="1">
                          <a:latin typeface="Cambria Math" panose="02040503050406030204" pitchFamily="18" charset="0"/>
                          <a:ea typeface="Cambria Math" panose="02040503050406030204" pitchFamily="18" charset="0"/>
                        </a:rPr>
                        <m:t>𝑅𝑇</m:t>
                      </m:r>
                      <m:r>
                        <a:rPr lang="en-GB" i="1">
                          <a:latin typeface="Cambria Math" panose="02040503050406030204" pitchFamily="18" charset="0"/>
                          <a:ea typeface="Cambria Math" panose="02040503050406030204" pitchFamily="18" charset="0"/>
                        </a:rPr>
                        <m:t> =</m:t>
                      </m:r>
                      <m:r>
                        <a:rPr lang="en-GB" i="1" smtClean="0">
                          <a:latin typeface="Cambria Math" panose="02040503050406030204" pitchFamily="18" charset="0"/>
                          <a:ea typeface="Cambria Math" panose="02040503050406030204" pitchFamily="18" charset="0"/>
                        </a:rPr>
                        <m:t>𝜋</m:t>
                      </m:r>
                    </m:oMath>
                  </m:oMathPara>
                </a14:m>
                <a:endParaRPr lang="en-GB" dirty="0"/>
              </a:p>
            </p:txBody>
          </p:sp>
        </mc:Choice>
        <mc:Fallback xmlns="">
          <p:sp>
            <p:nvSpPr>
              <p:cNvPr id="19" name="TextBox 18">
                <a:extLst>
                  <a:ext uri="{FF2B5EF4-FFF2-40B4-BE49-F238E27FC236}">
                    <a16:creationId xmlns:a16="http://schemas.microsoft.com/office/drawing/2014/main" id="{A9F7B176-FB8F-B573-C988-11D87F3B97B5}"/>
                  </a:ext>
                </a:extLst>
              </p:cNvPr>
              <p:cNvSpPr txBox="1">
                <a:spLocks noRot="1" noChangeAspect="1" noMove="1" noResize="1" noEditPoints="1" noAdjustHandles="1" noChangeArrowheads="1" noChangeShapeType="1" noTextEdit="1"/>
              </p:cNvSpPr>
              <p:nvPr/>
            </p:nvSpPr>
            <p:spPr>
              <a:xfrm>
                <a:off x="5472100" y="2896355"/>
                <a:ext cx="1030090" cy="276999"/>
              </a:xfrm>
              <a:prstGeom prst="rect">
                <a:avLst/>
              </a:prstGeom>
              <a:blipFill>
                <a:blip r:embed="rId5"/>
                <a:stretch>
                  <a:fillRect l="-10976" t="-8696" r="-30488" b="-78261"/>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7A53A30E-8C93-F081-9453-CB9DBB394B41}"/>
              </a:ext>
            </a:extLst>
          </p:cNvPr>
          <p:cNvSpPr txBox="1"/>
          <p:nvPr/>
        </p:nvSpPr>
        <p:spPr>
          <a:xfrm>
            <a:off x="666618" y="3739792"/>
            <a:ext cx="4965785" cy="830997"/>
          </a:xfrm>
          <a:prstGeom prst="rect">
            <a:avLst/>
          </a:prstGeom>
          <a:noFill/>
        </p:spPr>
        <p:txBody>
          <a:bodyPr wrap="square" rtlCol="0">
            <a:spAutoFit/>
          </a:bodyPr>
          <a:lstStyle/>
          <a:p>
            <a:pPr marL="285750" indent="-285750">
              <a:buFont typeface="Arial" panose="020B0604020202020204" pitchFamily="34" charset="0"/>
              <a:buChar char="•"/>
            </a:pPr>
            <a:r>
              <a:rPr lang="en-GB" dirty="0"/>
              <a:t>Subbing in the definition of surface excess we get:</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3FA767A-5FB3-8425-0CCF-6544C7ACE84B}"/>
                  </a:ext>
                </a:extLst>
              </p:cNvPr>
              <p:cNvSpPr txBox="1"/>
              <p:nvPr/>
            </p:nvSpPr>
            <p:spPr>
              <a:xfrm>
                <a:off x="5467391" y="3915761"/>
                <a:ext cx="14039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𝑛</m:t>
                          </m:r>
                        </m:e>
                        <m:sub>
                          <m:r>
                            <a:rPr lang="en-GB" b="0" i="1" smtClean="0">
                              <a:latin typeface="Cambria Math" panose="02040503050406030204" pitchFamily="18" charset="0"/>
                              <a:ea typeface="Cambria Math" panose="02040503050406030204" pitchFamily="18" charset="0"/>
                            </a:rPr>
                            <m:t>𝑒𝑥𝑐</m:t>
                          </m:r>
                        </m:sub>
                      </m:sSub>
                      <m:r>
                        <a:rPr lang="en-GB" i="1">
                          <a:latin typeface="Cambria Math" panose="02040503050406030204" pitchFamily="18" charset="0"/>
                          <a:ea typeface="Cambria Math" panose="02040503050406030204" pitchFamily="18" charset="0"/>
                        </a:rPr>
                        <m:t>𝑅𝑇</m:t>
                      </m:r>
                      <m:r>
                        <a:rPr lang="en-GB" i="1">
                          <a:latin typeface="Cambria Math" panose="02040503050406030204" pitchFamily="18" charset="0"/>
                          <a:ea typeface="Cambria Math" panose="02040503050406030204" pitchFamily="18" charset="0"/>
                        </a:rPr>
                        <m:t> =</m:t>
                      </m:r>
                      <m:r>
                        <a:rPr lang="en-GB" i="1" smtClean="0">
                          <a:latin typeface="Cambria Math" panose="02040503050406030204" pitchFamily="18" charset="0"/>
                          <a:ea typeface="Cambria Math" panose="02040503050406030204" pitchFamily="18" charset="0"/>
                        </a:rPr>
                        <m:t>𝜋</m:t>
                      </m:r>
                      <m:r>
                        <a:rPr lang="en-GB" b="0" i="1" smtClean="0">
                          <a:latin typeface="Cambria Math" panose="02040503050406030204" pitchFamily="18" charset="0"/>
                          <a:ea typeface="Cambria Math" panose="02040503050406030204" pitchFamily="18" charset="0"/>
                        </a:rPr>
                        <m:t>𝐴</m:t>
                      </m:r>
                    </m:oMath>
                  </m:oMathPara>
                </a14:m>
                <a:endParaRPr lang="en-GB" dirty="0"/>
              </a:p>
            </p:txBody>
          </p:sp>
        </mc:Choice>
        <mc:Fallback xmlns="">
          <p:sp>
            <p:nvSpPr>
              <p:cNvPr id="23" name="TextBox 22">
                <a:extLst>
                  <a:ext uri="{FF2B5EF4-FFF2-40B4-BE49-F238E27FC236}">
                    <a16:creationId xmlns:a16="http://schemas.microsoft.com/office/drawing/2014/main" id="{33FA767A-5FB3-8425-0CCF-6544C7ACE84B}"/>
                  </a:ext>
                </a:extLst>
              </p:cNvPr>
              <p:cNvSpPr txBox="1">
                <a:spLocks noRot="1" noChangeAspect="1" noMove="1" noResize="1" noEditPoints="1" noAdjustHandles="1" noChangeArrowheads="1" noChangeShapeType="1" noTextEdit="1"/>
              </p:cNvSpPr>
              <p:nvPr/>
            </p:nvSpPr>
            <p:spPr>
              <a:xfrm>
                <a:off x="5467391" y="3915761"/>
                <a:ext cx="1403974" cy="276999"/>
              </a:xfrm>
              <a:prstGeom prst="rect">
                <a:avLst/>
              </a:prstGeom>
              <a:blipFill>
                <a:blip r:embed="rId6"/>
                <a:stretch>
                  <a:fillRect l="-5405" t="-8696" r="-34234" b="-78261"/>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752AC3F8-CED5-934C-C9E8-F6C9CE5CF4E9}"/>
              </a:ext>
            </a:extLst>
          </p:cNvPr>
          <p:cNvSpPr txBox="1"/>
          <p:nvPr/>
        </p:nvSpPr>
        <p:spPr>
          <a:xfrm>
            <a:off x="2591780" y="4907672"/>
            <a:ext cx="4695755" cy="461665"/>
          </a:xfrm>
          <a:prstGeom prst="rect">
            <a:avLst/>
          </a:prstGeom>
          <a:noFill/>
        </p:spPr>
        <p:txBody>
          <a:bodyPr wrap="square" rtlCol="0">
            <a:spAutoFit/>
          </a:bodyPr>
          <a:lstStyle/>
          <a:p>
            <a:r>
              <a:rPr lang="en-GB" dirty="0"/>
              <a:t>Look familiar?</a:t>
            </a:r>
          </a:p>
        </p:txBody>
      </p:sp>
    </p:spTree>
    <p:extLst>
      <p:ext uri="{BB962C8B-B14F-4D97-AF65-F5344CB8AC3E}">
        <p14:creationId xmlns:p14="http://schemas.microsoft.com/office/powerpoint/2010/main" val="12045830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5" grpId="0"/>
      <p:bldP spid="17" grpId="0"/>
      <p:bldP spid="19" grpId="0"/>
      <p:bldP spid="21" grpId="0"/>
      <p:bldP spid="23" grpId="0"/>
      <p:bldP spid="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620E87-43BA-EFB8-F845-9D12DA5C54D4}"/>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Micelles</a:t>
            </a:r>
          </a:p>
        </p:txBody>
      </p:sp>
      <p:sp>
        <p:nvSpPr>
          <p:cNvPr id="31" name="TextBox 30">
            <a:extLst>
              <a:ext uri="{FF2B5EF4-FFF2-40B4-BE49-F238E27FC236}">
                <a16:creationId xmlns:a16="http://schemas.microsoft.com/office/drawing/2014/main" id="{2BDE913D-4A42-D397-519B-6EC83E32CE18}"/>
              </a:ext>
            </a:extLst>
          </p:cNvPr>
          <p:cNvSpPr txBox="1"/>
          <p:nvPr/>
        </p:nvSpPr>
        <p:spPr>
          <a:xfrm>
            <a:off x="493183" y="1223755"/>
            <a:ext cx="7696705" cy="461665"/>
          </a:xfrm>
          <a:prstGeom prst="rect">
            <a:avLst/>
          </a:prstGeom>
          <a:noFill/>
        </p:spPr>
        <p:txBody>
          <a:bodyPr wrap="square" rtlCol="0">
            <a:spAutoFit/>
          </a:bodyPr>
          <a:lstStyle/>
          <a:p>
            <a:r>
              <a:rPr lang="en-GB" dirty="0"/>
              <a:t>Summary so far:</a:t>
            </a:r>
          </a:p>
        </p:txBody>
      </p:sp>
      <p:sp>
        <p:nvSpPr>
          <p:cNvPr id="33" name="TextBox 32">
            <a:extLst>
              <a:ext uri="{FF2B5EF4-FFF2-40B4-BE49-F238E27FC236}">
                <a16:creationId xmlns:a16="http://schemas.microsoft.com/office/drawing/2014/main" id="{4D5A849F-7634-19D1-1DAC-A84D037E7991}"/>
              </a:ext>
            </a:extLst>
          </p:cNvPr>
          <p:cNvSpPr txBox="1"/>
          <p:nvPr/>
        </p:nvSpPr>
        <p:spPr>
          <a:xfrm>
            <a:off x="1017345" y="2078850"/>
            <a:ext cx="7696705" cy="4154984"/>
          </a:xfrm>
          <a:prstGeom prst="rect">
            <a:avLst/>
          </a:prstGeom>
          <a:noFill/>
        </p:spPr>
        <p:txBody>
          <a:bodyPr wrap="square" rtlCol="0">
            <a:spAutoFit/>
          </a:bodyPr>
          <a:lstStyle/>
          <a:p>
            <a:pPr marL="285750" indent="-285750">
              <a:buFont typeface="Arial" panose="020B0604020202020204" pitchFamily="34" charset="0"/>
              <a:buChar char="•"/>
            </a:pPr>
            <a:r>
              <a:rPr lang="en-GB" dirty="0"/>
              <a:t>In dilute solution (regime I) the molecules in the monolayer at the air-water surface are not very densely packed and can be considered to form a 2-D </a:t>
            </a:r>
            <a:r>
              <a:rPr lang="en-GB" i="1" dirty="0"/>
              <a:t>ideal gas</a:t>
            </a:r>
            <a:r>
              <a:rPr lang="en-GB" dirty="0"/>
              <a:t>.</a:t>
            </a:r>
            <a:br>
              <a:rPr lang="en-GB" dirty="0"/>
            </a:br>
            <a:r>
              <a:rPr lang="en-GB" dirty="0"/>
              <a:t> </a:t>
            </a:r>
          </a:p>
          <a:p>
            <a:pPr marL="285750" indent="-285750">
              <a:buFont typeface="Arial" panose="020B0604020202020204" pitchFamily="34" charset="0"/>
              <a:buChar char="•"/>
            </a:pPr>
            <a:r>
              <a:rPr lang="en-GB" dirty="0"/>
              <a:t>The packing density increases with concentration until the monolayer is saturated (regime II). Then G is a constant (and so is the area per molecule). Even in regime II the monolayer is saturated. Molecules have to build up in bulk before reaching the </a:t>
            </a:r>
            <a:r>
              <a:rPr lang="en-GB" dirty="0" err="1"/>
              <a:t>cmc</a:t>
            </a:r>
            <a:r>
              <a:rPr lang="en-GB" dirty="0"/>
              <a:t>. </a:t>
            </a:r>
            <a:br>
              <a:rPr lang="en-GB" dirty="0"/>
            </a:br>
            <a:endParaRPr lang="en-GB" dirty="0"/>
          </a:p>
          <a:p>
            <a:pPr marL="285750" indent="-285750">
              <a:buFont typeface="Arial" panose="020B0604020202020204" pitchFamily="34" charset="0"/>
              <a:buChar char="•"/>
            </a:pPr>
            <a:r>
              <a:rPr lang="en-GB" dirty="0"/>
              <a:t>Then in regime III, </a:t>
            </a:r>
            <a:r>
              <a:rPr lang="en-GB" dirty="0">
                <a:latin typeface="Symbol" panose="05050102010706020507" pitchFamily="18" charset="2"/>
              </a:rPr>
              <a:t>g</a:t>
            </a:r>
            <a:r>
              <a:rPr lang="en-GB" dirty="0"/>
              <a:t> is nearly constant, implying </a:t>
            </a:r>
            <a:r>
              <a:rPr lang="en-GB" dirty="0" err="1"/>
              <a:t>G</a:t>
            </a:r>
            <a:r>
              <a:rPr lang="en-GB" baseline="-25000" dirty="0" err="1"/>
              <a:t>s</a:t>
            </a:r>
            <a:r>
              <a:rPr lang="en-GB" dirty="0"/>
              <a:t> = 0.</a:t>
            </a:r>
          </a:p>
        </p:txBody>
      </p:sp>
    </p:spTree>
    <p:extLst>
      <p:ext uri="{BB962C8B-B14F-4D97-AF65-F5344CB8AC3E}">
        <p14:creationId xmlns:p14="http://schemas.microsoft.com/office/powerpoint/2010/main" val="2914283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B4A20E-7C1B-EF44-5533-EA403ECE1C46}"/>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Micelles</a:t>
            </a:r>
          </a:p>
        </p:txBody>
      </p:sp>
      <p:sp>
        <p:nvSpPr>
          <p:cNvPr id="9" name="TextBox 8">
            <a:extLst>
              <a:ext uri="{FF2B5EF4-FFF2-40B4-BE49-F238E27FC236}">
                <a16:creationId xmlns:a16="http://schemas.microsoft.com/office/drawing/2014/main" id="{97C90CA4-0893-B63E-D5FA-0682D5F0E64E}"/>
              </a:ext>
            </a:extLst>
          </p:cNvPr>
          <p:cNvSpPr txBox="1"/>
          <p:nvPr/>
        </p:nvSpPr>
        <p:spPr>
          <a:xfrm>
            <a:off x="629785" y="1205070"/>
            <a:ext cx="7775428" cy="369332"/>
          </a:xfrm>
          <a:prstGeom prst="rect">
            <a:avLst/>
          </a:prstGeom>
          <a:noFill/>
        </p:spPr>
        <p:txBody>
          <a:bodyPr wrap="square" rtlCol="0">
            <a:spAutoFit/>
          </a:bodyPr>
          <a:lstStyle/>
          <a:p>
            <a:r>
              <a:rPr lang="en-GB" dirty="0"/>
              <a:t>Gibbs energy of micellization:</a:t>
            </a:r>
          </a:p>
        </p:txBody>
      </p:sp>
      <p:sp>
        <p:nvSpPr>
          <p:cNvPr id="10" name="TextBox 9">
            <a:extLst>
              <a:ext uri="{FF2B5EF4-FFF2-40B4-BE49-F238E27FC236}">
                <a16:creationId xmlns:a16="http://schemas.microsoft.com/office/drawing/2014/main" id="{F4ECF52A-C718-87BA-C552-26F61F80F1BA}"/>
              </a:ext>
            </a:extLst>
          </p:cNvPr>
          <p:cNvSpPr txBox="1"/>
          <p:nvPr/>
        </p:nvSpPr>
        <p:spPr>
          <a:xfrm>
            <a:off x="1017346" y="1683464"/>
            <a:ext cx="7054808" cy="369332"/>
          </a:xfrm>
          <a:prstGeom prst="rect">
            <a:avLst/>
          </a:prstGeom>
          <a:noFill/>
        </p:spPr>
        <p:txBody>
          <a:bodyPr wrap="square" rtlCol="0">
            <a:spAutoFit/>
          </a:bodyPr>
          <a:lstStyle/>
          <a:p>
            <a:pPr marL="285750" indent="-285750">
              <a:buFont typeface="Arial" panose="020B0604020202020204" pitchFamily="34" charset="0"/>
              <a:buChar char="•"/>
            </a:pPr>
            <a:r>
              <a:rPr lang="en-GB" dirty="0"/>
              <a:t>We have p number of molecules forming a micelle at equilibrium:</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EBA303-E5F6-19B5-68E2-294180A010ED}"/>
                  </a:ext>
                </a:extLst>
              </p:cNvPr>
              <p:cNvSpPr txBox="1"/>
              <p:nvPr/>
            </p:nvSpPr>
            <p:spPr>
              <a:xfrm>
                <a:off x="3688912" y="2222416"/>
                <a:ext cx="93730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𝑝𝑆</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𝑝</m:t>
                          </m:r>
                        </m:sub>
                      </m:sSub>
                    </m:oMath>
                  </m:oMathPara>
                </a14:m>
                <a:endParaRPr lang="en-GB" dirty="0"/>
              </a:p>
            </p:txBody>
          </p:sp>
        </mc:Choice>
        <mc:Fallback xmlns="">
          <p:sp>
            <p:nvSpPr>
              <p:cNvPr id="11" name="TextBox 10">
                <a:extLst>
                  <a:ext uri="{FF2B5EF4-FFF2-40B4-BE49-F238E27FC236}">
                    <a16:creationId xmlns:a16="http://schemas.microsoft.com/office/drawing/2014/main" id="{87EBA303-E5F6-19B5-68E2-294180A010ED}"/>
                  </a:ext>
                </a:extLst>
              </p:cNvPr>
              <p:cNvSpPr txBox="1">
                <a:spLocks noRot="1" noChangeAspect="1" noMove="1" noResize="1" noEditPoints="1" noAdjustHandles="1" noChangeArrowheads="1" noChangeShapeType="1" noTextEdit="1"/>
              </p:cNvSpPr>
              <p:nvPr/>
            </p:nvSpPr>
            <p:spPr>
              <a:xfrm>
                <a:off x="3688912" y="2222416"/>
                <a:ext cx="937308" cy="298415"/>
              </a:xfrm>
              <a:prstGeom prst="rect">
                <a:avLst/>
              </a:prstGeom>
              <a:blipFill>
                <a:blip r:embed="rId3"/>
                <a:stretch>
                  <a:fillRect l="-7792" r="-1948" b="-24490"/>
                </a:stretch>
              </a:blipFill>
            </p:spPr>
            <p:txBody>
              <a:bodyPr/>
              <a:lstStyle/>
              <a:p>
                <a:r>
                  <a:rPr lang="en-GB">
                    <a:noFill/>
                  </a:rPr>
                  <a:t> </a:t>
                </a:r>
              </a:p>
            </p:txBody>
          </p:sp>
        </mc:Fallback>
      </mc:AlternateContent>
      <p:sp>
        <p:nvSpPr>
          <p:cNvPr id="13" name="TextBox 12">
            <a:extLst>
              <a:ext uri="{FF2B5EF4-FFF2-40B4-BE49-F238E27FC236}">
                <a16:creationId xmlns:a16="http://schemas.microsoft.com/office/drawing/2014/main" id="{3C64252E-A1E1-8181-2164-22BBD9050DEF}"/>
              </a:ext>
            </a:extLst>
          </p:cNvPr>
          <p:cNvSpPr txBox="1"/>
          <p:nvPr/>
        </p:nvSpPr>
        <p:spPr>
          <a:xfrm>
            <a:off x="1017346" y="2690451"/>
            <a:ext cx="7054808" cy="369332"/>
          </a:xfrm>
          <a:prstGeom prst="rect">
            <a:avLst/>
          </a:prstGeom>
          <a:noFill/>
        </p:spPr>
        <p:txBody>
          <a:bodyPr wrap="square" rtlCol="0">
            <a:spAutoFit/>
          </a:bodyPr>
          <a:lstStyle/>
          <a:p>
            <a:pPr marL="285750" indent="-285750">
              <a:buFont typeface="Arial" panose="020B0604020202020204" pitchFamily="34" charset="0"/>
              <a:buChar char="•"/>
            </a:pPr>
            <a:r>
              <a:rPr lang="en-GB" dirty="0"/>
              <a:t>The chemical potentials of each side can be set equal:</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39CD72F-F37E-6EB5-F6D7-CD6D81B5BFC3}"/>
                  </a:ext>
                </a:extLst>
              </p:cNvPr>
              <p:cNvSpPr txBox="1"/>
              <p:nvPr/>
            </p:nvSpPr>
            <p:spPr>
              <a:xfrm>
                <a:off x="2695435" y="3229403"/>
                <a:ext cx="4629729" cy="381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𝑝</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𝑆</m:t>
                          </m:r>
                        </m:sub>
                        <m:sup>
                          <m:r>
                            <a:rPr lang="en-GB" b="0" i="1" smtClean="0">
                              <a:latin typeface="Cambria Math" panose="02040503050406030204" pitchFamily="18" charset="0"/>
                            </a:rPr>
                            <m:t>0</m:t>
                          </m:r>
                        </m:sup>
                      </m:sSubSup>
                      <m:r>
                        <a:rPr lang="en-GB" b="0" i="1" smtClean="0">
                          <a:latin typeface="Cambria Math" panose="02040503050406030204" pitchFamily="18" charset="0"/>
                        </a:rPr>
                        <m:t>+</m:t>
                      </m:r>
                      <m:r>
                        <a:rPr lang="en-GB" b="0" i="1" smtClean="0">
                          <a:latin typeface="Cambria Math" panose="02040503050406030204" pitchFamily="18" charset="0"/>
                        </a:rPr>
                        <m:t>𝑝𝑅𝑇</m:t>
                      </m:r>
                      <m:r>
                        <m:rPr>
                          <m:sty m:val="p"/>
                        </m:rPr>
                        <a:rPr lang="en-GB" b="0" i="0" smtClean="0">
                          <a:latin typeface="Cambria Math" panose="02040503050406030204" pitchFamily="18" charset="0"/>
                        </a:rPr>
                        <m:t>ln</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sub>
                          </m:sSub>
                        </m:e>
                      </m:d>
                      <m:r>
                        <a:rPr lang="en-GB" b="0" i="1" smtClean="0">
                          <a:latin typeface="Cambria Math" panose="02040503050406030204" pitchFamily="18" charset="0"/>
                        </a:rPr>
                        <m:t>=</m:t>
                      </m:r>
                      <m:sSubSup>
                        <m:sSubSupPr>
                          <m:ctrlPr>
                            <a:rPr lang="en-GB" i="1">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ea typeface="Cambria Math" panose="02040503050406030204" pitchFamily="18" charset="0"/>
                            </a:rPr>
                            <m:t>𝑃</m:t>
                          </m:r>
                        </m:sub>
                        <m:sup>
                          <m:r>
                            <a:rPr lang="en-GB" i="1">
                              <a:latin typeface="Cambria Math" panose="02040503050406030204" pitchFamily="18" charset="0"/>
                            </a:rPr>
                            <m:t>0</m:t>
                          </m:r>
                        </m:sup>
                      </m:sSubSup>
                      <m:r>
                        <a:rPr lang="en-GB" i="1">
                          <a:latin typeface="Cambria Math" panose="02040503050406030204" pitchFamily="18" charset="0"/>
                        </a:rPr>
                        <m:t>+</m:t>
                      </m:r>
                      <m:r>
                        <a:rPr lang="en-GB" i="1">
                          <a:latin typeface="Cambria Math" panose="02040503050406030204" pitchFamily="18" charset="0"/>
                        </a:rPr>
                        <m:t>𝑅𝑇</m:t>
                      </m:r>
                      <m:r>
                        <m:rPr>
                          <m:sty m:val="p"/>
                        </m:rPr>
                        <a:rPr lang="en-GB" i="0">
                          <a:latin typeface="Cambria Math" panose="02040503050406030204" pitchFamily="18" charset="0"/>
                        </a:rPr>
                        <m:t>ln</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b="0" i="1" smtClean="0">
                                  <a:latin typeface="Cambria Math" panose="02040503050406030204" pitchFamily="18" charset="0"/>
                                </a:rPr>
                                <m:t>𝑃</m:t>
                              </m:r>
                            </m:sub>
                          </m:sSub>
                        </m:e>
                      </m:d>
                    </m:oMath>
                  </m:oMathPara>
                </a14:m>
                <a:endParaRPr lang="en-GB" dirty="0"/>
              </a:p>
            </p:txBody>
          </p:sp>
        </mc:Choice>
        <mc:Fallback xmlns="">
          <p:sp>
            <p:nvSpPr>
              <p:cNvPr id="14" name="TextBox 13">
                <a:extLst>
                  <a:ext uri="{FF2B5EF4-FFF2-40B4-BE49-F238E27FC236}">
                    <a16:creationId xmlns:a16="http://schemas.microsoft.com/office/drawing/2014/main" id="{939CD72F-F37E-6EB5-F6D7-CD6D81B5BFC3}"/>
                  </a:ext>
                </a:extLst>
              </p:cNvPr>
              <p:cNvSpPr txBox="1">
                <a:spLocks noRot="1" noChangeAspect="1" noMove="1" noResize="1" noEditPoints="1" noAdjustHandles="1" noChangeArrowheads="1" noChangeShapeType="1" noTextEdit="1"/>
              </p:cNvSpPr>
              <p:nvPr/>
            </p:nvSpPr>
            <p:spPr>
              <a:xfrm>
                <a:off x="2695435" y="3229403"/>
                <a:ext cx="4629729" cy="381323"/>
              </a:xfrm>
              <a:prstGeom prst="rect">
                <a:avLst/>
              </a:prstGeom>
              <a:blipFill>
                <a:blip r:embed="rId4"/>
                <a:stretch>
                  <a:fillRect l="-822" b="-32258"/>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8769C3F1-2C64-C531-615A-71FAC92EFEBC}"/>
              </a:ext>
            </a:extLst>
          </p:cNvPr>
          <p:cNvSpPr txBox="1"/>
          <p:nvPr/>
        </p:nvSpPr>
        <p:spPr>
          <a:xfrm>
            <a:off x="1005234" y="3684999"/>
            <a:ext cx="7054808" cy="369332"/>
          </a:xfrm>
          <a:prstGeom prst="rect">
            <a:avLst/>
          </a:prstGeom>
          <a:noFill/>
        </p:spPr>
        <p:txBody>
          <a:bodyPr wrap="square" rtlCol="0">
            <a:spAutoFit/>
          </a:bodyPr>
          <a:lstStyle/>
          <a:p>
            <a:pPr marL="285750" indent="-285750">
              <a:buFont typeface="Arial" panose="020B0604020202020204" pitchFamily="34" charset="0"/>
              <a:buChar char="•"/>
            </a:pPr>
            <a:r>
              <a:rPr lang="en-GB" dirty="0"/>
              <a:t>For a dilute solution where a ~ c, we can rearrange: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7ED518B-3976-6DC7-B6F1-1BB1DF924047}"/>
                  </a:ext>
                </a:extLst>
              </p:cNvPr>
              <p:cNvSpPr txBox="1"/>
              <p:nvPr/>
            </p:nvSpPr>
            <p:spPr>
              <a:xfrm>
                <a:off x="2695435" y="4221073"/>
                <a:ext cx="3236592" cy="8431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GB" i="1" smtClean="0">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ea typeface="Cambria Math" panose="02040503050406030204" pitchFamily="18" charset="0"/>
                            </a:rPr>
                            <m:t>𝑃</m:t>
                          </m:r>
                        </m:sub>
                        <m:sup>
                          <m:r>
                            <a:rPr lang="en-GB" i="1">
                              <a:latin typeface="Cambria Math" panose="02040503050406030204" pitchFamily="18" charset="0"/>
                            </a:rPr>
                            <m:t>0</m:t>
                          </m:r>
                        </m:sup>
                      </m:sSubSup>
                      <m:r>
                        <a:rPr lang="en-GB" b="0" i="1" smtClean="0">
                          <a:latin typeface="Cambria Math" panose="02040503050406030204" pitchFamily="18" charset="0"/>
                        </a:rPr>
                        <m:t>−</m:t>
                      </m:r>
                      <m:r>
                        <a:rPr lang="en-GB" b="0" i="1" smtClean="0">
                          <a:latin typeface="Cambria Math" panose="02040503050406030204" pitchFamily="18" charset="0"/>
                        </a:rPr>
                        <m:t>𝑝</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𝑆</m:t>
                          </m:r>
                        </m:sub>
                        <m:sup>
                          <m:r>
                            <a:rPr lang="en-GB" b="0" i="1" smtClean="0">
                              <a:latin typeface="Cambria Math" panose="02040503050406030204" pitchFamily="18" charset="0"/>
                            </a:rPr>
                            <m:t>0</m:t>
                          </m:r>
                        </m:sup>
                      </m:sSubSup>
                      <m:r>
                        <a:rPr lang="en-GB" b="0" i="1" smtClean="0">
                          <a:latin typeface="Cambria Math" panose="02040503050406030204" pitchFamily="18" charset="0"/>
                        </a:rPr>
                        <m:t>=−</m:t>
                      </m:r>
                      <m:r>
                        <a:rPr lang="en-GB" i="1">
                          <a:latin typeface="Cambria Math" panose="02040503050406030204" pitchFamily="18" charset="0"/>
                        </a:rPr>
                        <m:t>𝑅𝑇</m:t>
                      </m:r>
                      <m:r>
                        <m:rPr>
                          <m:sty m:val="p"/>
                        </m:rPr>
                        <a:rPr lang="en-GB" i="0" smtClean="0">
                          <a:latin typeface="Cambria Math" panose="02040503050406030204" pitchFamily="18" charset="0"/>
                        </a:rPr>
                        <m:t>ln</m:t>
                      </m:r>
                      <m:d>
                        <m:dPr>
                          <m:ctrlPr>
                            <a:rPr lang="en-GB" i="1">
                              <a:latin typeface="Cambria Math" panose="02040503050406030204" pitchFamily="18" charset="0"/>
                            </a:rPr>
                          </m:ctrlPr>
                        </m:dPr>
                        <m:e>
                          <m:f>
                            <m:fPr>
                              <m:ctrlPr>
                                <a:rPr lang="en-GB" i="1" smtClean="0">
                                  <a:latin typeface="Cambria Math" panose="02040503050406030204" pitchFamily="18" charset="0"/>
                                </a:rPr>
                              </m:ctrlPr>
                            </m:fPr>
                            <m:num>
                              <m:sSub>
                                <m:sSubPr>
                                  <m:ctrlPr>
                                    <a:rPr lang="en-GB" i="1" smtClean="0">
                                      <a:latin typeface="Cambria Math" panose="02040503050406030204" pitchFamily="18" charset="0"/>
                                    </a:rPr>
                                  </m:ctrlPr>
                                </m:sSubPr>
                                <m:e>
                                  <m:r>
                                    <a:rPr lang="en-GB" b="0" i="1" smtClean="0">
                                      <a:latin typeface="Cambria Math" panose="02040503050406030204" pitchFamily="18" charset="0"/>
                                    </a:rPr>
                                    <m:t>𝑐</m:t>
                                  </m:r>
                                </m:e>
                                <m:sub>
                                  <m:r>
                                    <a:rPr lang="en-GB" b="0" i="1" smtClean="0">
                                      <a:latin typeface="Cambria Math" panose="02040503050406030204" pitchFamily="18" charset="0"/>
                                    </a:rPr>
                                    <m:t>𝑃</m:t>
                                  </m:r>
                                </m:sub>
                              </m:sSub>
                            </m:num>
                            <m:den>
                              <m:sSubSup>
                                <m:sSubSupPr>
                                  <m:ctrlPr>
                                    <a:rPr lang="en-GB" i="1" smtClean="0">
                                      <a:latin typeface="Cambria Math" panose="02040503050406030204" pitchFamily="18" charset="0"/>
                                    </a:rPr>
                                  </m:ctrlPr>
                                </m:sSubSupPr>
                                <m:e>
                                  <m:r>
                                    <a:rPr lang="en-GB" b="0" i="1" smtClean="0">
                                      <a:latin typeface="Cambria Math" panose="02040503050406030204" pitchFamily="18" charset="0"/>
                                    </a:rPr>
                                    <m:t>𝑐</m:t>
                                  </m:r>
                                </m:e>
                                <m:sub>
                                  <m:r>
                                    <a:rPr lang="en-GB" b="0" i="1" smtClean="0">
                                      <a:latin typeface="Cambria Math" panose="02040503050406030204" pitchFamily="18" charset="0"/>
                                    </a:rPr>
                                    <m:t>𝑠</m:t>
                                  </m:r>
                                </m:sub>
                                <m:sup>
                                  <m:r>
                                    <a:rPr lang="en-GB" b="0" i="1" smtClean="0">
                                      <a:latin typeface="Cambria Math" panose="02040503050406030204" pitchFamily="18" charset="0"/>
                                    </a:rPr>
                                    <m:t>𝑝</m:t>
                                  </m:r>
                                </m:sup>
                              </m:sSubSup>
                            </m:den>
                          </m:f>
                        </m:e>
                      </m:d>
                    </m:oMath>
                  </m:oMathPara>
                </a14:m>
                <a:endParaRPr lang="en-GB" dirty="0"/>
              </a:p>
            </p:txBody>
          </p:sp>
        </mc:Choice>
        <mc:Fallback xmlns="">
          <p:sp>
            <p:nvSpPr>
              <p:cNvPr id="20" name="TextBox 19">
                <a:extLst>
                  <a:ext uri="{FF2B5EF4-FFF2-40B4-BE49-F238E27FC236}">
                    <a16:creationId xmlns:a16="http://schemas.microsoft.com/office/drawing/2014/main" id="{C7ED518B-3976-6DC7-B6F1-1BB1DF924047}"/>
                  </a:ext>
                </a:extLst>
              </p:cNvPr>
              <p:cNvSpPr txBox="1">
                <a:spLocks noRot="1" noChangeAspect="1" noMove="1" noResize="1" noEditPoints="1" noAdjustHandles="1" noChangeArrowheads="1" noChangeShapeType="1" noTextEdit="1"/>
              </p:cNvSpPr>
              <p:nvPr/>
            </p:nvSpPr>
            <p:spPr>
              <a:xfrm>
                <a:off x="2695435" y="4221073"/>
                <a:ext cx="3236592" cy="843116"/>
              </a:xfrm>
              <a:prstGeom prst="rect">
                <a:avLst/>
              </a:prstGeom>
              <a:blipFill>
                <a:blip r:embed="rId5"/>
                <a:stretch>
                  <a:fillRect l="-1953" b="-7463"/>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1EB862D1-3AA6-12AB-5FFE-B78B83F30FAC}"/>
              </a:ext>
            </a:extLst>
          </p:cNvPr>
          <p:cNvSpPr txBox="1"/>
          <p:nvPr/>
        </p:nvSpPr>
        <p:spPr>
          <a:xfrm>
            <a:off x="1017346" y="5010165"/>
            <a:ext cx="7054808" cy="369332"/>
          </a:xfrm>
          <a:prstGeom prst="rect">
            <a:avLst/>
          </a:prstGeom>
          <a:noFill/>
        </p:spPr>
        <p:txBody>
          <a:bodyPr wrap="square" rtlCol="0">
            <a:spAutoFit/>
          </a:bodyPr>
          <a:lstStyle/>
          <a:p>
            <a:pPr marL="285750" indent="-285750">
              <a:buFont typeface="Arial" panose="020B0604020202020204" pitchFamily="34" charset="0"/>
              <a:buChar char="•"/>
            </a:pPr>
            <a:r>
              <a:rPr lang="en-GB" dirty="0"/>
              <a:t>We use the LHS as the definition of the Gibbs of micellization:</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C23E865-8618-5AF0-87D0-7FD328CD3459}"/>
                  </a:ext>
                </a:extLst>
              </p:cNvPr>
              <p:cNvSpPr txBox="1"/>
              <p:nvPr/>
            </p:nvSpPr>
            <p:spPr>
              <a:xfrm>
                <a:off x="2695435" y="5871193"/>
                <a:ext cx="4197431" cy="391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𝐺</m:t>
                          </m:r>
                        </m:e>
                        <m:sub>
                          <m:r>
                            <a:rPr lang="en-GB" b="0" i="1" smtClean="0">
                              <a:latin typeface="Cambria Math" panose="02040503050406030204" pitchFamily="18" charset="0"/>
                            </a:rPr>
                            <m:t>𝑚𝑖𝑐</m:t>
                          </m:r>
                        </m:sub>
                        <m:sup>
                          <m:r>
                            <a:rPr lang="en-GB" b="0" i="1" smtClean="0">
                              <a:latin typeface="Cambria Math" panose="02040503050406030204" pitchFamily="18" charset="0"/>
                            </a:rPr>
                            <m:t>0</m:t>
                          </m:r>
                        </m:sup>
                      </m:sSubSup>
                      <m:r>
                        <a:rPr lang="en-GB" b="0" i="1" smtClean="0">
                          <a:latin typeface="Cambria Math" panose="02040503050406030204" pitchFamily="18" charset="0"/>
                        </a:rPr>
                        <m:t>=−</m:t>
                      </m:r>
                      <m:r>
                        <a:rPr lang="en-GB" i="1" smtClean="0">
                          <a:latin typeface="Cambria Math" panose="02040503050406030204" pitchFamily="18" charset="0"/>
                        </a:rPr>
                        <m:t>𝑅𝑇</m:t>
                      </m:r>
                      <m:r>
                        <m:rPr>
                          <m:sty m:val="p"/>
                        </m:rPr>
                        <a:rPr lang="en-GB" i="0" smtClean="0">
                          <a:latin typeface="Cambria Math" panose="02040503050406030204" pitchFamily="18" charset="0"/>
                        </a:rPr>
                        <m:t>ln</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𝑃</m:t>
                              </m:r>
                            </m:sub>
                          </m:sSub>
                        </m:e>
                      </m:d>
                      <m:r>
                        <a:rPr lang="en-GB" b="0" i="1" smtClean="0">
                          <a:latin typeface="Cambria Math" panose="02040503050406030204" pitchFamily="18" charset="0"/>
                        </a:rPr>
                        <m:t>+</m:t>
                      </m:r>
                      <m:r>
                        <a:rPr lang="en-GB" b="0" i="1" smtClean="0">
                          <a:latin typeface="Cambria Math" panose="02040503050406030204" pitchFamily="18" charset="0"/>
                        </a:rPr>
                        <m:t>𝑝𝑅𝑇</m:t>
                      </m:r>
                      <m:r>
                        <m:rPr>
                          <m:sty m:val="p"/>
                        </m:rPr>
                        <a:rPr lang="en-GB" b="0" i="0" smtClean="0">
                          <a:latin typeface="Cambria Math" panose="02040503050406030204" pitchFamily="18" charset="0"/>
                        </a:rPr>
                        <m:t>ln</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𝑠</m:t>
                              </m:r>
                            </m:sub>
                          </m:sSub>
                        </m:e>
                      </m:d>
                    </m:oMath>
                  </m:oMathPara>
                </a14:m>
                <a:endParaRPr lang="en-GB" dirty="0"/>
              </a:p>
            </p:txBody>
          </p:sp>
        </mc:Choice>
        <mc:Fallback xmlns="">
          <p:sp>
            <p:nvSpPr>
              <p:cNvPr id="24" name="TextBox 23">
                <a:extLst>
                  <a:ext uri="{FF2B5EF4-FFF2-40B4-BE49-F238E27FC236}">
                    <a16:creationId xmlns:a16="http://schemas.microsoft.com/office/drawing/2014/main" id="{BC23E865-8618-5AF0-87D0-7FD328CD3459}"/>
                  </a:ext>
                </a:extLst>
              </p:cNvPr>
              <p:cNvSpPr txBox="1">
                <a:spLocks noRot="1" noChangeAspect="1" noMove="1" noResize="1" noEditPoints="1" noAdjustHandles="1" noChangeArrowheads="1" noChangeShapeType="1" noTextEdit="1"/>
              </p:cNvSpPr>
              <p:nvPr/>
            </p:nvSpPr>
            <p:spPr>
              <a:xfrm>
                <a:off x="2695435" y="5871193"/>
                <a:ext cx="4197431" cy="391646"/>
              </a:xfrm>
              <a:prstGeom prst="rect">
                <a:avLst/>
              </a:prstGeom>
              <a:blipFill>
                <a:blip r:embed="rId6"/>
                <a:stretch>
                  <a:fillRect l="-906" b="-32258"/>
                </a:stretch>
              </a:blipFill>
            </p:spPr>
            <p:txBody>
              <a:bodyPr/>
              <a:lstStyle/>
              <a:p>
                <a:r>
                  <a:rPr lang="en-US">
                    <a:noFill/>
                  </a:rPr>
                  <a:t> </a:t>
                </a:r>
              </a:p>
            </p:txBody>
          </p:sp>
        </mc:Fallback>
      </mc:AlternateContent>
    </p:spTree>
    <p:extLst>
      <p:ext uri="{BB962C8B-B14F-4D97-AF65-F5344CB8AC3E}">
        <p14:creationId xmlns:p14="http://schemas.microsoft.com/office/powerpoint/2010/main" val="30815575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6" grpId="0"/>
      <p:bldP spid="20" grpId="0"/>
      <p:bldP spid="22"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43BAF3-6EAB-611D-1AB8-82352E1F2B7F}"/>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Micelles</a:t>
            </a:r>
          </a:p>
        </p:txBody>
      </p:sp>
      <p:sp>
        <p:nvSpPr>
          <p:cNvPr id="5" name="TextBox 4">
            <a:extLst>
              <a:ext uri="{FF2B5EF4-FFF2-40B4-BE49-F238E27FC236}">
                <a16:creationId xmlns:a16="http://schemas.microsoft.com/office/drawing/2014/main" id="{7AEA7A23-C094-C2CF-2246-6CF5BABF1C43}"/>
              </a:ext>
            </a:extLst>
          </p:cNvPr>
          <p:cNvSpPr txBox="1"/>
          <p:nvPr/>
        </p:nvSpPr>
        <p:spPr>
          <a:xfrm>
            <a:off x="714565" y="1134562"/>
            <a:ext cx="8132910" cy="830997"/>
          </a:xfrm>
          <a:prstGeom prst="rect">
            <a:avLst/>
          </a:prstGeom>
          <a:noFill/>
        </p:spPr>
        <p:txBody>
          <a:bodyPr wrap="square" rtlCol="0">
            <a:spAutoFit/>
          </a:bodyPr>
          <a:lstStyle/>
          <a:p>
            <a:pPr marL="285750" indent="-285750">
              <a:buFont typeface="Arial" panose="020B0604020202020204" pitchFamily="34" charset="0"/>
              <a:buChar char="•"/>
            </a:pPr>
            <a:r>
              <a:rPr lang="en-GB" dirty="0"/>
              <a:t>We further define the Gibbs energy of micellization per molecule p:</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19C4EB2-1673-1C46-FC3A-20E8B57F68D7}"/>
                  </a:ext>
                </a:extLst>
              </p:cNvPr>
              <p:cNvSpPr txBox="1"/>
              <p:nvPr/>
            </p:nvSpPr>
            <p:spPr>
              <a:xfrm>
                <a:off x="2454219" y="1733218"/>
                <a:ext cx="4208653" cy="778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Δ</m:t>
                          </m:r>
                          <m:r>
                            <a:rPr lang="en-GB" b="0" i="1" smtClean="0">
                              <a:latin typeface="Cambria Math" panose="02040503050406030204" pitchFamily="18" charset="0"/>
                            </a:rPr>
                            <m:t>𝐺</m:t>
                          </m:r>
                        </m:e>
                        <m:sub>
                          <m:r>
                            <a:rPr lang="en-GB" b="0" i="1" smtClean="0">
                              <a:latin typeface="Cambria Math" panose="02040503050406030204" pitchFamily="18" charset="0"/>
                            </a:rPr>
                            <m:t>𝑚𝑖𝑐</m:t>
                          </m:r>
                        </m:sub>
                        <m:sup>
                          <m:r>
                            <a:rPr lang="en-GB" b="0" i="1" smtClean="0">
                              <a:latin typeface="Cambria Math" panose="02040503050406030204" pitchFamily="18" charset="0"/>
                            </a:rPr>
                            <m:t>0</m:t>
                          </m:r>
                        </m:sup>
                      </m:sSub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𝑅𝑇</m:t>
                          </m:r>
                          <m:r>
                            <m:rPr>
                              <m:sty m:val="p"/>
                            </m:rPr>
                            <a:rPr lang="en-GB" i="0">
                              <a:latin typeface="Cambria Math" panose="02040503050406030204" pitchFamily="18" charset="0"/>
                            </a:rPr>
                            <m:t>ln</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𝑃</m:t>
                                  </m:r>
                                </m:sub>
                              </m:sSub>
                            </m:e>
                          </m:d>
                        </m:num>
                        <m:den>
                          <m:r>
                            <a:rPr lang="en-GB" b="0" i="1" smtClean="0">
                              <a:latin typeface="Cambria Math" panose="02040503050406030204" pitchFamily="18" charset="0"/>
                            </a:rPr>
                            <m:t>𝑝</m:t>
                          </m:r>
                        </m:den>
                      </m:f>
                      <m:r>
                        <a:rPr lang="en-GB" b="0" i="1" smtClean="0">
                          <a:latin typeface="Cambria Math" panose="02040503050406030204" pitchFamily="18" charset="0"/>
                        </a:rPr>
                        <m:t>+</m:t>
                      </m:r>
                      <m:r>
                        <a:rPr lang="en-GB" b="0" i="1" smtClean="0">
                          <a:latin typeface="Cambria Math" panose="02040503050406030204" pitchFamily="18" charset="0"/>
                        </a:rPr>
                        <m:t>𝑅𝑇</m:t>
                      </m:r>
                      <m:r>
                        <m:rPr>
                          <m:sty m:val="p"/>
                        </m:rPr>
                        <a:rPr lang="en-GB" b="0" i="0" smtClean="0">
                          <a:latin typeface="Cambria Math" panose="02040503050406030204" pitchFamily="18" charset="0"/>
                        </a:rPr>
                        <m:t>ln</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𝑠</m:t>
                              </m:r>
                            </m:sub>
                          </m:sSub>
                        </m:e>
                      </m:d>
                    </m:oMath>
                  </m:oMathPara>
                </a14:m>
                <a:endParaRPr lang="en-GB" dirty="0"/>
              </a:p>
            </p:txBody>
          </p:sp>
        </mc:Choice>
        <mc:Fallback xmlns="">
          <p:sp>
            <p:nvSpPr>
              <p:cNvPr id="7" name="TextBox 6">
                <a:extLst>
                  <a:ext uri="{FF2B5EF4-FFF2-40B4-BE49-F238E27FC236}">
                    <a16:creationId xmlns:a16="http://schemas.microsoft.com/office/drawing/2014/main" id="{B19C4EB2-1673-1C46-FC3A-20E8B57F68D7}"/>
                  </a:ext>
                </a:extLst>
              </p:cNvPr>
              <p:cNvSpPr txBox="1">
                <a:spLocks noRot="1" noChangeAspect="1" noMove="1" noResize="1" noEditPoints="1" noAdjustHandles="1" noChangeArrowheads="1" noChangeShapeType="1" noTextEdit="1"/>
              </p:cNvSpPr>
              <p:nvPr/>
            </p:nvSpPr>
            <p:spPr>
              <a:xfrm>
                <a:off x="2454219" y="1733218"/>
                <a:ext cx="4208653" cy="778996"/>
              </a:xfrm>
              <a:prstGeom prst="rect">
                <a:avLst/>
              </a:prstGeom>
              <a:blipFill>
                <a:blip r:embed="rId3"/>
                <a:stretch>
                  <a:fillRect l="-904" b="-1290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9368F68A-4C46-B4B2-E008-9FA825A36C2B}"/>
              </a:ext>
            </a:extLst>
          </p:cNvPr>
          <p:cNvSpPr txBox="1"/>
          <p:nvPr/>
        </p:nvSpPr>
        <p:spPr>
          <a:xfrm>
            <a:off x="714565" y="2479921"/>
            <a:ext cx="7054808" cy="369332"/>
          </a:xfrm>
          <a:prstGeom prst="rect">
            <a:avLst/>
          </a:prstGeom>
          <a:noFill/>
        </p:spPr>
        <p:txBody>
          <a:bodyPr wrap="square" rtlCol="0">
            <a:spAutoFit/>
          </a:bodyPr>
          <a:lstStyle/>
          <a:p>
            <a:pPr marL="285750" indent="-285750">
              <a:buFont typeface="Arial" panose="020B0604020202020204" pitchFamily="34" charset="0"/>
              <a:buChar char="•"/>
            </a:pPr>
            <a:r>
              <a:rPr lang="en-GB" dirty="0"/>
              <a:t>And if p is large (many molecules per micelle):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8B27D02-B504-A9D5-2A0A-24A95704627F}"/>
                  </a:ext>
                </a:extLst>
              </p:cNvPr>
              <p:cNvSpPr txBox="1"/>
              <p:nvPr/>
            </p:nvSpPr>
            <p:spPr>
              <a:xfrm>
                <a:off x="3265673" y="3094985"/>
                <a:ext cx="2730684" cy="391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Δ</m:t>
                          </m:r>
                          <m:r>
                            <a:rPr lang="en-GB" b="0" i="1" smtClean="0">
                              <a:latin typeface="Cambria Math" panose="02040503050406030204" pitchFamily="18" charset="0"/>
                            </a:rPr>
                            <m:t>𝐺</m:t>
                          </m:r>
                        </m:e>
                        <m:sub>
                          <m:r>
                            <a:rPr lang="en-GB" b="0" i="1" smtClean="0">
                              <a:latin typeface="Cambria Math" panose="02040503050406030204" pitchFamily="18" charset="0"/>
                            </a:rPr>
                            <m:t>𝑚𝑖𝑐</m:t>
                          </m:r>
                        </m:sub>
                        <m:sup>
                          <m:r>
                            <a:rPr lang="en-GB" b="0" i="1" smtClean="0">
                              <a:latin typeface="Cambria Math" panose="02040503050406030204" pitchFamily="18" charset="0"/>
                            </a:rPr>
                            <m:t>0</m:t>
                          </m:r>
                        </m:sup>
                      </m:sSub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𝑅𝑇</m:t>
                      </m:r>
                      <m:r>
                        <m:rPr>
                          <m:sty m:val="p"/>
                        </m:rPr>
                        <a:rPr lang="en-GB" i="0">
                          <a:latin typeface="Cambria Math" panose="02040503050406030204" pitchFamily="18" charset="0"/>
                        </a:rPr>
                        <m:t>ln</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b="0" i="1" smtClean="0">
                                  <a:latin typeface="Cambria Math" panose="02040503050406030204" pitchFamily="18" charset="0"/>
                                </a:rPr>
                                <m:t>𝑐𝑚𝑐</m:t>
                              </m:r>
                            </m:sub>
                          </m:sSub>
                        </m:e>
                      </m:d>
                    </m:oMath>
                  </m:oMathPara>
                </a14:m>
                <a:endParaRPr lang="en-GB" dirty="0"/>
              </a:p>
            </p:txBody>
          </p:sp>
        </mc:Choice>
        <mc:Fallback xmlns="">
          <p:sp>
            <p:nvSpPr>
              <p:cNvPr id="11" name="TextBox 10">
                <a:extLst>
                  <a:ext uri="{FF2B5EF4-FFF2-40B4-BE49-F238E27FC236}">
                    <a16:creationId xmlns:a16="http://schemas.microsoft.com/office/drawing/2014/main" id="{18B27D02-B504-A9D5-2A0A-24A95704627F}"/>
                  </a:ext>
                </a:extLst>
              </p:cNvPr>
              <p:cNvSpPr txBox="1">
                <a:spLocks noRot="1" noChangeAspect="1" noMove="1" noResize="1" noEditPoints="1" noAdjustHandles="1" noChangeArrowheads="1" noChangeShapeType="1" noTextEdit="1"/>
              </p:cNvSpPr>
              <p:nvPr/>
            </p:nvSpPr>
            <p:spPr>
              <a:xfrm>
                <a:off x="3265673" y="3094985"/>
                <a:ext cx="2730684" cy="391646"/>
              </a:xfrm>
              <a:prstGeom prst="rect">
                <a:avLst/>
              </a:prstGeom>
              <a:blipFill>
                <a:blip r:embed="rId4"/>
                <a:stretch>
                  <a:fillRect l="-2315" b="-15625"/>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2FAA470C-0C02-4E78-68E1-DCE724A9A1FC}"/>
              </a:ext>
            </a:extLst>
          </p:cNvPr>
          <p:cNvSpPr txBox="1"/>
          <p:nvPr/>
        </p:nvSpPr>
        <p:spPr>
          <a:xfrm>
            <a:off x="478395" y="3724212"/>
            <a:ext cx="7775428" cy="369332"/>
          </a:xfrm>
          <a:prstGeom prst="rect">
            <a:avLst/>
          </a:prstGeom>
          <a:noFill/>
        </p:spPr>
        <p:txBody>
          <a:bodyPr wrap="square" rtlCol="0">
            <a:spAutoFit/>
          </a:bodyPr>
          <a:lstStyle/>
          <a:p>
            <a:r>
              <a:rPr lang="en-GB" dirty="0"/>
              <a:t>Enthalpy of micellization:</a:t>
            </a:r>
          </a:p>
        </p:txBody>
      </p:sp>
      <p:sp>
        <p:nvSpPr>
          <p:cNvPr id="15" name="TextBox 14">
            <a:extLst>
              <a:ext uri="{FF2B5EF4-FFF2-40B4-BE49-F238E27FC236}">
                <a16:creationId xmlns:a16="http://schemas.microsoft.com/office/drawing/2014/main" id="{DF999AD0-C52A-2C37-69AD-95A1A0DE0CCB}"/>
              </a:ext>
            </a:extLst>
          </p:cNvPr>
          <p:cNvSpPr txBox="1"/>
          <p:nvPr/>
        </p:nvSpPr>
        <p:spPr>
          <a:xfrm>
            <a:off x="714564" y="4200989"/>
            <a:ext cx="7972235" cy="1200329"/>
          </a:xfrm>
          <a:prstGeom prst="rect">
            <a:avLst/>
          </a:prstGeom>
          <a:noFill/>
        </p:spPr>
        <p:txBody>
          <a:bodyPr wrap="square" rtlCol="0">
            <a:spAutoFit/>
          </a:bodyPr>
          <a:lstStyle/>
          <a:p>
            <a:pPr marL="285750" indent="-285750">
              <a:buFont typeface="Arial" panose="020B0604020202020204" pitchFamily="34" charset="0"/>
              <a:buChar char="•"/>
            </a:pPr>
            <a:r>
              <a:rPr lang="en-GB" dirty="0"/>
              <a:t>How much heat is given off or released in the formation of a micelle?</a:t>
            </a:r>
          </a:p>
          <a:p>
            <a:pPr marL="285750" indent="-285750">
              <a:buFont typeface="Arial" panose="020B0604020202020204" pitchFamily="34" charset="0"/>
              <a:buChar char="•"/>
            </a:pPr>
            <a:r>
              <a:rPr lang="en-GB" dirty="0"/>
              <a:t>We can start from the Gibbs-Helmholtz equation!</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5F9C6F4-291D-9860-1569-8EE0AD0B4921}"/>
                  </a:ext>
                </a:extLst>
              </p:cNvPr>
              <p:cNvSpPr txBox="1"/>
              <p:nvPr/>
            </p:nvSpPr>
            <p:spPr>
              <a:xfrm>
                <a:off x="1691157" y="5294416"/>
                <a:ext cx="1526123" cy="10194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𝑑</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𝐺</m:t>
                                  </m:r>
                                </m:num>
                                <m:den>
                                  <m:r>
                                    <a:rPr lang="en-GB" b="0" i="1" smtClean="0">
                                      <a:latin typeface="Cambria Math" panose="02040503050406030204" pitchFamily="18" charset="0"/>
                                    </a:rPr>
                                    <m:t>𝑇</m:t>
                                  </m:r>
                                </m:den>
                              </m:f>
                            </m:e>
                          </m:d>
                        </m:num>
                        <m:den>
                          <m:r>
                            <a:rPr lang="en-GB" b="0" i="1" smtClean="0">
                              <a:latin typeface="Cambria Math" panose="02040503050406030204" pitchFamily="18" charset="0"/>
                            </a:rPr>
                            <m:t>𝑑</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𝑇</m:t>
                                  </m:r>
                                </m:den>
                              </m:f>
                            </m:e>
                          </m:d>
                        </m:den>
                      </m:f>
                      <m:r>
                        <a:rPr lang="en-GB"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Sup>
                        <m:sSubSupPr>
                          <m:ctrlPr>
                            <a:rPr lang="el-GR" b="0" i="1" smtClean="0">
                              <a:latin typeface="Cambria Math" panose="02040503050406030204" pitchFamily="18" charset="0"/>
                              <a:ea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𝐻</m:t>
                          </m:r>
                        </m:e>
                        <m:sub>
                          <m:r>
                            <a:rPr lang="en-GB" b="0" i="1" smtClean="0">
                              <a:latin typeface="Cambria Math" panose="02040503050406030204" pitchFamily="18" charset="0"/>
                              <a:ea typeface="Cambria Math" panose="02040503050406030204" pitchFamily="18" charset="0"/>
                            </a:rPr>
                            <m:t>𝑚𝑖𝑐</m:t>
                          </m:r>
                        </m:sub>
                        <m:sup>
                          <m:r>
                            <a:rPr lang="en-GB" b="0" i="1" smtClean="0">
                              <a:latin typeface="Cambria Math" panose="02040503050406030204" pitchFamily="18" charset="0"/>
                              <a:ea typeface="Cambria Math" panose="02040503050406030204" pitchFamily="18" charset="0"/>
                            </a:rPr>
                            <m:t>0</m:t>
                          </m:r>
                        </m:sup>
                      </m:sSubSup>
                    </m:oMath>
                  </m:oMathPara>
                </a14:m>
                <a:endParaRPr lang="en-GB" dirty="0"/>
              </a:p>
            </p:txBody>
          </p:sp>
        </mc:Choice>
        <mc:Fallback xmlns="">
          <p:sp>
            <p:nvSpPr>
              <p:cNvPr id="16" name="TextBox 15">
                <a:extLst>
                  <a:ext uri="{FF2B5EF4-FFF2-40B4-BE49-F238E27FC236}">
                    <a16:creationId xmlns:a16="http://schemas.microsoft.com/office/drawing/2014/main" id="{25F9C6F4-291D-9860-1569-8EE0AD0B4921}"/>
                  </a:ext>
                </a:extLst>
              </p:cNvPr>
              <p:cNvSpPr txBox="1">
                <a:spLocks noRot="1" noChangeAspect="1" noMove="1" noResize="1" noEditPoints="1" noAdjustHandles="1" noChangeArrowheads="1" noChangeShapeType="1" noTextEdit="1"/>
              </p:cNvSpPr>
              <p:nvPr/>
            </p:nvSpPr>
            <p:spPr>
              <a:xfrm>
                <a:off x="1691157" y="5294416"/>
                <a:ext cx="1526123" cy="101944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B075904-EBCF-39E3-3277-F2BF582DA696}"/>
                  </a:ext>
                </a:extLst>
              </p:cNvPr>
              <p:cNvSpPr txBox="1"/>
              <p:nvPr/>
            </p:nvSpPr>
            <p:spPr>
              <a:xfrm>
                <a:off x="4647365" y="5510404"/>
                <a:ext cx="2547942" cy="7521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ea typeface="Cambria Math" panose="02040503050406030204" pitchFamily="18" charset="0"/>
                            </a:rPr>
                          </m:ctrlPr>
                        </m:fPr>
                        <m:num>
                          <m:sSubSup>
                            <m:sSubSupPr>
                              <m:ctrlPr>
                                <a:rPr lang="en-GB"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Δ</m:t>
                              </m:r>
                              <m:r>
                                <a:rPr lang="en-GB" i="1">
                                  <a:latin typeface="Cambria Math" panose="02040503050406030204" pitchFamily="18" charset="0"/>
                                </a:rPr>
                                <m:t>𝐺</m:t>
                              </m:r>
                            </m:e>
                            <m:sub>
                              <m:r>
                                <a:rPr lang="en-GB" i="1">
                                  <a:latin typeface="Cambria Math" panose="02040503050406030204" pitchFamily="18" charset="0"/>
                                </a:rPr>
                                <m:t>𝑚𝑖𝑐</m:t>
                              </m:r>
                            </m:sub>
                            <m:sup>
                              <m:r>
                                <a:rPr lang="en-GB" i="1">
                                  <a:latin typeface="Cambria Math" panose="02040503050406030204" pitchFamily="18" charset="0"/>
                                </a:rPr>
                                <m:t>0</m:t>
                              </m:r>
                            </m:sup>
                          </m:sSubSup>
                        </m:num>
                        <m:den>
                          <m:r>
                            <a:rPr lang="en-GB" b="0" i="1" smtClean="0">
                              <a:latin typeface="Cambria Math" panose="02040503050406030204" pitchFamily="18" charset="0"/>
                              <a:ea typeface="Cambria Math" panose="02040503050406030204" pitchFamily="18" charset="0"/>
                            </a:rPr>
                            <m:t>𝑇</m:t>
                          </m:r>
                        </m:den>
                      </m:f>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𝑅</m:t>
                      </m:r>
                      <m:r>
                        <m:rPr>
                          <m:sty m:val="p"/>
                        </m:rPr>
                        <a:rPr lang="en-GB" i="0">
                          <a:latin typeface="Cambria Math" panose="02040503050406030204" pitchFamily="18" charset="0"/>
                        </a:rPr>
                        <m:t>ln</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b="0" i="1" smtClean="0">
                                  <a:latin typeface="Cambria Math" panose="02040503050406030204" pitchFamily="18" charset="0"/>
                                </a:rPr>
                                <m:t>𝑐𝑚𝑐</m:t>
                              </m:r>
                            </m:sub>
                          </m:sSub>
                        </m:e>
                      </m:d>
                    </m:oMath>
                  </m:oMathPara>
                </a14:m>
                <a:endParaRPr lang="en-GB" dirty="0"/>
              </a:p>
            </p:txBody>
          </p:sp>
        </mc:Choice>
        <mc:Fallback xmlns="">
          <p:sp>
            <p:nvSpPr>
              <p:cNvPr id="31" name="TextBox 30">
                <a:extLst>
                  <a:ext uri="{FF2B5EF4-FFF2-40B4-BE49-F238E27FC236}">
                    <a16:creationId xmlns:a16="http://schemas.microsoft.com/office/drawing/2014/main" id="{FB075904-EBCF-39E3-3277-F2BF582DA696}"/>
                  </a:ext>
                </a:extLst>
              </p:cNvPr>
              <p:cNvSpPr txBox="1">
                <a:spLocks noRot="1" noChangeAspect="1" noMove="1" noResize="1" noEditPoints="1" noAdjustHandles="1" noChangeArrowheads="1" noChangeShapeType="1" noTextEdit="1"/>
              </p:cNvSpPr>
              <p:nvPr/>
            </p:nvSpPr>
            <p:spPr>
              <a:xfrm>
                <a:off x="4647365" y="5510404"/>
                <a:ext cx="2547942" cy="752194"/>
              </a:xfrm>
              <a:prstGeom prst="rect">
                <a:avLst/>
              </a:prstGeom>
              <a:blipFill>
                <a:blip r:embed="rId6"/>
                <a:stretch>
                  <a:fillRect l="-2475" b="-15000"/>
                </a:stretch>
              </a:blipFill>
            </p:spPr>
            <p:txBody>
              <a:bodyPr/>
              <a:lstStyle/>
              <a:p>
                <a:r>
                  <a:rPr lang="en-US">
                    <a:noFill/>
                  </a:rPr>
                  <a:t> </a:t>
                </a:r>
              </a:p>
            </p:txBody>
          </p:sp>
        </mc:Fallback>
      </mc:AlternateContent>
    </p:spTree>
    <p:extLst>
      <p:ext uri="{BB962C8B-B14F-4D97-AF65-F5344CB8AC3E}">
        <p14:creationId xmlns:p14="http://schemas.microsoft.com/office/powerpoint/2010/main" val="2310510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5" grpId="0" build="p"/>
      <p:bldP spid="16" grpId="0"/>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05413A-0DEC-397A-50C4-665DF62D3591}"/>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Micelles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44B0F40-46A7-BAB0-2612-A6AB92CD1F70}"/>
                  </a:ext>
                </a:extLst>
              </p:cNvPr>
              <p:cNvSpPr txBox="1"/>
              <p:nvPr/>
            </p:nvSpPr>
            <p:spPr>
              <a:xfrm>
                <a:off x="1315708" y="1782151"/>
                <a:ext cx="1963358" cy="10279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𝑑</m:t>
                          </m:r>
                          <m:d>
                            <m:dPr>
                              <m:ctrlPr>
                                <a:rPr lang="en-GB" b="0" i="1" smtClean="0">
                                  <a:latin typeface="Cambria Math" panose="02040503050406030204" pitchFamily="18" charset="0"/>
                                </a:rPr>
                              </m:ctrlPr>
                            </m:dPr>
                            <m:e>
                              <m:f>
                                <m:fPr>
                                  <m:ctrlPr>
                                    <a:rPr lang="en-GB" i="1">
                                      <a:latin typeface="Cambria Math" panose="02040503050406030204" pitchFamily="18" charset="0"/>
                                      <a:ea typeface="Cambria Math" panose="02040503050406030204" pitchFamily="18" charset="0"/>
                                    </a:rPr>
                                  </m:ctrlPr>
                                </m:fPr>
                                <m:num>
                                  <m:sSubSup>
                                    <m:sSubSupPr>
                                      <m:ctrlPr>
                                        <a:rPr lang="en-GB"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Δ</m:t>
                                      </m:r>
                                      <m:r>
                                        <a:rPr lang="en-GB" i="1">
                                          <a:latin typeface="Cambria Math" panose="02040503050406030204" pitchFamily="18" charset="0"/>
                                        </a:rPr>
                                        <m:t>𝐺</m:t>
                                      </m:r>
                                    </m:e>
                                    <m:sub>
                                      <m:r>
                                        <a:rPr lang="en-GB" i="1">
                                          <a:latin typeface="Cambria Math" panose="02040503050406030204" pitchFamily="18" charset="0"/>
                                        </a:rPr>
                                        <m:t>𝑚𝑖𝑐</m:t>
                                      </m:r>
                                    </m:sub>
                                    <m:sup>
                                      <m:r>
                                        <a:rPr lang="en-GB" i="1">
                                          <a:latin typeface="Cambria Math" panose="02040503050406030204" pitchFamily="18" charset="0"/>
                                        </a:rPr>
                                        <m:t>0</m:t>
                                      </m:r>
                                    </m:sup>
                                  </m:sSubSup>
                                </m:num>
                                <m:den>
                                  <m:r>
                                    <a:rPr lang="en-GB" i="1">
                                      <a:latin typeface="Cambria Math" panose="02040503050406030204" pitchFamily="18" charset="0"/>
                                      <a:ea typeface="Cambria Math" panose="02040503050406030204" pitchFamily="18" charset="0"/>
                                    </a:rPr>
                                    <m:t>𝑇</m:t>
                                  </m:r>
                                </m:den>
                              </m:f>
                            </m:e>
                          </m:d>
                        </m:num>
                        <m:den>
                          <m:r>
                            <a:rPr lang="en-GB" b="0" i="1" smtClean="0">
                              <a:latin typeface="Cambria Math" panose="02040503050406030204" pitchFamily="18" charset="0"/>
                            </a:rPr>
                            <m:t>𝑑</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𝑇</m:t>
                                  </m:r>
                                </m:den>
                              </m:f>
                            </m:e>
                          </m:d>
                        </m:den>
                      </m:f>
                      <m:r>
                        <a:rPr lang="en-GB"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Sup>
                        <m:sSubSupPr>
                          <m:ctrlPr>
                            <a:rPr lang="el-GR" b="0" i="1" smtClean="0">
                              <a:latin typeface="Cambria Math" panose="02040503050406030204" pitchFamily="18" charset="0"/>
                              <a:ea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𝐻</m:t>
                          </m:r>
                        </m:e>
                        <m:sub>
                          <m:r>
                            <a:rPr lang="en-GB" b="0" i="1" smtClean="0">
                              <a:latin typeface="Cambria Math" panose="02040503050406030204" pitchFamily="18" charset="0"/>
                              <a:ea typeface="Cambria Math" panose="02040503050406030204" pitchFamily="18" charset="0"/>
                            </a:rPr>
                            <m:t>𝑚𝑖𝑐</m:t>
                          </m:r>
                        </m:sub>
                        <m:sup>
                          <m:r>
                            <a:rPr lang="en-GB" b="0" i="1" smtClean="0">
                              <a:latin typeface="Cambria Math" panose="02040503050406030204" pitchFamily="18" charset="0"/>
                              <a:ea typeface="Cambria Math" panose="02040503050406030204" pitchFamily="18" charset="0"/>
                            </a:rPr>
                            <m:t>0</m:t>
                          </m:r>
                        </m:sup>
                      </m:sSubSup>
                    </m:oMath>
                  </m:oMathPara>
                </a14:m>
                <a:endParaRPr lang="en-GB" dirty="0"/>
              </a:p>
            </p:txBody>
          </p:sp>
        </mc:Choice>
        <mc:Fallback xmlns="">
          <p:sp>
            <p:nvSpPr>
              <p:cNvPr id="5" name="TextBox 4">
                <a:extLst>
                  <a:ext uri="{FF2B5EF4-FFF2-40B4-BE49-F238E27FC236}">
                    <a16:creationId xmlns:a16="http://schemas.microsoft.com/office/drawing/2014/main" id="{444B0F40-46A7-BAB0-2612-A6AB92CD1F70}"/>
                  </a:ext>
                </a:extLst>
              </p:cNvPr>
              <p:cNvSpPr txBox="1">
                <a:spLocks noRot="1" noChangeAspect="1" noMove="1" noResize="1" noEditPoints="1" noAdjustHandles="1" noChangeArrowheads="1" noChangeShapeType="1" noTextEdit="1"/>
              </p:cNvSpPr>
              <p:nvPr/>
            </p:nvSpPr>
            <p:spPr>
              <a:xfrm>
                <a:off x="1315708" y="1782151"/>
                <a:ext cx="1963358" cy="1027910"/>
              </a:xfrm>
              <a:prstGeom prst="rect">
                <a:avLst/>
              </a:prstGeom>
              <a:blipFill>
                <a:blip r:embed="rId2"/>
                <a:stretch>
                  <a:fillRect/>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0B0612ED-5FD6-649E-1D40-36249A2859C8}"/>
              </a:ext>
            </a:extLst>
          </p:cNvPr>
          <p:cNvSpPr txBox="1"/>
          <p:nvPr/>
        </p:nvSpPr>
        <p:spPr>
          <a:xfrm>
            <a:off x="714565" y="1134562"/>
            <a:ext cx="7054808" cy="369332"/>
          </a:xfrm>
          <a:prstGeom prst="rect">
            <a:avLst/>
          </a:prstGeom>
          <a:noFill/>
        </p:spPr>
        <p:txBody>
          <a:bodyPr wrap="square" rtlCol="0">
            <a:spAutoFit/>
          </a:bodyPr>
          <a:lstStyle/>
          <a:p>
            <a:pPr marL="285750" indent="-285750">
              <a:buFont typeface="Arial" panose="020B0604020202020204" pitchFamily="34" charset="0"/>
              <a:buChar char="•"/>
            </a:pPr>
            <a:r>
              <a:rPr lang="en-GB" dirty="0"/>
              <a:t>Substituting:</a:t>
            </a:r>
          </a:p>
        </p:txBody>
      </p:sp>
      <p:cxnSp>
        <p:nvCxnSpPr>
          <p:cNvPr id="9" name="Straight Arrow Connector 8">
            <a:extLst>
              <a:ext uri="{FF2B5EF4-FFF2-40B4-BE49-F238E27FC236}">
                <a16:creationId xmlns:a16="http://schemas.microsoft.com/office/drawing/2014/main" id="{C4E8DB00-0651-2C29-D93E-BCEFA877A91D}"/>
              </a:ext>
            </a:extLst>
          </p:cNvPr>
          <p:cNvCxnSpPr/>
          <p:nvPr/>
        </p:nvCxnSpPr>
        <p:spPr>
          <a:xfrm>
            <a:off x="3657600" y="2313250"/>
            <a:ext cx="914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9C6C3D2-C6A9-59D8-0771-BC77ED59BA53}"/>
                  </a:ext>
                </a:extLst>
              </p:cNvPr>
              <p:cNvSpPr txBox="1"/>
              <p:nvPr/>
            </p:nvSpPr>
            <p:spPr>
              <a:xfrm>
                <a:off x="4950534" y="1874965"/>
                <a:ext cx="2800126" cy="10688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𝑑</m:t>
                          </m:r>
                          <m:d>
                            <m:dPr>
                              <m:ctrlPr>
                                <a:rPr lang="en-GB" b="0" i="1" smtClean="0">
                                  <a:latin typeface="Cambria Math" panose="02040503050406030204" pitchFamily="18" charset="0"/>
                                </a:rPr>
                              </m:ctrlPr>
                            </m:dPr>
                            <m:e>
                              <m:r>
                                <m:rPr>
                                  <m:sty m:val="p"/>
                                </m:rPr>
                                <a:rPr lang="en-GB" b="0" i="0" smtClean="0">
                                  <a:latin typeface="Cambria Math" panose="02040503050406030204" pitchFamily="18" charset="0"/>
                                </a:rPr>
                                <m:t>ln</m:t>
                              </m:r>
                              <m:d>
                                <m:dPr>
                                  <m:ctrlPr>
                                    <a:rPr lang="en-GB" b="0" i="1" smtClean="0">
                                      <a:latin typeface="Cambria Math" panose="02040503050406030204" pitchFamily="18" charset="0"/>
                                    </a:rPr>
                                  </m:ctrlPr>
                                </m:dPr>
                                <m:e>
                                  <m:r>
                                    <a:rPr lang="en-GB" b="0" i="1" smtClean="0">
                                      <a:latin typeface="Cambria Math" panose="02040503050406030204" pitchFamily="18" charset="0"/>
                                    </a:rPr>
                                    <m:t>𝑐𝑚𝑐</m:t>
                                  </m:r>
                                </m:e>
                              </m:d>
                            </m:e>
                          </m:d>
                        </m:num>
                        <m:den>
                          <m:r>
                            <a:rPr lang="en-GB" b="0" i="1" smtClean="0">
                              <a:latin typeface="Cambria Math" panose="02040503050406030204" pitchFamily="18" charset="0"/>
                            </a:rPr>
                            <m:t>𝑑</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𝑇</m:t>
                                  </m:r>
                                </m:den>
                              </m:f>
                            </m:e>
                          </m:d>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Δ</m:t>
                          </m:r>
                          <m:sSubSup>
                            <m:sSubSupPr>
                              <m:ctrlPr>
                                <a:rPr lang="el-GR"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𝐻</m:t>
                              </m:r>
                            </m:e>
                            <m:sub>
                              <m:r>
                                <a:rPr lang="en-GB" i="1">
                                  <a:latin typeface="Cambria Math" panose="02040503050406030204" pitchFamily="18" charset="0"/>
                                  <a:ea typeface="Cambria Math" panose="02040503050406030204" pitchFamily="18" charset="0"/>
                                </a:rPr>
                                <m:t>𝑚𝑖𝑐</m:t>
                              </m:r>
                            </m:sub>
                            <m:sup>
                              <m:r>
                                <a:rPr lang="en-GB" i="1">
                                  <a:latin typeface="Cambria Math" panose="02040503050406030204" pitchFamily="18" charset="0"/>
                                  <a:ea typeface="Cambria Math" panose="02040503050406030204" pitchFamily="18" charset="0"/>
                                </a:rPr>
                                <m:t>0</m:t>
                              </m:r>
                            </m:sup>
                          </m:sSubSup>
                        </m:num>
                        <m:den>
                          <m:r>
                            <a:rPr lang="en-GB" b="0" i="1" smtClean="0">
                              <a:latin typeface="Cambria Math" panose="02040503050406030204" pitchFamily="18" charset="0"/>
                            </a:rPr>
                            <m:t>𝑅</m:t>
                          </m:r>
                        </m:den>
                      </m:f>
                    </m:oMath>
                  </m:oMathPara>
                </a14:m>
                <a:endParaRPr lang="en-GB" dirty="0"/>
              </a:p>
            </p:txBody>
          </p:sp>
        </mc:Choice>
        <mc:Fallback xmlns="">
          <p:sp>
            <p:nvSpPr>
              <p:cNvPr id="11" name="TextBox 10">
                <a:extLst>
                  <a:ext uri="{FF2B5EF4-FFF2-40B4-BE49-F238E27FC236}">
                    <a16:creationId xmlns:a16="http://schemas.microsoft.com/office/drawing/2014/main" id="{89C6C3D2-C6A9-59D8-0771-BC77ED59BA53}"/>
                  </a:ext>
                </a:extLst>
              </p:cNvPr>
              <p:cNvSpPr txBox="1">
                <a:spLocks noRot="1" noChangeAspect="1" noMove="1" noResize="1" noEditPoints="1" noAdjustHandles="1" noChangeArrowheads="1" noChangeShapeType="1" noTextEdit="1"/>
              </p:cNvSpPr>
              <p:nvPr/>
            </p:nvSpPr>
            <p:spPr>
              <a:xfrm>
                <a:off x="4950534" y="1874965"/>
                <a:ext cx="2800126" cy="1068819"/>
              </a:xfrm>
              <a:prstGeom prst="rect">
                <a:avLst/>
              </a:prstGeom>
              <a:blipFill>
                <a:blip r:embed="rId3"/>
                <a:stretch>
                  <a:fillRect l="-2252" r="-450" b="-8235"/>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D944DEEB-ECAC-EF01-DF4E-1AC3BA494C53}"/>
              </a:ext>
            </a:extLst>
          </p:cNvPr>
          <p:cNvSpPr txBox="1"/>
          <p:nvPr/>
        </p:nvSpPr>
        <p:spPr>
          <a:xfrm>
            <a:off x="714565" y="2996466"/>
            <a:ext cx="7054808" cy="369332"/>
          </a:xfrm>
          <a:prstGeom prst="rect">
            <a:avLst/>
          </a:prstGeom>
          <a:noFill/>
        </p:spPr>
        <p:txBody>
          <a:bodyPr wrap="square" rtlCol="0">
            <a:spAutoFit/>
          </a:bodyPr>
          <a:lstStyle/>
          <a:p>
            <a:pPr marL="285750" indent="-285750">
              <a:buFont typeface="Arial" panose="020B0604020202020204" pitchFamily="34" charset="0"/>
              <a:buChar char="•"/>
            </a:pPr>
            <a:r>
              <a:rPr lang="en-GB" dirty="0"/>
              <a:t>Rearranging:</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82C8AEC-38FE-834F-A197-7E968DFC751A}"/>
                  </a:ext>
                </a:extLst>
              </p:cNvPr>
              <p:cNvSpPr txBox="1"/>
              <p:nvPr/>
            </p:nvSpPr>
            <p:spPr>
              <a:xfrm>
                <a:off x="1315708" y="3552203"/>
                <a:ext cx="3411960" cy="597728"/>
              </a:xfrm>
              <a:prstGeom prst="rect">
                <a:avLst/>
              </a:prstGeom>
              <a:noFill/>
            </p:spPr>
            <p:txBody>
              <a:bodyPr wrap="none" lIns="0" tIns="0" rIns="0" bIns="0" rtlCol="0">
                <a:spAutoFit/>
              </a:bodyPr>
              <a:lstStyle/>
              <a:p>
                <a14:m>
                  <m:oMath xmlns:m="http://schemas.openxmlformats.org/officeDocument/2006/math">
                    <m:r>
                      <a:rPr lang="en-GB" i="1">
                        <a:latin typeface="Cambria Math" panose="02040503050406030204" pitchFamily="18" charset="0"/>
                      </a:rPr>
                      <m:t>𝑑</m:t>
                    </m:r>
                    <m:d>
                      <m:dPr>
                        <m:ctrlPr>
                          <a:rPr lang="en-GB" i="1">
                            <a:latin typeface="Cambria Math" panose="02040503050406030204" pitchFamily="18" charset="0"/>
                          </a:rPr>
                        </m:ctrlPr>
                      </m:dPr>
                      <m:e>
                        <m:r>
                          <m:rPr>
                            <m:sty m:val="p"/>
                          </m:rPr>
                          <a:rPr lang="en-GB" i="0">
                            <a:latin typeface="Cambria Math" panose="02040503050406030204" pitchFamily="18" charset="0"/>
                          </a:rPr>
                          <m:t>ln</m:t>
                        </m:r>
                        <m:d>
                          <m:dPr>
                            <m:ctrlPr>
                              <a:rPr lang="en-GB" i="1">
                                <a:latin typeface="Cambria Math" panose="02040503050406030204" pitchFamily="18" charset="0"/>
                              </a:rPr>
                            </m:ctrlPr>
                          </m:dPr>
                          <m:e>
                            <m:r>
                              <a:rPr lang="en-GB" i="1">
                                <a:latin typeface="Cambria Math" panose="02040503050406030204" pitchFamily="18" charset="0"/>
                              </a:rPr>
                              <m:t>𝑐𝑚𝑐</m:t>
                            </m:r>
                          </m:e>
                        </m:d>
                      </m:e>
                    </m:d>
                    <m:r>
                      <a:rPr lang="en-GB" i="1">
                        <a:latin typeface="Cambria Math" panose="02040503050406030204" pitchFamily="18" charset="0"/>
                      </a:rPr>
                      <m:t> =</m:t>
                    </m:r>
                    <m:f>
                      <m:fPr>
                        <m:ctrlPr>
                          <a:rPr lang="en-GB" b="0" i="1" smtClean="0">
                            <a:latin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Δ</m:t>
                        </m:r>
                        <m:sSubSup>
                          <m:sSubSupPr>
                            <m:ctrlPr>
                              <a:rPr lang="el-GR"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𝐻</m:t>
                            </m:r>
                          </m:e>
                          <m:sub>
                            <m:r>
                              <a:rPr lang="en-GB" i="1">
                                <a:latin typeface="Cambria Math" panose="02040503050406030204" pitchFamily="18" charset="0"/>
                                <a:ea typeface="Cambria Math" panose="02040503050406030204" pitchFamily="18" charset="0"/>
                              </a:rPr>
                              <m:t>𝑚𝑖𝑐</m:t>
                            </m:r>
                          </m:sub>
                          <m:sup>
                            <m:r>
                              <a:rPr lang="en-GB" i="1">
                                <a:latin typeface="Cambria Math" panose="02040503050406030204" pitchFamily="18" charset="0"/>
                                <a:ea typeface="Cambria Math" panose="02040503050406030204" pitchFamily="18" charset="0"/>
                              </a:rPr>
                              <m:t>0</m:t>
                            </m:r>
                          </m:sup>
                        </m:sSubSup>
                      </m:num>
                      <m:den>
                        <m:r>
                          <a:rPr lang="en-GB" b="0" i="1" smtClean="0">
                            <a:latin typeface="Cambria Math" panose="02040503050406030204" pitchFamily="18" charset="0"/>
                          </a:rPr>
                          <m:t>𝑅</m:t>
                        </m:r>
                      </m:den>
                    </m:f>
                  </m:oMath>
                </a14:m>
                <a:r>
                  <a:rPr lang="en-GB" dirty="0"/>
                  <a:t> </a:t>
                </a:r>
                <a14:m>
                  <m:oMath xmlns:m="http://schemas.openxmlformats.org/officeDocument/2006/math">
                    <m:r>
                      <a:rPr lang="en-GB" i="1">
                        <a:latin typeface="Cambria Math" panose="02040503050406030204" pitchFamily="18" charset="0"/>
                      </a:rPr>
                      <m:t>𝑑</m:t>
                    </m:r>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𝑇</m:t>
                            </m:r>
                          </m:den>
                        </m:f>
                      </m:e>
                    </m:d>
                  </m:oMath>
                </a14:m>
                <a:endParaRPr lang="en-GB" dirty="0"/>
              </a:p>
            </p:txBody>
          </p:sp>
        </mc:Choice>
        <mc:Fallback xmlns="">
          <p:sp>
            <p:nvSpPr>
              <p:cNvPr id="15" name="TextBox 14">
                <a:extLst>
                  <a:ext uri="{FF2B5EF4-FFF2-40B4-BE49-F238E27FC236}">
                    <a16:creationId xmlns:a16="http://schemas.microsoft.com/office/drawing/2014/main" id="{182C8AEC-38FE-834F-A197-7E968DFC751A}"/>
                  </a:ext>
                </a:extLst>
              </p:cNvPr>
              <p:cNvSpPr txBox="1">
                <a:spLocks noRot="1" noChangeAspect="1" noMove="1" noResize="1" noEditPoints="1" noAdjustHandles="1" noChangeArrowheads="1" noChangeShapeType="1" noTextEdit="1"/>
              </p:cNvSpPr>
              <p:nvPr/>
            </p:nvSpPr>
            <p:spPr>
              <a:xfrm>
                <a:off x="1315708" y="3552203"/>
                <a:ext cx="3411960" cy="597728"/>
              </a:xfrm>
              <a:prstGeom prst="rect">
                <a:avLst/>
              </a:prstGeom>
              <a:blipFill>
                <a:blip r:embed="rId4"/>
                <a:stretch>
                  <a:fillRect l="-2963" b="-10417"/>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933FB7E0-07E2-8B94-0914-81CFEC4B9A39}"/>
              </a:ext>
            </a:extLst>
          </p:cNvPr>
          <p:cNvSpPr txBox="1"/>
          <p:nvPr/>
        </p:nvSpPr>
        <p:spPr>
          <a:xfrm>
            <a:off x="5041368" y="3591669"/>
            <a:ext cx="3597931" cy="369332"/>
          </a:xfrm>
          <a:prstGeom prst="rect">
            <a:avLst/>
          </a:prstGeom>
          <a:noFill/>
        </p:spPr>
        <p:txBody>
          <a:bodyPr wrap="square" rtlCol="0">
            <a:spAutoFit/>
          </a:bodyPr>
          <a:lstStyle/>
          <a:p>
            <a:pPr marL="285750" indent="-285750">
              <a:buFont typeface="Arial" panose="020B0604020202020204" pitchFamily="34" charset="0"/>
              <a:buChar char="•"/>
            </a:pPr>
            <a:r>
              <a:rPr lang="en-GB" dirty="0"/>
              <a:t>Integrate!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87134EE-3401-A5F6-5DAA-13DB33907AAC}"/>
                  </a:ext>
                </a:extLst>
              </p:cNvPr>
              <p:cNvSpPr txBox="1"/>
              <p:nvPr/>
            </p:nvSpPr>
            <p:spPr>
              <a:xfrm>
                <a:off x="1127984" y="4492436"/>
                <a:ext cx="4250523" cy="9757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i="1" smtClean="0">
                              <a:latin typeface="Cambria Math" panose="02040503050406030204" pitchFamily="18" charset="0"/>
                            </a:rPr>
                          </m:ctrlPr>
                        </m:naryPr>
                        <m:sub/>
                        <m:sup/>
                        <m:e>
                          <m:r>
                            <a:rPr lang="en-GB" b="0" i="1" smtClean="0">
                              <a:latin typeface="Cambria Math" panose="02040503050406030204" pitchFamily="18" charset="0"/>
                            </a:rPr>
                            <m:t>𝑑</m:t>
                          </m:r>
                          <m:d>
                            <m:dPr>
                              <m:ctrlPr>
                                <a:rPr lang="en-GB" i="1">
                                  <a:latin typeface="Cambria Math" panose="02040503050406030204" pitchFamily="18" charset="0"/>
                                </a:rPr>
                              </m:ctrlPr>
                            </m:dPr>
                            <m:e>
                              <m:r>
                                <m:rPr>
                                  <m:sty m:val="p"/>
                                </m:rPr>
                                <a:rPr lang="en-GB" i="0">
                                  <a:latin typeface="Cambria Math" panose="02040503050406030204" pitchFamily="18" charset="0"/>
                                </a:rPr>
                                <m:t>ln</m:t>
                              </m:r>
                              <m:d>
                                <m:dPr>
                                  <m:ctrlPr>
                                    <a:rPr lang="en-GB" i="1">
                                      <a:latin typeface="Cambria Math" panose="02040503050406030204" pitchFamily="18" charset="0"/>
                                    </a:rPr>
                                  </m:ctrlPr>
                                </m:dPr>
                                <m:e>
                                  <m:r>
                                    <a:rPr lang="en-GB" i="1">
                                      <a:latin typeface="Cambria Math" panose="02040503050406030204" pitchFamily="18" charset="0"/>
                                    </a:rPr>
                                    <m:t>𝑐𝑚𝑐</m:t>
                                  </m:r>
                                </m:e>
                              </m:d>
                            </m:e>
                          </m:d>
                        </m:e>
                      </m:nary>
                      <m:r>
                        <a:rPr lang="en-GB" i="1">
                          <a:latin typeface="Cambria Math" panose="02040503050406030204" pitchFamily="18" charset="0"/>
                        </a:rPr>
                        <m:t> =</m:t>
                      </m:r>
                      <m:f>
                        <m:fPr>
                          <m:ctrlPr>
                            <a:rPr lang="en-GB" b="0" i="1" smtClean="0">
                              <a:latin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Δ</m:t>
                          </m:r>
                          <m:sSubSup>
                            <m:sSubSupPr>
                              <m:ctrlPr>
                                <a:rPr lang="el-GR"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𝐻</m:t>
                              </m:r>
                            </m:e>
                            <m:sub>
                              <m:r>
                                <a:rPr lang="en-GB" i="1">
                                  <a:latin typeface="Cambria Math" panose="02040503050406030204" pitchFamily="18" charset="0"/>
                                  <a:ea typeface="Cambria Math" panose="02040503050406030204" pitchFamily="18" charset="0"/>
                                </a:rPr>
                                <m:t>𝑚𝑖𝑐</m:t>
                              </m:r>
                            </m:sub>
                            <m:sup>
                              <m:r>
                                <a:rPr lang="en-GB" i="1">
                                  <a:latin typeface="Cambria Math" panose="02040503050406030204" pitchFamily="18" charset="0"/>
                                  <a:ea typeface="Cambria Math" panose="02040503050406030204" pitchFamily="18" charset="0"/>
                                </a:rPr>
                                <m:t>0</m:t>
                              </m:r>
                            </m:sup>
                          </m:sSubSup>
                        </m:num>
                        <m:den>
                          <m:r>
                            <a:rPr lang="en-GB" b="0" i="1" smtClean="0">
                              <a:latin typeface="Cambria Math" panose="02040503050406030204" pitchFamily="18" charset="0"/>
                            </a:rPr>
                            <m:t>𝑅</m:t>
                          </m:r>
                        </m:den>
                      </m:f>
                      <m:nary>
                        <m:naryPr>
                          <m:limLoc m:val="undOvr"/>
                          <m:subHide m:val="on"/>
                          <m:supHide m:val="on"/>
                          <m:ctrlPr>
                            <a:rPr lang="en-GB" b="0" i="1" smtClean="0">
                              <a:latin typeface="Cambria Math" panose="02040503050406030204" pitchFamily="18" charset="0"/>
                            </a:rPr>
                          </m:ctrlPr>
                        </m:naryPr>
                        <m:sub/>
                        <m:sup/>
                        <m:e>
                          <m:r>
                            <a:rPr lang="en-GB" i="1">
                              <a:latin typeface="Cambria Math" panose="02040503050406030204" pitchFamily="18" charset="0"/>
                            </a:rPr>
                            <m:t>𝑑</m:t>
                          </m:r>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𝑇</m:t>
                                  </m:r>
                                </m:den>
                              </m:f>
                            </m:e>
                          </m:d>
                        </m:e>
                      </m:nary>
                    </m:oMath>
                  </m:oMathPara>
                </a14:m>
                <a:endParaRPr lang="en-GB" dirty="0"/>
              </a:p>
            </p:txBody>
          </p:sp>
        </mc:Choice>
        <mc:Fallback xmlns="">
          <p:sp>
            <p:nvSpPr>
              <p:cNvPr id="19" name="TextBox 18">
                <a:extLst>
                  <a:ext uri="{FF2B5EF4-FFF2-40B4-BE49-F238E27FC236}">
                    <a16:creationId xmlns:a16="http://schemas.microsoft.com/office/drawing/2014/main" id="{087134EE-3401-A5F6-5DAA-13DB33907AAC}"/>
                  </a:ext>
                </a:extLst>
              </p:cNvPr>
              <p:cNvSpPr txBox="1">
                <a:spLocks noRot="1" noChangeAspect="1" noMove="1" noResize="1" noEditPoints="1" noAdjustHandles="1" noChangeArrowheads="1" noChangeShapeType="1" noTextEdit="1"/>
              </p:cNvSpPr>
              <p:nvPr/>
            </p:nvSpPr>
            <p:spPr>
              <a:xfrm>
                <a:off x="1127984" y="4492436"/>
                <a:ext cx="4250523" cy="975716"/>
              </a:xfrm>
              <a:prstGeom prst="rect">
                <a:avLst/>
              </a:prstGeom>
              <a:blipFill>
                <a:blip r:embed="rId5"/>
                <a:stretch>
                  <a:fillRect l="-29762" t="-153846" r="-5952" b="-2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5A1BD38-D475-CD90-E2B7-B1CFF2270333}"/>
                  </a:ext>
                </a:extLst>
              </p:cNvPr>
              <p:cNvSpPr txBox="1"/>
              <p:nvPr/>
            </p:nvSpPr>
            <p:spPr>
              <a:xfrm>
                <a:off x="1207716" y="5499306"/>
                <a:ext cx="2251770" cy="5640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𝑙𝑛</m:t>
                      </m:r>
                      <m:d>
                        <m:dPr>
                          <m:ctrlPr>
                            <a:rPr lang="en-GB" i="1">
                              <a:latin typeface="Cambria Math" panose="02040503050406030204" pitchFamily="18" charset="0"/>
                            </a:rPr>
                          </m:ctrlPr>
                        </m:dPr>
                        <m:e>
                          <m:r>
                            <a:rPr lang="en-GB" i="1">
                              <a:latin typeface="Cambria Math" panose="02040503050406030204" pitchFamily="18" charset="0"/>
                            </a:rPr>
                            <m:t>𝑐𝑚𝑐</m:t>
                          </m:r>
                        </m:e>
                      </m:d>
                      <m:r>
                        <a:rPr lang="en-GB" i="1">
                          <a:latin typeface="Cambria Math" panose="02040503050406030204" pitchFamily="18" charset="0"/>
                        </a:rPr>
                        <m:t> =</m:t>
                      </m:r>
                      <m:f>
                        <m:fPr>
                          <m:ctrlPr>
                            <a:rPr lang="en-GB" b="0" i="1" smtClean="0">
                              <a:latin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Δ</m:t>
                          </m:r>
                          <m:sSubSup>
                            <m:sSubSupPr>
                              <m:ctrlPr>
                                <a:rPr lang="el-GR"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𝐻</m:t>
                              </m:r>
                            </m:e>
                            <m:sub>
                              <m:r>
                                <a:rPr lang="en-GB" i="1">
                                  <a:latin typeface="Cambria Math" panose="02040503050406030204" pitchFamily="18" charset="0"/>
                                  <a:ea typeface="Cambria Math" panose="02040503050406030204" pitchFamily="18" charset="0"/>
                                </a:rPr>
                                <m:t>𝑚𝑖𝑐</m:t>
                              </m:r>
                            </m:sub>
                            <m:sup>
                              <m:r>
                                <a:rPr lang="en-GB" i="1">
                                  <a:latin typeface="Cambria Math" panose="02040503050406030204" pitchFamily="18" charset="0"/>
                                  <a:ea typeface="Cambria Math" panose="02040503050406030204" pitchFamily="18" charset="0"/>
                                </a:rPr>
                                <m:t>0</m:t>
                              </m:r>
                            </m:sup>
                          </m:sSubSup>
                        </m:num>
                        <m:den>
                          <m:r>
                            <a:rPr lang="en-GB" b="0" i="1" smtClean="0">
                              <a:latin typeface="Cambria Math" panose="02040503050406030204" pitchFamily="18" charset="0"/>
                            </a:rPr>
                            <m:t>𝑅𝑇</m:t>
                          </m:r>
                        </m:den>
                      </m:f>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p:txBody>
          </p:sp>
        </mc:Choice>
        <mc:Fallback xmlns="">
          <p:sp>
            <p:nvSpPr>
              <p:cNvPr id="21" name="TextBox 20">
                <a:extLst>
                  <a:ext uri="{FF2B5EF4-FFF2-40B4-BE49-F238E27FC236}">
                    <a16:creationId xmlns:a16="http://schemas.microsoft.com/office/drawing/2014/main" id="{35A1BD38-D475-CD90-E2B7-B1CFF2270333}"/>
                  </a:ext>
                </a:extLst>
              </p:cNvPr>
              <p:cNvSpPr txBox="1">
                <a:spLocks noRot="1" noChangeAspect="1" noMove="1" noResize="1" noEditPoints="1" noAdjustHandles="1" noChangeArrowheads="1" noChangeShapeType="1" noTextEdit="1"/>
              </p:cNvSpPr>
              <p:nvPr/>
            </p:nvSpPr>
            <p:spPr>
              <a:xfrm>
                <a:off x="1207716" y="5499306"/>
                <a:ext cx="2251770" cy="564065"/>
              </a:xfrm>
              <a:prstGeom prst="rect">
                <a:avLst/>
              </a:prstGeom>
              <a:blipFill>
                <a:blip r:embed="rId6"/>
                <a:stretch>
                  <a:fillRect/>
                </a:stretch>
              </a:blipFill>
            </p:spPr>
            <p:txBody>
              <a:bodyPr/>
              <a:lstStyle/>
              <a:p>
                <a:r>
                  <a:rPr lang="en-GB">
                    <a:noFill/>
                  </a:rPr>
                  <a:t> </a:t>
                </a:r>
              </a:p>
            </p:txBody>
          </p:sp>
        </mc:Fallback>
      </mc:AlternateContent>
      <p:sp>
        <p:nvSpPr>
          <p:cNvPr id="23" name="TextBox 22">
            <a:extLst>
              <a:ext uri="{FF2B5EF4-FFF2-40B4-BE49-F238E27FC236}">
                <a16:creationId xmlns:a16="http://schemas.microsoft.com/office/drawing/2014/main" id="{D9770095-996A-45E1-1B5A-CFEDC6290869}"/>
              </a:ext>
            </a:extLst>
          </p:cNvPr>
          <p:cNvSpPr txBox="1"/>
          <p:nvPr/>
        </p:nvSpPr>
        <p:spPr>
          <a:xfrm>
            <a:off x="5041367" y="5513489"/>
            <a:ext cx="3597931" cy="646331"/>
          </a:xfrm>
          <a:prstGeom prst="rect">
            <a:avLst/>
          </a:prstGeom>
          <a:noFill/>
        </p:spPr>
        <p:txBody>
          <a:bodyPr wrap="square" rtlCol="0">
            <a:spAutoFit/>
          </a:bodyPr>
          <a:lstStyle/>
          <a:p>
            <a:pPr marL="285750" indent="-285750">
              <a:buFont typeface="Arial" panose="020B0604020202020204" pitchFamily="34" charset="0"/>
              <a:buChar char="•"/>
            </a:pPr>
            <a:r>
              <a:rPr lang="en-GB" dirty="0"/>
              <a:t>We can use a linear plot to find the enthalpy!</a:t>
            </a:r>
          </a:p>
        </p:txBody>
      </p:sp>
    </p:spTree>
    <p:extLst>
      <p:ext uri="{BB962C8B-B14F-4D97-AF65-F5344CB8AC3E}">
        <p14:creationId xmlns:p14="http://schemas.microsoft.com/office/powerpoint/2010/main" val="12723920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1" grpId="0"/>
      <p:bldP spid="13" grpId="0"/>
      <p:bldP spid="15" grpId="0"/>
      <p:bldP spid="17" grpId="0"/>
      <p:bldP spid="19" grpId="0"/>
      <p:bldP spid="21"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9F3A69-6D25-F8F7-939A-BDA4ECC49EE5}"/>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Micelles</a:t>
            </a:r>
          </a:p>
        </p:txBody>
      </p:sp>
      <p:pic>
        <p:nvPicPr>
          <p:cNvPr id="5" name="Picture 4">
            <a:extLst>
              <a:ext uri="{FF2B5EF4-FFF2-40B4-BE49-F238E27FC236}">
                <a16:creationId xmlns:a16="http://schemas.microsoft.com/office/drawing/2014/main" id="{BAEB0C4C-E94C-8226-C1B3-3E62B58BC028}"/>
              </a:ext>
            </a:extLst>
          </p:cNvPr>
          <p:cNvPicPr>
            <a:picLocks noChangeAspect="1"/>
          </p:cNvPicPr>
          <p:nvPr/>
        </p:nvPicPr>
        <p:blipFill>
          <a:blip r:embed="rId2"/>
          <a:stretch>
            <a:fillRect/>
          </a:stretch>
        </p:blipFill>
        <p:spPr>
          <a:xfrm>
            <a:off x="714565" y="1204499"/>
            <a:ext cx="7599815" cy="5021111"/>
          </a:xfrm>
          <a:prstGeom prst="rect">
            <a:avLst/>
          </a:prstGeom>
        </p:spPr>
      </p:pic>
    </p:spTree>
    <p:extLst>
      <p:ext uri="{BB962C8B-B14F-4D97-AF65-F5344CB8AC3E}">
        <p14:creationId xmlns:p14="http://schemas.microsoft.com/office/powerpoint/2010/main" val="31307710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F19D24-ED87-8D0A-A969-74734F589248}"/>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Hydrophobic effect</a:t>
            </a:r>
          </a:p>
        </p:txBody>
      </p:sp>
      <p:pic>
        <p:nvPicPr>
          <p:cNvPr id="5" name="Picture 4">
            <a:extLst>
              <a:ext uri="{FF2B5EF4-FFF2-40B4-BE49-F238E27FC236}">
                <a16:creationId xmlns:a16="http://schemas.microsoft.com/office/drawing/2014/main" id="{958DA662-4E8F-DD1D-8361-2453C924DC06}"/>
              </a:ext>
            </a:extLst>
          </p:cNvPr>
          <p:cNvPicPr>
            <a:picLocks noChangeAspect="1"/>
          </p:cNvPicPr>
          <p:nvPr/>
        </p:nvPicPr>
        <p:blipFill>
          <a:blip r:embed="rId2"/>
          <a:stretch>
            <a:fillRect/>
          </a:stretch>
        </p:blipFill>
        <p:spPr>
          <a:xfrm>
            <a:off x="707755" y="1205069"/>
            <a:ext cx="3666933" cy="5041311"/>
          </a:xfrm>
          <a:prstGeom prst="rect">
            <a:avLst/>
          </a:prstGeom>
        </p:spPr>
      </p:pic>
      <p:sp>
        <p:nvSpPr>
          <p:cNvPr id="6" name="TextBox 5">
            <a:extLst>
              <a:ext uri="{FF2B5EF4-FFF2-40B4-BE49-F238E27FC236}">
                <a16:creationId xmlns:a16="http://schemas.microsoft.com/office/drawing/2014/main" id="{8DD977D6-9DA0-0838-5DAB-F8A7090EB639}"/>
              </a:ext>
            </a:extLst>
          </p:cNvPr>
          <p:cNvSpPr txBox="1"/>
          <p:nvPr/>
        </p:nvSpPr>
        <p:spPr>
          <a:xfrm>
            <a:off x="4495800" y="1278900"/>
            <a:ext cx="4396680" cy="4893647"/>
          </a:xfrm>
          <a:prstGeom prst="rect">
            <a:avLst/>
          </a:prstGeom>
          <a:noFill/>
        </p:spPr>
        <p:txBody>
          <a:bodyPr wrap="square" rtlCol="0">
            <a:spAutoFit/>
          </a:bodyPr>
          <a:lstStyle/>
          <a:p>
            <a:pPr marL="285750" indent="-285750">
              <a:buFont typeface="Arial" panose="020B0604020202020204" pitchFamily="34" charset="0"/>
              <a:buChar char="•"/>
            </a:pPr>
            <a:r>
              <a:rPr lang="en-GB" dirty="0"/>
              <a:t>Largely an entropic interaction.</a:t>
            </a:r>
          </a:p>
          <a:p>
            <a:pPr marL="285750" indent="-285750">
              <a:buFont typeface="Arial" panose="020B0604020202020204" pitchFamily="34" charset="0"/>
              <a:buChar char="•"/>
            </a:pPr>
            <a:r>
              <a:rPr lang="en-GB" dirty="0"/>
              <a:t>Responsible for micellization of surfactants and for protein folding with an “oily” inner phase.</a:t>
            </a:r>
          </a:p>
          <a:p>
            <a:pPr marL="285750" indent="-285750">
              <a:buFont typeface="Arial" panose="020B0604020202020204" pitchFamily="34" charset="0"/>
              <a:buChar char="•"/>
            </a:pPr>
            <a:r>
              <a:rPr lang="en-GB" dirty="0"/>
              <a:t>Enthalpy of micellization can be exothermic, and </a:t>
            </a:r>
            <a:r>
              <a:rPr lang="en-GB" dirty="0" err="1"/>
              <a:t>cmc</a:t>
            </a:r>
            <a:r>
              <a:rPr lang="en-GB" dirty="0"/>
              <a:t> increases with temperature, or</a:t>
            </a:r>
          </a:p>
          <a:p>
            <a:pPr marL="285750" indent="-285750">
              <a:buFont typeface="Arial" panose="020B0604020202020204" pitchFamily="34" charset="0"/>
              <a:buChar char="•"/>
            </a:pPr>
            <a:r>
              <a:rPr lang="en-GB" dirty="0"/>
              <a:t>Enthalpy of micellization can be endothermic/entirely entropy driven.</a:t>
            </a:r>
          </a:p>
        </p:txBody>
      </p:sp>
    </p:spTree>
    <p:extLst>
      <p:ext uri="{BB962C8B-B14F-4D97-AF65-F5344CB8AC3E}">
        <p14:creationId xmlns:p14="http://schemas.microsoft.com/office/powerpoint/2010/main" val="1216902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35477-0F83-5239-D3F4-8198F699417E}"/>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Hydrophobic effect</a:t>
            </a:r>
          </a:p>
        </p:txBody>
      </p:sp>
      <p:sp>
        <p:nvSpPr>
          <p:cNvPr id="2" name="TextBox 1">
            <a:extLst>
              <a:ext uri="{FF2B5EF4-FFF2-40B4-BE49-F238E27FC236}">
                <a16:creationId xmlns:a16="http://schemas.microsoft.com/office/drawing/2014/main" id="{BA029A2D-41DB-900A-93CD-74BD3C8424E4}"/>
              </a:ext>
            </a:extLst>
          </p:cNvPr>
          <p:cNvSpPr txBox="1"/>
          <p:nvPr/>
        </p:nvSpPr>
        <p:spPr>
          <a:xfrm>
            <a:off x="168061" y="1063921"/>
            <a:ext cx="5310786" cy="2862322"/>
          </a:xfrm>
          <a:prstGeom prst="rect">
            <a:avLst/>
          </a:prstGeom>
          <a:noFill/>
        </p:spPr>
        <p:txBody>
          <a:bodyPr wrap="square" rtlCol="0">
            <a:spAutoFit/>
          </a:bodyPr>
          <a:lstStyle/>
          <a:p>
            <a:r>
              <a:rPr lang="en-GB" sz="2000" dirty="0"/>
              <a:t>Effects of the Hydrocarbon tail </a:t>
            </a:r>
          </a:p>
          <a:p>
            <a:pPr marL="285750" indent="-285750">
              <a:buFont typeface="Arial" panose="020B0604020202020204" pitchFamily="34" charset="0"/>
              <a:buChar char="•"/>
            </a:pPr>
            <a:r>
              <a:rPr lang="en-GB" sz="2000" dirty="0"/>
              <a:t>Below CMC – presence of hydrocarbon tails within bulk water disrupt water organisation – water molecules are more ordered and hydrocarbon tails are restricted </a:t>
            </a:r>
          </a:p>
          <a:p>
            <a:pPr marL="285750" indent="-285750">
              <a:buFont typeface="Arial" panose="020B0604020202020204" pitchFamily="34" charset="0"/>
              <a:buChar char="•"/>
            </a:pPr>
            <a:r>
              <a:rPr lang="en-GB" sz="2000" dirty="0"/>
              <a:t>Above the CMC – hydrocarbon tails come together and bulk disordered structure of water is restored and hydrocarbon tail movement increases •</a:t>
            </a:r>
          </a:p>
        </p:txBody>
      </p:sp>
      <p:sp>
        <p:nvSpPr>
          <p:cNvPr id="4" name="TextBox 3">
            <a:extLst>
              <a:ext uri="{FF2B5EF4-FFF2-40B4-BE49-F238E27FC236}">
                <a16:creationId xmlns:a16="http://schemas.microsoft.com/office/drawing/2014/main" id="{3F48FA11-B84F-AE81-032B-EFC1ECCD1E6C}"/>
              </a:ext>
            </a:extLst>
          </p:cNvPr>
          <p:cNvSpPr txBox="1"/>
          <p:nvPr/>
        </p:nvSpPr>
        <p:spPr>
          <a:xfrm>
            <a:off x="310371" y="3963047"/>
            <a:ext cx="5310787" cy="2246769"/>
          </a:xfrm>
          <a:prstGeom prst="rect">
            <a:avLst/>
          </a:prstGeom>
          <a:noFill/>
        </p:spPr>
        <p:txBody>
          <a:bodyPr wrap="square" rtlCol="0">
            <a:spAutoFit/>
          </a:bodyPr>
          <a:lstStyle/>
          <a:p>
            <a:r>
              <a:rPr lang="en-GB" sz="2000" dirty="0"/>
              <a:t>Contribution of headgroups  </a:t>
            </a:r>
          </a:p>
          <a:p>
            <a:pPr marL="285750" indent="-285750">
              <a:buFont typeface="Arial" panose="020B0604020202020204" pitchFamily="34" charset="0"/>
              <a:buChar char="•"/>
            </a:pPr>
            <a:r>
              <a:rPr lang="en-GB" sz="2000" dirty="0"/>
              <a:t>Headgroups remain surrounded by water molecules throughout </a:t>
            </a:r>
            <a:r>
              <a:rPr lang="en-GB" sz="2000" dirty="0" err="1"/>
              <a:t>micellisation</a:t>
            </a:r>
            <a:r>
              <a:rPr lang="en-GB" sz="2000" dirty="0"/>
              <a:t> and do not contribute significantly  </a:t>
            </a:r>
          </a:p>
          <a:p>
            <a:pPr marL="285750" indent="-285750">
              <a:buFont typeface="Arial" panose="020B0604020202020204" pitchFamily="34" charset="0"/>
              <a:buChar char="•"/>
            </a:pPr>
            <a:r>
              <a:rPr lang="en-GB" sz="2000" dirty="0"/>
              <a:t>Interactions between headgroups do determine the overall size and shape of the micelle</a:t>
            </a:r>
          </a:p>
        </p:txBody>
      </p:sp>
      <p:grpSp>
        <p:nvGrpSpPr>
          <p:cNvPr id="19" name="Group 18">
            <a:extLst>
              <a:ext uri="{FF2B5EF4-FFF2-40B4-BE49-F238E27FC236}">
                <a16:creationId xmlns:a16="http://schemas.microsoft.com/office/drawing/2014/main" id="{8D7423AD-656C-3488-EAFC-BAF76625929B}"/>
              </a:ext>
            </a:extLst>
          </p:cNvPr>
          <p:cNvGrpSpPr/>
          <p:nvPr/>
        </p:nvGrpSpPr>
        <p:grpSpPr>
          <a:xfrm>
            <a:off x="5336264" y="1464536"/>
            <a:ext cx="3698391" cy="1481691"/>
            <a:chOff x="5263183" y="704060"/>
            <a:chExt cx="3698391" cy="1481691"/>
          </a:xfrm>
        </p:grpSpPr>
        <p:graphicFrame>
          <p:nvGraphicFramePr>
            <p:cNvPr id="5" name="Object 4">
              <a:extLst>
                <a:ext uri="{FF2B5EF4-FFF2-40B4-BE49-F238E27FC236}">
                  <a16:creationId xmlns:a16="http://schemas.microsoft.com/office/drawing/2014/main" id="{853F6891-A37C-F47A-C88E-00F27FF28084}"/>
                </a:ext>
              </a:extLst>
            </p:cNvPr>
            <p:cNvGraphicFramePr>
              <a:graphicFrameLocks noChangeAspect="1"/>
            </p:cNvGraphicFramePr>
            <p:nvPr/>
          </p:nvGraphicFramePr>
          <p:xfrm>
            <a:off x="5263183" y="784356"/>
            <a:ext cx="3454400" cy="1143000"/>
          </p:xfrm>
          <a:graphic>
            <a:graphicData uri="http://schemas.openxmlformats.org/presentationml/2006/ole">
              <mc:AlternateContent xmlns:mc="http://schemas.openxmlformats.org/markup-compatibility/2006">
                <mc:Choice xmlns:v="urn:schemas-microsoft-com:vml" Requires="v">
                  <p:oleObj name="CS ChemDraw Drawing" r:id="rId2" imgW="6836421" imgH="2262781" progId="ChemDraw.Document.6.0">
                    <p:embed/>
                  </p:oleObj>
                </mc:Choice>
                <mc:Fallback>
                  <p:oleObj name="CS ChemDraw Drawing" r:id="rId2" imgW="6836421" imgH="2262781" progId="ChemDraw.Document.6.0">
                    <p:embed/>
                    <p:pic>
                      <p:nvPicPr>
                        <p:cNvPr id="5" name="Object 4">
                          <a:extLst>
                            <a:ext uri="{FF2B5EF4-FFF2-40B4-BE49-F238E27FC236}">
                              <a16:creationId xmlns:a16="http://schemas.microsoft.com/office/drawing/2014/main" id="{853F6891-A37C-F47A-C88E-00F27FF28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3183" y="784356"/>
                          <a:ext cx="3454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a:extLst>
                <a:ext uri="{FF2B5EF4-FFF2-40B4-BE49-F238E27FC236}">
                  <a16:creationId xmlns:a16="http://schemas.microsoft.com/office/drawing/2014/main" id="{F3F94E78-3D5C-FD05-15FB-1B13EFB30041}"/>
                </a:ext>
              </a:extLst>
            </p:cNvPr>
            <p:cNvGraphicFramePr>
              <a:graphicFrameLocks noChangeAspect="1"/>
            </p:cNvGraphicFramePr>
            <p:nvPr/>
          </p:nvGraphicFramePr>
          <p:xfrm>
            <a:off x="7325293" y="704060"/>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6" name="Object 5">
                          <a:extLst>
                            <a:ext uri="{FF2B5EF4-FFF2-40B4-BE49-F238E27FC236}">
                              <a16:creationId xmlns:a16="http://schemas.microsoft.com/office/drawing/2014/main" id="{F3F94E78-3D5C-FD05-15FB-1B13EFB300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5293" y="704060"/>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76C756A1-38ED-10E0-E69C-5DB50A5EC07B}"/>
                </a:ext>
              </a:extLst>
            </p:cNvPr>
            <p:cNvGraphicFramePr>
              <a:graphicFrameLocks noChangeAspect="1"/>
            </p:cNvGraphicFramePr>
            <p:nvPr/>
          </p:nvGraphicFramePr>
          <p:xfrm>
            <a:off x="6732598" y="1667392"/>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7" name="Object 6">
                          <a:extLst>
                            <a:ext uri="{FF2B5EF4-FFF2-40B4-BE49-F238E27FC236}">
                              <a16:creationId xmlns:a16="http://schemas.microsoft.com/office/drawing/2014/main" id="{76C756A1-38ED-10E0-E69C-5DB50A5EC0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598" y="1667392"/>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a:extLst>
                <a:ext uri="{FF2B5EF4-FFF2-40B4-BE49-F238E27FC236}">
                  <a16:creationId xmlns:a16="http://schemas.microsoft.com/office/drawing/2014/main" id="{7A6DE1F1-02B7-B62A-04CD-CBE458C6B2FA}"/>
                </a:ext>
              </a:extLst>
            </p:cNvPr>
            <p:cNvGraphicFramePr>
              <a:graphicFrameLocks noChangeAspect="1"/>
            </p:cNvGraphicFramePr>
            <p:nvPr/>
          </p:nvGraphicFramePr>
          <p:xfrm>
            <a:off x="8504374" y="1034687"/>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8" name="Object 7">
                          <a:extLst>
                            <a:ext uri="{FF2B5EF4-FFF2-40B4-BE49-F238E27FC236}">
                              <a16:creationId xmlns:a16="http://schemas.microsoft.com/office/drawing/2014/main" id="{7A6DE1F1-02B7-B62A-04CD-CBE458C6B2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4374" y="1034687"/>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a:extLst>
                <a:ext uri="{FF2B5EF4-FFF2-40B4-BE49-F238E27FC236}">
                  <a16:creationId xmlns:a16="http://schemas.microsoft.com/office/drawing/2014/main" id="{3E8D43DC-DC9E-BC11-D206-719351BC908F}"/>
                </a:ext>
              </a:extLst>
            </p:cNvPr>
            <p:cNvGraphicFramePr>
              <a:graphicFrameLocks noChangeAspect="1"/>
            </p:cNvGraphicFramePr>
            <p:nvPr/>
          </p:nvGraphicFramePr>
          <p:xfrm>
            <a:off x="8229600" y="1934926"/>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9" name="Object 8">
                          <a:extLst>
                            <a:ext uri="{FF2B5EF4-FFF2-40B4-BE49-F238E27FC236}">
                              <a16:creationId xmlns:a16="http://schemas.microsoft.com/office/drawing/2014/main" id="{3E8D43DC-DC9E-BC11-D206-719351BC90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1934926"/>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a:extLst>
                <a:ext uri="{FF2B5EF4-FFF2-40B4-BE49-F238E27FC236}">
                  <a16:creationId xmlns:a16="http://schemas.microsoft.com/office/drawing/2014/main" id="{62F55249-97C8-4EDF-72BC-5D9EEDDFF9B1}"/>
                </a:ext>
              </a:extLst>
            </p:cNvPr>
            <p:cNvGraphicFramePr>
              <a:graphicFrameLocks noChangeAspect="1"/>
            </p:cNvGraphicFramePr>
            <p:nvPr/>
          </p:nvGraphicFramePr>
          <p:xfrm>
            <a:off x="7277299" y="1934926"/>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10" name="Object 9">
                          <a:extLst>
                            <a:ext uri="{FF2B5EF4-FFF2-40B4-BE49-F238E27FC236}">
                              <a16:creationId xmlns:a16="http://schemas.microsoft.com/office/drawing/2014/main" id="{62F55249-97C8-4EDF-72BC-5D9EEDDFF9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7299" y="1934926"/>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a:extLst>
                <a:ext uri="{FF2B5EF4-FFF2-40B4-BE49-F238E27FC236}">
                  <a16:creationId xmlns:a16="http://schemas.microsoft.com/office/drawing/2014/main" id="{09F14A40-2C73-20B0-FD56-1E7CCDB244D2}"/>
                </a:ext>
              </a:extLst>
            </p:cNvPr>
            <p:cNvGraphicFramePr>
              <a:graphicFrameLocks noChangeAspect="1"/>
            </p:cNvGraphicFramePr>
            <p:nvPr/>
          </p:nvGraphicFramePr>
          <p:xfrm>
            <a:off x="7772400" y="1114821"/>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11" name="Object 10">
                          <a:extLst>
                            <a:ext uri="{FF2B5EF4-FFF2-40B4-BE49-F238E27FC236}">
                              <a16:creationId xmlns:a16="http://schemas.microsoft.com/office/drawing/2014/main" id="{09F14A40-2C73-20B0-FD56-1E7CCDB244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0" y="1114821"/>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0" name="Group 19">
            <a:extLst>
              <a:ext uri="{FF2B5EF4-FFF2-40B4-BE49-F238E27FC236}">
                <a16:creationId xmlns:a16="http://schemas.microsoft.com/office/drawing/2014/main" id="{6922FAE7-C5AB-6A19-744D-FC2B72F08D7B}"/>
              </a:ext>
            </a:extLst>
          </p:cNvPr>
          <p:cNvGrpSpPr/>
          <p:nvPr/>
        </p:nvGrpSpPr>
        <p:grpSpPr>
          <a:xfrm>
            <a:off x="6119784" y="3755842"/>
            <a:ext cx="1956862" cy="2869531"/>
            <a:chOff x="6501338" y="2845176"/>
            <a:chExt cx="1956862" cy="2869531"/>
          </a:xfrm>
        </p:grpSpPr>
        <p:pic>
          <p:nvPicPr>
            <p:cNvPr id="13" name="Picture 12">
              <a:extLst>
                <a:ext uri="{FF2B5EF4-FFF2-40B4-BE49-F238E27FC236}">
                  <a16:creationId xmlns:a16="http://schemas.microsoft.com/office/drawing/2014/main" id="{BD9FB788-AA7C-4F73-F5D3-E53A47AFA504}"/>
                </a:ext>
              </a:extLst>
            </p:cNvPr>
            <p:cNvPicPr>
              <a:picLocks noChangeAspect="1"/>
            </p:cNvPicPr>
            <p:nvPr/>
          </p:nvPicPr>
          <p:blipFill>
            <a:blip r:embed="rId6"/>
            <a:stretch>
              <a:fillRect/>
            </a:stretch>
          </p:blipFill>
          <p:spPr>
            <a:xfrm>
              <a:off x="6501338" y="3790694"/>
              <a:ext cx="1956862" cy="1924013"/>
            </a:xfrm>
            <a:prstGeom prst="rect">
              <a:avLst/>
            </a:prstGeom>
          </p:spPr>
        </p:pic>
        <p:graphicFrame>
          <p:nvGraphicFramePr>
            <p:cNvPr id="14" name="Object 13">
              <a:extLst>
                <a:ext uri="{FF2B5EF4-FFF2-40B4-BE49-F238E27FC236}">
                  <a16:creationId xmlns:a16="http://schemas.microsoft.com/office/drawing/2014/main" id="{33344C0C-6896-B1B1-BAEF-29A09BC09DCF}"/>
                </a:ext>
              </a:extLst>
            </p:cNvPr>
            <p:cNvGraphicFramePr>
              <a:graphicFrameLocks noChangeAspect="1"/>
            </p:cNvGraphicFramePr>
            <p:nvPr/>
          </p:nvGraphicFramePr>
          <p:xfrm>
            <a:off x="7963099" y="2845176"/>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14" name="Object 13">
                          <a:extLst>
                            <a:ext uri="{FF2B5EF4-FFF2-40B4-BE49-F238E27FC236}">
                              <a16:creationId xmlns:a16="http://schemas.microsoft.com/office/drawing/2014/main" id="{33344C0C-6896-B1B1-BAEF-29A09BC09D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9" y="2845176"/>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a:extLst>
                <a:ext uri="{FF2B5EF4-FFF2-40B4-BE49-F238E27FC236}">
                  <a16:creationId xmlns:a16="http://schemas.microsoft.com/office/drawing/2014/main" id="{C97CA96B-1BAD-3D69-2BEB-CAB7FC141EC4}"/>
                </a:ext>
              </a:extLst>
            </p:cNvPr>
            <p:cNvGraphicFramePr>
              <a:graphicFrameLocks noChangeAspect="1"/>
            </p:cNvGraphicFramePr>
            <p:nvPr/>
          </p:nvGraphicFramePr>
          <p:xfrm>
            <a:off x="7644727" y="3016707"/>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15" name="Object 14">
                          <a:extLst>
                            <a:ext uri="{FF2B5EF4-FFF2-40B4-BE49-F238E27FC236}">
                              <a16:creationId xmlns:a16="http://schemas.microsoft.com/office/drawing/2014/main" id="{C97CA96B-1BAD-3D69-2BEB-CAB7FC141E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4727" y="3016707"/>
                          <a:ext cx="457200" cy="250825"/>
                        </a:xfrm>
                        <a:prstGeom prst="rect">
                          <a:avLst/>
                        </a:prstGeom>
                        <a:noFill/>
                        <a:ln>
                          <a:noFill/>
                        </a:ln>
                      </p:spPr>
                    </p:pic>
                  </p:oleObj>
                </mc:Fallback>
              </mc:AlternateContent>
            </a:graphicData>
          </a:graphic>
        </p:graphicFrame>
        <p:graphicFrame>
          <p:nvGraphicFramePr>
            <p:cNvPr id="16" name="Object 15">
              <a:extLst>
                <a:ext uri="{FF2B5EF4-FFF2-40B4-BE49-F238E27FC236}">
                  <a16:creationId xmlns:a16="http://schemas.microsoft.com/office/drawing/2014/main" id="{BB9BC925-1456-EA8C-686B-4F68CA9F16CF}"/>
                </a:ext>
              </a:extLst>
            </p:cNvPr>
            <p:cNvGraphicFramePr>
              <a:graphicFrameLocks noChangeAspect="1"/>
            </p:cNvGraphicFramePr>
            <p:nvPr/>
          </p:nvGraphicFramePr>
          <p:xfrm>
            <a:off x="7734499" y="3626521"/>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16" name="Object 15">
                          <a:extLst>
                            <a:ext uri="{FF2B5EF4-FFF2-40B4-BE49-F238E27FC236}">
                              <a16:creationId xmlns:a16="http://schemas.microsoft.com/office/drawing/2014/main" id="{BB9BC925-1456-EA8C-686B-4F68CA9F16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4499" y="3626521"/>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6">
              <a:extLst>
                <a:ext uri="{FF2B5EF4-FFF2-40B4-BE49-F238E27FC236}">
                  <a16:creationId xmlns:a16="http://schemas.microsoft.com/office/drawing/2014/main" id="{0C68E391-D60F-4EED-A6F1-B019845BEAD6}"/>
                </a:ext>
              </a:extLst>
            </p:cNvPr>
            <p:cNvGraphicFramePr>
              <a:graphicFrameLocks noChangeAspect="1"/>
            </p:cNvGraphicFramePr>
            <p:nvPr/>
          </p:nvGraphicFramePr>
          <p:xfrm>
            <a:off x="7416127" y="3303587"/>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17" name="Object 16">
                          <a:extLst>
                            <a:ext uri="{FF2B5EF4-FFF2-40B4-BE49-F238E27FC236}">
                              <a16:creationId xmlns:a16="http://schemas.microsoft.com/office/drawing/2014/main" id="{0C68E391-D60F-4EED-A6F1-B019845BEA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16127" y="3303587"/>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7">
              <a:extLst>
                <a:ext uri="{FF2B5EF4-FFF2-40B4-BE49-F238E27FC236}">
                  <a16:creationId xmlns:a16="http://schemas.microsoft.com/office/drawing/2014/main" id="{A44BAD41-F97C-CD2E-C453-7334EC613F87}"/>
                </a:ext>
              </a:extLst>
            </p:cNvPr>
            <p:cNvGraphicFramePr>
              <a:graphicFrameLocks noChangeAspect="1"/>
            </p:cNvGraphicFramePr>
            <p:nvPr/>
          </p:nvGraphicFramePr>
          <p:xfrm>
            <a:off x="7109814" y="3501109"/>
            <a:ext cx="457200" cy="250825"/>
          </p:xfrm>
          <a:graphic>
            <a:graphicData uri="http://schemas.openxmlformats.org/presentationml/2006/ole">
              <mc:AlternateContent xmlns:mc="http://schemas.openxmlformats.org/markup-compatibility/2006">
                <mc:Choice xmlns:v="urn:schemas-microsoft-com:vml" Requires="v">
                  <p:oleObj name="CS ChemDraw Drawing" r:id="rId4" imgW="732869" imgH="403383" progId="ChemDraw.Document.6.0">
                    <p:embed/>
                  </p:oleObj>
                </mc:Choice>
                <mc:Fallback>
                  <p:oleObj name="CS ChemDraw Drawing" r:id="rId4" imgW="732869" imgH="403383" progId="ChemDraw.Document.6.0">
                    <p:embed/>
                    <p:pic>
                      <p:nvPicPr>
                        <p:cNvPr id="18" name="Object 17">
                          <a:extLst>
                            <a:ext uri="{FF2B5EF4-FFF2-40B4-BE49-F238E27FC236}">
                              <a16:creationId xmlns:a16="http://schemas.microsoft.com/office/drawing/2014/main" id="{A44BAD41-F97C-CD2E-C453-7334EC613F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9814" y="3501109"/>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1811185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B07CCE-0C07-6FBB-2BDD-9BDB4F3916CF}"/>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Hydrophobic effect</a:t>
            </a:r>
          </a:p>
        </p:txBody>
      </p:sp>
      <p:sp>
        <p:nvSpPr>
          <p:cNvPr id="2" name="TextBox 1">
            <a:extLst>
              <a:ext uri="{FF2B5EF4-FFF2-40B4-BE49-F238E27FC236}">
                <a16:creationId xmlns:a16="http://schemas.microsoft.com/office/drawing/2014/main" id="{FAB876C0-6224-5C39-F90C-131E0593CE9C}"/>
              </a:ext>
            </a:extLst>
          </p:cNvPr>
          <p:cNvSpPr txBox="1"/>
          <p:nvPr/>
        </p:nvSpPr>
        <p:spPr>
          <a:xfrm>
            <a:off x="454172" y="1326183"/>
            <a:ext cx="5122033" cy="3477875"/>
          </a:xfrm>
          <a:prstGeom prst="rect">
            <a:avLst/>
          </a:prstGeom>
          <a:noFill/>
        </p:spPr>
        <p:txBody>
          <a:bodyPr wrap="square" rtlCol="0">
            <a:spAutoFit/>
          </a:bodyPr>
          <a:lstStyle/>
          <a:p>
            <a:pPr marL="285750" indent="-285750">
              <a:buFont typeface="Arial" panose="020B0604020202020204" pitchFamily="34" charset="0"/>
              <a:buChar char="•"/>
            </a:pPr>
            <a:r>
              <a:rPr lang="en-GB" sz="2000" dirty="0"/>
              <a:t>The principle factor in determining </a:t>
            </a:r>
            <a:r>
              <a:rPr lang="en-GB" sz="2000" dirty="0" err="1"/>
              <a:t>cmc</a:t>
            </a:r>
            <a:r>
              <a:rPr lang="en-GB" sz="2000" dirty="0"/>
              <a:t> is the length of the hydrocarbon tail. </a:t>
            </a:r>
          </a:p>
          <a:p>
            <a:pPr marL="285750" indent="-285750">
              <a:buFont typeface="Arial" panose="020B0604020202020204" pitchFamily="34" charset="0"/>
              <a:buChar char="•"/>
            </a:pPr>
            <a:r>
              <a:rPr lang="en-GB" sz="2000" dirty="0"/>
              <a:t>A second factor in determining </a:t>
            </a:r>
            <a:r>
              <a:rPr lang="en-GB" sz="2000" dirty="0" err="1"/>
              <a:t>cmc</a:t>
            </a:r>
            <a:r>
              <a:rPr lang="en-GB" sz="2000" dirty="0"/>
              <a:t> is the valency of the headgroup charge. </a:t>
            </a:r>
          </a:p>
          <a:p>
            <a:pPr marL="285750" indent="-285750">
              <a:buFont typeface="Arial" panose="020B0604020202020204" pitchFamily="34" charset="0"/>
              <a:buChar char="•"/>
            </a:pPr>
            <a:r>
              <a:rPr lang="en-GB" sz="2000" dirty="0"/>
              <a:t>The third factor relevant to the </a:t>
            </a:r>
            <a:r>
              <a:rPr lang="en-GB" sz="2000" dirty="0" err="1"/>
              <a:t>cmc</a:t>
            </a:r>
            <a:r>
              <a:rPr lang="en-GB" sz="2000" dirty="0"/>
              <a:t> is the valency of the counterions.</a:t>
            </a:r>
          </a:p>
          <a:p>
            <a:pPr marL="285750" indent="-285750">
              <a:buFont typeface="Arial" panose="020B0604020202020204" pitchFamily="34" charset="0"/>
              <a:buChar char="•"/>
            </a:pPr>
            <a:r>
              <a:rPr lang="en-GB" sz="2000" dirty="0"/>
              <a:t>A major determinant of </a:t>
            </a:r>
            <a:r>
              <a:rPr lang="en-GB" sz="2000" dirty="0" err="1"/>
              <a:t>cmc</a:t>
            </a:r>
            <a:r>
              <a:rPr lang="en-GB" sz="2000" dirty="0"/>
              <a:t> is the area of the hydrophobic tail exposed to water. This leads to a logarithmic relationship between the </a:t>
            </a:r>
            <a:r>
              <a:rPr lang="en-GB" sz="2000" dirty="0" err="1"/>
              <a:t>cmc</a:t>
            </a:r>
            <a:r>
              <a:rPr lang="en-GB" sz="2000" dirty="0"/>
              <a:t> and the alkyl chain length for linear surfactants (N)</a:t>
            </a:r>
          </a:p>
        </p:txBody>
      </p:sp>
      <p:pic>
        <p:nvPicPr>
          <p:cNvPr id="5" name="Picture 4">
            <a:extLst>
              <a:ext uri="{FF2B5EF4-FFF2-40B4-BE49-F238E27FC236}">
                <a16:creationId xmlns:a16="http://schemas.microsoft.com/office/drawing/2014/main" id="{B9464B9F-FA8B-4B74-3CAA-EBAF626321F6}"/>
              </a:ext>
            </a:extLst>
          </p:cNvPr>
          <p:cNvPicPr/>
          <p:nvPr/>
        </p:nvPicPr>
        <p:blipFill>
          <a:blip r:embed="rId2"/>
          <a:stretch>
            <a:fillRect/>
          </a:stretch>
        </p:blipFill>
        <p:spPr>
          <a:xfrm>
            <a:off x="5891118" y="1094736"/>
            <a:ext cx="1884270" cy="5192712"/>
          </a:xfrm>
          <a:prstGeom prst="rect">
            <a:avLst/>
          </a:prstGeom>
        </p:spPr>
      </p:pic>
      <p:sp>
        <p:nvSpPr>
          <p:cNvPr id="6" name="TextBox 5">
            <a:extLst>
              <a:ext uri="{FF2B5EF4-FFF2-40B4-BE49-F238E27FC236}">
                <a16:creationId xmlns:a16="http://schemas.microsoft.com/office/drawing/2014/main" id="{50AC4303-8739-1F2D-A47F-20ED63C057B3}"/>
              </a:ext>
            </a:extLst>
          </p:cNvPr>
          <p:cNvSpPr txBox="1"/>
          <p:nvPr/>
        </p:nvSpPr>
        <p:spPr>
          <a:xfrm>
            <a:off x="7775388" y="2341845"/>
            <a:ext cx="484450" cy="246221"/>
          </a:xfrm>
          <a:prstGeom prst="rect">
            <a:avLst/>
          </a:prstGeom>
          <a:noFill/>
        </p:spPr>
        <p:txBody>
          <a:bodyPr wrap="square" rtlCol="0">
            <a:spAutoFit/>
          </a:bodyPr>
          <a:lstStyle/>
          <a:p>
            <a:r>
              <a:rPr lang="en-GB" sz="1000" dirty="0"/>
              <a:t>Na+</a:t>
            </a:r>
          </a:p>
        </p:txBody>
      </p:sp>
      <p:sp>
        <p:nvSpPr>
          <p:cNvPr id="8" name="TextBox 7">
            <a:extLst>
              <a:ext uri="{FF2B5EF4-FFF2-40B4-BE49-F238E27FC236}">
                <a16:creationId xmlns:a16="http://schemas.microsoft.com/office/drawing/2014/main" id="{20FA9464-E43B-2C3E-65AE-E3B74B611C3F}"/>
              </a:ext>
            </a:extLst>
          </p:cNvPr>
          <p:cNvSpPr txBox="1"/>
          <p:nvPr/>
        </p:nvSpPr>
        <p:spPr>
          <a:xfrm>
            <a:off x="7605851" y="930428"/>
            <a:ext cx="484450" cy="246221"/>
          </a:xfrm>
          <a:prstGeom prst="rect">
            <a:avLst/>
          </a:prstGeom>
          <a:noFill/>
        </p:spPr>
        <p:txBody>
          <a:bodyPr wrap="square" rtlCol="0">
            <a:spAutoFit/>
          </a:bodyPr>
          <a:lstStyle/>
          <a:p>
            <a:r>
              <a:rPr lang="en-GB" sz="1000" dirty="0"/>
              <a:t>Cl-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210199D-6060-8858-DFD1-0463A424FCE1}"/>
                  </a:ext>
                </a:extLst>
              </p:cNvPr>
              <p:cNvSpPr txBox="1"/>
              <p:nvPr/>
            </p:nvSpPr>
            <p:spPr>
              <a:xfrm>
                <a:off x="1368612" y="5180068"/>
                <a:ext cx="264258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GB" b="0" i="0" smtClean="0">
                          <a:latin typeface="Cambria Math" panose="02040503050406030204" pitchFamily="18" charset="0"/>
                        </a:rPr>
                        <m:t>log</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𝑐</m:t>
                              </m:r>
                            </m:e>
                            <m:sub>
                              <m:r>
                                <m:rPr>
                                  <m:sty m:val="p"/>
                                </m:rPr>
                                <a:rPr lang="en-GB" b="0" i="0" smtClean="0">
                                  <a:latin typeface="Cambria Math" panose="02040503050406030204" pitchFamily="18" charset="0"/>
                                </a:rPr>
                                <m:t>cmc</m:t>
                              </m:r>
                            </m:sub>
                          </m:sSub>
                        </m:e>
                      </m:d>
                      <m:r>
                        <a:rPr lang="en-GB" b="0" i="1" smtClean="0">
                          <a:latin typeface="Cambria Math" panose="02040503050406030204" pitchFamily="18" charset="0"/>
                        </a:rPr>
                        <m:t>=</m:t>
                      </m:r>
                      <m:r>
                        <a:rPr lang="en-GB" b="0" i="1" smtClean="0">
                          <a:latin typeface="Cambria Math" panose="02040503050406030204" pitchFamily="18" charset="0"/>
                        </a:rPr>
                        <m:t>𝑎𝑁</m:t>
                      </m:r>
                      <m:r>
                        <a:rPr lang="en-GB" b="0" i="1" smtClean="0">
                          <a:latin typeface="Cambria Math" panose="02040503050406030204" pitchFamily="18" charset="0"/>
                        </a:rPr>
                        <m:t>+</m:t>
                      </m:r>
                      <m:r>
                        <a:rPr lang="en-GB" b="0" i="1" smtClean="0">
                          <a:latin typeface="Cambria Math" panose="02040503050406030204" pitchFamily="18" charset="0"/>
                        </a:rPr>
                        <m:t>𝑏</m:t>
                      </m:r>
                    </m:oMath>
                  </m:oMathPara>
                </a14:m>
                <a:endParaRPr lang="en-GB" dirty="0"/>
              </a:p>
            </p:txBody>
          </p:sp>
        </mc:Choice>
        <mc:Fallback xmlns="">
          <p:sp>
            <p:nvSpPr>
              <p:cNvPr id="9" name="TextBox 8">
                <a:extLst>
                  <a:ext uri="{FF2B5EF4-FFF2-40B4-BE49-F238E27FC236}">
                    <a16:creationId xmlns:a16="http://schemas.microsoft.com/office/drawing/2014/main" id="{C210199D-6060-8858-DFD1-0463A424FCE1}"/>
                  </a:ext>
                </a:extLst>
              </p:cNvPr>
              <p:cNvSpPr txBox="1">
                <a:spLocks noRot="1" noChangeAspect="1" noMove="1" noResize="1" noEditPoints="1" noAdjustHandles="1" noChangeArrowheads="1" noChangeShapeType="1" noTextEdit="1"/>
              </p:cNvSpPr>
              <p:nvPr/>
            </p:nvSpPr>
            <p:spPr>
              <a:xfrm>
                <a:off x="1368612" y="5180068"/>
                <a:ext cx="2642582" cy="369332"/>
              </a:xfrm>
              <a:prstGeom prst="rect">
                <a:avLst/>
              </a:prstGeom>
              <a:blipFill>
                <a:blip r:embed="rId3"/>
                <a:stretch>
                  <a:fillRect l="-4327" r="-2404" b="-34483"/>
                </a:stretch>
              </a:blipFill>
            </p:spPr>
            <p:txBody>
              <a:bodyPr/>
              <a:lstStyle/>
              <a:p>
                <a:r>
                  <a:rPr lang="en-US">
                    <a:noFill/>
                  </a:rPr>
                  <a:t> </a:t>
                </a:r>
              </a:p>
            </p:txBody>
          </p:sp>
        </mc:Fallback>
      </mc:AlternateContent>
    </p:spTree>
    <p:extLst>
      <p:ext uri="{BB962C8B-B14F-4D97-AF65-F5344CB8AC3E}">
        <p14:creationId xmlns:p14="http://schemas.microsoft.com/office/powerpoint/2010/main" val="2755216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3DD74B-5F10-E902-1A7F-858184B2BB2E}"/>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CMC and micelles</a:t>
            </a:r>
          </a:p>
        </p:txBody>
      </p:sp>
      <p:pic>
        <p:nvPicPr>
          <p:cNvPr id="4" name="Picture 3">
            <a:extLst>
              <a:ext uri="{FF2B5EF4-FFF2-40B4-BE49-F238E27FC236}">
                <a16:creationId xmlns:a16="http://schemas.microsoft.com/office/drawing/2014/main" id="{613C2080-3503-1BFB-0EE6-F8C557F09B8E}"/>
              </a:ext>
            </a:extLst>
          </p:cNvPr>
          <p:cNvPicPr>
            <a:picLocks noChangeAspect="1"/>
          </p:cNvPicPr>
          <p:nvPr/>
        </p:nvPicPr>
        <p:blipFill>
          <a:blip r:embed="rId2"/>
          <a:stretch>
            <a:fillRect/>
          </a:stretch>
        </p:blipFill>
        <p:spPr>
          <a:xfrm>
            <a:off x="841732" y="1164842"/>
            <a:ext cx="7720927" cy="2730432"/>
          </a:xfrm>
          <a:prstGeom prst="rect">
            <a:avLst/>
          </a:prstGeom>
        </p:spPr>
      </p:pic>
      <p:sp>
        <p:nvSpPr>
          <p:cNvPr id="5" name="TextBox 4">
            <a:extLst>
              <a:ext uri="{FF2B5EF4-FFF2-40B4-BE49-F238E27FC236}">
                <a16:creationId xmlns:a16="http://schemas.microsoft.com/office/drawing/2014/main" id="{F80C5E7B-323A-197C-B069-CA955356359B}"/>
              </a:ext>
            </a:extLst>
          </p:cNvPr>
          <p:cNvSpPr txBox="1"/>
          <p:nvPr/>
        </p:nvSpPr>
        <p:spPr>
          <a:xfrm>
            <a:off x="738787" y="4087550"/>
            <a:ext cx="8108688" cy="2308324"/>
          </a:xfrm>
          <a:prstGeom prst="rect">
            <a:avLst/>
          </a:prstGeom>
          <a:noFill/>
        </p:spPr>
        <p:txBody>
          <a:bodyPr wrap="square" rtlCol="0">
            <a:spAutoFit/>
          </a:bodyPr>
          <a:lstStyle/>
          <a:p>
            <a:pPr marL="285750" indent="-285750">
              <a:buFont typeface="Arial" panose="020B0604020202020204" pitchFamily="34" charset="0"/>
              <a:buChar char="•"/>
            </a:pPr>
            <a:r>
              <a:rPr lang="en-GB" dirty="0"/>
              <a:t>In water the </a:t>
            </a:r>
            <a:r>
              <a:rPr lang="en-GB" dirty="0" err="1"/>
              <a:t>cmc</a:t>
            </a:r>
            <a:r>
              <a:rPr lang="en-GB" dirty="0"/>
              <a:t> of ionic surfactants is approximately halved by the addition of each CH2 group up to ca. C16, C18 </a:t>
            </a:r>
          </a:p>
          <a:p>
            <a:pPr marL="285750" indent="-285750">
              <a:buFont typeface="Arial" panose="020B0604020202020204" pitchFamily="34" charset="0"/>
              <a:buChar char="•"/>
            </a:pPr>
            <a:r>
              <a:rPr lang="en-GB" dirty="0"/>
              <a:t>Above C16/C18 the </a:t>
            </a:r>
            <a:r>
              <a:rPr lang="en-GB" dirty="0" err="1"/>
              <a:t>cmc</a:t>
            </a:r>
            <a:r>
              <a:rPr lang="en-GB" dirty="0"/>
              <a:t> tends to be constant – probably due to coiling of the </a:t>
            </a:r>
            <a:r>
              <a:rPr lang="en-GB" dirty="0" err="1"/>
              <a:t>the</a:t>
            </a:r>
            <a:r>
              <a:rPr lang="en-GB" dirty="0"/>
              <a:t> long hydrocarbon tails </a:t>
            </a:r>
          </a:p>
          <a:p>
            <a:pPr marL="285750" indent="-285750">
              <a:buFont typeface="Arial" panose="020B0604020202020204" pitchFamily="34" charset="0"/>
              <a:buChar char="•"/>
            </a:pPr>
            <a:r>
              <a:rPr lang="en-GB" dirty="0"/>
              <a:t>Affect is more pronounced for non-ionic surfactants</a:t>
            </a:r>
          </a:p>
        </p:txBody>
      </p:sp>
    </p:spTree>
    <p:extLst>
      <p:ext uri="{BB962C8B-B14F-4D97-AF65-F5344CB8AC3E}">
        <p14:creationId xmlns:p14="http://schemas.microsoft.com/office/powerpoint/2010/main" val="42691908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7F83E-06EA-1A15-476A-6405C1C7D705}"/>
              </a:ext>
            </a:extLst>
          </p:cNvPr>
          <p:cNvSpPr txBox="1"/>
          <p:nvPr/>
        </p:nvSpPr>
        <p:spPr>
          <a:xfrm>
            <a:off x="545007" y="1374628"/>
            <a:ext cx="7938929" cy="1631216"/>
          </a:xfrm>
          <a:prstGeom prst="rect">
            <a:avLst/>
          </a:prstGeom>
          <a:noFill/>
        </p:spPr>
        <p:txBody>
          <a:bodyPr wrap="square" rtlCol="0">
            <a:spAutoFit/>
          </a:bodyPr>
          <a:lstStyle/>
          <a:p>
            <a:r>
              <a:rPr lang="en-GB" sz="2000" dirty="0"/>
              <a:t>A series of other factors also affect the value of the </a:t>
            </a:r>
            <a:r>
              <a:rPr lang="en-GB" sz="2000" dirty="0" err="1"/>
              <a:t>cmc</a:t>
            </a:r>
            <a:r>
              <a:rPr lang="en-GB" sz="2000" dirty="0"/>
              <a:t> </a:t>
            </a:r>
          </a:p>
          <a:p>
            <a:pPr marL="285750" indent="-285750">
              <a:buFont typeface="Arial" panose="020B0604020202020204" pitchFamily="34" charset="0"/>
              <a:buChar char="•"/>
            </a:pPr>
            <a:r>
              <a:rPr lang="en-GB" sz="2000" dirty="0"/>
              <a:t>Temperature – micelle formation is often opposed by thermal agitation (usually exothermic) </a:t>
            </a:r>
          </a:p>
          <a:p>
            <a:pPr marL="285750" indent="-285750">
              <a:buFont typeface="Arial" panose="020B0604020202020204" pitchFamily="34" charset="0"/>
              <a:buChar char="•"/>
            </a:pPr>
            <a:r>
              <a:rPr lang="en-GB" sz="2000" dirty="0"/>
              <a:t>Addition of simple electrolytes (ionic micelles) – decreases </a:t>
            </a:r>
            <a:r>
              <a:rPr lang="en-GB" sz="2000" dirty="0" err="1"/>
              <a:t>cmc</a:t>
            </a:r>
            <a:r>
              <a:rPr lang="en-GB" sz="2000" dirty="0"/>
              <a:t> </a:t>
            </a:r>
          </a:p>
          <a:p>
            <a:pPr marL="285750" indent="-285750">
              <a:buFont typeface="Arial" panose="020B0604020202020204" pitchFamily="34" charset="0"/>
              <a:buChar char="•"/>
            </a:pPr>
            <a:r>
              <a:rPr lang="en-GB" sz="2000" dirty="0"/>
              <a:t>Addition of organic molecules – can increase or decrease </a:t>
            </a:r>
            <a:r>
              <a:rPr lang="en-GB" sz="2000" dirty="0" err="1"/>
              <a:t>cmc</a:t>
            </a:r>
            <a:endParaRPr lang="en-GB" sz="2000" dirty="0"/>
          </a:p>
        </p:txBody>
      </p:sp>
      <p:pic>
        <p:nvPicPr>
          <p:cNvPr id="5" name="Picture 4">
            <a:extLst>
              <a:ext uri="{FF2B5EF4-FFF2-40B4-BE49-F238E27FC236}">
                <a16:creationId xmlns:a16="http://schemas.microsoft.com/office/drawing/2014/main" id="{CC817B40-1CCB-4521-9C74-A0199A8645FC}"/>
              </a:ext>
            </a:extLst>
          </p:cNvPr>
          <p:cNvPicPr>
            <a:picLocks noChangeAspect="1"/>
          </p:cNvPicPr>
          <p:nvPr/>
        </p:nvPicPr>
        <p:blipFill>
          <a:blip r:embed="rId2"/>
          <a:stretch>
            <a:fillRect/>
          </a:stretch>
        </p:blipFill>
        <p:spPr>
          <a:xfrm>
            <a:off x="1116759" y="3005844"/>
            <a:ext cx="6758082" cy="2459690"/>
          </a:xfrm>
          <a:prstGeom prst="rect">
            <a:avLst/>
          </a:prstGeom>
        </p:spPr>
      </p:pic>
      <p:sp>
        <p:nvSpPr>
          <p:cNvPr id="6" name="TextBox 5">
            <a:extLst>
              <a:ext uri="{FF2B5EF4-FFF2-40B4-BE49-F238E27FC236}">
                <a16:creationId xmlns:a16="http://schemas.microsoft.com/office/drawing/2014/main" id="{95F601B5-FAF9-7203-F6E9-B8A2330D8A04}"/>
              </a:ext>
            </a:extLst>
          </p:cNvPr>
          <p:cNvSpPr txBox="1"/>
          <p:nvPr/>
        </p:nvSpPr>
        <p:spPr>
          <a:xfrm>
            <a:off x="545007" y="5366147"/>
            <a:ext cx="8320434" cy="1015663"/>
          </a:xfrm>
          <a:prstGeom prst="rect">
            <a:avLst/>
          </a:prstGeom>
          <a:noFill/>
        </p:spPr>
        <p:txBody>
          <a:bodyPr wrap="square" rtlCol="0">
            <a:spAutoFit/>
          </a:bodyPr>
          <a:lstStyle/>
          <a:p>
            <a:pPr marL="285750" indent="-285750">
              <a:buFont typeface="Arial" panose="020B0604020202020204" pitchFamily="34" charset="0"/>
              <a:buChar char="•"/>
            </a:pPr>
            <a:r>
              <a:rPr lang="en-GB" sz="2000" dirty="0"/>
              <a:t>For ionic surfactants an increase in electrolyte concentration reduces repulsion between charged groups by screening </a:t>
            </a:r>
          </a:p>
          <a:p>
            <a:pPr marL="285750" indent="-285750">
              <a:buFont typeface="Arial" panose="020B0604020202020204" pitchFamily="34" charset="0"/>
              <a:buChar char="•"/>
            </a:pPr>
            <a:r>
              <a:rPr lang="en-GB" sz="2000" dirty="0"/>
              <a:t>Micelle formation is favoured and the </a:t>
            </a:r>
            <a:r>
              <a:rPr lang="en-GB" sz="2000" dirty="0" err="1"/>
              <a:t>cmc</a:t>
            </a:r>
            <a:r>
              <a:rPr lang="en-GB" sz="2000" dirty="0"/>
              <a:t> is reduced</a:t>
            </a:r>
          </a:p>
        </p:txBody>
      </p:sp>
      <p:sp>
        <p:nvSpPr>
          <p:cNvPr id="8" name="TextBox 7">
            <a:extLst>
              <a:ext uri="{FF2B5EF4-FFF2-40B4-BE49-F238E27FC236}">
                <a16:creationId xmlns:a16="http://schemas.microsoft.com/office/drawing/2014/main" id="{68F71EA1-4018-A31B-E6BB-3F8F3067A58F}"/>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CMC and micelles</a:t>
            </a:r>
          </a:p>
        </p:txBody>
      </p:sp>
    </p:spTree>
    <p:extLst>
      <p:ext uri="{BB962C8B-B14F-4D97-AF65-F5344CB8AC3E}">
        <p14:creationId xmlns:p14="http://schemas.microsoft.com/office/powerpoint/2010/main" val="18452203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568848-73F1-9069-AA59-8EA9422E35E9}"/>
              </a:ext>
            </a:extLst>
          </p:cNvPr>
          <p:cNvSpPr txBox="1"/>
          <p:nvPr/>
        </p:nvSpPr>
        <p:spPr>
          <a:xfrm>
            <a:off x="738787" y="1338294"/>
            <a:ext cx="7575592" cy="2862322"/>
          </a:xfrm>
          <a:prstGeom prst="rect">
            <a:avLst/>
          </a:prstGeom>
          <a:noFill/>
        </p:spPr>
        <p:txBody>
          <a:bodyPr wrap="square" rtlCol="0">
            <a:spAutoFit/>
          </a:bodyPr>
          <a:lstStyle/>
          <a:p>
            <a:r>
              <a:rPr lang="en-GB" sz="2000" dirty="0"/>
              <a:t>Addition of organic molecules can increase or decrease </a:t>
            </a:r>
            <a:r>
              <a:rPr lang="en-GB" sz="2000" dirty="0" err="1"/>
              <a:t>cmc</a:t>
            </a:r>
            <a:r>
              <a:rPr lang="en-GB" sz="2000" dirty="0"/>
              <a:t>!</a:t>
            </a:r>
          </a:p>
          <a:p>
            <a:pPr marL="285750" indent="-285750">
              <a:buFont typeface="Arial" panose="020B0604020202020204" pitchFamily="34" charset="0"/>
              <a:buChar char="•"/>
            </a:pPr>
            <a:r>
              <a:rPr lang="en-GB" sz="2000" dirty="0"/>
              <a:t>Addition of short chain alcohols </a:t>
            </a:r>
            <a:r>
              <a:rPr lang="en-GB" sz="2000" dirty="0">
                <a:sym typeface="Wingdings" panose="05000000000000000000" pitchFamily="2" charset="2"/>
              </a:rPr>
              <a:t> </a:t>
            </a:r>
            <a:r>
              <a:rPr lang="en-GB" sz="2000" dirty="0"/>
              <a:t>Become incorporated into outer region of micelle, reduce electrostatic repulsions and steric hindrance and lower </a:t>
            </a:r>
            <a:r>
              <a:rPr lang="en-GB" sz="2000" dirty="0" err="1"/>
              <a:t>cmc</a:t>
            </a:r>
            <a:endParaRPr lang="en-GB" sz="2000" dirty="0"/>
          </a:p>
          <a:p>
            <a:pPr marL="285750" indent="-285750">
              <a:buFont typeface="Arial" panose="020B0604020202020204" pitchFamily="34" charset="0"/>
              <a:buChar char="•"/>
            </a:pPr>
            <a:r>
              <a:rPr lang="en-GB" sz="2000" dirty="0"/>
              <a:t>Addition of ‘sugars’ </a:t>
            </a:r>
            <a:r>
              <a:rPr lang="en-GB" sz="2000" dirty="0">
                <a:sym typeface="Wingdings" panose="05000000000000000000" pitchFamily="2" charset="2"/>
              </a:rPr>
              <a:t> </a:t>
            </a:r>
            <a:r>
              <a:rPr lang="en-GB" sz="2000" dirty="0"/>
              <a:t>‘sugars’ are structure makers – they promote structuring of water and cause a decrease in </a:t>
            </a:r>
            <a:r>
              <a:rPr lang="en-GB" sz="2000" dirty="0" err="1"/>
              <a:t>cmc</a:t>
            </a:r>
            <a:r>
              <a:rPr lang="en-GB" sz="2000" dirty="0"/>
              <a:t> </a:t>
            </a:r>
          </a:p>
          <a:p>
            <a:pPr marL="285750" indent="-285750">
              <a:buFont typeface="Arial" panose="020B0604020202020204" pitchFamily="34" charset="0"/>
              <a:buChar char="•"/>
            </a:pPr>
            <a:r>
              <a:rPr lang="en-GB" sz="2000" dirty="0"/>
              <a:t>‘urea’ ‘formaldehyde’ </a:t>
            </a:r>
            <a:r>
              <a:rPr lang="en-GB" sz="2000" dirty="0">
                <a:sym typeface="Wingdings" panose="05000000000000000000" pitchFamily="2" charset="2"/>
              </a:rPr>
              <a:t> </a:t>
            </a:r>
            <a:r>
              <a:rPr lang="en-GB" sz="2000" dirty="0"/>
              <a:t>Water structure-breakers so lead to an increase in </a:t>
            </a:r>
            <a:r>
              <a:rPr lang="en-GB" sz="2000" dirty="0" err="1"/>
              <a:t>cmc</a:t>
            </a:r>
            <a:endParaRPr lang="en-GB" sz="2000" dirty="0"/>
          </a:p>
          <a:p>
            <a:pPr marL="285750" indent="-285750">
              <a:buFont typeface="Arial" panose="020B0604020202020204" pitchFamily="34" charset="0"/>
              <a:buChar char="•"/>
            </a:pPr>
            <a:r>
              <a:rPr lang="en-GB" sz="2000" dirty="0"/>
              <a:t>What’s the difference between the above 2?</a:t>
            </a:r>
          </a:p>
        </p:txBody>
      </p:sp>
      <p:sp>
        <p:nvSpPr>
          <p:cNvPr id="7" name="TextBox 6">
            <a:extLst>
              <a:ext uri="{FF2B5EF4-FFF2-40B4-BE49-F238E27FC236}">
                <a16:creationId xmlns:a16="http://schemas.microsoft.com/office/drawing/2014/main" id="{1B7E0D9B-E4DC-6747-5834-03ED49E60D78}"/>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CMC and micelles</a:t>
            </a:r>
          </a:p>
        </p:txBody>
      </p:sp>
      <p:pic>
        <p:nvPicPr>
          <p:cNvPr id="2" name="Picture 1">
            <a:extLst>
              <a:ext uri="{FF2B5EF4-FFF2-40B4-BE49-F238E27FC236}">
                <a16:creationId xmlns:a16="http://schemas.microsoft.com/office/drawing/2014/main" id="{E5B73599-31A5-6A9B-167D-065BE9FEBABC}"/>
              </a:ext>
            </a:extLst>
          </p:cNvPr>
          <p:cNvPicPr>
            <a:picLocks noChangeAspect="1"/>
          </p:cNvPicPr>
          <p:nvPr/>
        </p:nvPicPr>
        <p:blipFill>
          <a:blip r:embed="rId2"/>
          <a:stretch>
            <a:fillRect/>
          </a:stretch>
        </p:blipFill>
        <p:spPr>
          <a:xfrm>
            <a:off x="1699392" y="4200616"/>
            <a:ext cx="5745215" cy="2367283"/>
          </a:xfrm>
          <a:prstGeom prst="rect">
            <a:avLst/>
          </a:prstGeom>
        </p:spPr>
      </p:pic>
      <p:sp>
        <p:nvSpPr>
          <p:cNvPr id="3" name="TextBox 2">
            <a:extLst>
              <a:ext uri="{FF2B5EF4-FFF2-40B4-BE49-F238E27FC236}">
                <a16:creationId xmlns:a16="http://schemas.microsoft.com/office/drawing/2014/main" id="{172C7283-916A-2F43-B6FD-90889AD75202}"/>
              </a:ext>
            </a:extLst>
          </p:cNvPr>
          <p:cNvSpPr txBox="1"/>
          <p:nvPr/>
        </p:nvSpPr>
        <p:spPr>
          <a:xfrm>
            <a:off x="881590" y="6581001"/>
            <a:ext cx="7661777" cy="276999"/>
          </a:xfrm>
          <a:prstGeom prst="rect">
            <a:avLst/>
          </a:prstGeom>
          <a:noFill/>
        </p:spPr>
        <p:txBody>
          <a:bodyPr wrap="none" rtlCol="0">
            <a:spAutoFit/>
          </a:bodyPr>
          <a:lstStyle/>
          <a:p>
            <a:r>
              <a:rPr lang="en-GB" sz="1200" b="0" i="0" u="none" strike="noStrike" dirty="0" err="1">
                <a:solidFill>
                  <a:srgbClr val="222222"/>
                </a:solidFill>
                <a:effectLst/>
                <a:latin typeface="Arial" panose="020B0604020202020204" pitchFamily="34" charset="0"/>
              </a:rPr>
              <a:t>Broecker</a:t>
            </a:r>
            <a:r>
              <a:rPr lang="en-GB" sz="1200" b="0" i="0" u="none" strike="noStrike" dirty="0">
                <a:solidFill>
                  <a:srgbClr val="222222"/>
                </a:solidFill>
                <a:effectLst/>
                <a:latin typeface="Arial" panose="020B0604020202020204" pitchFamily="34" charset="0"/>
              </a:rPr>
              <a:t>, J., &amp; Keller, S. (2013). Impact of urea on detergent micelle properties. </a:t>
            </a:r>
            <a:r>
              <a:rPr lang="en-GB" sz="1200" b="0" i="1" u="none" strike="noStrike" dirty="0">
                <a:solidFill>
                  <a:srgbClr val="222222"/>
                </a:solidFill>
                <a:effectLst/>
                <a:latin typeface="Arial" panose="020B0604020202020204" pitchFamily="34" charset="0"/>
              </a:rPr>
              <a:t>Langmuir</a:t>
            </a:r>
            <a:r>
              <a:rPr lang="en-GB" sz="1200" b="0" i="0" u="none" strike="noStrike" dirty="0">
                <a:solidFill>
                  <a:srgbClr val="222222"/>
                </a:solidFill>
                <a:effectLst/>
                <a:latin typeface="Arial" panose="020B0604020202020204" pitchFamily="34" charset="0"/>
              </a:rPr>
              <a:t>, </a:t>
            </a:r>
            <a:r>
              <a:rPr lang="en-GB" sz="1200" b="0" i="1" u="none" strike="noStrike" dirty="0">
                <a:solidFill>
                  <a:srgbClr val="222222"/>
                </a:solidFill>
                <a:effectLst/>
                <a:latin typeface="Arial" panose="020B0604020202020204" pitchFamily="34" charset="0"/>
              </a:rPr>
              <a:t>29</a:t>
            </a:r>
            <a:r>
              <a:rPr lang="en-GB" sz="1200" b="0" i="0" u="none" strike="noStrike" dirty="0">
                <a:solidFill>
                  <a:srgbClr val="222222"/>
                </a:solidFill>
                <a:effectLst/>
                <a:latin typeface="Arial" panose="020B0604020202020204" pitchFamily="34" charset="0"/>
              </a:rPr>
              <a:t>(27), 8502-8510.</a:t>
            </a:r>
            <a:endParaRPr lang="en-US" sz="1200" dirty="0"/>
          </a:p>
        </p:txBody>
      </p:sp>
    </p:spTree>
    <p:extLst>
      <p:ext uri="{BB962C8B-B14F-4D97-AF65-F5344CB8AC3E}">
        <p14:creationId xmlns:p14="http://schemas.microsoft.com/office/powerpoint/2010/main" val="4155744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E77872-F7AA-AE84-5BDC-FD519EAAF986}"/>
              </a:ext>
            </a:extLst>
          </p:cNvPr>
          <p:cNvSpPr txBox="1"/>
          <p:nvPr/>
        </p:nvSpPr>
        <p:spPr>
          <a:xfrm>
            <a:off x="746575" y="1583795"/>
            <a:ext cx="8060042" cy="1631216"/>
          </a:xfrm>
          <a:prstGeom prst="rect">
            <a:avLst/>
          </a:prstGeom>
          <a:noFill/>
        </p:spPr>
        <p:txBody>
          <a:bodyPr wrap="square" rtlCol="0">
            <a:spAutoFit/>
          </a:bodyPr>
          <a:lstStyle/>
          <a:p>
            <a:r>
              <a:rPr lang="en-GB" sz="2000" dirty="0"/>
              <a:t>Micellar size is dependent on nature (shape, size etc.) of molecules </a:t>
            </a:r>
          </a:p>
          <a:p>
            <a:pPr marL="285750" indent="-285750">
              <a:buFont typeface="Arial" panose="020B0604020202020204" pitchFamily="34" charset="0"/>
              <a:buChar char="•"/>
            </a:pPr>
            <a:r>
              <a:rPr lang="en-GB" sz="2000" dirty="0"/>
              <a:t>Non-ionic micelles (detergents) contain ~ 1000 molecules </a:t>
            </a:r>
          </a:p>
          <a:p>
            <a:pPr marL="285750" indent="-285750">
              <a:buFont typeface="Arial" panose="020B0604020202020204" pitchFamily="34" charset="0"/>
              <a:buChar char="•"/>
            </a:pPr>
            <a:r>
              <a:rPr lang="en-GB" sz="2000" dirty="0"/>
              <a:t>Ionic micelles contain fewer molecules (ca 10- 100) due to electrostatic repulsion</a:t>
            </a:r>
          </a:p>
          <a:p>
            <a:pPr marL="285750" indent="-285750">
              <a:buFont typeface="Arial" panose="020B0604020202020204" pitchFamily="34" charset="0"/>
              <a:buChar char="•"/>
            </a:pPr>
            <a:r>
              <a:rPr lang="en-GB" sz="2000" dirty="0"/>
              <a:t>Size depends approximately on length of hydrophobic tail</a:t>
            </a:r>
          </a:p>
        </p:txBody>
      </p:sp>
      <p:sp>
        <p:nvSpPr>
          <p:cNvPr id="7" name="TextBox 6">
            <a:extLst>
              <a:ext uri="{FF2B5EF4-FFF2-40B4-BE49-F238E27FC236}">
                <a16:creationId xmlns:a16="http://schemas.microsoft.com/office/drawing/2014/main" id="{1B7E0D9B-E4DC-6747-5834-03ED49E60D78}"/>
              </a:ext>
            </a:extLst>
          </p:cNvPr>
          <p:cNvSpPr txBox="1">
            <a:spLocks noChangeArrowheads="1"/>
          </p:cNvSpPr>
          <p:nvPr/>
        </p:nvSpPr>
        <p:spPr bwMode="auto">
          <a:xfrm>
            <a:off x="304800" y="381004"/>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dirty="0">
                <a:solidFill>
                  <a:srgbClr val="000000"/>
                </a:solidFill>
              </a:rPr>
              <a:t>CMC and micelles</a:t>
            </a:r>
          </a:p>
        </p:txBody>
      </p:sp>
      <p:pic>
        <p:nvPicPr>
          <p:cNvPr id="3" name="Picture 2">
            <a:extLst>
              <a:ext uri="{FF2B5EF4-FFF2-40B4-BE49-F238E27FC236}">
                <a16:creationId xmlns:a16="http://schemas.microsoft.com/office/drawing/2014/main" id="{633F452A-A5E3-BDB3-F1E4-FFB4DAA1C2FE}"/>
              </a:ext>
            </a:extLst>
          </p:cNvPr>
          <p:cNvPicPr>
            <a:picLocks noChangeAspect="1"/>
          </p:cNvPicPr>
          <p:nvPr/>
        </p:nvPicPr>
        <p:blipFill>
          <a:blip r:embed="rId2"/>
          <a:stretch>
            <a:fillRect/>
          </a:stretch>
        </p:blipFill>
        <p:spPr>
          <a:xfrm>
            <a:off x="881590" y="3445244"/>
            <a:ext cx="4910460" cy="2295492"/>
          </a:xfrm>
          <a:prstGeom prst="rect">
            <a:avLst/>
          </a:prstGeom>
        </p:spPr>
      </p:pic>
      <p:pic>
        <p:nvPicPr>
          <p:cNvPr id="6" name="Picture 5">
            <a:extLst>
              <a:ext uri="{FF2B5EF4-FFF2-40B4-BE49-F238E27FC236}">
                <a16:creationId xmlns:a16="http://schemas.microsoft.com/office/drawing/2014/main" id="{DA16471D-E624-B7AA-762B-BC66AC1F106C}"/>
              </a:ext>
            </a:extLst>
          </p:cNvPr>
          <p:cNvPicPr>
            <a:picLocks noChangeAspect="1"/>
          </p:cNvPicPr>
          <p:nvPr/>
        </p:nvPicPr>
        <p:blipFill>
          <a:blip r:embed="rId3"/>
          <a:stretch>
            <a:fillRect/>
          </a:stretch>
        </p:blipFill>
        <p:spPr>
          <a:xfrm>
            <a:off x="5985820" y="3248826"/>
            <a:ext cx="2712348" cy="2491910"/>
          </a:xfrm>
          <a:prstGeom prst="rect">
            <a:avLst/>
          </a:prstGeom>
        </p:spPr>
      </p:pic>
      <p:sp>
        <p:nvSpPr>
          <p:cNvPr id="9" name="TextBox 8">
            <a:extLst>
              <a:ext uri="{FF2B5EF4-FFF2-40B4-BE49-F238E27FC236}">
                <a16:creationId xmlns:a16="http://schemas.microsoft.com/office/drawing/2014/main" id="{F0558D9A-AAFA-171B-417D-461641DC99D9}"/>
              </a:ext>
            </a:extLst>
          </p:cNvPr>
          <p:cNvSpPr txBox="1"/>
          <p:nvPr/>
        </p:nvSpPr>
        <p:spPr>
          <a:xfrm>
            <a:off x="204596" y="5740736"/>
            <a:ext cx="4572000" cy="1015663"/>
          </a:xfrm>
          <a:prstGeom prst="rect">
            <a:avLst/>
          </a:prstGeom>
          <a:noFill/>
        </p:spPr>
        <p:txBody>
          <a:bodyPr wrap="square">
            <a:spAutoFit/>
          </a:bodyPr>
          <a:lstStyle/>
          <a:p>
            <a:r>
              <a:rPr lang="en-GB" sz="1200" b="0" i="0" u="none" strike="noStrike" dirty="0" err="1">
                <a:solidFill>
                  <a:srgbClr val="222222"/>
                </a:solidFill>
                <a:effectLst/>
                <a:latin typeface="Arial" panose="020B0604020202020204" pitchFamily="34" charset="0"/>
              </a:rPr>
              <a:t>Kancharla</a:t>
            </a:r>
            <a:r>
              <a:rPr lang="en-GB" sz="1200" b="0" i="0" u="none" strike="noStrike" dirty="0">
                <a:solidFill>
                  <a:srgbClr val="222222"/>
                </a:solidFill>
                <a:effectLst/>
                <a:latin typeface="Arial" panose="020B0604020202020204" pitchFamily="34" charset="0"/>
              </a:rPr>
              <a:t>, S., Jahan, R., </a:t>
            </a:r>
            <a:r>
              <a:rPr lang="en-GB" sz="1200" b="0" i="0" u="none" strike="noStrike" dirty="0" err="1">
                <a:solidFill>
                  <a:srgbClr val="222222"/>
                </a:solidFill>
                <a:effectLst/>
                <a:latin typeface="Arial" panose="020B0604020202020204" pitchFamily="34" charset="0"/>
              </a:rPr>
              <a:t>Bedrov</a:t>
            </a:r>
            <a:r>
              <a:rPr lang="en-GB" sz="1200" b="0" i="0" u="none" strike="noStrike" dirty="0">
                <a:solidFill>
                  <a:srgbClr val="222222"/>
                </a:solidFill>
                <a:effectLst/>
                <a:latin typeface="Arial" panose="020B0604020202020204" pitchFamily="34" charset="0"/>
              </a:rPr>
              <a:t>, D., </a:t>
            </a:r>
            <a:r>
              <a:rPr lang="en-GB" sz="1200" b="0" i="0" u="none" strike="noStrike" dirty="0" err="1">
                <a:solidFill>
                  <a:srgbClr val="222222"/>
                </a:solidFill>
                <a:effectLst/>
                <a:latin typeface="Arial" panose="020B0604020202020204" pitchFamily="34" charset="0"/>
              </a:rPr>
              <a:t>Tsianou</a:t>
            </a:r>
            <a:r>
              <a:rPr lang="en-GB" sz="1200" b="0" i="0" u="none" strike="noStrike" dirty="0">
                <a:solidFill>
                  <a:srgbClr val="222222"/>
                </a:solidFill>
                <a:effectLst/>
                <a:latin typeface="Arial" panose="020B0604020202020204" pitchFamily="34" charset="0"/>
              </a:rPr>
              <a:t>, M., &amp; </a:t>
            </a:r>
            <a:r>
              <a:rPr lang="en-GB" sz="1200" b="0" i="0" u="none" strike="noStrike" dirty="0" err="1">
                <a:solidFill>
                  <a:srgbClr val="222222"/>
                </a:solidFill>
                <a:effectLst/>
                <a:latin typeface="Arial" panose="020B0604020202020204" pitchFamily="34" charset="0"/>
              </a:rPr>
              <a:t>Alexandridis</a:t>
            </a:r>
            <a:r>
              <a:rPr lang="en-GB" sz="1200" b="0" i="0" u="none" strike="noStrike" dirty="0">
                <a:solidFill>
                  <a:srgbClr val="222222"/>
                </a:solidFill>
                <a:effectLst/>
                <a:latin typeface="Arial" panose="020B0604020202020204" pitchFamily="34" charset="0"/>
              </a:rPr>
              <a:t>, P. (2021). Role of chain length and electrolyte on the micellization of anionic fluorinated surfactants in water. </a:t>
            </a:r>
            <a:r>
              <a:rPr lang="en-GB" sz="1200" b="0" i="1" u="none" strike="noStrike" dirty="0">
                <a:solidFill>
                  <a:srgbClr val="222222"/>
                </a:solidFill>
                <a:effectLst/>
                <a:latin typeface="Arial" panose="020B0604020202020204" pitchFamily="34" charset="0"/>
              </a:rPr>
              <a:t>Colloids and Surfaces A: Physicochemical and Engineering Aspects</a:t>
            </a:r>
            <a:r>
              <a:rPr lang="en-GB" sz="1200" b="0" i="0" u="none" strike="noStrike" dirty="0">
                <a:solidFill>
                  <a:srgbClr val="222222"/>
                </a:solidFill>
                <a:effectLst/>
                <a:latin typeface="Arial" panose="020B0604020202020204" pitchFamily="34" charset="0"/>
              </a:rPr>
              <a:t>, </a:t>
            </a:r>
            <a:r>
              <a:rPr lang="en-GB" sz="1200" b="0" i="1" u="none" strike="noStrike" dirty="0">
                <a:solidFill>
                  <a:srgbClr val="222222"/>
                </a:solidFill>
                <a:effectLst/>
                <a:latin typeface="Arial" panose="020B0604020202020204" pitchFamily="34" charset="0"/>
              </a:rPr>
              <a:t>628</a:t>
            </a:r>
            <a:r>
              <a:rPr lang="en-GB" sz="1200" b="0" i="0" u="none" strike="noStrike" dirty="0">
                <a:solidFill>
                  <a:srgbClr val="222222"/>
                </a:solidFill>
                <a:effectLst/>
                <a:latin typeface="Arial" panose="020B0604020202020204" pitchFamily="34" charset="0"/>
              </a:rPr>
              <a:t>, 127313.</a:t>
            </a:r>
            <a:endParaRPr lang="en-US" sz="1200" dirty="0"/>
          </a:p>
        </p:txBody>
      </p:sp>
    </p:spTree>
    <p:extLst>
      <p:ext uri="{BB962C8B-B14F-4D97-AF65-F5344CB8AC3E}">
        <p14:creationId xmlns:p14="http://schemas.microsoft.com/office/powerpoint/2010/main" val="557379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0625BE-CB77-6804-833E-23C6FE54E310}"/>
              </a:ext>
            </a:extLst>
          </p:cNvPr>
          <p:cNvSpPr>
            <a:spLocks noGrp="1"/>
          </p:cNvSpPr>
          <p:nvPr>
            <p:ph type="title"/>
          </p:nvPr>
        </p:nvSpPr>
        <p:spPr/>
        <p:txBody>
          <a:bodyPr/>
          <a:lstStyle/>
          <a:p>
            <a:r>
              <a:rPr lang="en-GB" dirty="0"/>
              <a:t>Learning Outcomes </a:t>
            </a:r>
          </a:p>
        </p:txBody>
      </p:sp>
      <p:sp>
        <p:nvSpPr>
          <p:cNvPr id="4" name="Content Placeholder 3">
            <a:extLst>
              <a:ext uri="{FF2B5EF4-FFF2-40B4-BE49-F238E27FC236}">
                <a16:creationId xmlns:a16="http://schemas.microsoft.com/office/drawing/2014/main" id="{746D11C5-EDA2-7B33-2ED3-64DEB35DBB5D}"/>
              </a:ext>
            </a:extLst>
          </p:cNvPr>
          <p:cNvSpPr>
            <a:spLocks noGrp="1"/>
          </p:cNvSpPr>
          <p:nvPr>
            <p:ph idx="1"/>
          </p:nvPr>
        </p:nvSpPr>
        <p:spPr/>
        <p:txBody>
          <a:bodyPr/>
          <a:lstStyle/>
          <a:p>
            <a:r>
              <a:rPr lang="en-GB" dirty="0"/>
              <a:t>Today we have:</a:t>
            </a:r>
            <a:br>
              <a:rPr lang="en-GB" dirty="0"/>
            </a:br>
            <a:r>
              <a:rPr lang="en-GB" dirty="0"/>
              <a:t>Discussed some key applications of micelles</a:t>
            </a:r>
            <a:br>
              <a:rPr lang="en-GB" dirty="0"/>
            </a:br>
            <a:r>
              <a:rPr lang="en-GB" dirty="0"/>
              <a:t>Derived thermodynamic equations that describe micellar behaviour at interfaces and in the bulk</a:t>
            </a:r>
            <a:br>
              <a:rPr lang="en-GB" dirty="0"/>
            </a:br>
            <a:r>
              <a:rPr lang="en-GB" dirty="0"/>
              <a:t>Applied graphical methods to determine micellar properties from experimental data</a:t>
            </a:r>
            <a:br>
              <a:rPr lang="en-GB" dirty="0"/>
            </a:br>
            <a:r>
              <a:rPr lang="en-GB" dirty="0"/>
              <a:t>Understood how surfactant structure changes micellar </a:t>
            </a:r>
            <a:r>
              <a:rPr lang="en-GB"/>
              <a:t>behaviour</a:t>
            </a:r>
            <a:endParaRPr lang="en-GB" dirty="0"/>
          </a:p>
        </p:txBody>
      </p:sp>
      <p:sp>
        <p:nvSpPr>
          <p:cNvPr id="2" name="Slide Number Placeholder 1">
            <a:extLst>
              <a:ext uri="{FF2B5EF4-FFF2-40B4-BE49-F238E27FC236}">
                <a16:creationId xmlns:a16="http://schemas.microsoft.com/office/drawing/2014/main" id="{5268B0DB-43CD-A28F-495B-20A72BFACA4C}"/>
              </a:ext>
            </a:extLst>
          </p:cNvPr>
          <p:cNvSpPr>
            <a:spLocks noGrp="1"/>
          </p:cNvSpPr>
          <p:nvPr>
            <p:ph type="sldNum" sz="quarter" idx="10"/>
          </p:nvPr>
        </p:nvSpPr>
        <p:spPr/>
        <p:txBody>
          <a:bodyPr/>
          <a:lstStyle/>
          <a:p>
            <a:fld id="{2B36FD51-1015-4304-9645-AC62F2AE25BF}" type="slidenum">
              <a:rPr lang="en-GB" smtClean="0"/>
              <a:pPr/>
              <a:t>29</a:t>
            </a:fld>
            <a:endParaRPr lang="en-GB"/>
          </a:p>
        </p:txBody>
      </p:sp>
    </p:spTree>
    <p:extLst>
      <p:ext uri="{BB962C8B-B14F-4D97-AF65-F5344CB8AC3E}">
        <p14:creationId xmlns:p14="http://schemas.microsoft.com/office/powerpoint/2010/main" val="2393038859"/>
      </p:ext>
    </p:extLst>
  </p:cSld>
  <p:clrMapOvr>
    <a:masterClrMapping/>
  </p:clrMapOvr>
  <p:transition>
    <p:fade/>
  </p:transition>
</p:sld>
</file>

<file path=ppt/theme/theme1.xml><?xml version="1.0" encoding="utf-8"?>
<a:theme xmlns:a="http://schemas.openxmlformats.org/drawingml/2006/main" name="Bright colours jl">
  <a:themeElements>
    <a:clrScheme name="Bright colours jl 1">
      <a:dk1>
        <a:srgbClr val="000000"/>
      </a:dk1>
      <a:lt1>
        <a:srgbClr val="F8F8F8"/>
      </a:lt1>
      <a:dk2>
        <a:srgbClr val="BF0071"/>
      </a:dk2>
      <a:lt2>
        <a:srgbClr val="1C1C1C"/>
      </a:lt2>
      <a:accent1>
        <a:srgbClr val="BF0071"/>
      </a:accent1>
      <a:accent2>
        <a:srgbClr val="808080"/>
      </a:accent2>
      <a:accent3>
        <a:srgbClr val="FBFBFB"/>
      </a:accent3>
      <a:accent4>
        <a:srgbClr val="000000"/>
      </a:accent4>
      <a:accent5>
        <a:srgbClr val="DCAABB"/>
      </a:accent5>
      <a:accent6>
        <a:srgbClr val="737373"/>
      </a:accent6>
      <a:hlink>
        <a:srgbClr val="BF0071"/>
      </a:hlink>
      <a:folHlink>
        <a:srgbClr val="777777"/>
      </a:folHlink>
    </a:clrScheme>
    <a:fontScheme name="Bright colours jl">
      <a:majorFont>
        <a:latin typeface="Rdg Vesta"/>
        <a:ea typeface=""/>
        <a:cs typeface=""/>
      </a:majorFont>
      <a:minorFont>
        <a:latin typeface="Rdg Vest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Rdg Vesta" pitchFamily="2" charset="0"/>
          </a:defRPr>
        </a:defPPr>
      </a:lstStyle>
    </a:lnDef>
  </a:objectDefaults>
  <a:extraClrSchemeLst>
    <a:extraClrScheme>
      <a:clrScheme name="Bright colours jl 1">
        <a:dk1>
          <a:srgbClr val="000000"/>
        </a:dk1>
        <a:lt1>
          <a:srgbClr val="F8F8F8"/>
        </a:lt1>
        <a:dk2>
          <a:srgbClr val="BF0071"/>
        </a:dk2>
        <a:lt2>
          <a:srgbClr val="1C1C1C"/>
        </a:lt2>
        <a:accent1>
          <a:srgbClr val="BF0071"/>
        </a:accent1>
        <a:accent2>
          <a:srgbClr val="808080"/>
        </a:accent2>
        <a:accent3>
          <a:srgbClr val="FBFBFB"/>
        </a:accent3>
        <a:accent4>
          <a:srgbClr val="000000"/>
        </a:accent4>
        <a:accent5>
          <a:srgbClr val="DCAABB"/>
        </a:accent5>
        <a:accent6>
          <a:srgbClr val="737373"/>
        </a:accent6>
        <a:hlink>
          <a:srgbClr val="BF0071"/>
        </a:hlink>
        <a:folHlink>
          <a:srgbClr val="777777"/>
        </a:folHlink>
      </a:clrScheme>
      <a:clrMap bg1="lt1" tx1="dk1" bg2="lt2" tx2="dk2" accent1="accent1" accent2="accent2" accent3="accent3" accent4="accent4" accent5="accent5" accent6="accent6" hlink="hlink" folHlink="folHlink"/>
    </a:extraClrScheme>
    <a:extraClrScheme>
      <a:clrScheme name="Bright colours jl 2">
        <a:dk1>
          <a:srgbClr val="000000"/>
        </a:dk1>
        <a:lt1>
          <a:srgbClr val="F8F8F8"/>
        </a:lt1>
        <a:dk2>
          <a:srgbClr val="642864"/>
        </a:dk2>
        <a:lt2>
          <a:srgbClr val="1C1C1C"/>
        </a:lt2>
        <a:accent1>
          <a:srgbClr val="642864"/>
        </a:accent1>
        <a:accent2>
          <a:srgbClr val="808080"/>
        </a:accent2>
        <a:accent3>
          <a:srgbClr val="FBFBFB"/>
        </a:accent3>
        <a:accent4>
          <a:srgbClr val="000000"/>
        </a:accent4>
        <a:accent5>
          <a:srgbClr val="B8ACB8"/>
        </a:accent5>
        <a:accent6>
          <a:srgbClr val="737373"/>
        </a:accent6>
        <a:hlink>
          <a:srgbClr val="642864"/>
        </a:hlink>
        <a:folHlink>
          <a:srgbClr val="777777"/>
        </a:folHlink>
      </a:clrScheme>
      <a:clrMap bg1="lt1" tx1="dk1" bg2="lt2" tx2="dk2" accent1="accent1" accent2="accent2" accent3="accent3" accent4="accent4" accent5="accent5" accent6="accent6" hlink="hlink" folHlink="folHlink"/>
    </a:extraClrScheme>
    <a:extraClrScheme>
      <a:clrScheme name="Bright colours jl 3">
        <a:dk1>
          <a:srgbClr val="000000"/>
        </a:dk1>
        <a:lt1>
          <a:srgbClr val="F8F8F8"/>
        </a:lt1>
        <a:dk2>
          <a:srgbClr val="0F5C9D"/>
        </a:dk2>
        <a:lt2>
          <a:srgbClr val="1C1C1C"/>
        </a:lt2>
        <a:accent1>
          <a:srgbClr val="0F5C9D"/>
        </a:accent1>
        <a:accent2>
          <a:srgbClr val="808080"/>
        </a:accent2>
        <a:accent3>
          <a:srgbClr val="FBFBFB"/>
        </a:accent3>
        <a:accent4>
          <a:srgbClr val="000000"/>
        </a:accent4>
        <a:accent5>
          <a:srgbClr val="AAB5CC"/>
        </a:accent5>
        <a:accent6>
          <a:srgbClr val="737373"/>
        </a:accent6>
        <a:hlink>
          <a:srgbClr val="0F5C9D"/>
        </a:hlink>
        <a:folHlink>
          <a:srgbClr val="777777"/>
        </a:folHlink>
      </a:clrScheme>
      <a:clrMap bg1="lt1" tx1="dk1" bg2="lt2" tx2="dk2" accent1="accent1" accent2="accent2" accent3="accent3" accent4="accent4" accent5="accent5" accent6="accent6" hlink="hlink" folHlink="folHlink"/>
    </a:extraClrScheme>
    <a:extraClrScheme>
      <a:clrScheme name="Bright colours jl 4">
        <a:dk1>
          <a:srgbClr val="000000"/>
        </a:dk1>
        <a:lt1>
          <a:srgbClr val="F8F8F8"/>
        </a:lt1>
        <a:dk2>
          <a:srgbClr val="FF6600"/>
        </a:dk2>
        <a:lt2>
          <a:srgbClr val="1C1C1C"/>
        </a:lt2>
        <a:accent1>
          <a:srgbClr val="FF6600"/>
        </a:accent1>
        <a:accent2>
          <a:srgbClr val="808080"/>
        </a:accent2>
        <a:accent3>
          <a:srgbClr val="FBFBFB"/>
        </a:accent3>
        <a:accent4>
          <a:srgbClr val="000000"/>
        </a:accent4>
        <a:accent5>
          <a:srgbClr val="FFB8AA"/>
        </a:accent5>
        <a:accent6>
          <a:srgbClr val="737373"/>
        </a:accent6>
        <a:hlink>
          <a:srgbClr val="FF6600"/>
        </a:hlink>
        <a:folHlink>
          <a:srgbClr val="777777"/>
        </a:folHlink>
      </a:clrScheme>
      <a:clrMap bg1="lt1" tx1="dk1" bg2="lt2" tx2="dk2" accent1="accent1" accent2="accent2" accent3="accent3" accent4="accent4" accent5="accent5" accent6="accent6" hlink="hlink" folHlink="folHlink"/>
    </a:extraClrScheme>
    <a:extraClrScheme>
      <a:clrScheme name="Bright colours jl 5">
        <a:dk1>
          <a:srgbClr val="000000"/>
        </a:dk1>
        <a:lt1>
          <a:srgbClr val="F8F8F8"/>
        </a:lt1>
        <a:dk2>
          <a:srgbClr val="12AD2B"/>
        </a:dk2>
        <a:lt2>
          <a:srgbClr val="1C1C1C"/>
        </a:lt2>
        <a:accent1>
          <a:srgbClr val="12AD2B"/>
        </a:accent1>
        <a:accent2>
          <a:srgbClr val="808080"/>
        </a:accent2>
        <a:accent3>
          <a:srgbClr val="FBFBFB"/>
        </a:accent3>
        <a:accent4>
          <a:srgbClr val="000000"/>
        </a:accent4>
        <a:accent5>
          <a:srgbClr val="AAD3AC"/>
        </a:accent5>
        <a:accent6>
          <a:srgbClr val="737373"/>
        </a:accent6>
        <a:hlink>
          <a:srgbClr val="12AD2B"/>
        </a:hlink>
        <a:folHlink>
          <a:srgbClr val="7777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Rdg_PP_without_R_WHITE_slides</Template>
  <TotalTime>1311</TotalTime>
  <Words>1461</Words>
  <Application>Microsoft Office PowerPoint</Application>
  <PresentationFormat>On-screen Show (4:3)</PresentationFormat>
  <Paragraphs>164</Paragraphs>
  <Slides>29</Slides>
  <Notes>4</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Bright colours jl</vt:lpstr>
      <vt:lpstr>CH2PH2:  Surfaces and Interfaces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 Outcomes </vt:lpstr>
    </vt:vector>
  </TitlesOfParts>
  <Company>University of Reading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scs07dn</dc:creator>
  <cp:lastModifiedBy>James Hallett</cp:lastModifiedBy>
  <cp:revision>394</cp:revision>
  <cp:lastPrinted>2006-09-19T14:59:33Z</cp:lastPrinted>
  <dcterms:created xsi:type="dcterms:W3CDTF">2009-08-10T15:23:00Z</dcterms:created>
  <dcterms:modified xsi:type="dcterms:W3CDTF">2026-02-10T12:42:42Z</dcterms:modified>
</cp:coreProperties>
</file>