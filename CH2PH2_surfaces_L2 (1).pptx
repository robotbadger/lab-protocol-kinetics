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0" r:id="rId1"/>
  </p:sldMasterIdLst>
  <p:notesMasterIdLst>
    <p:notesMasterId r:id="rId29"/>
  </p:notesMasterIdLst>
  <p:handoutMasterIdLst>
    <p:handoutMasterId r:id="rId30"/>
  </p:handoutMasterIdLst>
  <p:sldIdLst>
    <p:sldId id="402" r:id="rId2"/>
    <p:sldId id="284" r:id="rId3"/>
    <p:sldId id="549" r:id="rId4"/>
    <p:sldId id="550" r:id="rId5"/>
    <p:sldId id="557" r:id="rId6"/>
    <p:sldId id="273" r:id="rId7"/>
    <p:sldId id="553" r:id="rId8"/>
    <p:sldId id="551" r:id="rId9"/>
    <p:sldId id="552" r:id="rId10"/>
    <p:sldId id="271" r:id="rId11"/>
    <p:sldId id="272" r:id="rId12"/>
    <p:sldId id="554" r:id="rId13"/>
    <p:sldId id="274" r:id="rId14"/>
    <p:sldId id="555" r:id="rId15"/>
    <p:sldId id="556" r:id="rId16"/>
    <p:sldId id="275" r:id="rId17"/>
    <p:sldId id="276" r:id="rId18"/>
    <p:sldId id="277" r:id="rId19"/>
    <p:sldId id="278" r:id="rId20"/>
    <p:sldId id="279" r:id="rId21"/>
    <p:sldId id="280" r:id="rId22"/>
    <p:sldId id="281" r:id="rId23"/>
    <p:sldId id="282" r:id="rId24"/>
    <p:sldId id="283" r:id="rId25"/>
    <p:sldId id="558" r:id="rId26"/>
    <p:sldId id="559" r:id="rId27"/>
    <p:sldId id="560" r:id="rId28"/>
  </p:sldIdLst>
  <p:sldSz cx="9144000" cy="6858000" type="screen4x3"/>
  <p:notesSz cx="7099300" cy="10234613"/>
  <p:embeddedFontLst>
    <p:embeddedFont>
      <p:font typeface="Rdg Vesta" panose="020B0604020202020204" charset="0"/>
      <p:regular r:id="rId31"/>
      <p:bold r:id="rId32"/>
      <p:italic r:id="rId33"/>
      <p:boldItalic r:id="rId34"/>
    </p:embeddedFont>
  </p:embeddedFontLst>
  <p:defaultTextStyle>
    <a:defPPr>
      <a:defRPr lang="en-GB"/>
    </a:defPPr>
    <a:lvl1pPr algn="l" rtl="0" fontAlgn="base">
      <a:spcBef>
        <a:spcPct val="0"/>
      </a:spcBef>
      <a:spcAft>
        <a:spcPct val="0"/>
      </a:spcAft>
      <a:defRPr sz="2400" kern="1200">
        <a:solidFill>
          <a:schemeClr val="tx1"/>
        </a:solidFill>
        <a:latin typeface="Rdg Vesta" pitchFamily="2" charset="0"/>
        <a:ea typeface="+mn-ea"/>
        <a:cs typeface="+mn-cs"/>
      </a:defRPr>
    </a:lvl1pPr>
    <a:lvl2pPr marL="457200" algn="l" rtl="0" fontAlgn="base">
      <a:spcBef>
        <a:spcPct val="0"/>
      </a:spcBef>
      <a:spcAft>
        <a:spcPct val="0"/>
      </a:spcAft>
      <a:defRPr sz="2400" kern="1200">
        <a:solidFill>
          <a:schemeClr val="tx1"/>
        </a:solidFill>
        <a:latin typeface="Rdg Vesta" pitchFamily="2" charset="0"/>
        <a:ea typeface="+mn-ea"/>
        <a:cs typeface="+mn-cs"/>
      </a:defRPr>
    </a:lvl2pPr>
    <a:lvl3pPr marL="914400" algn="l" rtl="0" fontAlgn="base">
      <a:spcBef>
        <a:spcPct val="0"/>
      </a:spcBef>
      <a:spcAft>
        <a:spcPct val="0"/>
      </a:spcAft>
      <a:defRPr sz="2400" kern="1200">
        <a:solidFill>
          <a:schemeClr val="tx1"/>
        </a:solidFill>
        <a:latin typeface="Rdg Vesta" pitchFamily="2" charset="0"/>
        <a:ea typeface="+mn-ea"/>
        <a:cs typeface="+mn-cs"/>
      </a:defRPr>
    </a:lvl3pPr>
    <a:lvl4pPr marL="1371600" algn="l" rtl="0" fontAlgn="base">
      <a:spcBef>
        <a:spcPct val="0"/>
      </a:spcBef>
      <a:spcAft>
        <a:spcPct val="0"/>
      </a:spcAft>
      <a:defRPr sz="2400" kern="1200">
        <a:solidFill>
          <a:schemeClr val="tx1"/>
        </a:solidFill>
        <a:latin typeface="Rdg Vesta" pitchFamily="2" charset="0"/>
        <a:ea typeface="+mn-ea"/>
        <a:cs typeface="+mn-cs"/>
      </a:defRPr>
    </a:lvl4pPr>
    <a:lvl5pPr marL="1828800" algn="l" rtl="0" fontAlgn="base">
      <a:spcBef>
        <a:spcPct val="0"/>
      </a:spcBef>
      <a:spcAft>
        <a:spcPct val="0"/>
      </a:spcAft>
      <a:defRPr sz="2400" kern="1200">
        <a:solidFill>
          <a:schemeClr val="tx1"/>
        </a:solidFill>
        <a:latin typeface="Rdg Vesta" pitchFamily="2" charset="0"/>
        <a:ea typeface="+mn-ea"/>
        <a:cs typeface="+mn-cs"/>
      </a:defRPr>
    </a:lvl5pPr>
    <a:lvl6pPr marL="2286000" algn="l" defTabSz="914400" rtl="0" eaLnBrk="1" latinLnBrk="0" hangingPunct="1">
      <a:defRPr sz="2400" kern="1200">
        <a:solidFill>
          <a:schemeClr val="tx1"/>
        </a:solidFill>
        <a:latin typeface="Rdg Vesta" pitchFamily="2" charset="0"/>
        <a:ea typeface="+mn-ea"/>
        <a:cs typeface="+mn-cs"/>
      </a:defRPr>
    </a:lvl6pPr>
    <a:lvl7pPr marL="2743200" algn="l" defTabSz="914400" rtl="0" eaLnBrk="1" latinLnBrk="0" hangingPunct="1">
      <a:defRPr sz="2400" kern="1200">
        <a:solidFill>
          <a:schemeClr val="tx1"/>
        </a:solidFill>
        <a:latin typeface="Rdg Vesta" pitchFamily="2" charset="0"/>
        <a:ea typeface="+mn-ea"/>
        <a:cs typeface="+mn-cs"/>
      </a:defRPr>
    </a:lvl7pPr>
    <a:lvl8pPr marL="3200400" algn="l" defTabSz="914400" rtl="0" eaLnBrk="1" latinLnBrk="0" hangingPunct="1">
      <a:defRPr sz="2400" kern="1200">
        <a:solidFill>
          <a:schemeClr val="tx1"/>
        </a:solidFill>
        <a:latin typeface="Rdg Vesta" pitchFamily="2" charset="0"/>
        <a:ea typeface="+mn-ea"/>
        <a:cs typeface="+mn-cs"/>
      </a:defRPr>
    </a:lvl8pPr>
    <a:lvl9pPr marL="3657600" algn="l" defTabSz="914400" rtl="0" eaLnBrk="1" latinLnBrk="0" hangingPunct="1">
      <a:defRPr sz="2400" kern="1200">
        <a:solidFill>
          <a:schemeClr val="tx1"/>
        </a:solidFill>
        <a:latin typeface="Rdg Vesta" pitchFamily="2"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FDFD"/>
    <a:srgbClr val="7EAF35"/>
    <a:srgbClr val="FFFFCC"/>
    <a:srgbClr val="D799A1"/>
    <a:srgbClr val="000000"/>
    <a:srgbClr val="BF0071"/>
    <a:srgbClr val="F3F3F3"/>
    <a:srgbClr val="F0F0F0"/>
    <a:srgbClr val="EEEEE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F2746FD-B88C-4003-97D4-3B771C2EE100}" v="305" dt="2026-02-10T12:24:54.87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1348" autoAdjust="0"/>
    <p:restoredTop sz="92614" autoAdjust="0"/>
  </p:normalViewPr>
  <p:slideViewPr>
    <p:cSldViewPr>
      <p:cViewPr varScale="1">
        <p:scale>
          <a:sx n="113" d="100"/>
          <a:sy n="113" d="100"/>
        </p:scale>
        <p:origin x="1136" y="176"/>
      </p:cViewPr>
      <p:guideLst>
        <p:guide orient="horz" pos="2160"/>
        <p:guide pos="2880"/>
      </p:guideLst>
    </p:cSldViewPr>
  </p:slideViewPr>
  <p:outlineViewPr>
    <p:cViewPr>
      <p:scale>
        <a:sx n="33" d="100"/>
        <a:sy n="33" d="100"/>
      </p:scale>
      <p:origin x="0" y="1584"/>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66" d="100"/>
          <a:sy n="66" d="100"/>
        </p:scale>
        <p:origin x="0" y="0"/>
      </p:cViewPr>
      <p:guideLst/>
    </p:cSldViewPr>
  </p:notesViewPr>
  <p:gridSpacing cx="45005" cy="45005"/>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6/11/relationships/changesInfo" Target="changesInfos/changesInfo1.xml"/><Relationship Id="rId21" Type="http://schemas.openxmlformats.org/officeDocument/2006/relationships/slide" Target="slides/slide20.xml"/><Relationship Id="rId34"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3.fntdata"/><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2.fntdata"/><Relationship Id="rId37" Type="http://schemas.openxmlformats.org/officeDocument/2006/relationships/theme" Target="theme/theme1.xml"/><Relationship Id="rId40"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handoutMaster" Target="handoutMasters/handoutMaster1.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mes Hallett" userId="S::je925493@reading.ac.uk::c714d19a-e50d-439a-876c-0e1be1458f92" providerId="AD" clId="Web-{6F2746FD-B88C-4003-97D4-3B771C2EE100}"/>
    <pc:docChg chg="addSld modSld">
      <pc:chgData name="James Hallett" userId="S::je925493@reading.ac.uk::c714d19a-e50d-439a-876c-0e1be1458f92" providerId="AD" clId="Web-{6F2746FD-B88C-4003-97D4-3B771C2EE100}" dt="2026-02-10T12:24:44.842" v="299" actId="20577"/>
      <pc:docMkLst>
        <pc:docMk/>
      </pc:docMkLst>
      <pc:sldChg chg="modSp">
        <pc:chgData name="James Hallett" userId="S::je925493@reading.ac.uk::c714d19a-e50d-439a-876c-0e1be1458f92" providerId="AD" clId="Web-{6F2746FD-B88C-4003-97D4-3B771C2EE100}" dt="2026-02-10T12:19:25.666" v="2" actId="20577"/>
        <pc:sldMkLst>
          <pc:docMk/>
          <pc:sldMk cId="2205703293" sldId="559"/>
        </pc:sldMkLst>
        <pc:spChg chg="mod">
          <ac:chgData name="James Hallett" userId="S::je925493@reading.ac.uk::c714d19a-e50d-439a-876c-0e1be1458f92" providerId="AD" clId="Web-{6F2746FD-B88C-4003-97D4-3B771C2EE100}" dt="2026-02-10T12:19:25.666" v="2" actId="20577"/>
          <ac:spMkLst>
            <pc:docMk/>
            <pc:sldMk cId="2205703293" sldId="559"/>
            <ac:spMk id="6" creationId="{96905A93-11BF-9564-9CFF-667AC4DA9900}"/>
          </ac:spMkLst>
        </pc:spChg>
      </pc:sldChg>
      <pc:sldChg chg="addSp modSp new mod modClrScheme chgLayout">
        <pc:chgData name="James Hallett" userId="S::je925493@reading.ac.uk::c714d19a-e50d-439a-876c-0e1be1458f92" providerId="AD" clId="Web-{6F2746FD-B88C-4003-97D4-3B771C2EE100}" dt="2026-02-10T12:24:44.842" v="299" actId="20577"/>
        <pc:sldMkLst>
          <pc:docMk/>
          <pc:sldMk cId="1677050311" sldId="560"/>
        </pc:sldMkLst>
        <pc:spChg chg="mod ord">
          <ac:chgData name="James Hallett" userId="S::je925493@reading.ac.uk::c714d19a-e50d-439a-876c-0e1be1458f92" providerId="AD" clId="Web-{6F2746FD-B88C-4003-97D4-3B771C2EE100}" dt="2026-02-10T12:20:55.183" v="4"/>
          <ac:spMkLst>
            <pc:docMk/>
            <pc:sldMk cId="1677050311" sldId="560"/>
            <ac:spMk id="2" creationId="{6DFDCE0A-1DE3-E196-A672-717562B36E10}"/>
          </ac:spMkLst>
        </pc:spChg>
        <pc:spChg chg="add mod ord">
          <ac:chgData name="James Hallett" userId="S::je925493@reading.ac.uk::c714d19a-e50d-439a-876c-0e1be1458f92" providerId="AD" clId="Web-{6F2746FD-B88C-4003-97D4-3B771C2EE100}" dt="2026-02-10T12:20:59.214" v="11" actId="20577"/>
          <ac:spMkLst>
            <pc:docMk/>
            <pc:sldMk cId="1677050311" sldId="560"/>
            <ac:spMk id="3" creationId="{0029E007-DD06-766C-5318-850C3E78BA73}"/>
          </ac:spMkLst>
        </pc:spChg>
        <pc:spChg chg="add mod ord">
          <ac:chgData name="James Hallett" userId="S::je925493@reading.ac.uk::c714d19a-e50d-439a-876c-0e1be1458f92" providerId="AD" clId="Web-{6F2746FD-B88C-4003-97D4-3B771C2EE100}" dt="2026-02-10T12:24:44.842" v="299" actId="20577"/>
          <ac:spMkLst>
            <pc:docMk/>
            <pc:sldMk cId="1677050311" sldId="560"/>
            <ac:spMk id="4" creationId="{9C030777-94D1-D088-D86C-A829D276EDB7}"/>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59778" name="Rectangle 2"/>
          <p:cNvSpPr>
            <a:spLocks noGrp="1" noChangeArrowheads="1"/>
          </p:cNvSpPr>
          <p:nvPr>
            <p:ph type="hdr" sz="quarter"/>
          </p:nvPr>
        </p:nvSpPr>
        <p:spPr bwMode="auto">
          <a:xfrm>
            <a:off x="1" y="1"/>
            <a:ext cx="3076587" cy="512060"/>
          </a:xfrm>
          <a:prstGeom prst="rect">
            <a:avLst/>
          </a:prstGeom>
          <a:noFill/>
          <a:ln w="9525">
            <a:noFill/>
            <a:miter lim="800000"/>
            <a:headEnd/>
            <a:tailEnd/>
          </a:ln>
          <a:effectLst/>
        </p:spPr>
        <p:txBody>
          <a:bodyPr vert="horz" wrap="square" lIns="95549" tIns="47773" rIns="95549" bIns="47773" numCol="1" anchor="ctr" anchorCtr="0" compatLnSpc="1">
            <a:prstTxWarp prst="textNoShape">
              <a:avLst/>
            </a:prstTxWarp>
          </a:bodyPr>
          <a:lstStyle>
            <a:lvl1pPr>
              <a:defRPr sz="1300">
                <a:solidFill>
                  <a:schemeClr val="bg1"/>
                </a:solidFill>
              </a:defRPr>
            </a:lvl1pPr>
          </a:lstStyle>
          <a:p>
            <a:endParaRPr lang="en-GB"/>
          </a:p>
        </p:txBody>
      </p:sp>
      <p:sp>
        <p:nvSpPr>
          <p:cNvPr id="459779" name="Rectangle 3"/>
          <p:cNvSpPr>
            <a:spLocks noGrp="1" noChangeArrowheads="1"/>
          </p:cNvSpPr>
          <p:nvPr>
            <p:ph type="dt" sz="quarter" idx="1"/>
          </p:nvPr>
        </p:nvSpPr>
        <p:spPr bwMode="auto">
          <a:xfrm>
            <a:off x="4022714" y="1"/>
            <a:ext cx="3076587" cy="512060"/>
          </a:xfrm>
          <a:prstGeom prst="rect">
            <a:avLst/>
          </a:prstGeom>
          <a:noFill/>
          <a:ln w="9525">
            <a:noFill/>
            <a:miter lim="800000"/>
            <a:headEnd/>
            <a:tailEnd/>
          </a:ln>
          <a:effectLst/>
        </p:spPr>
        <p:txBody>
          <a:bodyPr vert="horz" wrap="square" lIns="95549" tIns="47773" rIns="95549" bIns="47773" numCol="1" anchor="ctr" anchorCtr="0" compatLnSpc="1">
            <a:prstTxWarp prst="textNoShape">
              <a:avLst/>
            </a:prstTxWarp>
          </a:bodyPr>
          <a:lstStyle>
            <a:lvl1pPr algn="r">
              <a:defRPr sz="1300">
                <a:solidFill>
                  <a:schemeClr val="bg1"/>
                </a:solidFill>
              </a:defRPr>
            </a:lvl1pPr>
          </a:lstStyle>
          <a:p>
            <a:endParaRPr lang="en-GB"/>
          </a:p>
        </p:txBody>
      </p:sp>
      <p:sp>
        <p:nvSpPr>
          <p:cNvPr id="459780" name="Rectangle 4"/>
          <p:cNvSpPr>
            <a:spLocks noGrp="1" noChangeArrowheads="1"/>
          </p:cNvSpPr>
          <p:nvPr>
            <p:ph type="ftr" sz="quarter" idx="2"/>
          </p:nvPr>
        </p:nvSpPr>
        <p:spPr bwMode="auto">
          <a:xfrm>
            <a:off x="1" y="9722554"/>
            <a:ext cx="3076587" cy="512059"/>
          </a:xfrm>
          <a:prstGeom prst="rect">
            <a:avLst/>
          </a:prstGeom>
          <a:noFill/>
          <a:ln w="9525">
            <a:noFill/>
            <a:miter lim="800000"/>
            <a:headEnd/>
            <a:tailEnd/>
          </a:ln>
          <a:effectLst/>
        </p:spPr>
        <p:txBody>
          <a:bodyPr vert="horz" wrap="square" lIns="95549" tIns="47773" rIns="95549" bIns="47773" numCol="1" anchor="b" anchorCtr="0" compatLnSpc="1">
            <a:prstTxWarp prst="textNoShape">
              <a:avLst/>
            </a:prstTxWarp>
          </a:bodyPr>
          <a:lstStyle>
            <a:lvl1pPr>
              <a:defRPr sz="1300">
                <a:solidFill>
                  <a:schemeClr val="bg1"/>
                </a:solidFill>
              </a:defRPr>
            </a:lvl1pPr>
          </a:lstStyle>
          <a:p>
            <a:endParaRPr lang="en-GB"/>
          </a:p>
        </p:txBody>
      </p:sp>
      <p:sp>
        <p:nvSpPr>
          <p:cNvPr id="459781" name="Rectangle 5"/>
          <p:cNvSpPr>
            <a:spLocks noGrp="1" noChangeArrowheads="1"/>
          </p:cNvSpPr>
          <p:nvPr>
            <p:ph type="sldNum" sz="quarter" idx="3"/>
          </p:nvPr>
        </p:nvSpPr>
        <p:spPr bwMode="auto">
          <a:xfrm>
            <a:off x="4022714" y="9722554"/>
            <a:ext cx="3076587" cy="512059"/>
          </a:xfrm>
          <a:prstGeom prst="rect">
            <a:avLst/>
          </a:prstGeom>
          <a:noFill/>
          <a:ln w="9525">
            <a:noFill/>
            <a:miter lim="800000"/>
            <a:headEnd/>
            <a:tailEnd/>
          </a:ln>
          <a:effectLst/>
        </p:spPr>
        <p:txBody>
          <a:bodyPr vert="horz" wrap="square" lIns="95549" tIns="47773" rIns="95549" bIns="47773" numCol="1" anchor="b" anchorCtr="0" compatLnSpc="1">
            <a:prstTxWarp prst="textNoShape">
              <a:avLst/>
            </a:prstTxWarp>
          </a:bodyPr>
          <a:lstStyle>
            <a:lvl1pPr algn="r">
              <a:defRPr sz="1300">
                <a:solidFill>
                  <a:schemeClr val="bg1"/>
                </a:solidFill>
              </a:defRPr>
            </a:lvl1pPr>
          </a:lstStyle>
          <a:p>
            <a:fld id="{DC1C926E-E5D6-49FD-80FB-3D308DC41FF0}" type="slidenum">
              <a:rPr lang="en-GB"/>
              <a:pPr/>
              <a:t>‹#›</a:t>
            </a:fld>
            <a:endParaRPr lang="en-GB"/>
          </a:p>
        </p:txBody>
      </p:sp>
    </p:spTree>
    <p:extLst>
      <p:ext uri="{BB962C8B-B14F-4D97-AF65-F5344CB8AC3E}">
        <p14:creationId xmlns:p14="http://schemas.microsoft.com/office/powerpoint/2010/main" val="40232984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218" name="Rectangle 2"/>
          <p:cNvSpPr>
            <a:spLocks noGrp="1" noChangeArrowheads="1"/>
          </p:cNvSpPr>
          <p:nvPr>
            <p:ph type="hdr" sz="quarter"/>
          </p:nvPr>
        </p:nvSpPr>
        <p:spPr bwMode="auto">
          <a:xfrm>
            <a:off x="1" y="1"/>
            <a:ext cx="3076587" cy="512060"/>
          </a:xfrm>
          <a:prstGeom prst="rect">
            <a:avLst/>
          </a:prstGeom>
          <a:noFill/>
          <a:ln w="9525">
            <a:noFill/>
            <a:miter lim="800000"/>
            <a:headEnd/>
            <a:tailEnd/>
          </a:ln>
          <a:effectLst/>
        </p:spPr>
        <p:txBody>
          <a:bodyPr vert="horz" wrap="square" lIns="95549" tIns="47773" rIns="95549" bIns="47773" numCol="1" anchor="t" anchorCtr="0" compatLnSpc="1">
            <a:prstTxWarp prst="textNoShape">
              <a:avLst/>
            </a:prstTxWarp>
          </a:bodyPr>
          <a:lstStyle>
            <a:lvl1pPr>
              <a:defRPr sz="1300"/>
            </a:lvl1pPr>
          </a:lstStyle>
          <a:p>
            <a:endParaRPr lang="en-GB"/>
          </a:p>
        </p:txBody>
      </p:sp>
      <p:sp>
        <p:nvSpPr>
          <p:cNvPr id="9219" name="Rectangle 3"/>
          <p:cNvSpPr>
            <a:spLocks noGrp="1" noChangeArrowheads="1"/>
          </p:cNvSpPr>
          <p:nvPr>
            <p:ph type="dt" idx="1"/>
          </p:nvPr>
        </p:nvSpPr>
        <p:spPr bwMode="auto">
          <a:xfrm>
            <a:off x="4021037" y="1"/>
            <a:ext cx="3076587" cy="512060"/>
          </a:xfrm>
          <a:prstGeom prst="rect">
            <a:avLst/>
          </a:prstGeom>
          <a:noFill/>
          <a:ln w="9525">
            <a:noFill/>
            <a:miter lim="800000"/>
            <a:headEnd/>
            <a:tailEnd/>
          </a:ln>
          <a:effectLst/>
        </p:spPr>
        <p:txBody>
          <a:bodyPr vert="horz" wrap="square" lIns="95549" tIns="47773" rIns="95549" bIns="47773" numCol="1" anchor="t" anchorCtr="0" compatLnSpc="1">
            <a:prstTxWarp prst="textNoShape">
              <a:avLst/>
            </a:prstTxWarp>
          </a:bodyPr>
          <a:lstStyle>
            <a:lvl1pPr algn="r">
              <a:defRPr sz="1300"/>
            </a:lvl1pPr>
          </a:lstStyle>
          <a:p>
            <a:endParaRPr lang="en-GB"/>
          </a:p>
        </p:txBody>
      </p:sp>
      <p:sp>
        <p:nvSpPr>
          <p:cNvPr id="9220" name="Rectangle 4"/>
          <p:cNvSpPr>
            <a:spLocks noGrp="1" noRot="1" noChangeAspect="1" noChangeArrowheads="1" noTextEdit="1"/>
          </p:cNvSpPr>
          <p:nvPr>
            <p:ph type="sldImg" idx="2"/>
          </p:nvPr>
        </p:nvSpPr>
        <p:spPr bwMode="auto">
          <a:xfrm>
            <a:off x="992188" y="766763"/>
            <a:ext cx="5118100" cy="3838575"/>
          </a:xfrm>
          <a:prstGeom prst="rect">
            <a:avLst/>
          </a:prstGeom>
          <a:noFill/>
          <a:ln w="9525">
            <a:solidFill>
              <a:srgbClr val="000000"/>
            </a:solidFill>
            <a:miter lim="800000"/>
            <a:headEnd/>
            <a:tailEnd/>
          </a:ln>
          <a:effectLst/>
        </p:spPr>
      </p:sp>
      <p:sp>
        <p:nvSpPr>
          <p:cNvPr id="9221" name="Rectangle 5"/>
          <p:cNvSpPr>
            <a:spLocks noGrp="1" noChangeArrowheads="1"/>
          </p:cNvSpPr>
          <p:nvPr>
            <p:ph type="body" sz="quarter" idx="3"/>
          </p:nvPr>
        </p:nvSpPr>
        <p:spPr bwMode="auto">
          <a:xfrm>
            <a:off x="709596" y="4862101"/>
            <a:ext cx="5680111" cy="4605246"/>
          </a:xfrm>
          <a:prstGeom prst="rect">
            <a:avLst/>
          </a:prstGeom>
          <a:noFill/>
          <a:ln w="9525">
            <a:noFill/>
            <a:miter lim="800000"/>
            <a:headEnd/>
            <a:tailEnd/>
          </a:ln>
          <a:effectLst/>
        </p:spPr>
        <p:txBody>
          <a:bodyPr vert="horz" wrap="square" lIns="95549" tIns="47773" rIns="95549" bIns="47773" numCol="1" anchor="t" anchorCtr="0" compatLnSpc="1">
            <a:prstTxWarp prst="textNoShape">
              <a:avLst/>
            </a:prstTxWarp>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9222" name="Rectangle 6"/>
          <p:cNvSpPr>
            <a:spLocks noGrp="1" noChangeArrowheads="1"/>
          </p:cNvSpPr>
          <p:nvPr>
            <p:ph type="ftr" sz="quarter" idx="4"/>
          </p:nvPr>
        </p:nvSpPr>
        <p:spPr bwMode="auto">
          <a:xfrm>
            <a:off x="1" y="9720907"/>
            <a:ext cx="3076587" cy="512060"/>
          </a:xfrm>
          <a:prstGeom prst="rect">
            <a:avLst/>
          </a:prstGeom>
          <a:noFill/>
          <a:ln w="9525">
            <a:noFill/>
            <a:miter lim="800000"/>
            <a:headEnd/>
            <a:tailEnd/>
          </a:ln>
          <a:effectLst/>
        </p:spPr>
        <p:txBody>
          <a:bodyPr vert="horz" wrap="square" lIns="95549" tIns="47773" rIns="95549" bIns="47773" numCol="1" anchor="b" anchorCtr="0" compatLnSpc="1">
            <a:prstTxWarp prst="textNoShape">
              <a:avLst/>
            </a:prstTxWarp>
          </a:bodyPr>
          <a:lstStyle>
            <a:lvl1pPr>
              <a:defRPr sz="1300"/>
            </a:lvl1pPr>
          </a:lstStyle>
          <a:p>
            <a:endParaRPr lang="en-GB"/>
          </a:p>
        </p:txBody>
      </p:sp>
      <p:sp>
        <p:nvSpPr>
          <p:cNvPr id="9223" name="Rectangle 7"/>
          <p:cNvSpPr>
            <a:spLocks noGrp="1" noChangeArrowheads="1"/>
          </p:cNvSpPr>
          <p:nvPr>
            <p:ph type="sldNum" sz="quarter" idx="5"/>
          </p:nvPr>
        </p:nvSpPr>
        <p:spPr bwMode="auto">
          <a:xfrm>
            <a:off x="4021037" y="9720907"/>
            <a:ext cx="3076587" cy="512060"/>
          </a:xfrm>
          <a:prstGeom prst="rect">
            <a:avLst/>
          </a:prstGeom>
          <a:noFill/>
          <a:ln w="9525">
            <a:noFill/>
            <a:miter lim="800000"/>
            <a:headEnd/>
            <a:tailEnd/>
          </a:ln>
          <a:effectLst/>
        </p:spPr>
        <p:txBody>
          <a:bodyPr vert="horz" wrap="square" lIns="95549" tIns="47773" rIns="95549" bIns="47773" numCol="1" anchor="b" anchorCtr="0" compatLnSpc="1">
            <a:prstTxWarp prst="textNoShape">
              <a:avLst/>
            </a:prstTxWarp>
          </a:bodyPr>
          <a:lstStyle>
            <a:lvl1pPr algn="r">
              <a:defRPr sz="1300"/>
            </a:lvl1pPr>
          </a:lstStyle>
          <a:p>
            <a:fld id="{600D5460-E14D-44CF-821C-69F40963C657}" type="slidenum">
              <a:rPr lang="en-GB"/>
              <a:pPr/>
              <a:t>‹#›</a:t>
            </a:fld>
            <a:endParaRPr lang="en-GB"/>
          </a:p>
        </p:txBody>
      </p:sp>
    </p:spTree>
    <p:extLst>
      <p:ext uri="{BB962C8B-B14F-4D97-AF65-F5344CB8AC3E}">
        <p14:creationId xmlns:p14="http://schemas.microsoft.com/office/powerpoint/2010/main" val="3484328581"/>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Rdg Vesta" pitchFamily="2" charset="0"/>
        <a:ea typeface="+mn-ea"/>
        <a:cs typeface="+mn-cs"/>
      </a:defRPr>
    </a:lvl1pPr>
    <a:lvl2pPr marL="457200" algn="l" rtl="0" fontAlgn="base">
      <a:spcBef>
        <a:spcPct val="30000"/>
      </a:spcBef>
      <a:spcAft>
        <a:spcPct val="0"/>
      </a:spcAft>
      <a:defRPr sz="1200" kern="1200">
        <a:solidFill>
          <a:schemeClr val="tx1"/>
        </a:solidFill>
        <a:latin typeface="Rdg Vesta" pitchFamily="2" charset="0"/>
        <a:ea typeface="+mn-ea"/>
        <a:cs typeface="+mn-cs"/>
      </a:defRPr>
    </a:lvl2pPr>
    <a:lvl3pPr marL="914400" algn="l" rtl="0" fontAlgn="base">
      <a:spcBef>
        <a:spcPct val="30000"/>
      </a:spcBef>
      <a:spcAft>
        <a:spcPct val="0"/>
      </a:spcAft>
      <a:defRPr sz="1200" kern="1200">
        <a:solidFill>
          <a:schemeClr val="tx1"/>
        </a:solidFill>
        <a:latin typeface="Rdg Vesta" pitchFamily="2" charset="0"/>
        <a:ea typeface="+mn-ea"/>
        <a:cs typeface="+mn-cs"/>
      </a:defRPr>
    </a:lvl3pPr>
    <a:lvl4pPr marL="1371600" algn="l" rtl="0" fontAlgn="base">
      <a:spcBef>
        <a:spcPct val="30000"/>
      </a:spcBef>
      <a:spcAft>
        <a:spcPct val="0"/>
      </a:spcAft>
      <a:defRPr sz="1200" kern="1200">
        <a:solidFill>
          <a:schemeClr val="tx1"/>
        </a:solidFill>
        <a:latin typeface="Rdg Vesta" pitchFamily="2" charset="0"/>
        <a:ea typeface="+mn-ea"/>
        <a:cs typeface="+mn-cs"/>
      </a:defRPr>
    </a:lvl4pPr>
    <a:lvl5pPr marL="1828800" algn="l" rtl="0" fontAlgn="base">
      <a:spcBef>
        <a:spcPct val="30000"/>
      </a:spcBef>
      <a:spcAft>
        <a:spcPct val="0"/>
      </a:spcAft>
      <a:defRPr sz="1200" kern="1200">
        <a:solidFill>
          <a:schemeClr val="tx1"/>
        </a:solidFill>
        <a:latin typeface="Rdg Vesta"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92188" y="766763"/>
            <a:ext cx="5118100" cy="3838575"/>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600D5460-E14D-44CF-821C-69F40963C657}" type="slidenum">
              <a:rPr lang="en-GB" smtClean="0"/>
              <a:pPr/>
              <a:t>1</a:t>
            </a:fld>
            <a:endParaRPr lang="en-GB"/>
          </a:p>
        </p:txBody>
      </p:sp>
    </p:spTree>
    <p:extLst>
      <p:ext uri="{BB962C8B-B14F-4D97-AF65-F5344CB8AC3E}">
        <p14:creationId xmlns:p14="http://schemas.microsoft.com/office/powerpoint/2010/main" val="4466453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https://</a:t>
            </a:r>
            <a:r>
              <a:rPr lang="en-GB" b="1" dirty="0" err="1"/>
              <a:t>youtu.be</a:t>
            </a:r>
            <a:r>
              <a:rPr lang="en-GB" b="1" dirty="0"/>
              <a:t>/</a:t>
            </a:r>
            <a:r>
              <a:rPr lang="en-GB" b="1" dirty="0" err="1"/>
              <a:t>rrMsDRsXnHM</a:t>
            </a:r>
            <a:endParaRPr lang="en-GB" b="1" dirty="0"/>
          </a:p>
        </p:txBody>
      </p:sp>
      <p:sp>
        <p:nvSpPr>
          <p:cNvPr id="4" name="Slide Number Placeholder 3"/>
          <p:cNvSpPr>
            <a:spLocks noGrp="1"/>
          </p:cNvSpPr>
          <p:nvPr>
            <p:ph type="sldNum" sz="quarter" idx="5"/>
          </p:nvPr>
        </p:nvSpPr>
        <p:spPr/>
        <p:txBody>
          <a:bodyPr/>
          <a:lstStyle/>
          <a:p>
            <a:fld id="{600D5460-E14D-44CF-821C-69F40963C657}" type="slidenum">
              <a:rPr lang="en-GB" smtClean="0"/>
              <a:pPr/>
              <a:t>6</a:t>
            </a:fld>
            <a:endParaRPr lang="en-GB"/>
          </a:p>
        </p:txBody>
      </p:sp>
    </p:spTree>
    <p:extLst>
      <p:ext uri="{BB962C8B-B14F-4D97-AF65-F5344CB8AC3E}">
        <p14:creationId xmlns:p14="http://schemas.microsoft.com/office/powerpoint/2010/main" val="2201897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dirty="0">
                <a:latin typeface="+mj-lt"/>
              </a:rPr>
              <a:t>The cell membrane is held together simply by the fact that the hydrocarbon chains do not want to interact with water, since water has hydrogen bonds, and the chains have only dispersion/induction.</a:t>
            </a:r>
          </a:p>
          <a:p>
            <a:endParaRPr lang="en-GB" dirty="0"/>
          </a:p>
        </p:txBody>
      </p:sp>
      <p:sp>
        <p:nvSpPr>
          <p:cNvPr id="4" name="Slide Number Placeholder 3"/>
          <p:cNvSpPr>
            <a:spLocks noGrp="1"/>
          </p:cNvSpPr>
          <p:nvPr>
            <p:ph type="sldNum" sz="quarter" idx="5"/>
          </p:nvPr>
        </p:nvSpPr>
        <p:spPr/>
        <p:txBody>
          <a:bodyPr/>
          <a:lstStyle/>
          <a:p>
            <a:fld id="{600D5460-E14D-44CF-821C-69F40963C657}" type="slidenum">
              <a:rPr lang="en-GB" smtClean="0"/>
              <a:pPr/>
              <a:t>11</a:t>
            </a:fld>
            <a:endParaRPr lang="en-GB"/>
          </a:p>
        </p:txBody>
      </p:sp>
    </p:spTree>
    <p:extLst>
      <p:ext uri="{BB962C8B-B14F-4D97-AF65-F5344CB8AC3E}">
        <p14:creationId xmlns:p14="http://schemas.microsoft.com/office/powerpoint/2010/main" val="40255732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00D5460-E14D-44CF-821C-69F40963C657}" type="slidenum">
              <a:rPr lang="en-GB" smtClean="0"/>
              <a:pPr/>
              <a:t>26</a:t>
            </a:fld>
            <a:endParaRPr lang="en-GB"/>
          </a:p>
        </p:txBody>
      </p:sp>
    </p:spTree>
    <p:extLst>
      <p:ext uri="{BB962C8B-B14F-4D97-AF65-F5344CB8AC3E}">
        <p14:creationId xmlns:p14="http://schemas.microsoft.com/office/powerpoint/2010/main" val="370529084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4.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PhAnim="0" type="title" preserve="1">
  <p:cSld name="Title Slide">
    <p:spTree>
      <p:nvGrpSpPr>
        <p:cNvPr id="1" name=""/>
        <p:cNvGrpSpPr/>
        <p:nvPr/>
      </p:nvGrpSpPr>
      <p:grpSpPr>
        <a:xfrm>
          <a:off x="0" y="0"/>
          <a:ext cx="0" cy="0"/>
          <a:chOff x="0" y="0"/>
          <a:chExt cx="0" cy="0"/>
        </a:xfrm>
      </p:grpSpPr>
      <p:sp>
        <p:nvSpPr>
          <p:cNvPr id="3113" name="Rectangle 41"/>
          <p:cNvSpPr>
            <a:spLocks noChangeArrowheads="1"/>
          </p:cNvSpPr>
          <p:nvPr/>
        </p:nvSpPr>
        <p:spPr bwMode="auto">
          <a:xfrm>
            <a:off x="0" y="0"/>
            <a:ext cx="9144000" cy="6858000"/>
          </a:xfrm>
          <a:prstGeom prst="rect">
            <a:avLst/>
          </a:prstGeom>
          <a:solidFill>
            <a:srgbClr val="FFFFFF"/>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GB" sz="2400"/>
          </a:p>
        </p:txBody>
      </p:sp>
      <p:pic>
        <p:nvPicPr>
          <p:cNvPr id="3111" name="Picture 39" descr="Device-black"/>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524751" y="438150"/>
            <a:ext cx="1184275" cy="387350"/>
          </a:xfrm>
          <a:prstGeom prst="rect">
            <a:avLst/>
          </a:prstGeom>
          <a:noFill/>
          <a:extLst>
            <a:ext uri="{909E8E84-426E-40DD-AFC4-6F175D3DCCD1}">
              <a14:hiddenFill xmlns:a14="http://schemas.microsoft.com/office/drawing/2010/main">
                <a:solidFill>
                  <a:srgbClr val="FFFFFF"/>
                </a:solidFill>
              </a14:hiddenFill>
            </a:ext>
          </a:extLst>
        </p:spPr>
      </p:pic>
      <p:sp>
        <p:nvSpPr>
          <p:cNvPr id="3083" name="Rectangle 11"/>
          <p:cNvSpPr>
            <a:spLocks noGrp="1" noChangeArrowheads="1"/>
          </p:cNvSpPr>
          <p:nvPr>
            <p:ph type="ctrTitle"/>
          </p:nvPr>
        </p:nvSpPr>
        <p:spPr>
          <a:xfrm>
            <a:off x="755650" y="2987675"/>
            <a:ext cx="7920038" cy="2387600"/>
          </a:xfrm>
        </p:spPr>
        <p:txBody>
          <a:bodyPr wrap="square"/>
          <a:lstStyle>
            <a:lvl1pPr>
              <a:lnSpc>
                <a:spcPct val="90000"/>
              </a:lnSpc>
              <a:tabLst>
                <a:tab pos="4038600" algn="l"/>
              </a:tabLst>
              <a:defRPr sz="8200"/>
            </a:lvl1pPr>
          </a:lstStyle>
          <a:p>
            <a:pPr lvl="0"/>
            <a:r>
              <a:rPr lang="en-US" noProof="0"/>
              <a:t>Click to edit Master title style</a:t>
            </a:r>
            <a:endParaRPr lang="en-GB" noProof="0"/>
          </a:p>
        </p:txBody>
      </p:sp>
      <p:sp>
        <p:nvSpPr>
          <p:cNvPr id="3084" name="Rectangle 12"/>
          <p:cNvSpPr>
            <a:spLocks noGrp="1" noChangeArrowheads="1"/>
          </p:cNvSpPr>
          <p:nvPr>
            <p:ph type="subTitle" idx="1"/>
          </p:nvPr>
        </p:nvSpPr>
        <p:spPr>
          <a:xfrm>
            <a:off x="755650" y="5373688"/>
            <a:ext cx="7920038" cy="925512"/>
          </a:xfrm>
        </p:spPr>
        <p:txBody>
          <a:bodyPr/>
          <a:lstStyle>
            <a:lvl1pPr marL="0" indent="0">
              <a:buFontTx/>
              <a:buNone/>
              <a:defRPr sz="3600">
                <a:solidFill>
                  <a:srgbClr val="000000"/>
                </a:solidFill>
              </a:defRPr>
            </a:lvl1pPr>
          </a:lstStyle>
          <a:p>
            <a:pPr lvl="0"/>
            <a:r>
              <a:rPr lang="en-US" noProof="0"/>
              <a:t>Click to edit Master subtitle style</a:t>
            </a:r>
            <a:endParaRPr lang="en-GB" noProof="0"/>
          </a:p>
        </p:txBody>
      </p:sp>
      <p:sp>
        <p:nvSpPr>
          <p:cNvPr id="3089" name="Rectangle 17"/>
          <p:cNvSpPr>
            <a:spLocks noGrp="1" noChangeArrowheads="1"/>
          </p:cNvSpPr>
          <p:nvPr>
            <p:ph type="dt" sz="half" idx="2"/>
          </p:nvPr>
        </p:nvSpPr>
        <p:spPr bwMode="auto">
          <a:xfrm>
            <a:off x="755651" y="6519863"/>
            <a:ext cx="1773238"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solidFill>
                  <a:schemeClr val="tx2"/>
                </a:solidFill>
              </a:defRPr>
            </a:lvl1pPr>
          </a:lstStyle>
          <a:p>
            <a:fld id="{901E09E9-B828-4F07-8691-56061D7C279E}" type="datetime4">
              <a:rPr lang="en-GB"/>
              <a:pPr/>
              <a:t>10 February 2026</a:t>
            </a:fld>
            <a:endParaRPr lang="en-GB"/>
          </a:p>
        </p:txBody>
      </p:sp>
      <p:sp>
        <p:nvSpPr>
          <p:cNvPr id="3090" name="Rectangle 18"/>
          <p:cNvSpPr>
            <a:spLocks noChangeArrowheads="1"/>
          </p:cNvSpPr>
          <p:nvPr/>
        </p:nvSpPr>
        <p:spPr bwMode="auto">
          <a:xfrm>
            <a:off x="2555876" y="6519863"/>
            <a:ext cx="4392613"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GB" sz="1400">
                <a:solidFill>
                  <a:schemeClr val="tx2"/>
                </a:solidFill>
              </a:rPr>
              <a:t>© University of Reading 2008</a:t>
            </a:r>
          </a:p>
        </p:txBody>
      </p:sp>
      <p:sp>
        <p:nvSpPr>
          <p:cNvPr id="3091" name="Text Box 19"/>
          <p:cNvSpPr txBox="1">
            <a:spLocks noChangeArrowheads="1"/>
          </p:cNvSpPr>
          <p:nvPr/>
        </p:nvSpPr>
        <p:spPr bwMode="auto">
          <a:xfrm>
            <a:off x="5292725" y="6519863"/>
            <a:ext cx="344646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r">
              <a:spcBef>
                <a:spcPct val="50000"/>
              </a:spcBef>
            </a:pPr>
            <a:r>
              <a:rPr lang="en-GB" sz="1400" b="1">
                <a:solidFill>
                  <a:schemeClr val="tx2"/>
                </a:solidFill>
              </a:rPr>
              <a:t>www.reading.ac.uk</a:t>
            </a:r>
          </a:p>
        </p:txBody>
      </p:sp>
      <p:sp>
        <p:nvSpPr>
          <p:cNvPr id="3108" name="Rectangle 36"/>
          <p:cNvSpPr>
            <a:spLocks noChangeArrowheads="1"/>
          </p:cNvSpPr>
          <p:nvPr/>
        </p:nvSpPr>
        <p:spPr bwMode="hidden">
          <a:xfrm>
            <a:off x="6588126" y="2"/>
            <a:ext cx="2555875" cy="1196975"/>
          </a:xfrm>
          <a:prstGeom prst="rect">
            <a:avLst/>
          </a:prstGeom>
          <a:solidFill>
            <a:srgbClr val="FFFFFF"/>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GB" sz="2400"/>
          </a:p>
        </p:txBody>
      </p:sp>
      <p:sp>
        <p:nvSpPr>
          <p:cNvPr id="3110" name="Text Box 38"/>
          <p:cNvSpPr txBox="1">
            <a:spLocks noChangeArrowheads="1"/>
          </p:cNvSpPr>
          <p:nvPr/>
        </p:nvSpPr>
        <p:spPr bwMode="auto">
          <a:xfrm>
            <a:off x="855664" y="333375"/>
            <a:ext cx="3671887"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n-GB" sz="1300" b="1"/>
              <a:t>Go to View &gt; Master &gt; Slide Master </a:t>
            </a:r>
            <a:br>
              <a:rPr lang="en-GB" sz="1300" b="1"/>
            </a:br>
            <a:r>
              <a:rPr lang="en-GB" sz="1300" b="1"/>
              <a:t>to put your unit name here</a:t>
            </a:r>
          </a:p>
        </p:txBody>
      </p:sp>
      <p:pic>
        <p:nvPicPr>
          <p:cNvPr id="3107" name="Picture 35" descr="Device-white"/>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hidden">
          <a:xfrm>
            <a:off x="7524751" y="438150"/>
            <a:ext cx="1184275" cy="387350"/>
          </a:xfrm>
          <a:prstGeom prst="rect">
            <a:avLst/>
          </a:prstGeom>
          <a:solidFill>
            <a:srgbClr val="FFFFFF"/>
          </a:solidFill>
        </p:spPr>
      </p:pic>
      <p:pic>
        <p:nvPicPr>
          <p:cNvPr id="3114" name="Picture 42" descr="powerpoint-images"/>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54089" y="981077"/>
            <a:ext cx="5346700" cy="1946275"/>
          </a:xfrm>
          <a:prstGeom prst="rect">
            <a:avLst/>
          </a:prstGeom>
          <a:noFill/>
          <a:extLst>
            <a:ext uri="{909E8E84-426E-40DD-AFC4-6F175D3DCCD1}">
              <a14:hiddenFill xmlns:a14="http://schemas.microsoft.com/office/drawing/2010/main">
                <a:solidFill>
                  <a:srgbClr val="FFFFFF"/>
                </a:solidFill>
              </a14:hiddenFill>
            </a:ext>
          </a:extLst>
        </p:spPr>
      </p:pic>
      <p:sp>
        <p:nvSpPr>
          <p:cNvPr id="13" name="Rectangle 41"/>
          <p:cNvSpPr>
            <a:spLocks noChangeArrowheads="1"/>
          </p:cNvSpPr>
          <p:nvPr userDrawn="1"/>
        </p:nvSpPr>
        <p:spPr bwMode="auto">
          <a:xfrm>
            <a:off x="0" y="0"/>
            <a:ext cx="9144000" cy="6858000"/>
          </a:xfrm>
          <a:prstGeom prst="rect">
            <a:avLst/>
          </a:prstGeom>
          <a:solidFill>
            <a:srgbClr val="FFFFFF"/>
          </a:solidFill>
          <a:ln w="9525" algn="ctr">
            <a:noFill/>
            <a:miter lim="800000"/>
            <a:headEnd/>
            <a:tailEnd/>
          </a:ln>
          <a:effectLst/>
        </p:spPr>
        <p:txBody>
          <a:bodyPr wrap="none" anchor="ctr"/>
          <a:lstStyle/>
          <a:p>
            <a:endParaRPr lang="en-GB" sz="2400"/>
          </a:p>
        </p:txBody>
      </p:sp>
      <p:pic>
        <p:nvPicPr>
          <p:cNvPr id="14" name="Picture 39" descr="Device-black"/>
          <p:cNvPicPr>
            <a:picLocks noChangeAspect="1" noChangeArrowheads="1"/>
          </p:cNvPicPr>
          <p:nvPr userDrawn="1"/>
        </p:nvPicPr>
        <p:blipFill>
          <a:blip r:embed="rId2" cstate="print"/>
          <a:srcRect/>
          <a:stretch>
            <a:fillRect/>
          </a:stretch>
        </p:blipFill>
        <p:spPr bwMode="auto">
          <a:xfrm>
            <a:off x="7524751" y="438150"/>
            <a:ext cx="1184275" cy="387350"/>
          </a:xfrm>
          <a:prstGeom prst="rect">
            <a:avLst/>
          </a:prstGeom>
          <a:noFill/>
        </p:spPr>
      </p:pic>
      <p:pic>
        <p:nvPicPr>
          <p:cNvPr id="15" name="Picture 42" descr="powerpoint-images"/>
          <p:cNvPicPr>
            <a:picLocks noChangeAspect="1" noChangeArrowheads="1"/>
          </p:cNvPicPr>
          <p:nvPr userDrawn="1"/>
        </p:nvPicPr>
        <p:blipFill>
          <a:blip r:embed="rId4" cstate="print"/>
          <a:srcRect/>
          <a:stretch>
            <a:fillRect/>
          </a:stretch>
        </p:blipFill>
        <p:spPr bwMode="auto">
          <a:xfrm>
            <a:off x="954089" y="981077"/>
            <a:ext cx="5346700" cy="1946275"/>
          </a:xfrm>
          <a:prstGeom prst="rect">
            <a:avLst/>
          </a:prstGeom>
          <a:noFill/>
        </p:spPr>
      </p:pic>
    </p:spTree>
  </p:cSld>
  <p:clrMapOvr>
    <a:masterClrMapping/>
  </p:clrMapOvr>
  <p:transition spd="med">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Slide Number Placeholder 3"/>
          <p:cNvSpPr>
            <a:spLocks noGrp="1"/>
          </p:cNvSpPr>
          <p:nvPr>
            <p:ph type="sldNum" sz="quarter" idx="10"/>
          </p:nvPr>
        </p:nvSpPr>
        <p:spPr/>
        <p:txBody>
          <a:bodyPr/>
          <a:lstStyle>
            <a:lvl1pPr>
              <a:defRPr/>
            </a:lvl1pPr>
          </a:lstStyle>
          <a:p>
            <a:fld id="{759D1556-5B33-4675-B4F7-DF410413ABF8}" type="slidenum">
              <a:rPr lang="en-GB" smtClean="0"/>
              <a:pPr/>
              <a:t>‹#›</a:t>
            </a:fld>
            <a:endParaRPr lang="en-GB"/>
          </a:p>
        </p:txBody>
      </p:sp>
    </p:spTree>
    <p:extLst>
      <p:ext uri="{BB962C8B-B14F-4D97-AF65-F5344CB8AC3E}">
        <p14:creationId xmlns:p14="http://schemas.microsoft.com/office/powerpoint/2010/main" val="4066120366"/>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2"/>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Slide Number Placeholder 3"/>
          <p:cNvSpPr>
            <a:spLocks noGrp="1"/>
          </p:cNvSpPr>
          <p:nvPr>
            <p:ph type="sldNum" sz="quarter" idx="10"/>
          </p:nvPr>
        </p:nvSpPr>
        <p:spPr/>
        <p:txBody>
          <a:bodyPr/>
          <a:lstStyle>
            <a:lvl1pPr>
              <a:defRPr/>
            </a:lvl1pPr>
          </a:lstStyle>
          <a:p>
            <a:fld id="{D8A0146E-E93F-40FA-95C0-5D26FF87133A}" type="slidenum">
              <a:rPr lang="en-GB" smtClean="0"/>
              <a:pPr/>
              <a:t>‹#›</a:t>
            </a:fld>
            <a:endParaRPr lang="en-GB"/>
          </a:p>
        </p:txBody>
      </p:sp>
    </p:spTree>
    <p:extLst>
      <p:ext uri="{BB962C8B-B14F-4D97-AF65-F5344CB8AC3E}">
        <p14:creationId xmlns:p14="http://schemas.microsoft.com/office/powerpoint/2010/main" val="3668429074"/>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755651" y="1600200"/>
            <a:ext cx="3889375" cy="4343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797426" y="1600200"/>
            <a:ext cx="3889375" cy="4343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Slide Number Placeholder 4"/>
          <p:cNvSpPr>
            <a:spLocks noGrp="1"/>
          </p:cNvSpPr>
          <p:nvPr>
            <p:ph type="sldNum" sz="quarter" idx="10"/>
          </p:nvPr>
        </p:nvSpPr>
        <p:spPr/>
        <p:txBody>
          <a:bodyPr/>
          <a:lstStyle>
            <a:lvl1pPr>
              <a:defRPr/>
            </a:lvl1pPr>
          </a:lstStyle>
          <a:p>
            <a:fld id="{17953796-1D7D-417A-8CFA-8A437F7CE2F3}" type="slidenum">
              <a:rPr lang="en-GB" smtClean="0"/>
              <a:pPr/>
              <a:t>‹#›</a:t>
            </a:fld>
            <a:endParaRPr lang="en-GB"/>
          </a:p>
        </p:txBody>
      </p:sp>
    </p:spTree>
    <p:extLst>
      <p:ext uri="{BB962C8B-B14F-4D97-AF65-F5344CB8AC3E}">
        <p14:creationId xmlns:p14="http://schemas.microsoft.com/office/powerpoint/2010/main" val="897003088"/>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Slide Number Placeholder 6"/>
          <p:cNvSpPr>
            <a:spLocks noGrp="1"/>
          </p:cNvSpPr>
          <p:nvPr>
            <p:ph type="sldNum" sz="quarter" idx="10"/>
          </p:nvPr>
        </p:nvSpPr>
        <p:spPr/>
        <p:txBody>
          <a:bodyPr/>
          <a:lstStyle>
            <a:lvl1pPr>
              <a:defRPr/>
            </a:lvl1pPr>
          </a:lstStyle>
          <a:p>
            <a:fld id="{9280D11D-4F9A-40E8-A8A2-19DCF5485138}" type="slidenum">
              <a:rPr lang="en-GB" smtClean="0"/>
              <a:pPr/>
              <a:t>‹#›</a:t>
            </a:fld>
            <a:endParaRPr lang="en-GB"/>
          </a:p>
        </p:txBody>
      </p:sp>
    </p:spTree>
    <p:extLst>
      <p:ext uri="{BB962C8B-B14F-4D97-AF65-F5344CB8AC3E}">
        <p14:creationId xmlns:p14="http://schemas.microsoft.com/office/powerpoint/2010/main" val="3463687266"/>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Slide Number Placeholder 2"/>
          <p:cNvSpPr>
            <a:spLocks noGrp="1"/>
          </p:cNvSpPr>
          <p:nvPr>
            <p:ph type="sldNum" sz="quarter" idx="10"/>
          </p:nvPr>
        </p:nvSpPr>
        <p:spPr/>
        <p:txBody>
          <a:bodyPr/>
          <a:lstStyle>
            <a:lvl1pPr>
              <a:defRPr/>
            </a:lvl1pPr>
          </a:lstStyle>
          <a:p>
            <a:fld id="{3BBBB062-E9BC-46FC-A221-AD28C64C6177}" type="slidenum">
              <a:rPr lang="en-GB" smtClean="0"/>
              <a:pPr/>
              <a:t>‹#›</a:t>
            </a:fld>
            <a:endParaRPr lang="en-GB"/>
          </a:p>
        </p:txBody>
      </p:sp>
    </p:spTree>
    <p:extLst>
      <p:ext uri="{BB962C8B-B14F-4D97-AF65-F5344CB8AC3E}">
        <p14:creationId xmlns:p14="http://schemas.microsoft.com/office/powerpoint/2010/main" val="627437519"/>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p:txBody>
          <a:bodyPr/>
          <a:lstStyle>
            <a:lvl1pPr>
              <a:defRPr/>
            </a:lvl1pPr>
          </a:lstStyle>
          <a:p>
            <a:fld id="{2B36FD51-1015-4304-9645-AC62F2AE25BF}" type="slidenum">
              <a:rPr lang="en-GB" smtClean="0"/>
              <a:pPr/>
              <a:t>‹#›</a:t>
            </a:fld>
            <a:endParaRPr lang="en-GB"/>
          </a:p>
        </p:txBody>
      </p:sp>
    </p:spTree>
    <p:extLst>
      <p:ext uri="{BB962C8B-B14F-4D97-AF65-F5344CB8AC3E}">
        <p14:creationId xmlns:p14="http://schemas.microsoft.com/office/powerpoint/2010/main" val="74538594"/>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2"/>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1" y="1435102"/>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Slide Number Placeholder 4"/>
          <p:cNvSpPr>
            <a:spLocks noGrp="1"/>
          </p:cNvSpPr>
          <p:nvPr>
            <p:ph type="sldNum" sz="quarter" idx="10"/>
          </p:nvPr>
        </p:nvSpPr>
        <p:spPr/>
        <p:txBody>
          <a:bodyPr/>
          <a:lstStyle>
            <a:lvl1pPr>
              <a:defRPr/>
            </a:lvl1pPr>
          </a:lstStyle>
          <a:p>
            <a:fld id="{3B398DC1-42D3-4E19-9786-FDC6B5B9933F}" type="slidenum">
              <a:rPr lang="en-GB" smtClean="0"/>
              <a:pPr/>
              <a:t>‹#›</a:t>
            </a:fld>
            <a:endParaRPr lang="en-GB"/>
          </a:p>
        </p:txBody>
      </p:sp>
    </p:spTree>
    <p:extLst>
      <p:ext uri="{BB962C8B-B14F-4D97-AF65-F5344CB8AC3E}">
        <p14:creationId xmlns:p14="http://schemas.microsoft.com/office/powerpoint/2010/main" val="3712137751"/>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GB"/>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Slide Number Placeholder 4"/>
          <p:cNvSpPr>
            <a:spLocks noGrp="1"/>
          </p:cNvSpPr>
          <p:nvPr>
            <p:ph type="sldNum" sz="quarter" idx="10"/>
          </p:nvPr>
        </p:nvSpPr>
        <p:spPr/>
        <p:txBody>
          <a:bodyPr/>
          <a:lstStyle>
            <a:lvl1pPr>
              <a:defRPr/>
            </a:lvl1pPr>
          </a:lstStyle>
          <a:p>
            <a:fld id="{B7C4F427-71DA-42BF-9A23-26EEB255A747}" type="slidenum">
              <a:rPr lang="en-GB" smtClean="0"/>
              <a:pPr/>
              <a:t>‹#›</a:t>
            </a:fld>
            <a:endParaRPr lang="en-GB"/>
          </a:p>
        </p:txBody>
      </p:sp>
    </p:spTree>
    <p:extLst>
      <p:ext uri="{BB962C8B-B14F-4D97-AF65-F5344CB8AC3E}">
        <p14:creationId xmlns:p14="http://schemas.microsoft.com/office/powerpoint/2010/main" val="738608688"/>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Slide Number Placeholder 3"/>
          <p:cNvSpPr>
            <a:spLocks noGrp="1"/>
          </p:cNvSpPr>
          <p:nvPr>
            <p:ph type="sldNum" sz="quarter" idx="10"/>
          </p:nvPr>
        </p:nvSpPr>
        <p:spPr/>
        <p:txBody>
          <a:bodyPr/>
          <a:lstStyle>
            <a:lvl1pPr>
              <a:defRPr/>
            </a:lvl1pPr>
          </a:lstStyle>
          <a:p>
            <a:fld id="{9955E386-501C-4B8D-95FE-5F35F50D7F60}" type="slidenum">
              <a:rPr lang="en-GB" smtClean="0"/>
              <a:pPr/>
              <a:t>‹#›</a:t>
            </a:fld>
            <a:endParaRPr lang="en-GB"/>
          </a:p>
        </p:txBody>
      </p:sp>
    </p:spTree>
    <p:extLst>
      <p:ext uri="{BB962C8B-B14F-4D97-AF65-F5344CB8AC3E}">
        <p14:creationId xmlns:p14="http://schemas.microsoft.com/office/powerpoint/2010/main" val="1750655329"/>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04014" y="274638"/>
            <a:ext cx="1982787" cy="5668962"/>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755651" y="274638"/>
            <a:ext cx="5795963" cy="56689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Slide Number Placeholder 3"/>
          <p:cNvSpPr>
            <a:spLocks noGrp="1"/>
          </p:cNvSpPr>
          <p:nvPr>
            <p:ph type="sldNum" sz="quarter" idx="10"/>
          </p:nvPr>
        </p:nvSpPr>
        <p:spPr/>
        <p:txBody>
          <a:bodyPr/>
          <a:lstStyle>
            <a:lvl1pPr>
              <a:defRPr/>
            </a:lvl1pPr>
          </a:lstStyle>
          <a:p>
            <a:fld id="{B5D204FA-AD45-4274-8CB5-C19925E50E44}" type="slidenum">
              <a:rPr lang="en-GB" smtClean="0"/>
              <a:pPr/>
              <a:t>‹#›</a:t>
            </a:fld>
            <a:endParaRPr lang="en-GB"/>
          </a:p>
        </p:txBody>
      </p:sp>
    </p:spTree>
    <p:extLst>
      <p:ext uri="{BB962C8B-B14F-4D97-AF65-F5344CB8AC3E}">
        <p14:creationId xmlns:p14="http://schemas.microsoft.com/office/powerpoint/2010/main" val="3248341449"/>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CC"/>
        </a:solidFill>
        <a:effectLst/>
      </p:bgPr>
    </p:bg>
    <p:spTree>
      <p:nvGrpSpPr>
        <p:cNvPr id="1" name=""/>
        <p:cNvGrpSpPr/>
        <p:nvPr/>
      </p:nvGrpSpPr>
      <p:grpSpPr>
        <a:xfrm>
          <a:off x="0" y="0"/>
          <a:ext cx="0" cy="0"/>
          <a:chOff x="0" y="0"/>
          <a:chExt cx="0" cy="0"/>
        </a:xfrm>
      </p:grpSpPr>
      <p:pic>
        <p:nvPicPr>
          <p:cNvPr id="1077" name="Picture 53" descr="Device-black"/>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7524751" y="438150"/>
            <a:ext cx="1184275" cy="387350"/>
          </a:xfrm>
          <a:prstGeom prst="rect">
            <a:avLst/>
          </a:prstGeom>
          <a:noFill/>
          <a:extLst>
            <a:ext uri="{909E8E84-426E-40DD-AFC4-6F175D3DCCD1}">
              <a14:hiddenFill xmlns:a14="http://schemas.microsoft.com/office/drawing/2010/main">
                <a:solidFill>
                  <a:srgbClr val="FFFFFF"/>
                </a:solidFill>
              </a14:hiddenFill>
            </a:ext>
          </a:extLst>
        </p:spPr>
      </p:pic>
      <p:sp>
        <p:nvSpPr>
          <p:cNvPr id="1026" name="Rectangle 2"/>
          <p:cNvSpPr>
            <a:spLocks noGrp="1" noChangeArrowheads="1"/>
          </p:cNvSpPr>
          <p:nvPr>
            <p:ph type="title"/>
          </p:nvPr>
        </p:nvSpPr>
        <p:spPr bwMode="auto">
          <a:xfrm>
            <a:off x="755651" y="274638"/>
            <a:ext cx="6192838"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b" anchorCtr="0" compatLnSpc="1">
            <a:prstTxWarp prst="textNoShape">
              <a:avLst/>
            </a:prstTxWarp>
          </a:bodyPr>
          <a:lstStyle/>
          <a:p>
            <a:pPr lvl="0"/>
            <a:r>
              <a:rPr lang="en-US"/>
              <a:t>Click to edit Master title style</a:t>
            </a:r>
            <a:endParaRPr lang="en-GB"/>
          </a:p>
        </p:txBody>
      </p:sp>
      <p:sp>
        <p:nvSpPr>
          <p:cNvPr id="1027" name="Rectangle 3"/>
          <p:cNvSpPr>
            <a:spLocks noGrp="1" noChangeArrowheads="1"/>
          </p:cNvSpPr>
          <p:nvPr>
            <p:ph type="body" idx="1"/>
          </p:nvPr>
        </p:nvSpPr>
        <p:spPr bwMode="auto">
          <a:xfrm>
            <a:off x="755650" y="1600200"/>
            <a:ext cx="7931150" cy="434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37" name="Rectangle 13"/>
          <p:cNvSpPr>
            <a:spLocks noGrp="1" noChangeArrowheads="1"/>
          </p:cNvSpPr>
          <p:nvPr>
            <p:ph type="sldNum" sz="quarter" idx="4"/>
          </p:nvPr>
        </p:nvSpPr>
        <p:spPr bwMode="auto">
          <a:xfrm>
            <a:off x="8116888" y="6281738"/>
            <a:ext cx="676275"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2000"/>
            </a:lvl1pPr>
          </a:lstStyle>
          <a:p>
            <a:fld id="{B840E540-F2F8-41E1-849D-65A0688D08AF}" type="slidenum">
              <a:rPr lang="en-GB" smtClean="0"/>
              <a:pPr/>
              <a:t>‹#›</a:t>
            </a:fld>
            <a:endParaRPr lang="en-GB" dirty="0"/>
          </a:p>
        </p:txBody>
      </p:sp>
      <p:sp>
        <p:nvSpPr>
          <p:cNvPr id="1043" name="Rectangle 19"/>
          <p:cNvSpPr>
            <a:spLocks noChangeArrowheads="1"/>
          </p:cNvSpPr>
          <p:nvPr/>
        </p:nvSpPr>
        <p:spPr bwMode="auto">
          <a:xfrm>
            <a:off x="755651" y="6519863"/>
            <a:ext cx="63373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1400" dirty="0"/>
          </a:p>
        </p:txBody>
      </p:sp>
      <p:pic>
        <p:nvPicPr>
          <p:cNvPr id="1074" name="Picture 50" descr="Device-wine"/>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hidden">
          <a:xfrm>
            <a:off x="7524751" y="438152"/>
            <a:ext cx="1184275" cy="385763"/>
          </a:xfrm>
          <a:prstGeom prst="rect">
            <a:avLst/>
          </a:prstGeom>
          <a:solidFill>
            <a:schemeClr val="accent1"/>
          </a:solidFill>
        </p:spPr>
      </p:pic>
      <p:pic>
        <p:nvPicPr>
          <p:cNvPr id="1079" name="Picture 55" descr="Device-white"/>
          <p:cNvPicPr>
            <a:picLocks noChangeAspect="1" noChangeArrowheads="1"/>
          </p:cNvPicPr>
          <p:nvPr/>
        </p:nvPicPr>
        <p:blipFill>
          <a:blip r:embed="rId15" cstate="print">
            <a:extLst>
              <a:ext uri="{28A0092B-C50C-407E-A947-70E740481C1C}">
                <a14:useLocalDpi xmlns:a14="http://schemas.microsoft.com/office/drawing/2010/main" val="0"/>
              </a:ext>
            </a:extLst>
          </a:blip>
          <a:srcRect/>
          <a:stretch>
            <a:fillRect/>
          </a:stretch>
        </p:blipFill>
        <p:spPr bwMode="hidden">
          <a:xfrm>
            <a:off x="7524751" y="438150"/>
            <a:ext cx="1184275" cy="3873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ransition>
    <p:fade/>
  </p:transition>
  <p:hf hdr="0" ftr="0" dt="0"/>
  <p:txStyles>
    <p:titleStyle>
      <a:lvl1pPr algn="l" rtl="0" eaLnBrk="1" fontAlgn="base" hangingPunct="1">
        <a:spcBef>
          <a:spcPct val="0"/>
        </a:spcBef>
        <a:spcAft>
          <a:spcPct val="0"/>
        </a:spcAft>
        <a:defRPr sz="3600">
          <a:solidFill>
            <a:schemeClr val="tx2"/>
          </a:solidFill>
          <a:latin typeface="+mj-lt"/>
          <a:ea typeface="+mj-ea"/>
          <a:cs typeface="+mj-cs"/>
        </a:defRPr>
      </a:lvl1pPr>
      <a:lvl2pPr algn="l" rtl="0" eaLnBrk="1" fontAlgn="base" hangingPunct="1">
        <a:spcBef>
          <a:spcPct val="0"/>
        </a:spcBef>
        <a:spcAft>
          <a:spcPct val="0"/>
        </a:spcAft>
        <a:defRPr sz="3600">
          <a:solidFill>
            <a:schemeClr val="tx2"/>
          </a:solidFill>
          <a:latin typeface="Rdg Vesta" pitchFamily="2" charset="0"/>
        </a:defRPr>
      </a:lvl2pPr>
      <a:lvl3pPr algn="l" rtl="0" eaLnBrk="1" fontAlgn="base" hangingPunct="1">
        <a:spcBef>
          <a:spcPct val="0"/>
        </a:spcBef>
        <a:spcAft>
          <a:spcPct val="0"/>
        </a:spcAft>
        <a:defRPr sz="3600">
          <a:solidFill>
            <a:schemeClr val="tx2"/>
          </a:solidFill>
          <a:latin typeface="Rdg Vesta" pitchFamily="2" charset="0"/>
        </a:defRPr>
      </a:lvl3pPr>
      <a:lvl4pPr algn="l" rtl="0" eaLnBrk="1" fontAlgn="base" hangingPunct="1">
        <a:spcBef>
          <a:spcPct val="0"/>
        </a:spcBef>
        <a:spcAft>
          <a:spcPct val="0"/>
        </a:spcAft>
        <a:defRPr sz="3600">
          <a:solidFill>
            <a:schemeClr val="tx2"/>
          </a:solidFill>
          <a:latin typeface="Rdg Vesta" pitchFamily="2" charset="0"/>
        </a:defRPr>
      </a:lvl4pPr>
      <a:lvl5pPr algn="l" rtl="0" eaLnBrk="1" fontAlgn="base" hangingPunct="1">
        <a:spcBef>
          <a:spcPct val="0"/>
        </a:spcBef>
        <a:spcAft>
          <a:spcPct val="0"/>
        </a:spcAft>
        <a:defRPr sz="3600">
          <a:solidFill>
            <a:schemeClr val="tx2"/>
          </a:solidFill>
          <a:latin typeface="Rdg Vesta" pitchFamily="2" charset="0"/>
        </a:defRPr>
      </a:lvl5pPr>
      <a:lvl6pPr marL="457200" algn="l" rtl="0" eaLnBrk="1" fontAlgn="base" hangingPunct="1">
        <a:spcBef>
          <a:spcPct val="0"/>
        </a:spcBef>
        <a:spcAft>
          <a:spcPct val="0"/>
        </a:spcAft>
        <a:defRPr sz="3600">
          <a:solidFill>
            <a:schemeClr val="tx2"/>
          </a:solidFill>
          <a:latin typeface="Rdg Vesta" pitchFamily="2" charset="0"/>
        </a:defRPr>
      </a:lvl6pPr>
      <a:lvl7pPr marL="914400" algn="l" rtl="0" eaLnBrk="1" fontAlgn="base" hangingPunct="1">
        <a:spcBef>
          <a:spcPct val="0"/>
        </a:spcBef>
        <a:spcAft>
          <a:spcPct val="0"/>
        </a:spcAft>
        <a:defRPr sz="3600">
          <a:solidFill>
            <a:schemeClr val="tx2"/>
          </a:solidFill>
          <a:latin typeface="Rdg Vesta" pitchFamily="2" charset="0"/>
        </a:defRPr>
      </a:lvl7pPr>
      <a:lvl8pPr marL="1371600" algn="l" rtl="0" eaLnBrk="1" fontAlgn="base" hangingPunct="1">
        <a:spcBef>
          <a:spcPct val="0"/>
        </a:spcBef>
        <a:spcAft>
          <a:spcPct val="0"/>
        </a:spcAft>
        <a:defRPr sz="3600">
          <a:solidFill>
            <a:schemeClr val="tx2"/>
          </a:solidFill>
          <a:latin typeface="Rdg Vesta" pitchFamily="2" charset="0"/>
        </a:defRPr>
      </a:lvl8pPr>
      <a:lvl9pPr marL="1828800" algn="l" rtl="0" eaLnBrk="1" fontAlgn="base" hangingPunct="1">
        <a:spcBef>
          <a:spcPct val="0"/>
        </a:spcBef>
        <a:spcAft>
          <a:spcPct val="0"/>
        </a:spcAft>
        <a:defRPr sz="3600">
          <a:solidFill>
            <a:schemeClr val="tx2"/>
          </a:solidFill>
          <a:latin typeface="Rdg Vesta" pitchFamily="2" charset="0"/>
        </a:defRPr>
      </a:lvl9pPr>
    </p:titleStyle>
    <p:bodyStyle>
      <a:lvl1pPr marL="342900" indent="-342900" algn="l" rtl="0" eaLnBrk="1" fontAlgn="base" hangingPunct="1">
        <a:lnSpc>
          <a:spcPct val="110000"/>
        </a:lnSpc>
        <a:spcBef>
          <a:spcPct val="20000"/>
        </a:spcBef>
        <a:spcAft>
          <a:spcPct val="0"/>
        </a:spcAft>
        <a:buClr>
          <a:schemeClr val="tx2"/>
        </a:buClr>
        <a:buChar char="•"/>
        <a:defRPr sz="2400">
          <a:solidFill>
            <a:schemeClr val="tx1"/>
          </a:solidFill>
          <a:latin typeface="+mn-lt"/>
          <a:ea typeface="+mn-ea"/>
          <a:cs typeface="+mn-cs"/>
        </a:defRPr>
      </a:lvl1pPr>
      <a:lvl2pPr marL="742950" indent="-285750" algn="l" rtl="0" eaLnBrk="1" fontAlgn="base" hangingPunct="1">
        <a:lnSpc>
          <a:spcPct val="110000"/>
        </a:lnSpc>
        <a:spcBef>
          <a:spcPct val="10000"/>
        </a:spcBef>
        <a:spcAft>
          <a:spcPct val="0"/>
        </a:spcAft>
        <a:buClr>
          <a:schemeClr val="tx2"/>
        </a:buClr>
        <a:buFont typeface="Rdg Vesta" pitchFamily="2" charset="0"/>
        <a:buChar char="–"/>
        <a:defRPr sz="2000">
          <a:solidFill>
            <a:schemeClr val="tx1"/>
          </a:solidFill>
          <a:latin typeface="+mn-lt"/>
        </a:defRPr>
      </a:lvl2pPr>
      <a:lvl3pPr marL="1143000" indent="-228600" algn="l" rtl="0" eaLnBrk="1" fontAlgn="base" hangingPunct="1">
        <a:lnSpc>
          <a:spcPct val="110000"/>
        </a:lnSpc>
        <a:spcBef>
          <a:spcPct val="10000"/>
        </a:spcBef>
        <a:spcAft>
          <a:spcPct val="0"/>
        </a:spcAft>
        <a:buClr>
          <a:schemeClr val="tx2"/>
        </a:buClr>
        <a:buChar char="•"/>
        <a:defRPr sz="2000">
          <a:solidFill>
            <a:schemeClr val="tx1"/>
          </a:solidFill>
          <a:latin typeface="+mn-lt"/>
        </a:defRPr>
      </a:lvl3pPr>
      <a:lvl4pPr marL="1600200" indent="-228600" algn="l" rtl="0" eaLnBrk="1" fontAlgn="base" hangingPunct="1">
        <a:lnSpc>
          <a:spcPct val="110000"/>
        </a:lnSpc>
        <a:spcBef>
          <a:spcPct val="10000"/>
        </a:spcBef>
        <a:spcAft>
          <a:spcPct val="0"/>
        </a:spcAft>
        <a:buClr>
          <a:schemeClr val="tx2"/>
        </a:buClr>
        <a:buFont typeface="Rdg Vesta" pitchFamily="2" charset="0"/>
        <a:buChar char="–"/>
        <a:defRPr sz="2000">
          <a:solidFill>
            <a:schemeClr val="tx1"/>
          </a:solidFill>
          <a:latin typeface="+mn-lt"/>
        </a:defRPr>
      </a:lvl4pPr>
      <a:lvl5pPr marL="2057400" indent="-228600" algn="l" rtl="0" eaLnBrk="1" fontAlgn="base" hangingPunct="1">
        <a:lnSpc>
          <a:spcPct val="110000"/>
        </a:lnSpc>
        <a:spcBef>
          <a:spcPct val="10000"/>
        </a:spcBef>
        <a:spcAft>
          <a:spcPct val="0"/>
        </a:spcAft>
        <a:buClr>
          <a:schemeClr val="tx2"/>
        </a:buClr>
        <a:buFont typeface="Rdg Vesta" pitchFamily="2" charset="0"/>
        <a:buChar char="»"/>
        <a:defRPr sz="2000">
          <a:solidFill>
            <a:schemeClr val="tx1"/>
          </a:solidFill>
          <a:latin typeface="+mn-lt"/>
        </a:defRPr>
      </a:lvl5pPr>
      <a:lvl6pPr marL="2514600" indent="-228600" algn="l" rtl="0" eaLnBrk="1" fontAlgn="base" hangingPunct="1">
        <a:lnSpc>
          <a:spcPct val="110000"/>
        </a:lnSpc>
        <a:spcBef>
          <a:spcPct val="10000"/>
        </a:spcBef>
        <a:spcAft>
          <a:spcPct val="0"/>
        </a:spcAft>
        <a:buClr>
          <a:schemeClr val="tx2"/>
        </a:buClr>
        <a:buFont typeface="Rdg Vesta" pitchFamily="2" charset="0"/>
        <a:buChar char="»"/>
        <a:defRPr sz="2000">
          <a:solidFill>
            <a:schemeClr val="tx1"/>
          </a:solidFill>
          <a:latin typeface="+mn-lt"/>
        </a:defRPr>
      </a:lvl6pPr>
      <a:lvl7pPr marL="2971800" indent="-228600" algn="l" rtl="0" eaLnBrk="1" fontAlgn="base" hangingPunct="1">
        <a:lnSpc>
          <a:spcPct val="110000"/>
        </a:lnSpc>
        <a:spcBef>
          <a:spcPct val="10000"/>
        </a:spcBef>
        <a:spcAft>
          <a:spcPct val="0"/>
        </a:spcAft>
        <a:buClr>
          <a:schemeClr val="tx2"/>
        </a:buClr>
        <a:buFont typeface="Rdg Vesta" pitchFamily="2" charset="0"/>
        <a:buChar char="»"/>
        <a:defRPr sz="2000">
          <a:solidFill>
            <a:schemeClr val="tx1"/>
          </a:solidFill>
          <a:latin typeface="+mn-lt"/>
        </a:defRPr>
      </a:lvl7pPr>
      <a:lvl8pPr marL="3429000" indent="-228600" algn="l" rtl="0" eaLnBrk="1" fontAlgn="base" hangingPunct="1">
        <a:lnSpc>
          <a:spcPct val="110000"/>
        </a:lnSpc>
        <a:spcBef>
          <a:spcPct val="10000"/>
        </a:spcBef>
        <a:spcAft>
          <a:spcPct val="0"/>
        </a:spcAft>
        <a:buClr>
          <a:schemeClr val="tx2"/>
        </a:buClr>
        <a:buFont typeface="Rdg Vesta" pitchFamily="2" charset="0"/>
        <a:buChar char="»"/>
        <a:defRPr sz="2000">
          <a:solidFill>
            <a:schemeClr val="tx1"/>
          </a:solidFill>
          <a:latin typeface="+mn-lt"/>
        </a:defRPr>
      </a:lvl8pPr>
      <a:lvl9pPr marL="3886200" indent="-228600" algn="l" rtl="0" eaLnBrk="1" fontAlgn="base" hangingPunct="1">
        <a:lnSpc>
          <a:spcPct val="110000"/>
        </a:lnSpc>
        <a:spcBef>
          <a:spcPct val="10000"/>
        </a:spcBef>
        <a:spcAft>
          <a:spcPct val="0"/>
        </a:spcAft>
        <a:buClr>
          <a:schemeClr val="tx2"/>
        </a:buClr>
        <a:buFont typeface="Rdg Vesta" pitchFamily="2" charset="0"/>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oleObject" Target="../embeddings/oleObject1.bin"/><Relationship Id="rId1" Type="http://schemas.openxmlformats.org/officeDocument/2006/relationships/slideLayout" Target="../slideLayouts/slideLayout7.xml"/><Relationship Id="rId5" Type="http://schemas.openxmlformats.org/officeDocument/2006/relationships/image" Target="../media/image6.emf"/><Relationship Id="rId4" Type="http://schemas.openxmlformats.org/officeDocument/2006/relationships/oleObject" Target="../embeddings/oleObject2.bin"/></Relationships>
</file>

<file path=ppt/slides/_rels/slide4.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oleObject" Target="../embeddings/oleObject1.bin"/><Relationship Id="rId1" Type="http://schemas.openxmlformats.org/officeDocument/2006/relationships/slideLayout" Target="../slideLayouts/slideLayout7.xml"/><Relationship Id="rId6" Type="http://schemas.openxmlformats.org/officeDocument/2006/relationships/image" Target="../media/image8.emf"/><Relationship Id="rId5" Type="http://schemas.openxmlformats.org/officeDocument/2006/relationships/oleObject" Target="../embeddings/oleObject3.bin"/><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slideLayout" Target="../slideLayouts/slideLayout7.xml"/><Relationship Id="rId1" Type="http://schemas.openxmlformats.org/officeDocument/2006/relationships/video" Target="https://www.youtube.com/embed/sbCODXfczCg?start=72&amp;feature=oembed"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slideLayout" Target="../slideLayouts/slideLayout7.xml"/><Relationship Id="rId1" Type="http://schemas.openxmlformats.org/officeDocument/2006/relationships/video" Target="https://www.youtube.com/embed/rrMsDRsXnHM?feature=oembed"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image" Target="../media/image14.emf"/><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6.emf"/><Relationship Id="rId7" Type="http://schemas.openxmlformats.org/officeDocument/2006/relationships/image" Target="../media/image18.emf"/><Relationship Id="rId2" Type="http://schemas.openxmlformats.org/officeDocument/2006/relationships/oleObject" Target="../embeddings/oleObject4.bin"/><Relationship Id="rId1" Type="http://schemas.openxmlformats.org/officeDocument/2006/relationships/slideLayout" Target="../slideLayouts/slideLayout7.xml"/><Relationship Id="rId6" Type="http://schemas.openxmlformats.org/officeDocument/2006/relationships/oleObject" Target="../embeddings/oleObject6.bin"/><Relationship Id="rId5" Type="http://schemas.openxmlformats.org/officeDocument/2006/relationships/image" Target="../media/image17.emf"/><Relationship Id="rId4" Type="http://schemas.openxmlformats.org/officeDocument/2006/relationships/oleObject" Target="../embeddings/oleObject5.bin"/></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4530" name="Rectangle 2"/>
          <p:cNvSpPr>
            <a:spLocks noGrp="1" noChangeArrowheads="1"/>
          </p:cNvSpPr>
          <p:nvPr>
            <p:ph type="ctrTitle"/>
          </p:nvPr>
        </p:nvSpPr>
        <p:spPr/>
        <p:txBody>
          <a:bodyPr/>
          <a:lstStyle/>
          <a:p>
            <a:r>
              <a:rPr lang="en-US" sz="4800" dirty="0"/>
              <a:t>CH2PH2: </a:t>
            </a:r>
            <a:br>
              <a:rPr lang="en-US" sz="4800" dirty="0"/>
            </a:br>
            <a:r>
              <a:rPr lang="en-US" sz="4800" dirty="0"/>
              <a:t>Surfaces and Interfaces</a:t>
            </a:r>
            <a:br>
              <a:rPr lang="en-US" sz="4800" dirty="0"/>
            </a:br>
            <a:endParaRPr lang="en-US" sz="4800" dirty="0"/>
          </a:p>
        </p:txBody>
      </p:sp>
      <p:sp>
        <p:nvSpPr>
          <p:cNvPr id="534531" name="Rectangle 3"/>
          <p:cNvSpPr>
            <a:spLocks noGrp="1" noChangeArrowheads="1"/>
          </p:cNvSpPr>
          <p:nvPr>
            <p:ph type="subTitle" idx="1"/>
          </p:nvPr>
        </p:nvSpPr>
        <p:spPr>
          <a:xfrm>
            <a:off x="755576" y="5004175"/>
            <a:ext cx="7920038" cy="925512"/>
          </a:xfrm>
        </p:spPr>
        <p:txBody>
          <a:bodyPr/>
          <a:lstStyle/>
          <a:p>
            <a:r>
              <a:rPr lang="en-US" dirty="0"/>
              <a:t>Dr. James Hallett</a:t>
            </a:r>
          </a:p>
          <a:p>
            <a:r>
              <a:rPr lang="en-US" dirty="0"/>
              <a:t>j.e.hallett@reading.ac.uk</a:t>
            </a:r>
          </a:p>
        </p:txBody>
      </p:sp>
    </p:spTree>
    <p:extLst>
      <p:ext uri="{BB962C8B-B14F-4D97-AF65-F5344CB8AC3E}">
        <p14:creationId xmlns:p14="http://schemas.microsoft.com/office/powerpoint/2010/main" val="1137376584"/>
      </p:ext>
    </p:extLst>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98AF2FC-1BAA-D606-61D7-6E0CAF2F171F}"/>
              </a:ext>
            </a:extLst>
          </p:cNvPr>
          <p:cNvSpPr txBox="1"/>
          <p:nvPr/>
        </p:nvSpPr>
        <p:spPr>
          <a:xfrm>
            <a:off x="838200" y="838200"/>
            <a:ext cx="8229600" cy="4247317"/>
          </a:xfrm>
          <a:prstGeom prst="rect">
            <a:avLst/>
          </a:prstGeom>
          <a:noFill/>
        </p:spPr>
        <p:txBody>
          <a:bodyPr wrap="square" rtlCol="0">
            <a:spAutoFit/>
          </a:bodyPr>
          <a:lstStyle/>
          <a:p>
            <a:r>
              <a:rPr lang="en-GB" sz="5400" dirty="0"/>
              <a:t>CH2PH2</a:t>
            </a:r>
          </a:p>
          <a:p>
            <a:endParaRPr lang="en-GB" sz="5400" dirty="0"/>
          </a:p>
          <a:p>
            <a:r>
              <a:rPr lang="en-GB" sz="5400" dirty="0"/>
              <a:t>Lecture 2: Self-assembly, surfactants and micelles</a:t>
            </a:r>
          </a:p>
          <a:p>
            <a:endParaRPr lang="en-GB" sz="5400" dirty="0"/>
          </a:p>
        </p:txBody>
      </p:sp>
    </p:spTree>
    <p:extLst>
      <p:ext uri="{BB962C8B-B14F-4D97-AF65-F5344CB8AC3E}">
        <p14:creationId xmlns:p14="http://schemas.microsoft.com/office/powerpoint/2010/main" val="1876176341"/>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77283BF-4440-A9D4-34AF-933EFBE426EF}"/>
              </a:ext>
            </a:extLst>
          </p:cNvPr>
          <p:cNvSpPr txBox="1">
            <a:spLocks noChangeArrowheads="1"/>
          </p:cNvSpPr>
          <p:nvPr/>
        </p:nvSpPr>
        <p:spPr bwMode="auto">
          <a:xfrm>
            <a:off x="304800" y="381002"/>
            <a:ext cx="83820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3600" dirty="0">
                <a:solidFill>
                  <a:srgbClr val="000000"/>
                </a:solidFill>
                <a:latin typeface="+mj-lt"/>
              </a:rPr>
              <a:t>Surfactants</a:t>
            </a:r>
          </a:p>
        </p:txBody>
      </p:sp>
      <p:sp>
        <p:nvSpPr>
          <p:cNvPr id="4" name="TextBox 3">
            <a:extLst>
              <a:ext uri="{FF2B5EF4-FFF2-40B4-BE49-F238E27FC236}">
                <a16:creationId xmlns:a16="http://schemas.microsoft.com/office/drawing/2014/main" id="{9906F8C9-B2AF-622B-7632-C882F60F8A3F}"/>
              </a:ext>
            </a:extLst>
          </p:cNvPr>
          <p:cNvSpPr txBox="1">
            <a:spLocks noChangeArrowheads="1"/>
          </p:cNvSpPr>
          <p:nvPr/>
        </p:nvSpPr>
        <p:spPr bwMode="auto">
          <a:xfrm>
            <a:off x="304799" y="1143002"/>
            <a:ext cx="863268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indent="0" eaLnBrk="1" hangingPunct="1">
              <a:spcBef>
                <a:spcPct val="0"/>
              </a:spcBef>
              <a:buNone/>
            </a:pPr>
            <a:r>
              <a:rPr lang="en-GB" sz="1800" dirty="0">
                <a:latin typeface="+mj-lt"/>
              </a:rPr>
              <a:t>Surfactants are amphiphilic: contain both hydrophilic and </a:t>
            </a:r>
            <a:r>
              <a:rPr lang="en-GB" sz="1800" dirty="0" err="1">
                <a:latin typeface="+mj-lt"/>
              </a:rPr>
              <a:t>solvophilic</a:t>
            </a:r>
            <a:r>
              <a:rPr lang="en-GB" sz="1800" dirty="0">
                <a:latin typeface="+mj-lt"/>
              </a:rPr>
              <a:t> (hydrophobic) groups</a:t>
            </a:r>
            <a:endParaRPr lang="en-US" altLang="en-US" sz="1800" dirty="0">
              <a:latin typeface="+mj-lt"/>
            </a:endParaRPr>
          </a:p>
        </p:txBody>
      </p:sp>
      <p:graphicFrame>
        <p:nvGraphicFramePr>
          <p:cNvPr id="18" name="Object 17">
            <a:extLst>
              <a:ext uri="{FF2B5EF4-FFF2-40B4-BE49-F238E27FC236}">
                <a16:creationId xmlns:a16="http://schemas.microsoft.com/office/drawing/2014/main" id="{179AC6C2-0E53-48BC-8D7A-56D42A18638B}"/>
              </a:ext>
            </a:extLst>
          </p:cNvPr>
          <p:cNvGraphicFramePr>
            <a:graphicFrameLocks noChangeAspect="1"/>
          </p:cNvGraphicFramePr>
          <p:nvPr>
            <p:extLst>
              <p:ext uri="{D42A27DB-BD31-4B8C-83A1-F6EECF244321}">
                <p14:modId xmlns:p14="http://schemas.microsoft.com/office/powerpoint/2010/main" val="2508583339"/>
              </p:ext>
            </p:extLst>
          </p:nvPr>
        </p:nvGraphicFramePr>
        <p:xfrm>
          <a:off x="1410479" y="2824648"/>
          <a:ext cx="1273175" cy="620713"/>
        </p:xfrm>
        <a:graphic>
          <a:graphicData uri="http://schemas.openxmlformats.org/presentationml/2006/ole">
            <mc:AlternateContent xmlns:mc="http://schemas.openxmlformats.org/markup-compatibility/2006">
              <mc:Choice xmlns:v="urn:schemas-microsoft-com:vml" Requires="v">
                <p:oleObj name="CS ChemDraw Drawing" r:id="rId2" imgW="1273686" imgH="621420" progId="ChemDraw.Document.6.0">
                  <p:embed/>
                </p:oleObj>
              </mc:Choice>
              <mc:Fallback>
                <p:oleObj name="CS ChemDraw Drawing" r:id="rId2" imgW="1273686" imgH="621420" progId="ChemDraw.Document.6.0">
                  <p:embed/>
                  <p:pic>
                    <p:nvPicPr>
                      <p:cNvPr id="18" name="Object 17">
                        <a:extLst>
                          <a:ext uri="{FF2B5EF4-FFF2-40B4-BE49-F238E27FC236}">
                            <a16:creationId xmlns:a16="http://schemas.microsoft.com/office/drawing/2014/main" id="{179AC6C2-0E53-48BC-8D7A-56D42A18638B}"/>
                          </a:ext>
                        </a:extLst>
                      </p:cNvPr>
                      <p:cNvPicPr/>
                      <p:nvPr/>
                    </p:nvPicPr>
                    <p:blipFill>
                      <a:blip r:embed="rId3"/>
                      <a:stretch>
                        <a:fillRect/>
                      </a:stretch>
                    </p:blipFill>
                    <p:spPr>
                      <a:xfrm>
                        <a:off x="1410479" y="2824648"/>
                        <a:ext cx="1273175" cy="620713"/>
                      </a:xfrm>
                      <a:prstGeom prst="rect">
                        <a:avLst/>
                      </a:prstGeom>
                    </p:spPr>
                  </p:pic>
                </p:oleObj>
              </mc:Fallback>
            </mc:AlternateContent>
          </a:graphicData>
        </a:graphic>
      </p:graphicFrame>
      <p:graphicFrame>
        <p:nvGraphicFramePr>
          <p:cNvPr id="19" name="Object 18">
            <a:extLst>
              <a:ext uri="{FF2B5EF4-FFF2-40B4-BE49-F238E27FC236}">
                <a16:creationId xmlns:a16="http://schemas.microsoft.com/office/drawing/2014/main" id="{66385EDD-5DBC-4CA2-C624-3331055D4A64}"/>
              </a:ext>
            </a:extLst>
          </p:cNvPr>
          <p:cNvGraphicFramePr>
            <a:graphicFrameLocks noChangeAspect="1"/>
          </p:cNvGraphicFramePr>
          <p:nvPr>
            <p:extLst>
              <p:ext uri="{D42A27DB-BD31-4B8C-83A1-F6EECF244321}">
                <p14:modId xmlns:p14="http://schemas.microsoft.com/office/powerpoint/2010/main" val="1205476717"/>
              </p:ext>
            </p:extLst>
          </p:nvPr>
        </p:nvGraphicFramePr>
        <p:xfrm>
          <a:off x="5048266" y="2770841"/>
          <a:ext cx="2824163" cy="938213"/>
        </p:xfrm>
        <a:graphic>
          <a:graphicData uri="http://schemas.openxmlformats.org/presentationml/2006/ole">
            <mc:AlternateContent xmlns:mc="http://schemas.openxmlformats.org/markup-compatibility/2006">
              <mc:Choice xmlns:v="urn:schemas-microsoft-com:vml" Requires="v">
                <p:oleObj name="CS ChemDraw Drawing" r:id="rId4" imgW="2823581" imgH="938345" progId="ChemDraw.Document.6.0">
                  <p:embed/>
                </p:oleObj>
              </mc:Choice>
              <mc:Fallback>
                <p:oleObj name="CS ChemDraw Drawing" r:id="rId4" imgW="2823581" imgH="938345" progId="ChemDraw.Document.6.0">
                  <p:embed/>
                  <p:pic>
                    <p:nvPicPr>
                      <p:cNvPr id="19" name="Object 18">
                        <a:extLst>
                          <a:ext uri="{FF2B5EF4-FFF2-40B4-BE49-F238E27FC236}">
                            <a16:creationId xmlns:a16="http://schemas.microsoft.com/office/drawing/2014/main" id="{66385EDD-5DBC-4CA2-C624-3331055D4A64}"/>
                          </a:ext>
                        </a:extLst>
                      </p:cNvPr>
                      <p:cNvPicPr/>
                      <p:nvPr/>
                    </p:nvPicPr>
                    <p:blipFill>
                      <a:blip r:embed="rId5"/>
                      <a:stretch>
                        <a:fillRect/>
                      </a:stretch>
                    </p:blipFill>
                    <p:spPr>
                      <a:xfrm>
                        <a:off x="5048266" y="2770841"/>
                        <a:ext cx="2824163" cy="938213"/>
                      </a:xfrm>
                      <a:prstGeom prst="rect">
                        <a:avLst/>
                      </a:prstGeom>
                    </p:spPr>
                  </p:pic>
                </p:oleObj>
              </mc:Fallback>
            </mc:AlternateContent>
          </a:graphicData>
        </a:graphic>
      </p:graphicFrame>
      <p:sp>
        <p:nvSpPr>
          <p:cNvPr id="20" name="TextBox 19">
            <a:extLst>
              <a:ext uri="{FF2B5EF4-FFF2-40B4-BE49-F238E27FC236}">
                <a16:creationId xmlns:a16="http://schemas.microsoft.com/office/drawing/2014/main" id="{C920073D-15BC-54AF-2DE7-45C4FFE68021}"/>
              </a:ext>
            </a:extLst>
          </p:cNvPr>
          <p:cNvSpPr txBox="1"/>
          <p:nvPr/>
        </p:nvSpPr>
        <p:spPr>
          <a:xfrm>
            <a:off x="1" y="1983825"/>
            <a:ext cx="9144000" cy="646331"/>
          </a:xfrm>
          <a:prstGeom prst="rect">
            <a:avLst/>
          </a:prstGeom>
          <a:noFill/>
        </p:spPr>
        <p:txBody>
          <a:bodyPr wrap="square" rtlCol="0">
            <a:spAutoFit/>
          </a:bodyPr>
          <a:lstStyle/>
          <a:p>
            <a:r>
              <a:rPr lang="en-US" sz="1800" dirty="0">
                <a:latin typeface="+mj-lt"/>
              </a:rPr>
              <a:t>In order to dissolve well, a solute must be able to interact with the solvent well. What types of interactions do polar solvents make with solutes versus non-polar solvents?</a:t>
            </a:r>
          </a:p>
        </p:txBody>
      </p:sp>
      <p:sp>
        <p:nvSpPr>
          <p:cNvPr id="22" name="TextBox 21">
            <a:extLst>
              <a:ext uri="{FF2B5EF4-FFF2-40B4-BE49-F238E27FC236}">
                <a16:creationId xmlns:a16="http://schemas.microsoft.com/office/drawing/2014/main" id="{7FA8094D-9221-8374-6CB0-F0CA73EA8E8A}"/>
              </a:ext>
            </a:extLst>
          </p:cNvPr>
          <p:cNvSpPr txBox="1"/>
          <p:nvPr/>
        </p:nvSpPr>
        <p:spPr>
          <a:xfrm>
            <a:off x="714633" y="3960672"/>
            <a:ext cx="3962400" cy="1754326"/>
          </a:xfrm>
          <a:prstGeom prst="rect">
            <a:avLst/>
          </a:prstGeom>
          <a:noFill/>
        </p:spPr>
        <p:txBody>
          <a:bodyPr wrap="square" rtlCol="0">
            <a:spAutoFit/>
          </a:bodyPr>
          <a:lstStyle/>
          <a:p>
            <a:r>
              <a:rPr lang="en-US" sz="1800" dirty="0">
                <a:latin typeface="+mj-lt"/>
              </a:rPr>
              <a:t>Has a dipole, so it wants to make</a:t>
            </a:r>
          </a:p>
          <a:p>
            <a:pPr marL="285750" indent="-285750">
              <a:buFont typeface="Arial" pitchFamily="34" charset="0"/>
              <a:buChar char="•"/>
            </a:pPr>
            <a:r>
              <a:rPr lang="en-US" sz="1800" dirty="0">
                <a:latin typeface="+mj-lt"/>
              </a:rPr>
              <a:t>Ion/dipole</a:t>
            </a:r>
          </a:p>
          <a:p>
            <a:pPr marL="285750" indent="-285750">
              <a:buFont typeface="Arial" pitchFamily="34" charset="0"/>
              <a:buChar char="•"/>
            </a:pPr>
            <a:r>
              <a:rPr lang="en-US" sz="1800" dirty="0">
                <a:latin typeface="+mj-lt"/>
              </a:rPr>
              <a:t>Dipole/dipole</a:t>
            </a:r>
          </a:p>
          <a:p>
            <a:pPr marL="285750" indent="-285750">
              <a:buFont typeface="Arial" pitchFamily="34" charset="0"/>
              <a:buChar char="•"/>
            </a:pPr>
            <a:r>
              <a:rPr lang="en-US" sz="1800" dirty="0">
                <a:latin typeface="+mj-lt"/>
              </a:rPr>
              <a:t>Dipole induced dipole</a:t>
            </a:r>
          </a:p>
          <a:p>
            <a:r>
              <a:rPr lang="en-US" sz="1800" dirty="0">
                <a:latin typeface="+mj-lt"/>
              </a:rPr>
              <a:t>So the solute must have a charge, dipole, or polarizability</a:t>
            </a:r>
          </a:p>
        </p:txBody>
      </p:sp>
      <p:sp>
        <p:nvSpPr>
          <p:cNvPr id="24" name="TextBox 23">
            <a:extLst>
              <a:ext uri="{FF2B5EF4-FFF2-40B4-BE49-F238E27FC236}">
                <a16:creationId xmlns:a16="http://schemas.microsoft.com/office/drawing/2014/main" id="{D17CC8A3-9CAA-8931-FE48-2A264DDEABD5}"/>
              </a:ext>
            </a:extLst>
          </p:cNvPr>
          <p:cNvSpPr txBox="1"/>
          <p:nvPr/>
        </p:nvSpPr>
        <p:spPr>
          <a:xfrm>
            <a:off x="4794612" y="3996794"/>
            <a:ext cx="4142871" cy="1477328"/>
          </a:xfrm>
          <a:prstGeom prst="rect">
            <a:avLst/>
          </a:prstGeom>
          <a:noFill/>
        </p:spPr>
        <p:txBody>
          <a:bodyPr wrap="square" rtlCol="0">
            <a:spAutoFit/>
          </a:bodyPr>
          <a:lstStyle/>
          <a:p>
            <a:r>
              <a:rPr lang="en-US" sz="1800" dirty="0">
                <a:latin typeface="+mj-lt"/>
              </a:rPr>
              <a:t>Has no charge, dipole, or double bonds</a:t>
            </a:r>
          </a:p>
          <a:p>
            <a:pPr marL="285750" indent="-285750">
              <a:buFont typeface="Arial" pitchFamily="34" charset="0"/>
              <a:buChar char="•"/>
            </a:pPr>
            <a:r>
              <a:rPr lang="en-US" sz="1800" dirty="0">
                <a:latin typeface="+mj-lt"/>
              </a:rPr>
              <a:t>Only dispersion</a:t>
            </a:r>
          </a:p>
          <a:p>
            <a:r>
              <a:rPr lang="en-US" sz="1800" dirty="0">
                <a:latin typeface="+mj-lt"/>
              </a:rPr>
              <a:t>So the solute should be one that can engage in dispersion only.</a:t>
            </a:r>
          </a:p>
          <a:p>
            <a:endParaRPr lang="en-US" sz="1800" dirty="0">
              <a:latin typeface="+mj-lt"/>
            </a:endParaRPr>
          </a:p>
        </p:txBody>
      </p:sp>
      <p:sp>
        <p:nvSpPr>
          <p:cNvPr id="25" name="TextBox 24">
            <a:extLst>
              <a:ext uri="{FF2B5EF4-FFF2-40B4-BE49-F238E27FC236}">
                <a16:creationId xmlns:a16="http://schemas.microsoft.com/office/drawing/2014/main" id="{66E1C5B5-37BF-90A3-EB3E-0BE0B7EC345E}"/>
              </a:ext>
            </a:extLst>
          </p:cNvPr>
          <p:cNvSpPr txBox="1"/>
          <p:nvPr/>
        </p:nvSpPr>
        <p:spPr>
          <a:xfrm>
            <a:off x="1242108" y="5949280"/>
            <a:ext cx="7290331" cy="830997"/>
          </a:xfrm>
          <a:prstGeom prst="rect">
            <a:avLst/>
          </a:prstGeom>
          <a:noFill/>
        </p:spPr>
        <p:txBody>
          <a:bodyPr wrap="square" rtlCol="0">
            <a:spAutoFit/>
          </a:bodyPr>
          <a:lstStyle/>
          <a:p>
            <a:pPr algn="ctr"/>
            <a:r>
              <a:rPr lang="en-US" dirty="0">
                <a:latin typeface="+mj-lt"/>
              </a:rPr>
              <a:t>If the solute can form interactions other than dispersion, it will interact more strongly with water</a:t>
            </a:r>
          </a:p>
        </p:txBody>
      </p:sp>
    </p:spTree>
    <p:extLst>
      <p:ext uri="{BB962C8B-B14F-4D97-AF65-F5344CB8AC3E}">
        <p14:creationId xmlns:p14="http://schemas.microsoft.com/office/powerpoint/2010/main" val="141028208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2">
                                            <p:txEl>
                                              <p:pRg st="0" end="0"/>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2">
                                            <p:txEl>
                                              <p:pRg st="1" end="1"/>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2">
                                            <p:txEl>
                                              <p:pRg st="2" end="2"/>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2">
                                            <p:txEl>
                                              <p:pRg st="3" end="3"/>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2">
                                            <p:txEl>
                                              <p:pRg st="4" end="4"/>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4">
                                            <p:txEl>
                                              <p:pRg st="0" end="0"/>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4">
                                            <p:txEl>
                                              <p:pRg st="1" end="1"/>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24">
                                            <p:txEl>
                                              <p:pRg st="2" end="2"/>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0" grpId="0"/>
      <p:bldP spid="22" grpId="0" build="p"/>
      <p:bldP spid="24" grpId="0" build="p"/>
      <p:bldP spid="2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8F332A0-9D0A-1CB6-AE8A-61974059B2A2}"/>
              </a:ext>
            </a:extLst>
          </p:cNvPr>
          <p:cNvSpPr txBox="1">
            <a:spLocks noChangeArrowheads="1"/>
          </p:cNvSpPr>
          <p:nvPr/>
        </p:nvSpPr>
        <p:spPr bwMode="auto">
          <a:xfrm>
            <a:off x="304800" y="381002"/>
            <a:ext cx="83820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3600" dirty="0">
                <a:solidFill>
                  <a:srgbClr val="000000"/>
                </a:solidFill>
                <a:latin typeface="+mj-lt"/>
              </a:rPr>
              <a:t>Surfactants</a:t>
            </a:r>
          </a:p>
        </p:txBody>
      </p:sp>
      <p:sp>
        <p:nvSpPr>
          <p:cNvPr id="4" name="TextBox 3">
            <a:extLst>
              <a:ext uri="{FF2B5EF4-FFF2-40B4-BE49-F238E27FC236}">
                <a16:creationId xmlns:a16="http://schemas.microsoft.com/office/drawing/2014/main" id="{8A476F47-590A-8C34-AD3F-B7EDA846E1E9}"/>
              </a:ext>
            </a:extLst>
          </p:cNvPr>
          <p:cNvSpPr txBox="1"/>
          <p:nvPr/>
        </p:nvSpPr>
        <p:spPr>
          <a:xfrm>
            <a:off x="753177" y="1201372"/>
            <a:ext cx="7391400" cy="461665"/>
          </a:xfrm>
          <a:prstGeom prst="rect">
            <a:avLst/>
          </a:prstGeom>
          <a:noFill/>
        </p:spPr>
        <p:txBody>
          <a:bodyPr wrap="square" rtlCol="0">
            <a:spAutoFit/>
          </a:bodyPr>
          <a:lstStyle/>
          <a:p>
            <a:r>
              <a:rPr lang="en-US" dirty="0">
                <a:latin typeface="+mj-lt"/>
              </a:rPr>
              <a:t>This result is commonly expressed as </a:t>
            </a:r>
            <a:r>
              <a:rPr lang="en-US" i="1" dirty="0">
                <a:latin typeface="+mj-lt"/>
              </a:rPr>
              <a:t>like dissolves like</a:t>
            </a:r>
            <a:r>
              <a:rPr lang="en-US" dirty="0">
                <a:latin typeface="+mj-lt"/>
              </a:rPr>
              <a:t>.</a:t>
            </a:r>
          </a:p>
        </p:txBody>
      </p:sp>
      <p:graphicFrame>
        <p:nvGraphicFramePr>
          <p:cNvPr id="5" name="Object 4">
            <a:extLst>
              <a:ext uri="{FF2B5EF4-FFF2-40B4-BE49-F238E27FC236}">
                <a16:creationId xmlns:a16="http://schemas.microsoft.com/office/drawing/2014/main" id="{4F399ABA-6C39-A15E-33FD-F45A7B469AC6}"/>
              </a:ext>
            </a:extLst>
          </p:cNvPr>
          <p:cNvGraphicFramePr>
            <a:graphicFrameLocks noChangeAspect="1"/>
          </p:cNvGraphicFramePr>
          <p:nvPr>
            <p:extLst>
              <p:ext uri="{D42A27DB-BD31-4B8C-83A1-F6EECF244321}">
                <p14:modId xmlns:p14="http://schemas.microsoft.com/office/powerpoint/2010/main" val="3698956585"/>
              </p:ext>
            </p:extLst>
          </p:nvPr>
        </p:nvGraphicFramePr>
        <p:xfrm>
          <a:off x="1143000" y="2590800"/>
          <a:ext cx="1273175" cy="620713"/>
        </p:xfrm>
        <a:graphic>
          <a:graphicData uri="http://schemas.openxmlformats.org/presentationml/2006/ole">
            <mc:AlternateContent xmlns:mc="http://schemas.openxmlformats.org/markup-compatibility/2006">
              <mc:Choice xmlns:v="urn:schemas-microsoft-com:vml" Requires="v">
                <p:oleObj name="CS ChemDraw Drawing" r:id="rId2" imgW="1273686" imgH="621420" progId="ChemDraw.Document.6.0">
                  <p:embed/>
                </p:oleObj>
              </mc:Choice>
              <mc:Fallback>
                <p:oleObj name="CS ChemDraw Drawing" r:id="rId2" imgW="1273686" imgH="621420" progId="ChemDraw.Document.6.0">
                  <p:embed/>
                  <p:pic>
                    <p:nvPicPr>
                      <p:cNvPr id="5" name="Object 4">
                        <a:extLst>
                          <a:ext uri="{FF2B5EF4-FFF2-40B4-BE49-F238E27FC236}">
                            <a16:creationId xmlns:a16="http://schemas.microsoft.com/office/drawing/2014/main" id="{4F399ABA-6C39-A15E-33FD-F45A7B469AC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2590800"/>
                        <a:ext cx="1273175" cy="620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6" name="Picture 4" descr="http://upload.wikimedia.org/wikipedia/commons/b/be/Fat_triglyceride_shorthand_formula.PNG">
            <a:extLst>
              <a:ext uri="{FF2B5EF4-FFF2-40B4-BE49-F238E27FC236}">
                <a16:creationId xmlns:a16="http://schemas.microsoft.com/office/drawing/2014/main" id="{F618631C-0621-CF2B-BE72-0C06C55D8C1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88171" y="1546641"/>
            <a:ext cx="5555829" cy="2459612"/>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193D109C-C918-71DC-8B41-CFF5584697FB}"/>
              </a:ext>
            </a:extLst>
          </p:cNvPr>
          <p:cNvSpPr txBox="1"/>
          <p:nvPr/>
        </p:nvSpPr>
        <p:spPr>
          <a:xfrm>
            <a:off x="533400" y="4008397"/>
            <a:ext cx="4114800" cy="830997"/>
          </a:xfrm>
          <a:prstGeom prst="rect">
            <a:avLst/>
          </a:prstGeom>
          <a:noFill/>
        </p:spPr>
        <p:txBody>
          <a:bodyPr wrap="square" rtlCol="0">
            <a:spAutoFit/>
          </a:bodyPr>
          <a:lstStyle/>
          <a:p>
            <a:r>
              <a:rPr lang="en-US" dirty="0">
                <a:latin typeface="+mj-lt"/>
              </a:rPr>
              <a:t>Is water going to want to dissolve the fat?</a:t>
            </a:r>
          </a:p>
        </p:txBody>
      </p:sp>
      <p:graphicFrame>
        <p:nvGraphicFramePr>
          <p:cNvPr id="8" name="Object 7">
            <a:extLst>
              <a:ext uri="{FF2B5EF4-FFF2-40B4-BE49-F238E27FC236}">
                <a16:creationId xmlns:a16="http://schemas.microsoft.com/office/drawing/2014/main" id="{05927584-5CD3-50F2-DE22-0E0EA2EA6E9E}"/>
              </a:ext>
            </a:extLst>
          </p:cNvPr>
          <p:cNvGraphicFramePr>
            <a:graphicFrameLocks noChangeAspect="1"/>
          </p:cNvGraphicFramePr>
          <p:nvPr>
            <p:extLst>
              <p:ext uri="{D42A27DB-BD31-4B8C-83A1-F6EECF244321}">
                <p14:modId xmlns:p14="http://schemas.microsoft.com/office/powerpoint/2010/main" val="938611261"/>
              </p:ext>
            </p:extLst>
          </p:nvPr>
        </p:nvGraphicFramePr>
        <p:xfrm>
          <a:off x="312821" y="4495800"/>
          <a:ext cx="5767226" cy="990600"/>
        </p:xfrm>
        <a:graphic>
          <a:graphicData uri="http://schemas.openxmlformats.org/presentationml/2006/ole">
            <mc:AlternateContent xmlns:mc="http://schemas.openxmlformats.org/markup-compatibility/2006">
              <mc:Choice xmlns:v="urn:schemas-microsoft-com:vml" Requires="v">
                <p:oleObj name="CS ChemDraw Drawing" r:id="rId5" imgW="3789770" imgH="650330" progId="ChemDraw.Document.6.0">
                  <p:embed/>
                </p:oleObj>
              </mc:Choice>
              <mc:Fallback>
                <p:oleObj name="CS ChemDraw Drawing" r:id="rId5" imgW="3789770" imgH="650330" progId="ChemDraw.Document.6.0">
                  <p:embed/>
                  <p:pic>
                    <p:nvPicPr>
                      <p:cNvPr id="8" name="Object 7">
                        <a:extLst>
                          <a:ext uri="{FF2B5EF4-FFF2-40B4-BE49-F238E27FC236}">
                            <a16:creationId xmlns:a16="http://schemas.microsoft.com/office/drawing/2014/main" id="{05927584-5CD3-50F2-DE22-0E0EA2EA6E9E}"/>
                          </a:ext>
                        </a:extLst>
                      </p:cNvPr>
                      <p:cNvPicPr/>
                      <p:nvPr/>
                    </p:nvPicPr>
                    <p:blipFill>
                      <a:blip r:embed="rId6"/>
                      <a:stretch>
                        <a:fillRect/>
                      </a:stretch>
                    </p:blipFill>
                    <p:spPr>
                      <a:xfrm>
                        <a:off x="312821" y="4495800"/>
                        <a:ext cx="5767226" cy="990600"/>
                      </a:xfrm>
                      <a:prstGeom prst="rect">
                        <a:avLst/>
                      </a:prstGeom>
                    </p:spPr>
                  </p:pic>
                </p:oleObj>
              </mc:Fallback>
            </mc:AlternateContent>
          </a:graphicData>
        </a:graphic>
      </p:graphicFrame>
      <p:sp>
        <p:nvSpPr>
          <p:cNvPr id="9" name="TextBox 8">
            <a:extLst>
              <a:ext uri="{FF2B5EF4-FFF2-40B4-BE49-F238E27FC236}">
                <a16:creationId xmlns:a16="http://schemas.microsoft.com/office/drawing/2014/main" id="{D0660E20-A1FB-BDD1-E7A1-356726094459}"/>
              </a:ext>
            </a:extLst>
          </p:cNvPr>
          <p:cNvSpPr txBox="1"/>
          <p:nvPr/>
        </p:nvSpPr>
        <p:spPr>
          <a:xfrm>
            <a:off x="533400" y="5844139"/>
            <a:ext cx="4572000" cy="830997"/>
          </a:xfrm>
          <a:prstGeom prst="rect">
            <a:avLst/>
          </a:prstGeom>
          <a:noFill/>
        </p:spPr>
        <p:txBody>
          <a:bodyPr wrap="square" rtlCol="0">
            <a:spAutoFit/>
          </a:bodyPr>
          <a:lstStyle/>
          <a:p>
            <a:r>
              <a:rPr lang="en-US" dirty="0">
                <a:latin typeface="+mj-lt"/>
              </a:rPr>
              <a:t>How does the </a:t>
            </a:r>
            <a:r>
              <a:rPr lang="en-US" dirty="0" err="1">
                <a:latin typeface="+mj-lt"/>
              </a:rPr>
              <a:t>lauric</a:t>
            </a:r>
            <a:r>
              <a:rPr lang="en-US" dirty="0">
                <a:latin typeface="+mj-lt"/>
              </a:rPr>
              <a:t> acid help the fat dissolve in the water?</a:t>
            </a:r>
          </a:p>
        </p:txBody>
      </p:sp>
      <p:sp>
        <p:nvSpPr>
          <p:cNvPr id="10" name="TextBox 9">
            <a:extLst>
              <a:ext uri="{FF2B5EF4-FFF2-40B4-BE49-F238E27FC236}">
                <a16:creationId xmlns:a16="http://schemas.microsoft.com/office/drawing/2014/main" id="{5BDDD8BA-D3F3-A0D5-15B1-9C83344DC073}"/>
              </a:ext>
            </a:extLst>
          </p:cNvPr>
          <p:cNvSpPr txBox="1"/>
          <p:nvPr/>
        </p:nvSpPr>
        <p:spPr>
          <a:xfrm>
            <a:off x="6545070" y="4011612"/>
            <a:ext cx="2057400" cy="2308324"/>
          </a:xfrm>
          <a:prstGeom prst="rect">
            <a:avLst/>
          </a:prstGeom>
          <a:noFill/>
        </p:spPr>
        <p:txBody>
          <a:bodyPr wrap="square" rtlCol="0">
            <a:spAutoFit/>
          </a:bodyPr>
          <a:lstStyle/>
          <a:p>
            <a:r>
              <a:rPr lang="en-US" dirty="0">
                <a:latin typeface="+mj-lt"/>
              </a:rPr>
              <a:t>The soap dissolves the fat, and the water dissolves the soap.</a:t>
            </a:r>
          </a:p>
        </p:txBody>
      </p:sp>
    </p:spTree>
    <p:extLst>
      <p:ext uri="{BB962C8B-B14F-4D97-AF65-F5344CB8AC3E}">
        <p14:creationId xmlns:p14="http://schemas.microsoft.com/office/powerpoint/2010/main" val="356718386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9" grpId="0"/>
      <p:bldP spid="10"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CE3CB71-2B4B-F074-6FEC-5240D4BC7EC8}"/>
              </a:ext>
            </a:extLst>
          </p:cNvPr>
          <p:cNvSpPr>
            <a:spLocks noGrp="1"/>
          </p:cNvSpPr>
          <p:nvPr>
            <p:ph type="sldNum" sz="quarter" idx="10"/>
          </p:nvPr>
        </p:nvSpPr>
        <p:spPr/>
        <p:txBody>
          <a:bodyPr/>
          <a:lstStyle/>
          <a:p>
            <a:fld id="{2B36FD51-1015-4304-9645-AC62F2AE25BF}" type="slidenum">
              <a:rPr lang="en-GB" smtClean="0"/>
              <a:pPr/>
              <a:t>5</a:t>
            </a:fld>
            <a:endParaRPr lang="en-GB"/>
          </a:p>
        </p:txBody>
      </p:sp>
      <p:pic>
        <p:nvPicPr>
          <p:cNvPr id="3" name="Online Media 2" descr="How Does Soap Mix Oil and Water?">
            <a:hlinkClick r:id="" action="ppaction://media"/>
            <a:extLst>
              <a:ext uri="{FF2B5EF4-FFF2-40B4-BE49-F238E27FC236}">
                <a16:creationId xmlns:a16="http://schemas.microsoft.com/office/drawing/2014/main" id="{31CFB562-03E3-BA14-9DAD-A756153211A6}"/>
              </a:ext>
            </a:extLst>
          </p:cNvPr>
          <p:cNvPicPr>
            <a:picLocks noRot="1" noChangeAspect="1"/>
          </p:cNvPicPr>
          <p:nvPr>
            <a:videoFile r:link="rId1"/>
          </p:nvPr>
        </p:nvPicPr>
        <p:blipFill>
          <a:blip r:embed="rId3"/>
          <a:stretch>
            <a:fillRect/>
          </a:stretch>
        </p:blipFill>
        <p:spPr>
          <a:xfrm>
            <a:off x="1151620" y="1808820"/>
            <a:ext cx="6447567" cy="3642875"/>
          </a:xfrm>
          <a:prstGeom prst="rect">
            <a:avLst/>
          </a:prstGeom>
        </p:spPr>
      </p:pic>
      <p:sp>
        <p:nvSpPr>
          <p:cNvPr id="5" name="TextBox 4">
            <a:extLst>
              <a:ext uri="{FF2B5EF4-FFF2-40B4-BE49-F238E27FC236}">
                <a16:creationId xmlns:a16="http://schemas.microsoft.com/office/drawing/2014/main" id="{1813E35B-6502-7876-99B3-7D63179953F1}"/>
              </a:ext>
            </a:extLst>
          </p:cNvPr>
          <p:cNvSpPr txBox="1"/>
          <p:nvPr/>
        </p:nvSpPr>
        <p:spPr>
          <a:xfrm>
            <a:off x="161510" y="5940783"/>
            <a:ext cx="4572000" cy="830997"/>
          </a:xfrm>
          <a:prstGeom prst="rect">
            <a:avLst/>
          </a:prstGeom>
          <a:noFill/>
        </p:spPr>
        <p:txBody>
          <a:bodyPr wrap="square">
            <a:spAutoFit/>
          </a:bodyPr>
          <a:lstStyle/>
          <a:p>
            <a:r>
              <a:rPr lang="en-US" dirty="0"/>
              <a:t>https://</a:t>
            </a:r>
            <a:r>
              <a:rPr lang="en-US" dirty="0" err="1"/>
              <a:t>youtu.be</a:t>
            </a:r>
            <a:r>
              <a:rPr lang="en-US" dirty="0"/>
              <a:t>/</a:t>
            </a:r>
            <a:r>
              <a:rPr lang="en-US" dirty="0" err="1"/>
              <a:t>sbCODXfczCg?si</a:t>
            </a:r>
            <a:r>
              <a:rPr lang="en-US" dirty="0"/>
              <a:t>=3cit8_MyD7Dl2B19&amp;t=72</a:t>
            </a:r>
          </a:p>
        </p:txBody>
      </p:sp>
    </p:spTree>
    <p:extLst>
      <p:ext uri="{BB962C8B-B14F-4D97-AF65-F5344CB8AC3E}">
        <p14:creationId xmlns:p14="http://schemas.microsoft.com/office/powerpoint/2010/main" val="150001704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51E6EE6-DB66-AD87-6D86-D0214BB5A6E0}"/>
              </a:ext>
            </a:extLst>
          </p:cNvPr>
          <p:cNvSpPr txBox="1">
            <a:spLocks noChangeArrowheads="1"/>
          </p:cNvSpPr>
          <p:nvPr/>
        </p:nvSpPr>
        <p:spPr bwMode="auto">
          <a:xfrm>
            <a:off x="304800" y="381002"/>
            <a:ext cx="83820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3600" dirty="0">
                <a:solidFill>
                  <a:srgbClr val="000000"/>
                </a:solidFill>
                <a:latin typeface="+mj-lt"/>
              </a:rPr>
              <a:t>Surfactants</a:t>
            </a:r>
          </a:p>
        </p:txBody>
      </p:sp>
      <p:pic>
        <p:nvPicPr>
          <p:cNvPr id="5" name="Picture 4">
            <a:extLst>
              <a:ext uri="{FF2B5EF4-FFF2-40B4-BE49-F238E27FC236}">
                <a16:creationId xmlns:a16="http://schemas.microsoft.com/office/drawing/2014/main" id="{1E092998-6D7F-4B22-3AF6-366D35742325}"/>
              </a:ext>
            </a:extLst>
          </p:cNvPr>
          <p:cNvPicPr>
            <a:picLocks noChangeAspect="1"/>
          </p:cNvPicPr>
          <p:nvPr/>
        </p:nvPicPr>
        <p:blipFill>
          <a:blip r:embed="rId3"/>
          <a:stretch>
            <a:fillRect/>
          </a:stretch>
        </p:blipFill>
        <p:spPr>
          <a:xfrm>
            <a:off x="3901307" y="607708"/>
            <a:ext cx="5095875" cy="5981700"/>
          </a:xfrm>
          <a:prstGeom prst="rect">
            <a:avLst/>
          </a:prstGeom>
        </p:spPr>
      </p:pic>
      <p:sp>
        <p:nvSpPr>
          <p:cNvPr id="6" name="TextBox 5">
            <a:extLst>
              <a:ext uri="{FF2B5EF4-FFF2-40B4-BE49-F238E27FC236}">
                <a16:creationId xmlns:a16="http://schemas.microsoft.com/office/drawing/2014/main" id="{BEFB32F2-6AB4-63B4-59C9-A54A4AA27D9C}"/>
              </a:ext>
            </a:extLst>
          </p:cNvPr>
          <p:cNvSpPr txBox="1"/>
          <p:nvPr/>
        </p:nvSpPr>
        <p:spPr>
          <a:xfrm>
            <a:off x="457199" y="2463800"/>
            <a:ext cx="3444107" cy="1938992"/>
          </a:xfrm>
          <a:prstGeom prst="rect">
            <a:avLst/>
          </a:prstGeom>
          <a:noFill/>
        </p:spPr>
        <p:txBody>
          <a:bodyPr wrap="square" rtlCol="0">
            <a:spAutoFit/>
          </a:bodyPr>
          <a:lstStyle/>
          <a:p>
            <a:r>
              <a:rPr lang="en-GB" dirty="0">
                <a:latin typeface="+mj-lt"/>
              </a:rPr>
              <a:t>Small fat droplets are encapsulated by the soap, allowing them to be solubilised by the water</a:t>
            </a:r>
          </a:p>
        </p:txBody>
      </p:sp>
    </p:spTree>
    <p:extLst>
      <p:ext uri="{BB962C8B-B14F-4D97-AF65-F5344CB8AC3E}">
        <p14:creationId xmlns:p14="http://schemas.microsoft.com/office/powerpoint/2010/main" val="1148901178"/>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E9F93B7-08D4-4E8D-DFA9-EF55484EF752}"/>
              </a:ext>
            </a:extLst>
          </p:cNvPr>
          <p:cNvSpPr>
            <a:spLocks noGrp="1"/>
          </p:cNvSpPr>
          <p:nvPr>
            <p:ph type="sldNum" sz="quarter" idx="10"/>
          </p:nvPr>
        </p:nvSpPr>
        <p:spPr/>
        <p:txBody>
          <a:bodyPr/>
          <a:lstStyle/>
          <a:p>
            <a:fld id="{2B36FD51-1015-4304-9645-AC62F2AE25BF}" type="slidenum">
              <a:rPr lang="en-GB" smtClean="0"/>
              <a:pPr/>
              <a:t>7</a:t>
            </a:fld>
            <a:endParaRPr lang="en-GB"/>
          </a:p>
        </p:txBody>
      </p:sp>
      <p:sp>
        <p:nvSpPr>
          <p:cNvPr id="3" name="TextBox 2">
            <a:extLst>
              <a:ext uri="{FF2B5EF4-FFF2-40B4-BE49-F238E27FC236}">
                <a16:creationId xmlns:a16="http://schemas.microsoft.com/office/drawing/2014/main" id="{30B6DFB3-D0BB-C89D-EEA5-B95D9E51012A}"/>
              </a:ext>
            </a:extLst>
          </p:cNvPr>
          <p:cNvSpPr txBox="1"/>
          <p:nvPr/>
        </p:nvSpPr>
        <p:spPr>
          <a:xfrm>
            <a:off x="566555" y="6296323"/>
            <a:ext cx="5824990" cy="461665"/>
          </a:xfrm>
          <a:prstGeom prst="rect">
            <a:avLst/>
          </a:prstGeom>
          <a:noFill/>
        </p:spPr>
        <p:txBody>
          <a:bodyPr wrap="square" rtlCol="0">
            <a:spAutoFit/>
          </a:bodyPr>
          <a:lstStyle/>
          <a:p>
            <a:r>
              <a:rPr lang="en-GB" dirty="0">
                <a:latin typeface="+mj-lt"/>
              </a:rPr>
              <a:t>https://</a:t>
            </a:r>
            <a:r>
              <a:rPr lang="en-GB" dirty="0" err="1">
                <a:latin typeface="+mj-lt"/>
              </a:rPr>
              <a:t>youtu.be</a:t>
            </a:r>
            <a:r>
              <a:rPr lang="en-GB" dirty="0">
                <a:latin typeface="+mj-lt"/>
              </a:rPr>
              <a:t>/</a:t>
            </a:r>
            <a:r>
              <a:rPr lang="en-GB" dirty="0" err="1">
                <a:latin typeface="+mj-lt"/>
              </a:rPr>
              <a:t>rrMsDRsXnHM</a:t>
            </a:r>
            <a:endParaRPr lang="en-GB" dirty="0">
              <a:latin typeface="+mj-lt"/>
            </a:endParaRPr>
          </a:p>
        </p:txBody>
      </p:sp>
      <p:pic>
        <p:nvPicPr>
          <p:cNvPr id="4" name="Online Media 3" descr="MPCD - Mechanism for the micelle formation and the surfactant action.">
            <a:hlinkClick r:id="" action="ppaction://media"/>
            <a:extLst>
              <a:ext uri="{FF2B5EF4-FFF2-40B4-BE49-F238E27FC236}">
                <a16:creationId xmlns:a16="http://schemas.microsoft.com/office/drawing/2014/main" id="{3D069BB4-0FB0-2220-6A20-519DCD7A5810}"/>
              </a:ext>
            </a:extLst>
          </p:cNvPr>
          <p:cNvPicPr>
            <a:picLocks noRot="1" noChangeAspect="1"/>
          </p:cNvPicPr>
          <p:nvPr>
            <a:videoFile r:link="rId1"/>
          </p:nvPr>
        </p:nvPicPr>
        <p:blipFill>
          <a:blip r:embed="rId3"/>
          <a:stretch>
            <a:fillRect/>
          </a:stretch>
        </p:blipFill>
        <p:spPr>
          <a:xfrm>
            <a:off x="1466655" y="1557437"/>
            <a:ext cx="5265585" cy="3949188"/>
          </a:xfrm>
          <a:prstGeom prst="rect">
            <a:avLst/>
          </a:prstGeom>
        </p:spPr>
      </p:pic>
    </p:spTree>
    <p:extLst>
      <p:ext uri="{BB962C8B-B14F-4D97-AF65-F5344CB8AC3E}">
        <p14:creationId xmlns:p14="http://schemas.microsoft.com/office/powerpoint/2010/main" val="19453941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84D53343-EDBD-FE60-5515-D6FCDF757B22}"/>
              </a:ext>
            </a:extLst>
          </p:cNvPr>
          <p:cNvPicPr>
            <a:picLocks noChangeAspect="1"/>
          </p:cNvPicPr>
          <p:nvPr/>
        </p:nvPicPr>
        <p:blipFill>
          <a:blip r:embed="rId2"/>
          <a:stretch>
            <a:fillRect/>
          </a:stretch>
        </p:blipFill>
        <p:spPr>
          <a:xfrm>
            <a:off x="298630" y="1891088"/>
            <a:ext cx="4079246" cy="3015335"/>
          </a:xfrm>
          <a:prstGeom prst="rect">
            <a:avLst/>
          </a:prstGeom>
        </p:spPr>
      </p:pic>
      <p:sp>
        <p:nvSpPr>
          <p:cNvPr id="3" name="TextBox 2">
            <a:extLst>
              <a:ext uri="{FF2B5EF4-FFF2-40B4-BE49-F238E27FC236}">
                <a16:creationId xmlns:a16="http://schemas.microsoft.com/office/drawing/2014/main" id="{C3D419FF-2706-DE6D-56FD-D4F5CCCCFC71}"/>
              </a:ext>
            </a:extLst>
          </p:cNvPr>
          <p:cNvSpPr txBox="1">
            <a:spLocks noChangeArrowheads="1"/>
          </p:cNvSpPr>
          <p:nvPr/>
        </p:nvSpPr>
        <p:spPr bwMode="auto">
          <a:xfrm>
            <a:off x="304800" y="381002"/>
            <a:ext cx="83820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3600" dirty="0">
                <a:solidFill>
                  <a:srgbClr val="000000"/>
                </a:solidFill>
                <a:latin typeface="+mj-lt"/>
              </a:rPr>
              <a:t>Surfactants</a:t>
            </a:r>
          </a:p>
        </p:txBody>
      </p:sp>
      <p:sp>
        <p:nvSpPr>
          <p:cNvPr id="4" name="TextBox 2">
            <a:extLst>
              <a:ext uri="{FF2B5EF4-FFF2-40B4-BE49-F238E27FC236}">
                <a16:creationId xmlns:a16="http://schemas.microsoft.com/office/drawing/2014/main" id="{39A0EEB3-0393-2338-E47A-73B8839DD9F4}"/>
              </a:ext>
            </a:extLst>
          </p:cNvPr>
          <p:cNvSpPr txBox="1"/>
          <p:nvPr/>
        </p:nvSpPr>
        <p:spPr>
          <a:xfrm>
            <a:off x="990600" y="1108028"/>
            <a:ext cx="7162800" cy="646331"/>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latin typeface="+mj-lt"/>
              </a:rPr>
              <a:t>A common application of surfactants is the formation of cell membranes.</a:t>
            </a:r>
          </a:p>
        </p:txBody>
      </p:sp>
      <p:sp>
        <p:nvSpPr>
          <p:cNvPr id="7" name="TextBox 5">
            <a:extLst>
              <a:ext uri="{FF2B5EF4-FFF2-40B4-BE49-F238E27FC236}">
                <a16:creationId xmlns:a16="http://schemas.microsoft.com/office/drawing/2014/main" id="{DEB7AC60-98FD-7D14-4D7D-3A09255074DB}"/>
              </a:ext>
            </a:extLst>
          </p:cNvPr>
          <p:cNvSpPr txBox="1"/>
          <p:nvPr/>
        </p:nvSpPr>
        <p:spPr>
          <a:xfrm>
            <a:off x="4694857" y="4999608"/>
            <a:ext cx="4699590" cy="92333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buFont typeface="Arial" pitchFamily="34" charset="0"/>
              <a:buChar char="•"/>
            </a:pPr>
            <a:r>
              <a:rPr lang="en-US" dirty="0">
                <a:latin typeface="+mj-lt"/>
              </a:rPr>
              <a:t>Phospholipids (phosphate bearing fats)</a:t>
            </a:r>
          </a:p>
          <a:p>
            <a:pPr marL="285750" indent="-285750">
              <a:buFont typeface="Arial" pitchFamily="34" charset="0"/>
              <a:buChar char="•"/>
            </a:pPr>
            <a:r>
              <a:rPr lang="en-US" dirty="0">
                <a:latin typeface="+mj-lt"/>
              </a:rPr>
              <a:t>Glycolipids</a:t>
            </a:r>
          </a:p>
          <a:p>
            <a:pPr marL="285750" indent="-285750">
              <a:buFont typeface="Arial" pitchFamily="34" charset="0"/>
              <a:buChar char="•"/>
            </a:pPr>
            <a:r>
              <a:rPr lang="en-US" dirty="0">
                <a:latin typeface="+mj-lt"/>
              </a:rPr>
              <a:t>cholesterol</a:t>
            </a:r>
          </a:p>
        </p:txBody>
      </p:sp>
      <p:cxnSp>
        <p:nvCxnSpPr>
          <p:cNvPr id="9" name="Straight Arrow Connector 8">
            <a:extLst>
              <a:ext uri="{FF2B5EF4-FFF2-40B4-BE49-F238E27FC236}">
                <a16:creationId xmlns:a16="http://schemas.microsoft.com/office/drawing/2014/main" id="{825576DA-A5B5-04EF-0E4C-F2F3F587AB85}"/>
              </a:ext>
            </a:extLst>
          </p:cNvPr>
          <p:cNvCxnSpPr>
            <a:cxnSpLocks/>
          </p:cNvCxnSpPr>
          <p:nvPr/>
        </p:nvCxnSpPr>
        <p:spPr>
          <a:xfrm>
            <a:off x="3536885" y="3233706"/>
            <a:ext cx="1613447"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pic>
        <p:nvPicPr>
          <p:cNvPr id="2" name="Picture 9" descr="Fig431">
            <a:extLst>
              <a:ext uri="{FF2B5EF4-FFF2-40B4-BE49-F238E27FC236}">
                <a16:creationId xmlns:a16="http://schemas.microsoft.com/office/drawing/2014/main" id="{4DA8CCFC-114D-0647-040F-CD305C4C2E3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5150332" y="2088670"/>
            <a:ext cx="3788640" cy="268066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57007276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04CA51F-6968-EA79-D554-0AA5769AD306}"/>
              </a:ext>
            </a:extLst>
          </p:cNvPr>
          <p:cNvSpPr txBox="1">
            <a:spLocks noChangeArrowheads="1"/>
          </p:cNvSpPr>
          <p:nvPr/>
        </p:nvSpPr>
        <p:spPr bwMode="auto">
          <a:xfrm>
            <a:off x="304800" y="381002"/>
            <a:ext cx="83820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3600" dirty="0">
                <a:solidFill>
                  <a:srgbClr val="000000"/>
                </a:solidFill>
                <a:latin typeface="+mj-lt"/>
              </a:rPr>
              <a:t>Surfactants</a:t>
            </a:r>
          </a:p>
        </p:txBody>
      </p:sp>
      <p:pic>
        <p:nvPicPr>
          <p:cNvPr id="4" name="Picture 3">
            <a:extLst>
              <a:ext uri="{FF2B5EF4-FFF2-40B4-BE49-F238E27FC236}">
                <a16:creationId xmlns:a16="http://schemas.microsoft.com/office/drawing/2014/main" id="{85FB3821-0FE8-FF31-4858-E85F03F50463}"/>
              </a:ext>
            </a:extLst>
          </p:cNvPr>
          <p:cNvPicPr/>
          <p:nvPr/>
        </p:nvPicPr>
        <p:blipFill>
          <a:blip r:embed="rId2"/>
          <a:stretch>
            <a:fillRect/>
          </a:stretch>
        </p:blipFill>
        <p:spPr>
          <a:xfrm>
            <a:off x="1676400" y="1179515"/>
            <a:ext cx="1884270" cy="5192712"/>
          </a:xfrm>
          <a:prstGeom prst="rect">
            <a:avLst/>
          </a:prstGeom>
        </p:spPr>
      </p:pic>
      <p:sp>
        <p:nvSpPr>
          <p:cNvPr id="5" name="TextBox 3">
            <a:extLst>
              <a:ext uri="{FF2B5EF4-FFF2-40B4-BE49-F238E27FC236}">
                <a16:creationId xmlns:a16="http://schemas.microsoft.com/office/drawing/2014/main" id="{3AD54AEE-1BE6-A558-904B-82C1479ABE9B}"/>
              </a:ext>
            </a:extLst>
          </p:cNvPr>
          <p:cNvSpPr txBox="1"/>
          <p:nvPr/>
        </p:nvSpPr>
        <p:spPr>
          <a:xfrm>
            <a:off x="457200" y="1701247"/>
            <a:ext cx="2286000"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err="1">
                <a:latin typeface="+mj-lt"/>
              </a:rPr>
              <a:t>Phosphatidylcholine</a:t>
            </a:r>
            <a:endParaRPr lang="en-US" dirty="0">
              <a:latin typeface="+mj-lt"/>
            </a:endParaRPr>
          </a:p>
        </p:txBody>
      </p:sp>
      <p:sp>
        <p:nvSpPr>
          <p:cNvPr id="6" name="Oval 5">
            <a:extLst>
              <a:ext uri="{FF2B5EF4-FFF2-40B4-BE49-F238E27FC236}">
                <a16:creationId xmlns:a16="http://schemas.microsoft.com/office/drawing/2014/main" id="{6FBB47A2-8E09-5AD8-1329-E114BD172540}"/>
              </a:ext>
            </a:extLst>
          </p:cNvPr>
          <p:cNvSpPr/>
          <p:nvPr/>
        </p:nvSpPr>
        <p:spPr>
          <a:xfrm>
            <a:off x="2514600" y="1027115"/>
            <a:ext cx="1143000" cy="674132"/>
          </a:xfrm>
          <a:prstGeom prst="ellipse">
            <a:avLst/>
          </a:prstGeom>
          <a:solidFill>
            <a:schemeClr val="accent1">
              <a:alpha val="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latin typeface="+mj-lt"/>
            </a:endParaRPr>
          </a:p>
        </p:txBody>
      </p:sp>
      <p:sp>
        <p:nvSpPr>
          <p:cNvPr id="7" name="Oval 6">
            <a:extLst>
              <a:ext uri="{FF2B5EF4-FFF2-40B4-BE49-F238E27FC236}">
                <a16:creationId xmlns:a16="http://schemas.microsoft.com/office/drawing/2014/main" id="{F09BA335-AE79-D9F4-9DDC-11C38158A9FE}"/>
              </a:ext>
            </a:extLst>
          </p:cNvPr>
          <p:cNvSpPr/>
          <p:nvPr/>
        </p:nvSpPr>
        <p:spPr>
          <a:xfrm>
            <a:off x="2631707" y="2134929"/>
            <a:ext cx="1025893" cy="797186"/>
          </a:xfrm>
          <a:prstGeom prst="ellipse">
            <a:avLst/>
          </a:prstGeom>
          <a:solidFill>
            <a:schemeClr val="accent1">
              <a:alpha val="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latin typeface="+mj-lt"/>
            </a:endParaRPr>
          </a:p>
        </p:txBody>
      </p:sp>
      <p:sp>
        <p:nvSpPr>
          <p:cNvPr id="8" name="TextBox 6">
            <a:extLst>
              <a:ext uri="{FF2B5EF4-FFF2-40B4-BE49-F238E27FC236}">
                <a16:creationId xmlns:a16="http://schemas.microsoft.com/office/drawing/2014/main" id="{B2EC0A7B-9737-742C-FACD-6860AA6A4104}"/>
              </a:ext>
            </a:extLst>
          </p:cNvPr>
          <p:cNvSpPr txBox="1"/>
          <p:nvPr/>
        </p:nvSpPr>
        <p:spPr>
          <a:xfrm>
            <a:off x="3724576" y="1560514"/>
            <a:ext cx="990600" cy="646331"/>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latin typeface="+mj-lt"/>
              </a:rPr>
              <a:t>Strong Forces</a:t>
            </a:r>
          </a:p>
        </p:txBody>
      </p:sp>
      <p:sp>
        <p:nvSpPr>
          <p:cNvPr id="9" name="TextBox 7">
            <a:extLst>
              <a:ext uri="{FF2B5EF4-FFF2-40B4-BE49-F238E27FC236}">
                <a16:creationId xmlns:a16="http://schemas.microsoft.com/office/drawing/2014/main" id="{6A736CA8-22E8-896A-0020-CA4A1A56AE2D}"/>
              </a:ext>
            </a:extLst>
          </p:cNvPr>
          <p:cNvSpPr txBox="1"/>
          <p:nvPr/>
        </p:nvSpPr>
        <p:spPr>
          <a:xfrm>
            <a:off x="762000" y="5294315"/>
            <a:ext cx="990600" cy="646331"/>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latin typeface="+mj-lt"/>
              </a:rPr>
              <a:t>Weaker Forces</a:t>
            </a:r>
          </a:p>
        </p:txBody>
      </p:sp>
      <p:pic>
        <p:nvPicPr>
          <p:cNvPr id="10" name="Picture 9">
            <a:extLst>
              <a:ext uri="{FF2B5EF4-FFF2-40B4-BE49-F238E27FC236}">
                <a16:creationId xmlns:a16="http://schemas.microsoft.com/office/drawing/2014/main" id="{66ED599E-C7EC-DEF4-F0F5-43F995607077}"/>
              </a:ext>
            </a:extLst>
          </p:cNvPr>
          <p:cNvPicPr/>
          <p:nvPr/>
        </p:nvPicPr>
        <p:blipFill>
          <a:blip r:embed="rId3"/>
          <a:stretch>
            <a:fillRect/>
          </a:stretch>
        </p:blipFill>
        <p:spPr>
          <a:xfrm>
            <a:off x="4876800" y="1408115"/>
            <a:ext cx="1738313" cy="4770438"/>
          </a:xfrm>
          <a:prstGeom prst="rect">
            <a:avLst/>
          </a:prstGeom>
        </p:spPr>
      </p:pic>
      <p:sp>
        <p:nvSpPr>
          <p:cNvPr id="11" name="TextBox 9">
            <a:extLst>
              <a:ext uri="{FF2B5EF4-FFF2-40B4-BE49-F238E27FC236}">
                <a16:creationId xmlns:a16="http://schemas.microsoft.com/office/drawing/2014/main" id="{3B2903B3-2057-30C3-B291-7DD68881FCA8}"/>
              </a:ext>
            </a:extLst>
          </p:cNvPr>
          <p:cNvSpPr txBox="1"/>
          <p:nvPr/>
        </p:nvSpPr>
        <p:spPr>
          <a:xfrm>
            <a:off x="6705600" y="1697954"/>
            <a:ext cx="2057400"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latin typeface="+mj-lt"/>
              </a:rPr>
              <a:t>Cholesterol</a:t>
            </a:r>
          </a:p>
        </p:txBody>
      </p:sp>
      <p:sp>
        <p:nvSpPr>
          <p:cNvPr id="12" name="TextBox 10">
            <a:extLst>
              <a:ext uri="{FF2B5EF4-FFF2-40B4-BE49-F238E27FC236}">
                <a16:creationId xmlns:a16="http://schemas.microsoft.com/office/drawing/2014/main" id="{F0BDE9BB-E8E7-B959-EA24-2718926C1827}"/>
              </a:ext>
            </a:extLst>
          </p:cNvPr>
          <p:cNvSpPr txBox="1"/>
          <p:nvPr/>
        </p:nvSpPr>
        <p:spPr>
          <a:xfrm>
            <a:off x="7247021" y="4227515"/>
            <a:ext cx="1676400" cy="120032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latin typeface="+mj-lt"/>
              </a:rPr>
              <a:t>What happens if we put these molecules into water (blood)?</a:t>
            </a:r>
          </a:p>
        </p:txBody>
      </p:sp>
    </p:spTree>
    <p:extLst>
      <p:ext uri="{BB962C8B-B14F-4D97-AF65-F5344CB8AC3E}">
        <p14:creationId xmlns:p14="http://schemas.microsoft.com/office/powerpoint/2010/main" val="110293396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animBg="1"/>
      <p:bldP spid="7" grpId="0" animBg="1"/>
      <p:bldP spid="8" grpId="0"/>
      <p:bldP spid="9" grpId="0"/>
      <p:bldP spid="11" grpId="0"/>
      <p:bldP spid="1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80859FD-31FF-45AC-BAD6-8E79F7C3BD7C}"/>
              </a:ext>
            </a:extLst>
          </p:cNvPr>
          <p:cNvSpPr txBox="1">
            <a:spLocks noChangeArrowheads="1"/>
          </p:cNvSpPr>
          <p:nvPr/>
        </p:nvSpPr>
        <p:spPr bwMode="auto">
          <a:xfrm>
            <a:off x="304800" y="381002"/>
            <a:ext cx="83820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3600" dirty="0">
                <a:solidFill>
                  <a:srgbClr val="000000"/>
                </a:solidFill>
                <a:latin typeface="+mj-lt"/>
              </a:rPr>
              <a:t>Surfactants</a:t>
            </a:r>
          </a:p>
        </p:txBody>
      </p:sp>
      <p:graphicFrame>
        <p:nvGraphicFramePr>
          <p:cNvPr id="4" name="Object 3">
            <a:extLst>
              <a:ext uri="{FF2B5EF4-FFF2-40B4-BE49-F238E27FC236}">
                <a16:creationId xmlns:a16="http://schemas.microsoft.com/office/drawing/2014/main" id="{BE5DC935-23BF-1409-92C0-015154D3B615}"/>
              </a:ext>
            </a:extLst>
          </p:cNvPr>
          <p:cNvGraphicFramePr>
            <a:graphicFrameLocks noChangeAspect="1"/>
          </p:cNvGraphicFramePr>
          <p:nvPr>
            <p:extLst>
              <p:ext uri="{D42A27DB-BD31-4B8C-83A1-F6EECF244321}">
                <p14:modId xmlns:p14="http://schemas.microsoft.com/office/powerpoint/2010/main" val="2576178227"/>
              </p:ext>
            </p:extLst>
          </p:nvPr>
        </p:nvGraphicFramePr>
        <p:xfrm>
          <a:off x="4419600" y="2133600"/>
          <a:ext cx="3453867" cy="1143000"/>
        </p:xfrm>
        <a:graphic>
          <a:graphicData uri="http://schemas.openxmlformats.org/presentationml/2006/ole">
            <mc:AlternateContent xmlns:mc="http://schemas.openxmlformats.org/markup-compatibility/2006">
              <mc:Choice xmlns:v="urn:schemas-microsoft-com:vml" Requires="v">
                <p:oleObj name="CS ChemDraw Drawing" r:id="rId2" imgW="6836421" imgH="2262781" progId="ChemDraw.Document.6.0">
                  <p:embed/>
                </p:oleObj>
              </mc:Choice>
              <mc:Fallback>
                <p:oleObj name="CS ChemDraw Drawing" r:id="rId2" imgW="6836421" imgH="2262781" progId="ChemDraw.Document.6.0">
                  <p:embed/>
                  <p:pic>
                    <p:nvPicPr>
                      <p:cNvPr id="4" name="Object 3">
                        <a:extLst>
                          <a:ext uri="{FF2B5EF4-FFF2-40B4-BE49-F238E27FC236}">
                            <a16:creationId xmlns:a16="http://schemas.microsoft.com/office/drawing/2014/main" id="{BE5DC935-23BF-1409-92C0-015154D3B615}"/>
                          </a:ext>
                        </a:extLst>
                      </p:cNvPr>
                      <p:cNvPicPr/>
                      <p:nvPr/>
                    </p:nvPicPr>
                    <p:blipFill>
                      <a:blip r:embed="rId3"/>
                      <a:stretch>
                        <a:fillRect/>
                      </a:stretch>
                    </p:blipFill>
                    <p:spPr>
                      <a:xfrm>
                        <a:off x="4419600" y="2133600"/>
                        <a:ext cx="3453867" cy="1143000"/>
                      </a:xfrm>
                      <a:prstGeom prst="rect">
                        <a:avLst/>
                      </a:prstGeom>
                    </p:spPr>
                  </p:pic>
                </p:oleObj>
              </mc:Fallback>
            </mc:AlternateContent>
          </a:graphicData>
        </a:graphic>
      </p:graphicFrame>
      <p:graphicFrame>
        <p:nvGraphicFramePr>
          <p:cNvPr id="5" name="Object 4">
            <a:extLst>
              <a:ext uri="{FF2B5EF4-FFF2-40B4-BE49-F238E27FC236}">
                <a16:creationId xmlns:a16="http://schemas.microsoft.com/office/drawing/2014/main" id="{8005923E-A386-0D28-61EF-B11723778239}"/>
              </a:ext>
            </a:extLst>
          </p:cNvPr>
          <p:cNvGraphicFramePr>
            <a:graphicFrameLocks noChangeAspect="1"/>
          </p:cNvGraphicFramePr>
          <p:nvPr>
            <p:extLst>
              <p:ext uri="{D42A27DB-BD31-4B8C-83A1-F6EECF244321}">
                <p14:modId xmlns:p14="http://schemas.microsoft.com/office/powerpoint/2010/main" val="1564272756"/>
              </p:ext>
            </p:extLst>
          </p:nvPr>
        </p:nvGraphicFramePr>
        <p:xfrm>
          <a:off x="4419600" y="3124200"/>
          <a:ext cx="3454400" cy="1143000"/>
        </p:xfrm>
        <a:graphic>
          <a:graphicData uri="http://schemas.openxmlformats.org/presentationml/2006/ole">
            <mc:AlternateContent xmlns:mc="http://schemas.openxmlformats.org/markup-compatibility/2006">
              <mc:Choice xmlns:v="urn:schemas-microsoft-com:vml" Requires="v">
                <p:oleObj name="CS ChemDraw Drawing" r:id="rId2" imgW="6836421" imgH="2262781" progId="ChemDraw.Document.6.0">
                  <p:embed/>
                </p:oleObj>
              </mc:Choice>
              <mc:Fallback>
                <p:oleObj name="CS ChemDraw Drawing" r:id="rId2" imgW="6836421" imgH="2262781" progId="ChemDraw.Document.6.0">
                  <p:embed/>
                  <p:pic>
                    <p:nvPicPr>
                      <p:cNvPr id="5" name="Object 4">
                        <a:extLst>
                          <a:ext uri="{FF2B5EF4-FFF2-40B4-BE49-F238E27FC236}">
                            <a16:creationId xmlns:a16="http://schemas.microsoft.com/office/drawing/2014/main" id="{8005923E-A386-0D28-61EF-B1172377823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19600" y="3124200"/>
                        <a:ext cx="3454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 name="Object 5">
            <a:extLst>
              <a:ext uri="{FF2B5EF4-FFF2-40B4-BE49-F238E27FC236}">
                <a16:creationId xmlns:a16="http://schemas.microsoft.com/office/drawing/2014/main" id="{9FB79E9C-D525-B973-184B-7CBCCCA5B812}"/>
              </a:ext>
            </a:extLst>
          </p:cNvPr>
          <p:cNvGraphicFramePr>
            <a:graphicFrameLocks noChangeAspect="1"/>
          </p:cNvGraphicFramePr>
          <p:nvPr>
            <p:extLst>
              <p:ext uri="{D42A27DB-BD31-4B8C-83A1-F6EECF244321}">
                <p14:modId xmlns:p14="http://schemas.microsoft.com/office/powerpoint/2010/main" val="1162597460"/>
              </p:ext>
            </p:extLst>
          </p:nvPr>
        </p:nvGraphicFramePr>
        <p:xfrm>
          <a:off x="4572000" y="4267200"/>
          <a:ext cx="3454400" cy="1143000"/>
        </p:xfrm>
        <a:graphic>
          <a:graphicData uri="http://schemas.openxmlformats.org/presentationml/2006/ole">
            <mc:AlternateContent xmlns:mc="http://schemas.openxmlformats.org/markup-compatibility/2006">
              <mc:Choice xmlns:v="urn:schemas-microsoft-com:vml" Requires="v">
                <p:oleObj name="CS ChemDraw Drawing" r:id="rId2" imgW="6836421" imgH="2262781" progId="ChemDraw.Document.6.0">
                  <p:embed/>
                </p:oleObj>
              </mc:Choice>
              <mc:Fallback>
                <p:oleObj name="CS ChemDraw Drawing" r:id="rId2" imgW="6836421" imgH="2262781" progId="ChemDraw.Document.6.0">
                  <p:embed/>
                  <p:pic>
                    <p:nvPicPr>
                      <p:cNvPr id="6" name="Object 5">
                        <a:extLst>
                          <a:ext uri="{FF2B5EF4-FFF2-40B4-BE49-F238E27FC236}">
                            <a16:creationId xmlns:a16="http://schemas.microsoft.com/office/drawing/2014/main" id="{9FB79E9C-D525-B973-184B-7CBCCCA5B81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0" y="4267200"/>
                        <a:ext cx="3454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 name="Object 6">
            <a:extLst>
              <a:ext uri="{FF2B5EF4-FFF2-40B4-BE49-F238E27FC236}">
                <a16:creationId xmlns:a16="http://schemas.microsoft.com/office/drawing/2014/main" id="{16196FE9-C2F8-09B4-B34A-C8FD65F72C23}"/>
              </a:ext>
            </a:extLst>
          </p:cNvPr>
          <p:cNvGraphicFramePr>
            <a:graphicFrameLocks noChangeAspect="1"/>
          </p:cNvGraphicFramePr>
          <p:nvPr>
            <p:extLst>
              <p:ext uri="{D42A27DB-BD31-4B8C-83A1-F6EECF244321}">
                <p14:modId xmlns:p14="http://schemas.microsoft.com/office/powerpoint/2010/main" val="3003796052"/>
              </p:ext>
            </p:extLst>
          </p:nvPr>
        </p:nvGraphicFramePr>
        <p:xfrm>
          <a:off x="914400" y="2133600"/>
          <a:ext cx="3451444" cy="1143000"/>
        </p:xfrm>
        <a:graphic>
          <a:graphicData uri="http://schemas.openxmlformats.org/presentationml/2006/ole">
            <mc:AlternateContent xmlns:mc="http://schemas.openxmlformats.org/markup-compatibility/2006">
              <mc:Choice xmlns:v="urn:schemas-microsoft-com:vml" Requires="v">
                <p:oleObj name="CS ChemDraw Drawing" r:id="rId4" imgW="6836152" imgH="2264402" progId="ChemDraw.Document.6.0">
                  <p:embed/>
                </p:oleObj>
              </mc:Choice>
              <mc:Fallback>
                <p:oleObj name="CS ChemDraw Drawing" r:id="rId4" imgW="6836152" imgH="2264402" progId="ChemDraw.Document.6.0">
                  <p:embed/>
                  <p:pic>
                    <p:nvPicPr>
                      <p:cNvPr id="7" name="Object 6">
                        <a:extLst>
                          <a:ext uri="{FF2B5EF4-FFF2-40B4-BE49-F238E27FC236}">
                            <a16:creationId xmlns:a16="http://schemas.microsoft.com/office/drawing/2014/main" id="{16196FE9-C2F8-09B4-B34A-C8FD65F72C23}"/>
                          </a:ext>
                        </a:extLst>
                      </p:cNvPr>
                      <p:cNvPicPr/>
                      <p:nvPr/>
                    </p:nvPicPr>
                    <p:blipFill>
                      <a:blip r:embed="rId5"/>
                      <a:stretch>
                        <a:fillRect/>
                      </a:stretch>
                    </p:blipFill>
                    <p:spPr>
                      <a:xfrm>
                        <a:off x="914400" y="2133600"/>
                        <a:ext cx="3451444" cy="1143000"/>
                      </a:xfrm>
                      <a:prstGeom prst="rect">
                        <a:avLst/>
                      </a:prstGeom>
                    </p:spPr>
                  </p:pic>
                </p:oleObj>
              </mc:Fallback>
            </mc:AlternateContent>
          </a:graphicData>
        </a:graphic>
      </p:graphicFrame>
      <p:graphicFrame>
        <p:nvGraphicFramePr>
          <p:cNvPr id="8" name="Object 7">
            <a:extLst>
              <a:ext uri="{FF2B5EF4-FFF2-40B4-BE49-F238E27FC236}">
                <a16:creationId xmlns:a16="http://schemas.microsoft.com/office/drawing/2014/main" id="{7FD73EE9-7CA1-F199-69D4-306AB71753B3}"/>
              </a:ext>
            </a:extLst>
          </p:cNvPr>
          <p:cNvGraphicFramePr>
            <a:graphicFrameLocks noChangeAspect="1"/>
          </p:cNvGraphicFramePr>
          <p:nvPr>
            <p:extLst>
              <p:ext uri="{D42A27DB-BD31-4B8C-83A1-F6EECF244321}">
                <p14:modId xmlns:p14="http://schemas.microsoft.com/office/powerpoint/2010/main" val="2878743612"/>
              </p:ext>
            </p:extLst>
          </p:nvPr>
        </p:nvGraphicFramePr>
        <p:xfrm>
          <a:off x="990600" y="3124200"/>
          <a:ext cx="3451225" cy="1143000"/>
        </p:xfrm>
        <a:graphic>
          <a:graphicData uri="http://schemas.openxmlformats.org/presentationml/2006/ole">
            <mc:AlternateContent xmlns:mc="http://schemas.openxmlformats.org/markup-compatibility/2006">
              <mc:Choice xmlns:v="urn:schemas-microsoft-com:vml" Requires="v">
                <p:oleObj name="CS ChemDraw Drawing" r:id="rId4" imgW="6836152" imgH="2264402" progId="ChemDraw.Document.6.0">
                  <p:embed/>
                </p:oleObj>
              </mc:Choice>
              <mc:Fallback>
                <p:oleObj name="CS ChemDraw Drawing" r:id="rId4" imgW="6836152" imgH="2264402" progId="ChemDraw.Document.6.0">
                  <p:embed/>
                  <p:pic>
                    <p:nvPicPr>
                      <p:cNvPr id="8" name="Object 7">
                        <a:extLst>
                          <a:ext uri="{FF2B5EF4-FFF2-40B4-BE49-F238E27FC236}">
                            <a16:creationId xmlns:a16="http://schemas.microsoft.com/office/drawing/2014/main" id="{7FD73EE9-7CA1-F199-69D4-306AB71753B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90600" y="3124200"/>
                        <a:ext cx="3451225"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 name="Object 8">
            <a:extLst>
              <a:ext uri="{FF2B5EF4-FFF2-40B4-BE49-F238E27FC236}">
                <a16:creationId xmlns:a16="http://schemas.microsoft.com/office/drawing/2014/main" id="{F584AAD5-AFCE-D48A-6FC8-C4194DA44913}"/>
              </a:ext>
            </a:extLst>
          </p:cNvPr>
          <p:cNvGraphicFramePr>
            <a:graphicFrameLocks noChangeAspect="1"/>
          </p:cNvGraphicFramePr>
          <p:nvPr>
            <p:extLst>
              <p:ext uri="{D42A27DB-BD31-4B8C-83A1-F6EECF244321}">
                <p14:modId xmlns:p14="http://schemas.microsoft.com/office/powerpoint/2010/main" val="1013955583"/>
              </p:ext>
            </p:extLst>
          </p:nvPr>
        </p:nvGraphicFramePr>
        <p:xfrm>
          <a:off x="1066800" y="4038600"/>
          <a:ext cx="3451225" cy="1143000"/>
        </p:xfrm>
        <a:graphic>
          <a:graphicData uri="http://schemas.openxmlformats.org/presentationml/2006/ole">
            <mc:AlternateContent xmlns:mc="http://schemas.openxmlformats.org/markup-compatibility/2006">
              <mc:Choice xmlns:v="urn:schemas-microsoft-com:vml" Requires="v">
                <p:oleObj name="CS ChemDraw Drawing" r:id="rId4" imgW="6836152" imgH="2264402" progId="ChemDraw.Document.6.0">
                  <p:embed/>
                </p:oleObj>
              </mc:Choice>
              <mc:Fallback>
                <p:oleObj name="CS ChemDraw Drawing" r:id="rId4" imgW="6836152" imgH="2264402" progId="ChemDraw.Document.6.0">
                  <p:embed/>
                  <p:pic>
                    <p:nvPicPr>
                      <p:cNvPr id="9" name="Object 8">
                        <a:extLst>
                          <a:ext uri="{FF2B5EF4-FFF2-40B4-BE49-F238E27FC236}">
                            <a16:creationId xmlns:a16="http://schemas.microsoft.com/office/drawing/2014/main" id="{F584AAD5-AFCE-D48A-6FC8-C4194DA4491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66800" y="4038600"/>
                        <a:ext cx="3451225"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 name="Object 9">
            <a:extLst>
              <a:ext uri="{FF2B5EF4-FFF2-40B4-BE49-F238E27FC236}">
                <a16:creationId xmlns:a16="http://schemas.microsoft.com/office/drawing/2014/main" id="{A7D1D128-C938-85D0-769E-B07B90F828B0}"/>
              </a:ext>
            </a:extLst>
          </p:cNvPr>
          <p:cNvGraphicFramePr>
            <a:graphicFrameLocks noChangeAspect="1"/>
          </p:cNvGraphicFramePr>
          <p:nvPr>
            <p:extLst>
              <p:ext uri="{D42A27DB-BD31-4B8C-83A1-F6EECF244321}">
                <p14:modId xmlns:p14="http://schemas.microsoft.com/office/powerpoint/2010/main" val="3525852800"/>
              </p:ext>
            </p:extLst>
          </p:nvPr>
        </p:nvGraphicFramePr>
        <p:xfrm>
          <a:off x="228600" y="2133600"/>
          <a:ext cx="457200" cy="251361"/>
        </p:xfrm>
        <a:graphic>
          <a:graphicData uri="http://schemas.openxmlformats.org/presentationml/2006/ole">
            <mc:AlternateContent xmlns:mc="http://schemas.openxmlformats.org/markup-compatibility/2006">
              <mc:Choice xmlns:v="urn:schemas-microsoft-com:vml" Requires="v">
                <p:oleObj name="CS ChemDraw Drawing" r:id="rId6" imgW="732869" imgH="403383" progId="ChemDraw.Document.6.0">
                  <p:embed/>
                </p:oleObj>
              </mc:Choice>
              <mc:Fallback>
                <p:oleObj name="CS ChemDraw Drawing" r:id="rId6" imgW="732869" imgH="403383" progId="ChemDraw.Document.6.0">
                  <p:embed/>
                  <p:pic>
                    <p:nvPicPr>
                      <p:cNvPr id="10" name="Object 9">
                        <a:extLst>
                          <a:ext uri="{FF2B5EF4-FFF2-40B4-BE49-F238E27FC236}">
                            <a16:creationId xmlns:a16="http://schemas.microsoft.com/office/drawing/2014/main" id="{A7D1D128-C938-85D0-769E-B07B90F828B0}"/>
                          </a:ext>
                        </a:extLst>
                      </p:cNvPr>
                      <p:cNvPicPr/>
                      <p:nvPr/>
                    </p:nvPicPr>
                    <p:blipFill>
                      <a:blip r:embed="rId7"/>
                      <a:stretch>
                        <a:fillRect/>
                      </a:stretch>
                    </p:blipFill>
                    <p:spPr>
                      <a:xfrm>
                        <a:off x="228600" y="2133600"/>
                        <a:ext cx="457200" cy="251361"/>
                      </a:xfrm>
                      <a:prstGeom prst="rect">
                        <a:avLst/>
                      </a:prstGeom>
                    </p:spPr>
                  </p:pic>
                </p:oleObj>
              </mc:Fallback>
            </mc:AlternateContent>
          </a:graphicData>
        </a:graphic>
      </p:graphicFrame>
      <p:graphicFrame>
        <p:nvGraphicFramePr>
          <p:cNvPr id="11" name="Object 10">
            <a:extLst>
              <a:ext uri="{FF2B5EF4-FFF2-40B4-BE49-F238E27FC236}">
                <a16:creationId xmlns:a16="http://schemas.microsoft.com/office/drawing/2014/main" id="{2AA612D2-5ADA-EAC4-3466-7EF02EF9E12D}"/>
              </a:ext>
            </a:extLst>
          </p:cNvPr>
          <p:cNvGraphicFramePr>
            <a:graphicFrameLocks noChangeAspect="1"/>
          </p:cNvGraphicFramePr>
          <p:nvPr>
            <p:extLst>
              <p:ext uri="{D42A27DB-BD31-4B8C-83A1-F6EECF244321}">
                <p14:modId xmlns:p14="http://schemas.microsoft.com/office/powerpoint/2010/main" val="2707354120"/>
              </p:ext>
            </p:extLst>
          </p:nvPr>
        </p:nvGraphicFramePr>
        <p:xfrm>
          <a:off x="318436" y="2667000"/>
          <a:ext cx="457200" cy="250825"/>
        </p:xfrm>
        <a:graphic>
          <a:graphicData uri="http://schemas.openxmlformats.org/presentationml/2006/ole">
            <mc:AlternateContent xmlns:mc="http://schemas.openxmlformats.org/markup-compatibility/2006">
              <mc:Choice xmlns:v="urn:schemas-microsoft-com:vml" Requires="v">
                <p:oleObj name="CS ChemDraw Drawing" r:id="rId6" imgW="732869" imgH="403383" progId="ChemDraw.Document.6.0">
                  <p:embed/>
                </p:oleObj>
              </mc:Choice>
              <mc:Fallback>
                <p:oleObj name="CS ChemDraw Drawing" r:id="rId6" imgW="732869" imgH="403383" progId="ChemDraw.Document.6.0">
                  <p:embed/>
                  <p:pic>
                    <p:nvPicPr>
                      <p:cNvPr id="11" name="Object 10">
                        <a:extLst>
                          <a:ext uri="{FF2B5EF4-FFF2-40B4-BE49-F238E27FC236}">
                            <a16:creationId xmlns:a16="http://schemas.microsoft.com/office/drawing/2014/main" id="{2AA612D2-5ADA-EAC4-3466-7EF02EF9E12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18436" y="2667000"/>
                        <a:ext cx="457200" cy="25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 name="Object 11">
            <a:extLst>
              <a:ext uri="{FF2B5EF4-FFF2-40B4-BE49-F238E27FC236}">
                <a16:creationId xmlns:a16="http://schemas.microsoft.com/office/drawing/2014/main" id="{BA92B0CB-D07C-2AE9-765D-C1F9EDBF2E4E}"/>
              </a:ext>
            </a:extLst>
          </p:cNvPr>
          <p:cNvGraphicFramePr>
            <a:graphicFrameLocks noChangeAspect="1"/>
          </p:cNvGraphicFramePr>
          <p:nvPr>
            <p:extLst>
              <p:ext uri="{D42A27DB-BD31-4B8C-83A1-F6EECF244321}">
                <p14:modId xmlns:p14="http://schemas.microsoft.com/office/powerpoint/2010/main" val="1043135782"/>
              </p:ext>
            </p:extLst>
          </p:nvPr>
        </p:nvGraphicFramePr>
        <p:xfrm>
          <a:off x="84221" y="3276600"/>
          <a:ext cx="457200" cy="250825"/>
        </p:xfrm>
        <a:graphic>
          <a:graphicData uri="http://schemas.openxmlformats.org/presentationml/2006/ole">
            <mc:AlternateContent xmlns:mc="http://schemas.openxmlformats.org/markup-compatibility/2006">
              <mc:Choice xmlns:v="urn:schemas-microsoft-com:vml" Requires="v">
                <p:oleObj name="CS ChemDraw Drawing" r:id="rId6" imgW="732869" imgH="403383" progId="ChemDraw.Document.6.0">
                  <p:embed/>
                </p:oleObj>
              </mc:Choice>
              <mc:Fallback>
                <p:oleObj name="CS ChemDraw Drawing" r:id="rId6" imgW="732869" imgH="403383" progId="ChemDraw.Document.6.0">
                  <p:embed/>
                  <p:pic>
                    <p:nvPicPr>
                      <p:cNvPr id="12" name="Object 11">
                        <a:extLst>
                          <a:ext uri="{FF2B5EF4-FFF2-40B4-BE49-F238E27FC236}">
                            <a16:creationId xmlns:a16="http://schemas.microsoft.com/office/drawing/2014/main" id="{BA92B0CB-D07C-2AE9-765D-C1F9EDBF2E4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4221" y="3276600"/>
                        <a:ext cx="457200" cy="25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 name="Object 12">
            <a:extLst>
              <a:ext uri="{FF2B5EF4-FFF2-40B4-BE49-F238E27FC236}">
                <a16:creationId xmlns:a16="http://schemas.microsoft.com/office/drawing/2014/main" id="{E5097C5E-F06F-6B0E-9DBE-2CADDFC1FB39}"/>
              </a:ext>
            </a:extLst>
          </p:cNvPr>
          <p:cNvGraphicFramePr>
            <a:graphicFrameLocks noChangeAspect="1"/>
          </p:cNvGraphicFramePr>
          <p:nvPr>
            <p:extLst>
              <p:ext uri="{D42A27DB-BD31-4B8C-83A1-F6EECF244321}">
                <p14:modId xmlns:p14="http://schemas.microsoft.com/office/powerpoint/2010/main" val="2787465150"/>
              </p:ext>
            </p:extLst>
          </p:nvPr>
        </p:nvGraphicFramePr>
        <p:xfrm>
          <a:off x="381000" y="3733800"/>
          <a:ext cx="457200" cy="250825"/>
        </p:xfrm>
        <a:graphic>
          <a:graphicData uri="http://schemas.openxmlformats.org/presentationml/2006/ole">
            <mc:AlternateContent xmlns:mc="http://schemas.openxmlformats.org/markup-compatibility/2006">
              <mc:Choice xmlns:v="urn:schemas-microsoft-com:vml" Requires="v">
                <p:oleObj name="CS ChemDraw Drawing" r:id="rId6" imgW="732869" imgH="403383" progId="ChemDraw.Document.6.0">
                  <p:embed/>
                </p:oleObj>
              </mc:Choice>
              <mc:Fallback>
                <p:oleObj name="CS ChemDraw Drawing" r:id="rId6" imgW="732869" imgH="403383" progId="ChemDraw.Document.6.0">
                  <p:embed/>
                  <p:pic>
                    <p:nvPicPr>
                      <p:cNvPr id="13" name="Object 12">
                        <a:extLst>
                          <a:ext uri="{FF2B5EF4-FFF2-40B4-BE49-F238E27FC236}">
                            <a16:creationId xmlns:a16="http://schemas.microsoft.com/office/drawing/2014/main" id="{E5097C5E-F06F-6B0E-9DBE-2CADDFC1FB3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81000" y="3733800"/>
                        <a:ext cx="457200" cy="25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 name="Object 13">
            <a:extLst>
              <a:ext uri="{FF2B5EF4-FFF2-40B4-BE49-F238E27FC236}">
                <a16:creationId xmlns:a16="http://schemas.microsoft.com/office/drawing/2014/main" id="{767934AC-C17A-92BA-FF1B-E412D146239D}"/>
              </a:ext>
            </a:extLst>
          </p:cNvPr>
          <p:cNvGraphicFramePr>
            <a:graphicFrameLocks noChangeAspect="1"/>
          </p:cNvGraphicFramePr>
          <p:nvPr>
            <p:extLst>
              <p:ext uri="{D42A27DB-BD31-4B8C-83A1-F6EECF244321}">
                <p14:modId xmlns:p14="http://schemas.microsoft.com/office/powerpoint/2010/main" val="2819568050"/>
              </p:ext>
            </p:extLst>
          </p:nvPr>
        </p:nvGraphicFramePr>
        <p:xfrm>
          <a:off x="312821" y="4267200"/>
          <a:ext cx="457200" cy="250825"/>
        </p:xfrm>
        <a:graphic>
          <a:graphicData uri="http://schemas.openxmlformats.org/presentationml/2006/ole">
            <mc:AlternateContent xmlns:mc="http://schemas.openxmlformats.org/markup-compatibility/2006">
              <mc:Choice xmlns:v="urn:schemas-microsoft-com:vml" Requires="v">
                <p:oleObj name="CS ChemDraw Drawing" r:id="rId6" imgW="732869" imgH="403383" progId="ChemDraw.Document.6.0">
                  <p:embed/>
                </p:oleObj>
              </mc:Choice>
              <mc:Fallback>
                <p:oleObj name="CS ChemDraw Drawing" r:id="rId6" imgW="732869" imgH="403383" progId="ChemDraw.Document.6.0">
                  <p:embed/>
                  <p:pic>
                    <p:nvPicPr>
                      <p:cNvPr id="14" name="Object 13">
                        <a:extLst>
                          <a:ext uri="{FF2B5EF4-FFF2-40B4-BE49-F238E27FC236}">
                            <a16:creationId xmlns:a16="http://schemas.microsoft.com/office/drawing/2014/main" id="{767934AC-C17A-92BA-FF1B-E412D146239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12821" y="4267200"/>
                        <a:ext cx="457200" cy="25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 name="Object 14">
            <a:extLst>
              <a:ext uri="{FF2B5EF4-FFF2-40B4-BE49-F238E27FC236}">
                <a16:creationId xmlns:a16="http://schemas.microsoft.com/office/drawing/2014/main" id="{CE13068B-71E9-43E4-7059-C25867F19743}"/>
              </a:ext>
            </a:extLst>
          </p:cNvPr>
          <p:cNvGraphicFramePr>
            <a:graphicFrameLocks noChangeAspect="1"/>
          </p:cNvGraphicFramePr>
          <p:nvPr>
            <p:extLst>
              <p:ext uri="{D42A27DB-BD31-4B8C-83A1-F6EECF244321}">
                <p14:modId xmlns:p14="http://schemas.microsoft.com/office/powerpoint/2010/main" val="2978410361"/>
              </p:ext>
            </p:extLst>
          </p:nvPr>
        </p:nvGraphicFramePr>
        <p:xfrm>
          <a:off x="609600" y="4724400"/>
          <a:ext cx="457200" cy="250825"/>
        </p:xfrm>
        <a:graphic>
          <a:graphicData uri="http://schemas.openxmlformats.org/presentationml/2006/ole">
            <mc:AlternateContent xmlns:mc="http://schemas.openxmlformats.org/markup-compatibility/2006">
              <mc:Choice xmlns:v="urn:schemas-microsoft-com:vml" Requires="v">
                <p:oleObj name="CS ChemDraw Drawing" r:id="rId6" imgW="732869" imgH="403383" progId="ChemDraw.Document.6.0">
                  <p:embed/>
                </p:oleObj>
              </mc:Choice>
              <mc:Fallback>
                <p:oleObj name="CS ChemDraw Drawing" r:id="rId6" imgW="732869" imgH="403383" progId="ChemDraw.Document.6.0">
                  <p:embed/>
                  <p:pic>
                    <p:nvPicPr>
                      <p:cNvPr id="15" name="Object 14">
                        <a:extLst>
                          <a:ext uri="{FF2B5EF4-FFF2-40B4-BE49-F238E27FC236}">
                            <a16:creationId xmlns:a16="http://schemas.microsoft.com/office/drawing/2014/main" id="{CE13068B-71E9-43E4-7059-C25867F1974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09600" y="4724400"/>
                        <a:ext cx="457200" cy="25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 name="Object 15">
            <a:extLst>
              <a:ext uri="{FF2B5EF4-FFF2-40B4-BE49-F238E27FC236}">
                <a16:creationId xmlns:a16="http://schemas.microsoft.com/office/drawing/2014/main" id="{7B8BC1F3-B534-D657-79EF-87352880500D}"/>
              </a:ext>
            </a:extLst>
          </p:cNvPr>
          <p:cNvGraphicFramePr>
            <a:graphicFrameLocks noChangeAspect="1"/>
          </p:cNvGraphicFramePr>
          <p:nvPr>
            <p:extLst>
              <p:ext uri="{D42A27DB-BD31-4B8C-83A1-F6EECF244321}">
                <p14:modId xmlns:p14="http://schemas.microsoft.com/office/powerpoint/2010/main" val="1216226174"/>
              </p:ext>
            </p:extLst>
          </p:nvPr>
        </p:nvGraphicFramePr>
        <p:xfrm>
          <a:off x="8077200" y="2743200"/>
          <a:ext cx="457200" cy="250825"/>
        </p:xfrm>
        <a:graphic>
          <a:graphicData uri="http://schemas.openxmlformats.org/presentationml/2006/ole">
            <mc:AlternateContent xmlns:mc="http://schemas.openxmlformats.org/markup-compatibility/2006">
              <mc:Choice xmlns:v="urn:schemas-microsoft-com:vml" Requires="v">
                <p:oleObj name="CS ChemDraw Drawing" r:id="rId6" imgW="732869" imgH="403383" progId="ChemDraw.Document.6.0">
                  <p:embed/>
                </p:oleObj>
              </mc:Choice>
              <mc:Fallback>
                <p:oleObj name="CS ChemDraw Drawing" r:id="rId6" imgW="732869" imgH="403383" progId="ChemDraw.Document.6.0">
                  <p:embed/>
                  <p:pic>
                    <p:nvPicPr>
                      <p:cNvPr id="16" name="Object 15">
                        <a:extLst>
                          <a:ext uri="{FF2B5EF4-FFF2-40B4-BE49-F238E27FC236}">
                            <a16:creationId xmlns:a16="http://schemas.microsoft.com/office/drawing/2014/main" id="{7B8BC1F3-B534-D657-79EF-87352880500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077200" y="2743200"/>
                        <a:ext cx="457200" cy="25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7" name="Object 16">
            <a:extLst>
              <a:ext uri="{FF2B5EF4-FFF2-40B4-BE49-F238E27FC236}">
                <a16:creationId xmlns:a16="http://schemas.microsoft.com/office/drawing/2014/main" id="{60A82582-CCC9-91B1-6D80-2570A7F8BDB0}"/>
              </a:ext>
            </a:extLst>
          </p:cNvPr>
          <p:cNvGraphicFramePr>
            <a:graphicFrameLocks noChangeAspect="1"/>
          </p:cNvGraphicFramePr>
          <p:nvPr>
            <p:extLst>
              <p:ext uri="{D42A27DB-BD31-4B8C-83A1-F6EECF244321}">
                <p14:modId xmlns:p14="http://schemas.microsoft.com/office/powerpoint/2010/main" val="3816546784"/>
              </p:ext>
            </p:extLst>
          </p:nvPr>
        </p:nvGraphicFramePr>
        <p:xfrm>
          <a:off x="7924800" y="3276600"/>
          <a:ext cx="457200" cy="250825"/>
        </p:xfrm>
        <a:graphic>
          <a:graphicData uri="http://schemas.openxmlformats.org/presentationml/2006/ole">
            <mc:AlternateContent xmlns:mc="http://schemas.openxmlformats.org/markup-compatibility/2006">
              <mc:Choice xmlns:v="urn:schemas-microsoft-com:vml" Requires="v">
                <p:oleObj name="CS ChemDraw Drawing" r:id="rId6" imgW="732869" imgH="403383" progId="ChemDraw.Document.6.0">
                  <p:embed/>
                </p:oleObj>
              </mc:Choice>
              <mc:Fallback>
                <p:oleObj name="CS ChemDraw Drawing" r:id="rId6" imgW="732869" imgH="403383" progId="ChemDraw.Document.6.0">
                  <p:embed/>
                  <p:pic>
                    <p:nvPicPr>
                      <p:cNvPr id="17" name="Object 16">
                        <a:extLst>
                          <a:ext uri="{FF2B5EF4-FFF2-40B4-BE49-F238E27FC236}">
                            <a16:creationId xmlns:a16="http://schemas.microsoft.com/office/drawing/2014/main" id="{60A82582-CCC9-91B1-6D80-2570A7F8BDB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924800" y="3276600"/>
                        <a:ext cx="457200" cy="25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8" name="Object 17">
            <a:extLst>
              <a:ext uri="{FF2B5EF4-FFF2-40B4-BE49-F238E27FC236}">
                <a16:creationId xmlns:a16="http://schemas.microsoft.com/office/drawing/2014/main" id="{6DACDB15-1570-8DCA-10DA-F8A67CC9E79D}"/>
              </a:ext>
            </a:extLst>
          </p:cNvPr>
          <p:cNvGraphicFramePr>
            <a:graphicFrameLocks noChangeAspect="1"/>
          </p:cNvGraphicFramePr>
          <p:nvPr>
            <p:extLst>
              <p:ext uri="{D42A27DB-BD31-4B8C-83A1-F6EECF244321}">
                <p14:modId xmlns:p14="http://schemas.microsoft.com/office/powerpoint/2010/main" val="4085541716"/>
              </p:ext>
            </p:extLst>
          </p:nvPr>
        </p:nvGraphicFramePr>
        <p:xfrm>
          <a:off x="8161421" y="3810000"/>
          <a:ext cx="457200" cy="250825"/>
        </p:xfrm>
        <a:graphic>
          <a:graphicData uri="http://schemas.openxmlformats.org/presentationml/2006/ole">
            <mc:AlternateContent xmlns:mc="http://schemas.openxmlformats.org/markup-compatibility/2006">
              <mc:Choice xmlns:v="urn:schemas-microsoft-com:vml" Requires="v">
                <p:oleObj name="CS ChemDraw Drawing" r:id="rId6" imgW="732869" imgH="403383" progId="ChemDraw.Document.6.0">
                  <p:embed/>
                </p:oleObj>
              </mc:Choice>
              <mc:Fallback>
                <p:oleObj name="CS ChemDraw Drawing" r:id="rId6" imgW="732869" imgH="403383" progId="ChemDraw.Document.6.0">
                  <p:embed/>
                  <p:pic>
                    <p:nvPicPr>
                      <p:cNvPr id="18" name="Object 17">
                        <a:extLst>
                          <a:ext uri="{FF2B5EF4-FFF2-40B4-BE49-F238E27FC236}">
                            <a16:creationId xmlns:a16="http://schemas.microsoft.com/office/drawing/2014/main" id="{6DACDB15-1570-8DCA-10DA-F8A67CC9E79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161421" y="3810000"/>
                        <a:ext cx="457200" cy="25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9" name="Object 18">
            <a:extLst>
              <a:ext uri="{FF2B5EF4-FFF2-40B4-BE49-F238E27FC236}">
                <a16:creationId xmlns:a16="http://schemas.microsoft.com/office/drawing/2014/main" id="{874E1C32-C269-0D47-D780-478505175B4D}"/>
              </a:ext>
            </a:extLst>
          </p:cNvPr>
          <p:cNvGraphicFramePr>
            <a:graphicFrameLocks noChangeAspect="1"/>
          </p:cNvGraphicFramePr>
          <p:nvPr>
            <p:extLst>
              <p:ext uri="{D42A27DB-BD31-4B8C-83A1-F6EECF244321}">
                <p14:modId xmlns:p14="http://schemas.microsoft.com/office/powerpoint/2010/main" val="1738529483"/>
              </p:ext>
            </p:extLst>
          </p:nvPr>
        </p:nvGraphicFramePr>
        <p:xfrm>
          <a:off x="7848600" y="4267200"/>
          <a:ext cx="457200" cy="250825"/>
        </p:xfrm>
        <a:graphic>
          <a:graphicData uri="http://schemas.openxmlformats.org/presentationml/2006/ole">
            <mc:AlternateContent xmlns:mc="http://schemas.openxmlformats.org/markup-compatibility/2006">
              <mc:Choice xmlns:v="urn:schemas-microsoft-com:vml" Requires="v">
                <p:oleObj name="CS ChemDraw Drawing" r:id="rId6" imgW="732869" imgH="403383" progId="ChemDraw.Document.6.0">
                  <p:embed/>
                </p:oleObj>
              </mc:Choice>
              <mc:Fallback>
                <p:oleObj name="CS ChemDraw Drawing" r:id="rId6" imgW="732869" imgH="403383" progId="ChemDraw.Document.6.0">
                  <p:embed/>
                  <p:pic>
                    <p:nvPicPr>
                      <p:cNvPr id="19" name="Object 18">
                        <a:extLst>
                          <a:ext uri="{FF2B5EF4-FFF2-40B4-BE49-F238E27FC236}">
                            <a16:creationId xmlns:a16="http://schemas.microsoft.com/office/drawing/2014/main" id="{874E1C32-C269-0D47-D780-478505175B4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848600" y="4267200"/>
                        <a:ext cx="457200" cy="25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0" name="Object 19">
            <a:extLst>
              <a:ext uri="{FF2B5EF4-FFF2-40B4-BE49-F238E27FC236}">
                <a16:creationId xmlns:a16="http://schemas.microsoft.com/office/drawing/2014/main" id="{F3D37C6A-F3AF-EF12-1620-7A8EA3A25E22}"/>
              </a:ext>
            </a:extLst>
          </p:cNvPr>
          <p:cNvGraphicFramePr>
            <a:graphicFrameLocks noChangeAspect="1"/>
          </p:cNvGraphicFramePr>
          <p:nvPr>
            <p:extLst>
              <p:ext uri="{D42A27DB-BD31-4B8C-83A1-F6EECF244321}">
                <p14:modId xmlns:p14="http://schemas.microsoft.com/office/powerpoint/2010/main" val="4174268881"/>
              </p:ext>
            </p:extLst>
          </p:nvPr>
        </p:nvGraphicFramePr>
        <p:xfrm>
          <a:off x="8161421" y="4648200"/>
          <a:ext cx="457200" cy="250825"/>
        </p:xfrm>
        <a:graphic>
          <a:graphicData uri="http://schemas.openxmlformats.org/presentationml/2006/ole">
            <mc:AlternateContent xmlns:mc="http://schemas.openxmlformats.org/markup-compatibility/2006">
              <mc:Choice xmlns:v="urn:schemas-microsoft-com:vml" Requires="v">
                <p:oleObj name="CS ChemDraw Drawing" r:id="rId6" imgW="732869" imgH="403383" progId="ChemDraw.Document.6.0">
                  <p:embed/>
                </p:oleObj>
              </mc:Choice>
              <mc:Fallback>
                <p:oleObj name="CS ChemDraw Drawing" r:id="rId6" imgW="732869" imgH="403383" progId="ChemDraw.Document.6.0">
                  <p:embed/>
                  <p:pic>
                    <p:nvPicPr>
                      <p:cNvPr id="20" name="Object 19">
                        <a:extLst>
                          <a:ext uri="{FF2B5EF4-FFF2-40B4-BE49-F238E27FC236}">
                            <a16:creationId xmlns:a16="http://schemas.microsoft.com/office/drawing/2014/main" id="{F3D37C6A-F3AF-EF12-1620-7A8EA3A25E2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161421" y="4648200"/>
                        <a:ext cx="457200" cy="25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1" name="Object 20">
            <a:extLst>
              <a:ext uri="{FF2B5EF4-FFF2-40B4-BE49-F238E27FC236}">
                <a16:creationId xmlns:a16="http://schemas.microsoft.com/office/drawing/2014/main" id="{595B11C9-D984-D6B9-C7F7-7F4BCFF26F73}"/>
              </a:ext>
            </a:extLst>
          </p:cNvPr>
          <p:cNvGraphicFramePr>
            <a:graphicFrameLocks noChangeAspect="1"/>
          </p:cNvGraphicFramePr>
          <p:nvPr>
            <p:extLst>
              <p:ext uri="{D42A27DB-BD31-4B8C-83A1-F6EECF244321}">
                <p14:modId xmlns:p14="http://schemas.microsoft.com/office/powerpoint/2010/main" val="192074829"/>
              </p:ext>
            </p:extLst>
          </p:nvPr>
        </p:nvGraphicFramePr>
        <p:xfrm>
          <a:off x="8001000" y="5257800"/>
          <a:ext cx="457200" cy="250825"/>
        </p:xfrm>
        <a:graphic>
          <a:graphicData uri="http://schemas.openxmlformats.org/presentationml/2006/ole">
            <mc:AlternateContent xmlns:mc="http://schemas.openxmlformats.org/markup-compatibility/2006">
              <mc:Choice xmlns:v="urn:schemas-microsoft-com:vml" Requires="v">
                <p:oleObj name="CS ChemDraw Drawing" r:id="rId6" imgW="732869" imgH="403383" progId="ChemDraw.Document.6.0">
                  <p:embed/>
                </p:oleObj>
              </mc:Choice>
              <mc:Fallback>
                <p:oleObj name="CS ChemDraw Drawing" r:id="rId6" imgW="732869" imgH="403383" progId="ChemDraw.Document.6.0">
                  <p:embed/>
                  <p:pic>
                    <p:nvPicPr>
                      <p:cNvPr id="21" name="Object 20">
                        <a:extLst>
                          <a:ext uri="{FF2B5EF4-FFF2-40B4-BE49-F238E27FC236}">
                            <a16:creationId xmlns:a16="http://schemas.microsoft.com/office/drawing/2014/main" id="{595B11C9-D984-D6B9-C7F7-7F4BCFF26F7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001000" y="5257800"/>
                        <a:ext cx="457200" cy="25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cxnSp>
        <p:nvCxnSpPr>
          <p:cNvPr id="22" name="Straight Arrow Connector 21">
            <a:extLst>
              <a:ext uri="{FF2B5EF4-FFF2-40B4-BE49-F238E27FC236}">
                <a16:creationId xmlns:a16="http://schemas.microsoft.com/office/drawing/2014/main" id="{E7C1CA89-B37A-F37B-49C9-F1A714BD98D5}"/>
              </a:ext>
            </a:extLst>
          </p:cNvPr>
          <p:cNvCxnSpPr/>
          <p:nvPr/>
        </p:nvCxnSpPr>
        <p:spPr>
          <a:xfrm flipH="1">
            <a:off x="914400" y="1295400"/>
            <a:ext cx="2895600" cy="685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9BBB066D-B23A-DAE7-CD99-362054AABBAB}"/>
              </a:ext>
            </a:extLst>
          </p:cNvPr>
          <p:cNvSpPr txBox="1"/>
          <p:nvPr/>
        </p:nvSpPr>
        <p:spPr>
          <a:xfrm>
            <a:off x="4038600" y="1085165"/>
            <a:ext cx="2133600" cy="830997"/>
          </a:xfrm>
          <a:prstGeom prst="rect">
            <a:avLst/>
          </a:prstGeom>
          <a:noFill/>
        </p:spPr>
        <p:txBody>
          <a:bodyPr wrap="square" rtlCol="0">
            <a:spAutoFit/>
          </a:bodyPr>
          <a:lstStyle/>
          <a:p>
            <a:r>
              <a:rPr lang="en-US" dirty="0">
                <a:latin typeface="+mj-lt"/>
              </a:rPr>
              <a:t>Exposed to water/blood</a:t>
            </a:r>
          </a:p>
        </p:txBody>
      </p:sp>
      <p:cxnSp>
        <p:nvCxnSpPr>
          <p:cNvPr id="24" name="Straight Arrow Connector 23">
            <a:extLst>
              <a:ext uri="{FF2B5EF4-FFF2-40B4-BE49-F238E27FC236}">
                <a16:creationId xmlns:a16="http://schemas.microsoft.com/office/drawing/2014/main" id="{8340E1A1-AAD9-1D75-794E-33D93716C499}"/>
              </a:ext>
            </a:extLst>
          </p:cNvPr>
          <p:cNvCxnSpPr/>
          <p:nvPr/>
        </p:nvCxnSpPr>
        <p:spPr>
          <a:xfrm>
            <a:off x="5638800" y="1379356"/>
            <a:ext cx="2057400" cy="125867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35DE619D-8B4E-698B-4910-F7CCEFA77334}"/>
              </a:ext>
            </a:extLst>
          </p:cNvPr>
          <p:cNvSpPr txBox="1"/>
          <p:nvPr/>
        </p:nvSpPr>
        <p:spPr>
          <a:xfrm>
            <a:off x="3581400" y="5562600"/>
            <a:ext cx="2057400" cy="461665"/>
          </a:xfrm>
          <a:prstGeom prst="rect">
            <a:avLst/>
          </a:prstGeom>
          <a:noFill/>
        </p:spPr>
        <p:txBody>
          <a:bodyPr wrap="square" rtlCol="0">
            <a:spAutoFit/>
          </a:bodyPr>
          <a:lstStyle/>
          <a:p>
            <a:r>
              <a:rPr lang="en-US" dirty="0">
                <a:latin typeface="+mj-lt"/>
              </a:rPr>
              <a:t>Kept ‘inside’</a:t>
            </a:r>
          </a:p>
        </p:txBody>
      </p:sp>
      <p:cxnSp>
        <p:nvCxnSpPr>
          <p:cNvPr id="26" name="Straight Arrow Connector 25">
            <a:extLst>
              <a:ext uri="{FF2B5EF4-FFF2-40B4-BE49-F238E27FC236}">
                <a16:creationId xmlns:a16="http://schemas.microsoft.com/office/drawing/2014/main" id="{AF02375A-C177-8841-7835-4F85C29B58FE}"/>
              </a:ext>
            </a:extLst>
          </p:cNvPr>
          <p:cNvCxnSpPr/>
          <p:nvPr/>
        </p:nvCxnSpPr>
        <p:spPr>
          <a:xfrm flipH="1" flipV="1">
            <a:off x="3581400" y="5181600"/>
            <a:ext cx="228600" cy="381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EE532068-07C9-56BE-D4D9-E809DC42D492}"/>
              </a:ext>
            </a:extLst>
          </p:cNvPr>
          <p:cNvCxnSpPr/>
          <p:nvPr/>
        </p:nvCxnSpPr>
        <p:spPr>
          <a:xfrm flipV="1">
            <a:off x="4610100" y="5181600"/>
            <a:ext cx="266700" cy="381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8" name="Oval 27">
            <a:extLst>
              <a:ext uri="{FF2B5EF4-FFF2-40B4-BE49-F238E27FC236}">
                <a16:creationId xmlns:a16="http://schemas.microsoft.com/office/drawing/2014/main" id="{94E1962E-05CC-F278-F63C-A2B73ABC726B}"/>
              </a:ext>
            </a:extLst>
          </p:cNvPr>
          <p:cNvSpPr/>
          <p:nvPr/>
        </p:nvSpPr>
        <p:spPr>
          <a:xfrm>
            <a:off x="1066800" y="4191000"/>
            <a:ext cx="1752600" cy="914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j-lt"/>
            </a:endParaRPr>
          </a:p>
        </p:txBody>
      </p:sp>
      <p:cxnSp>
        <p:nvCxnSpPr>
          <p:cNvPr id="29" name="Straight Connector 28">
            <a:extLst>
              <a:ext uri="{FF2B5EF4-FFF2-40B4-BE49-F238E27FC236}">
                <a16:creationId xmlns:a16="http://schemas.microsoft.com/office/drawing/2014/main" id="{50A90594-753F-6EDD-6020-B7B96AD42EB6}"/>
              </a:ext>
            </a:extLst>
          </p:cNvPr>
          <p:cNvCxnSpPr/>
          <p:nvPr/>
        </p:nvCxnSpPr>
        <p:spPr>
          <a:xfrm>
            <a:off x="2758239" y="4495800"/>
            <a:ext cx="1646321" cy="0"/>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162DB158-E773-F272-50D4-1D9175C3A61E}"/>
              </a:ext>
            </a:extLst>
          </p:cNvPr>
          <p:cNvCxnSpPr/>
          <p:nvPr/>
        </p:nvCxnSpPr>
        <p:spPr>
          <a:xfrm>
            <a:off x="2667000" y="4876800"/>
            <a:ext cx="1646321" cy="0"/>
          </a:xfrm>
          <a:prstGeom prst="line">
            <a:avLst/>
          </a:prstGeom>
          <a:ln w="571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4718846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5"/>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6"/>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4"/>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0"/>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1"/>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2"/>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3"/>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4"/>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5"/>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21"/>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20"/>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19"/>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18"/>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17"/>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16"/>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28"/>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29"/>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5" grpId="0"/>
      <p:bldP spid="28"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A33D186-BF05-A53F-CFBD-DF2102BE2677}"/>
              </a:ext>
            </a:extLst>
          </p:cNvPr>
          <p:cNvSpPr txBox="1">
            <a:spLocks noChangeArrowheads="1"/>
          </p:cNvSpPr>
          <p:nvPr/>
        </p:nvSpPr>
        <p:spPr bwMode="auto">
          <a:xfrm>
            <a:off x="304800" y="381002"/>
            <a:ext cx="83820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3600" dirty="0">
                <a:solidFill>
                  <a:srgbClr val="000000"/>
                </a:solidFill>
                <a:latin typeface="+mj-lt"/>
              </a:rPr>
              <a:t>Surfactants</a:t>
            </a:r>
          </a:p>
        </p:txBody>
      </p:sp>
      <p:sp>
        <p:nvSpPr>
          <p:cNvPr id="4" name="TextBox 3">
            <a:extLst>
              <a:ext uri="{FF2B5EF4-FFF2-40B4-BE49-F238E27FC236}">
                <a16:creationId xmlns:a16="http://schemas.microsoft.com/office/drawing/2014/main" id="{0546C004-23EE-A0A9-B9EE-2FB8BF3220CC}"/>
              </a:ext>
            </a:extLst>
          </p:cNvPr>
          <p:cNvSpPr txBox="1"/>
          <p:nvPr/>
        </p:nvSpPr>
        <p:spPr>
          <a:xfrm>
            <a:off x="716549" y="5312444"/>
            <a:ext cx="8427451" cy="830997"/>
          </a:xfrm>
          <a:prstGeom prst="rect">
            <a:avLst/>
          </a:prstGeom>
          <a:noFill/>
        </p:spPr>
        <p:txBody>
          <a:bodyPr wrap="square" rtlCol="0">
            <a:spAutoFit/>
          </a:bodyPr>
          <a:lstStyle/>
          <a:p>
            <a:r>
              <a:rPr lang="en-US" dirty="0">
                <a:latin typeface="+mj-lt"/>
              </a:rPr>
              <a:t>Thus, cell membranes are polar/charged on the outside, and very non-polar inside.</a:t>
            </a:r>
          </a:p>
        </p:txBody>
      </p:sp>
      <p:grpSp>
        <p:nvGrpSpPr>
          <p:cNvPr id="5" name="Group 4">
            <a:extLst>
              <a:ext uri="{FF2B5EF4-FFF2-40B4-BE49-F238E27FC236}">
                <a16:creationId xmlns:a16="http://schemas.microsoft.com/office/drawing/2014/main" id="{B7340D92-51EB-BBC7-E74C-A06A8DBAB362}"/>
              </a:ext>
            </a:extLst>
          </p:cNvPr>
          <p:cNvGrpSpPr/>
          <p:nvPr/>
        </p:nvGrpSpPr>
        <p:grpSpPr>
          <a:xfrm>
            <a:off x="974028" y="1884008"/>
            <a:ext cx="3219874" cy="2516817"/>
            <a:chOff x="1143000" y="1495000"/>
            <a:chExt cx="3219874" cy="2516817"/>
          </a:xfrm>
        </p:grpSpPr>
        <p:grpSp>
          <p:nvGrpSpPr>
            <p:cNvPr id="6" name="Group 5">
              <a:extLst>
                <a:ext uri="{FF2B5EF4-FFF2-40B4-BE49-F238E27FC236}">
                  <a16:creationId xmlns:a16="http://schemas.microsoft.com/office/drawing/2014/main" id="{6D010B2E-2AF9-4FA8-8B74-3A592899AE8A}"/>
                </a:ext>
              </a:extLst>
            </p:cNvPr>
            <p:cNvGrpSpPr/>
            <p:nvPr/>
          </p:nvGrpSpPr>
          <p:grpSpPr>
            <a:xfrm>
              <a:off x="1524000" y="1524000"/>
              <a:ext cx="271337" cy="1219200"/>
              <a:chOff x="1524000" y="1524000"/>
              <a:chExt cx="570542" cy="2064894"/>
            </a:xfrm>
          </p:grpSpPr>
          <p:sp>
            <p:nvSpPr>
              <p:cNvPr id="67" name="Oval 66">
                <a:extLst>
                  <a:ext uri="{FF2B5EF4-FFF2-40B4-BE49-F238E27FC236}">
                    <a16:creationId xmlns:a16="http://schemas.microsoft.com/office/drawing/2014/main" id="{4975BC03-522F-2D56-1C89-46EADA37A9F5}"/>
                  </a:ext>
                </a:extLst>
              </p:cNvPr>
              <p:cNvSpPr/>
              <p:nvPr/>
            </p:nvSpPr>
            <p:spPr>
              <a:xfrm>
                <a:off x="1524000" y="1524000"/>
                <a:ext cx="5334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j-lt"/>
                </a:endParaRPr>
              </a:p>
            </p:txBody>
          </p:sp>
          <p:cxnSp>
            <p:nvCxnSpPr>
              <p:cNvPr id="68" name="Straight Connector 67">
                <a:extLst>
                  <a:ext uri="{FF2B5EF4-FFF2-40B4-BE49-F238E27FC236}">
                    <a16:creationId xmlns:a16="http://schemas.microsoft.com/office/drawing/2014/main" id="{79C37D95-8E93-36FF-E5EF-06669501F255}"/>
                  </a:ext>
                </a:extLst>
              </p:cNvPr>
              <p:cNvCxnSpPr/>
              <p:nvPr/>
            </p:nvCxnSpPr>
            <p:spPr>
              <a:xfrm flipH="1">
                <a:off x="1596254" y="1905000"/>
                <a:ext cx="78115" cy="1655996"/>
              </a:xfrm>
              <a:prstGeom prst="line">
                <a:avLst/>
              </a:prstGeom>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8BBE42E7-E03C-399D-0126-7EAB4C8892A1}"/>
                  </a:ext>
                </a:extLst>
              </p:cNvPr>
              <p:cNvCxnSpPr/>
              <p:nvPr/>
            </p:nvCxnSpPr>
            <p:spPr>
              <a:xfrm>
                <a:off x="1864027" y="1877102"/>
                <a:ext cx="230515" cy="1711792"/>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7" name="Group 6">
              <a:extLst>
                <a:ext uri="{FF2B5EF4-FFF2-40B4-BE49-F238E27FC236}">
                  <a16:creationId xmlns:a16="http://schemas.microsoft.com/office/drawing/2014/main" id="{5B2F7278-050E-1EDE-4146-BACB16D94684}"/>
                </a:ext>
              </a:extLst>
            </p:cNvPr>
            <p:cNvGrpSpPr/>
            <p:nvPr/>
          </p:nvGrpSpPr>
          <p:grpSpPr>
            <a:xfrm>
              <a:off x="1947737" y="1525358"/>
              <a:ext cx="271337" cy="1219200"/>
              <a:chOff x="1524000" y="1524000"/>
              <a:chExt cx="570542" cy="2064894"/>
            </a:xfrm>
          </p:grpSpPr>
          <p:sp>
            <p:nvSpPr>
              <p:cNvPr id="64" name="Oval 63">
                <a:extLst>
                  <a:ext uri="{FF2B5EF4-FFF2-40B4-BE49-F238E27FC236}">
                    <a16:creationId xmlns:a16="http://schemas.microsoft.com/office/drawing/2014/main" id="{EBF8E9FB-6067-EE5E-BBED-F678150B186A}"/>
                  </a:ext>
                </a:extLst>
              </p:cNvPr>
              <p:cNvSpPr/>
              <p:nvPr/>
            </p:nvSpPr>
            <p:spPr>
              <a:xfrm>
                <a:off x="1524000" y="1524000"/>
                <a:ext cx="5334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j-lt"/>
                </a:endParaRPr>
              </a:p>
            </p:txBody>
          </p:sp>
          <p:cxnSp>
            <p:nvCxnSpPr>
              <p:cNvPr id="65" name="Straight Connector 64">
                <a:extLst>
                  <a:ext uri="{FF2B5EF4-FFF2-40B4-BE49-F238E27FC236}">
                    <a16:creationId xmlns:a16="http://schemas.microsoft.com/office/drawing/2014/main" id="{8AB70589-4E84-48F9-D14E-04464AF068C8}"/>
                  </a:ext>
                </a:extLst>
              </p:cNvPr>
              <p:cNvCxnSpPr/>
              <p:nvPr/>
            </p:nvCxnSpPr>
            <p:spPr>
              <a:xfrm flipH="1">
                <a:off x="1596254" y="1905000"/>
                <a:ext cx="78115" cy="1655996"/>
              </a:xfrm>
              <a:prstGeom prst="line">
                <a:avLst/>
              </a:prstGeom>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6700511C-5DD4-D5B5-7CC9-F738F52B3877}"/>
                  </a:ext>
                </a:extLst>
              </p:cNvPr>
              <p:cNvCxnSpPr/>
              <p:nvPr/>
            </p:nvCxnSpPr>
            <p:spPr>
              <a:xfrm>
                <a:off x="1864027" y="1877102"/>
                <a:ext cx="230515" cy="1711792"/>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8" name="Group 7">
              <a:extLst>
                <a:ext uri="{FF2B5EF4-FFF2-40B4-BE49-F238E27FC236}">
                  <a16:creationId xmlns:a16="http://schemas.microsoft.com/office/drawing/2014/main" id="{9C0FC872-04F5-AC1B-A351-3B8697BB0E2E}"/>
                </a:ext>
              </a:extLst>
            </p:cNvPr>
            <p:cNvGrpSpPr/>
            <p:nvPr/>
          </p:nvGrpSpPr>
          <p:grpSpPr>
            <a:xfrm>
              <a:off x="2409433" y="1495554"/>
              <a:ext cx="271337" cy="1219200"/>
              <a:chOff x="1524000" y="1524000"/>
              <a:chExt cx="570542" cy="2064894"/>
            </a:xfrm>
          </p:grpSpPr>
          <p:sp>
            <p:nvSpPr>
              <p:cNvPr id="61" name="Oval 60">
                <a:extLst>
                  <a:ext uri="{FF2B5EF4-FFF2-40B4-BE49-F238E27FC236}">
                    <a16:creationId xmlns:a16="http://schemas.microsoft.com/office/drawing/2014/main" id="{41091B21-EF26-59B8-5D50-A550522E94A0}"/>
                  </a:ext>
                </a:extLst>
              </p:cNvPr>
              <p:cNvSpPr/>
              <p:nvPr/>
            </p:nvSpPr>
            <p:spPr>
              <a:xfrm>
                <a:off x="1524000" y="1524000"/>
                <a:ext cx="5334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j-lt"/>
                </a:endParaRPr>
              </a:p>
            </p:txBody>
          </p:sp>
          <p:cxnSp>
            <p:nvCxnSpPr>
              <p:cNvPr id="62" name="Straight Connector 61">
                <a:extLst>
                  <a:ext uri="{FF2B5EF4-FFF2-40B4-BE49-F238E27FC236}">
                    <a16:creationId xmlns:a16="http://schemas.microsoft.com/office/drawing/2014/main" id="{A50F8574-832A-557E-0BC2-8FE86A6C7640}"/>
                  </a:ext>
                </a:extLst>
              </p:cNvPr>
              <p:cNvCxnSpPr/>
              <p:nvPr/>
            </p:nvCxnSpPr>
            <p:spPr>
              <a:xfrm flipH="1">
                <a:off x="1596254" y="1905000"/>
                <a:ext cx="78115" cy="1655996"/>
              </a:xfrm>
              <a:prstGeom prst="line">
                <a:avLst/>
              </a:prstGeom>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9E915D37-4E94-CFE2-BE86-0A2EC0A00E7A}"/>
                  </a:ext>
                </a:extLst>
              </p:cNvPr>
              <p:cNvCxnSpPr/>
              <p:nvPr/>
            </p:nvCxnSpPr>
            <p:spPr>
              <a:xfrm>
                <a:off x="1864027" y="1877102"/>
                <a:ext cx="230515" cy="1711792"/>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9" name="Group 8">
              <a:extLst>
                <a:ext uri="{FF2B5EF4-FFF2-40B4-BE49-F238E27FC236}">
                  <a16:creationId xmlns:a16="http://schemas.microsoft.com/office/drawing/2014/main" id="{C626D8BE-420E-765D-8BAC-E78D6E52D4AB}"/>
                </a:ext>
              </a:extLst>
            </p:cNvPr>
            <p:cNvGrpSpPr/>
            <p:nvPr/>
          </p:nvGrpSpPr>
          <p:grpSpPr>
            <a:xfrm>
              <a:off x="2860762" y="1495554"/>
              <a:ext cx="271337" cy="1219200"/>
              <a:chOff x="1524000" y="1524000"/>
              <a:chExt cx="570542" cy="2064894"/>
            </a:xfrm>
          </p:grpSpPr>
          <p:sp>
            <p:nvSpPr>
              <p:cNvPr id="58" name="Oval 57">
                <a:extLst>
                  <a:ext uri="{FF2B5EF4-FFF2-40B4-BE49-F238E27FC236}">
                    <a16:creationId xmlns:a16="http://schemas.microsoft.com/office/drawing/2014/main" id="{C46E1EA6-BBFA-B3C6-2B44-E12606388E87}"/>
                  </a:ext>
                </a:extLst>
              </p:cNvPr>
              <p:cNvSpPr/>
              <p:nvPr/>
            </p:nvSpPr>
            <p:spPr>
              <a:xfrm>
                <a:off x="1524000" y="1524000"/>
                <a:ext cx="5334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j-lt"/>
                </a:endParaRPr>
              </a:p>
            </p:txBody>
          </p:sp>
          <p:cxnSp>
            <p:nvCxnSpPr>
              <p:cNvPr id="59" name="Straight Connector 58">
                <a:extLst>
                  <a:ext uri="{FF2B5EF4-FFF2-40B4-BE49-F238E27FC236}">
                    <a16:creationId xmlns:a16="http://schemas.microsoft.com/office/drawing/2014/main" id="{35149DD5-9598-19C3-078C-BE37EB93B4D9}"/>
                  </a:ext>
                </a:extLst>
              </p:cNvPr>
              <p:cNvCxnSpPr/>
              <p:nvPr/>
            </p:nvCxnSpPr>
            <p:spPr>
              <a:xfrm flipH="1">
                <a:off x="1596254" y="1905000"/>
                <a:ext cx="78115" cy="1655996"/>
              </a:xfrm>
              <a:prstGeom prst="line">
                <a:avLst/>
              </a:prstGeom>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E2543483-0CAA-2516-E98A-33F6BBCE4CDE}"/>
                  </a:ext>
                </a:extLst>
              </p:cNvPr>
              <p:cNvCxnSpPr/>
              <p:nvPr/>
            </p:nvCxnSpPr>
            <p:spPr>
              <a:xfrm>
                <a:off x="1864027" y="1877102"/>
                <a:ext cx="230515" cy="1711792"/>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10" name="Group 9">
              <a:extLst>
                <a:ext uri="{FF2B5EF4-FFF2-40B4-BE49-F238E27FC236}">
                  <a16:creationId xmlns:a16="http://schemas.microsoft.com/office/drawing/2014/main" id="{E3ABA21F-0239-792D-4C36-1553AC714F0D}"/>
                </a:ext>
              </a:extLst>
            </p:cNvPr>
            <p:cNvGrpSpPr/>
            <p:nvPr/>
          </p:nvGrpSpPr>
          <p:grpSpPr>
            <a:xfrm>
              <a:off x="1143000" y="1512831"/>
              <a:ext cx="271337" cy="1219200"/>
              <a:chOff x="1524000" y="1524000"/>
              <a:chExt cx="570542" cy="2064894"/>
            </a:xfrm>
          </p:grpSpPr>
          <p:sp>
            <p:nvSpPr>
              <p:cNvPr id="55" name="Oval 54">
                <a:extLst>
                  <a:ext uri="{FF2B5EF4-FFF2-40B4-BE49-F238E27FC236}">
                    <a16:creationId xmlns:a16="http://schemas.microsoft.com/office/drawing/2014/main" id="{50E4FD7D-2F8F-C2FD-950C-889CB562B62A}"/>
                  </a:ext>
                </a:extLst>
              </p:cNvPr>
              <p:cNvSpPr/>
              <p:nvPr/>
            </p:nvSpPr>
            <p:spPr>
              <a:xfrm>
                <a:off x="1524000" y="1524000"/>
                <a:ext cx="5334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j-lt"/>
                </a:endParaRPr>
              </a:p>
            </p:txBody>
          </p:sp>
          <p:cxnSp>
            <p:nvCxnSpPr>
              <p:cNvPr id="56" name="Straight Connector 55">
                <a:extLst>
                  <a:ext uri="{FF2B5EF4-FFF2-40B4-BE49-F238E27FC236}">
                    <a16:creationId xmlns:a16="http://schemas.microsoft.com/office/drawing/2014/main" id="{E727B84B-6272-9D03-8A1D-43E145CE5A4D}"/>
                  </a:ext>
                </a:extLst>
              </p:cNvPr>
              <p:cNvCxnSpPr/>
              <p:nvPr/>
            </p:nvCxnSpPr>
            <p:spPr>
              <a:xfrm flipH="1">
                <a:off x="1596254" y="1905000"/>
                <a:ext cx="78115" cy="1655996"/>
              </a:xfrm>
              <a:prstGeom prst="line">
                <a:avLst/>
              </a:prstGeom>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DA7F6ED1-CF8C-4853-106D-E105F2B88363}"/>
                  </a:ext>
                </a:extLst>
              </p:cNvPr>
              <p:cNvCxnSpPr/>
              <p:nvPr/>
            </p:nvCxnSpPr>
            <p:spPr>
              <a:xfrm>
                <a:off x="1864027" y="1877102"/>
                <a:ext cx="230515" cy="1711792"/>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11" name="Group 10">
              <a:extLst>
                <a:ext uri="{FF2B5EF4-FFF2-40B4-BE49-F238E27FC236}">
                  <a16:creationId xmlns:a16="http://schemas.microsoft.com/office/drawing/2014/main" id="{678C7A02-541C-128B-66C4-3126C1F92850}"/>
                </a:ext>
              </a:extLst>
            </p:cNvPr>
            <p:cNvGrpSpPr/>
            <p:nvPr/>
          </p:nvGrpSpPr>
          <p:grpSpPr>
            <a:xfrm>
              <a:off x="4038600" y="1495000"/>
              <a:ext cx="271337" cy="1219200"/>
              <a:chOff x="1524000" y="1524000"/>
              <a:chExt cx="570542" cy="2064894"/>
            </a:xfrm>
          </p:grpSpPr>
          <p:sp>
            <p:nvSpPr>
              <p:cNvPr id="52" name="Oval 51">
                <a:extLst>
                  <a:ext uri="{FF2B5EF4-FFF2-40B4-BE49-F238E27FC236}">
                    <a16:creationId xmlns:a16="http://schemas.microsoft.com/office/drawing/2014/main" id="{FF95132B-B3E7-94ED-3839-7E271DE10AE0}"/>
                  </a:ext>
                </a:extLst>
              </p:cNvPr>
              <p:cNvSpPr/>
              <p:nvPr/>
            </p:nvSpPr>
            <p:spPr>
              <a:xfrm>
                <a:off x="1524000" y="1524000"/>
                <a:ext cx="5334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j-lt"/>
                </a:endParaRPr>
              </a:p>
            </p:txBody>
          </p:sp>
          <p:cxnSp>
            <p:nvCxnSpPr>
              <p:cNvPr id="53" name="Straight Connector 52">
                <a:extLst>
                  <a:ext uri="{FF2B5EF4-FFF2-40B4-BE49-F238E27FC236}">
                    <a16:creationId xmlns:a16="http://schemas.microsoft.com/office/drawing/2014/main" id="{035E7F32-781A-DD3E-EEC1-BBCACC3D2B57}"/>
                  </a:ext>
                </a:extLst>
              </p:cNvPr>
              <p:cNvCxnSpPr/>
              <p:nvPr/>
            </p:nvCxnSpPr>
            <p:spPr>
              <a:xfrm flipH="1">
                <a:off x="1596254" y="1905000"/>
                <a:ext cx="78115" cy="1655996"/>
              </a:xfrm>
              <a:prstGeom prst="line">
                <a:avLst/>
              </a:prstGeom>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2FAE3A85-FFB0-F30E-BE44-3C1132EF0389}"/>
                  </a:ext>
                </a:extLst>
              </p:cNvPr>
              <p:cNvCxnSpPr/>
              <p:nvPr/>
            </p:nvCxnSpPr>
            <p:spPr>
              <a:xfrm>
                <a:off x="1864027" y="1877102"/>
                <a:ext cx="230515" cy="1711792"/>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12" name="Group 11">
              <a:extLst>
                <a:ext uri="{FF2B5EF4-FFF2-40B4-BE49-F238E27FC236}">
                  <a16:creationId xmlns:a16="http://schemas.microsoft.com/office/drawing/2014/main" id="{1D5B093F-18C8-E241-5285-C085E03B6264}"/>
                </a:ext>
              </a:extLst>
            </p:cNvPr>
            <p:cNvGrpSpPr/>
            <p:nvPr/>
          </p:nvGrpSpPr>
          <p:grpSpPr>
            <a:xfrm>
              <a:off x="3267767" y="1508885"/>
              <a:ext cx="271337" cy="1219200"/>
              <a:chOff x="1524000" y="1524000"/>
              <a:chExt cx="570542" cy="2064894"/>
            </a:xfrm>
          </p:grpSpPr>
          <p:sp>
            <p:nvSpPr>
              <p:cNvPr id="49" name="Oval 48">
                <a:extLst>
                  <a:ext uri="{FF2B5EF4-FFF2-40B4-BE49-F238E27FC236}">
                    <a16:creationId xmlns:a16="http://schemas.microsoft.com/office/drawing/2014/main" id="{AF65BFB4-F50E-3BA8-C553-D930F4670B53}"/>
                  </a:ext>
                </a:extLst>
              </p:cNvPr>
              <p:cNvSpPr/>
              <p:nvPr/>
            </p:nvSpPr>
            <p:spPr>
              <a:xfrm>
                <a:off x="1524000" y="1524000"/>
                <a:ext cx="5334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j-lt"/>
                </a:endParaRPr>
              </a:p>
            </p:txBody>
          </p:sp>
          <p:cxnSp>
            <p:nvCxnSpPr>
              <p:cNvPr id="50" name="Straight Connector 49">
                <a:extLst>
                  <a:ext uri="{FF2B5EF4-FFF2-40B4-BE49-F238E27FC236}">
                    <a16:creationId xmlns:a16="http://schemas.microsoft.com/office/drawing/2014/main" id="{57C40D1D-991E-0508-9A80-651EDC4FB3D9}"/>
                  </a:ext>
                </a:extLst>
              </p:cNvPr>
              <p:cNvCxnSpPr/>
              <p:nvPr/>
            </p:nvCxnSpPr>
            <p:spPr>
              <a:xfrm flipH="1">
                <a:off x="1596254" y="1905000"/>
                <a:ext cx="78115" cy="1655996"/>
              </a:xfrm>
              <a:prstGeom prst="line">
                <a:avLst/>
              </a:prstGeom>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A13F075C-49AA-16A2-8A81-D18AAA1C29F4}"/>
                  </a:ext>
                </a:extLst>
              </p:cNvPr>
              <p:cNvCxnSpPr/>
              <p:nvPr/>
            </p:nvCxnSpPr>
            <p:spPr>
              <a:xfrm>
                <a:off x="1864027" y="1877102"/>
                <a:ext cx="230515" cy="1711792"/>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13" name="Group 12">
              <a:extLst>
                <a:ext uri="{FF2B5EF4-FFF2-40B4-BE49-F238E27FC236}">
                  <a16:creationId xmlns:a16="http://schemas.microsoft.com/office/drawing/2014/main" id="{E6C729E7-EB25-B98E-3D53-11E91F725B43}"/>
                </a:ext>
              </a:extLst>
            </p:cNvPr>
            <p:cNvGrpSpPr/>
            <p:nvPr/>
          </p:nvGrpSpPr>
          <p:grpSpPr>
            <a:xfrm rot="10800000">
              <a:off x="1169040" y="2788364"/>
              <a:ext cx="271337" cy="1219200"/>
              <a:chOff x="1524000" y="1524000"/>
              <a:chExt cx="570542" cy="2064894"/>
            </a:xfrm>
          </p:grpSpPr>
          <p:sp>
            <p:nvSpPr>
              <p:cNvPr id="46" name="Oval 45">
                <a:extLst>
                  <a:ext uri="{FF2B5EF4-FFF2-40B4-BE49-F238E27FC236}">
                    <a16:creationId xmlns:a16="http://schemas.microsoft.com/office/drawing/2014/main" id="{08EF6A32-88D4-C70D-AA8C-28C15C32F469}"/>
                  </a:ext>
                </a:extLst>
              </p:cNvPr>
              <p:cNvSpPr/>
              <p:nvPr/>
            </p:nvSpPr>
            <p:spPr>
              <a:xfrm>
                <a:off x="1524000" y="1524000"/>
                <a:ext cx="5334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j-lt"/>
                </a:endParaRPr>
              </a:p>
            </p:txBody>
          </p:sp>
          <p:cxnSp>
            <p:nvCxnSpPr>
              <p:cNvPr id="47" name="Straight Connector 46">
                <a:extLst>
                  <a:ext uri="{FF2B5EF4-FFF2-40B4-BE49-F238E27FC236}">
                    <a16:creationId xmlns:a16="http://schemas.microsoft.com/office/drawing/2014/main" id="{62448EDA-E33B-1C23-D2DA-C9E7139BD680}"/>
                  </a:ext>
                </a:extLst>
              </p:cNvPr>
              <p:cNvCxnSpPr/>
              <p:nvPr/>
            </p:nvCxnSpPr>
            <p:spPr>
              <a:xfrm flipH="1">
                <a:off x="1596254" y="1905000"/>
                <a:ext cx="78115" cy="1655996"/>
              </a:xfrm>
              <a:prstGeom prst="line">
                <a:avLst/>
              </a:prstGeom>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BFCAC6BD-8B1C-ADD7-7315-4F6D218ADED4}"/>
                  </a:ext>
                </a:extLst>
              </p:cNvPr>
              <p:cNvCxnSpPr/>
              <p:nvPr/>
            </p:nvCxnSpPr>
            <p:spPr>
              <a:xfrm>
                <a:off x="1864027" y="1877102"/>
                <a:ext cx="230515" cy="1711792"/>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14" name="Group 13">
              <a:extLst>
                <a:ext uri="{FF2B5EF4-FFF2-40B4-BE49-F238E27FC236}">
                  <a16:creationId xmlns:a16="http://schemas.microsoft.com/office/drawing/2014/main" id="{89204A70-7B7B-A4D8-3AF7-7192B49DF7E0}"/>
                </a:ext>
              </a:extLst>
            </p:cNvPr>
            <p:cNvGrpSpPr/>
            <p:nvPr/>
          </p:nvGrpSpPr>
          <p:grpSpPr>
            <a:xfrm>
              <a:off x="3657600" y="1508885"/>
              <a:ext cx="271337" cy="1219200"/>
              <a:chOff x="1524000" y="1524000"/>
              <a:chExt cx="570542" cy="2064894"/>
            </a:xfrm>
          </p:grpSpPr>
          <p:sp>
            <p:nvSpPr>
              <p:cNvPr id="43" name="Oval 42">
                <a:extLst>
                  <a:ext uri="{FF2B5EF4-FFF2-40B4-BE49-F238E27FC236}">
                    <a16:creationId xmlns:a16="http://schemas.microsoft.com/office/drawing/2014/main" id="{A179AA28-DFB1-EF32-BAC3-5668A2C11890}"/>
                  </a:ext>
                </a:extLst>
              </p:cNvPr>
              <p:cNvSpPr/>
              <p:nvPr/>
            </p:nvSpPr>
            <p:spPr>
              <a:xfrm>
                <a:off x="1524000" y="1524000"/>
                <a:ext cx="5334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j-lt"/>
                </a:endParaRPr>
              </a:p>
            </p:txBody>
          </p:sp>
          <p:cxnSp>
            <p:nvCxnSpPr>
              <p:cNvPr id="44" name="Straight Connector 43">
                <a:extLst>
                  <a:ext uri="{FF2B5EF4-FFF2-40B4-BE49-F238E27FC236}">
                    <a16:creationId xmlns:a16="http://schemas.microsoft.com/office/drawing/2014/main" id="{1238A089-EF4D-0AD9-0A39-26AC725C0B19}"/>
                  </a:ext>
                </a:extLst>
              </p:cNvPr>
              <p:cNvCxnSpPr/>
              <p:nvPr/>
            </p:nvCxnSpPr>
            <p:spPr>
              <a:xfrm flipH="1">
                <a:off x="1596254" y="1905000"/>
                <a:ext cx="78115" cy="1655996"/>
              </a:xfrm>
              <a:prstGeom prst="line">
                <a:avLst/>
              </a:prstGeom>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07BD14CC-BC41-78C3-79FD-85F87865DAD3}"/>
                  </a:ext>
                </a:extLst>
              </p:cNvPr>
              <p:cNvCxnSpPr/>
              <p:nvPr/>
            </p:nvCxnSpPr>
            <p:spPr>
              <a:xfrm>
                <a:off x="1864027" y="1877102"/>
                <a:ext cx="230515" cy="1711792"/>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15" name="Group 14">
              <a:extLst>
                <a:ext uri="{FF2B5EF4-FFF2-40B4-BE49-F238E27FC236}">
                  <a16:creationId xmlns:a16="http://schemas.microsoft.com/office/drawing/2014/main" id="{75F718DA-DC9E-3506-9D51-4720C11B77B5}"/>
                </a:ext>
              </a:extLst>
            </p:cNvPr>
            <p:cNvGrpSpPr/>
            <p:nvPr/>
          </p:nvGrpSpPr>
          <p:grpSpPr>
            <a:xfrm rot="10800000">
              <a:off x="1576937" y="2759672"/>
              <a:ext cx="271337" cy="1219200"/>
              <a:chOff x="1524000" y="1524000"/>
              <a:chExt cx="570542" cy="2064894"/>
            </a:xfrm>
          </p:grpSpPr>
          <p:sp>
            <p:nvSpPr>
              <p:cNvPr id="40" name="Oval 39">
                <a:extLst>
                  <a:ext uri="{FF2B5EF4-FFF2-40B4-BE49-F238E27FC236}">
                    <a16:creationId xmlns:a16="http://schemas.microsoft.com/office/drawing/2014/main" id="{4F421472-A978-3018-2AD5-74F259189099}"/>
                  </a:ext>
                </a:extLst>
              </p:cNvPr>
              <p:cNvSpPr/>
              <p:nvPr/>
            </p:nvSpPr>
            <p:spPr>
              <a:xfrm>
                <a:off x="1524000" y="1524000"/>
                <a:ext cx="5334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j-lt"/>
                </a:endParaRPr>
              </a:p>
            </p:txBody>
          </p:sp>
          <p:cxnSp>
            <p:nvCxnSpPr>
              <p:cNvPr id="41" name="Straight Connector 40">
                <a:extLst>
                  <a:ext uri="{FF2B5EF4-FFF2-40B4-BE49-F238E27FC236}">
                    <a16:creationId xmlns:a16="http://schemas.microsoft.com/office/drawing/2014/main" id="{DFBFEF10-70CA-A967-F9F5-00859E196CC2}"/>
                  </a:ext>
                </a:extLst>
              </p:cNvPr>
              <p:cNvCxnSpPr/>
              <p:nvPr/>
            </p:nvCxnSpPr>
            <p:spPr>
              <a:xfrm flipH="1">
                <a:off x="1596254" y="1905000"/>
                <a:ext cx="78115" cy="1655996"/>
              </a:xfrm>
              <a:prstGeom prst="line">
                <a:avLst/>
              </a:prstGeom>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3A50FC47-CE4A-AE95-116F-0997B16C87FC}"/>
                  </a:ext>
                </a:extLst>
              </p:cNvPr>
              <p:cNvCxnSpPr/>
              <p:nvPr/>
            </p:nvCxnSpPr>
            <p:spPr>
              <a:xfrm>
                <a:off x="1864027" y="1877102"/>
                <a:ext cx="230515" cy="1711792"/>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16" name="Group 15">
              <a:extLst>
                <a:ext uri="{FF2B5EF4-FFF2-40B4-BE49-F238E27FC236}">
                  <a16:creationId xmlns:a16="http://schemas.microsoft.com/office/drawing/2014/main" id="{A6443FBF-79EA-110D-5944-156BF50EF75F}"/>
                </a:ext>
              </a:extLst>
            </p:cNvPr>
            <p:cNvGrpSpPr/>
            <p:nvPr/>
          </p:nvGrpSpPr>
          <p:grpSpPr>
            <a:xfrm rot="10800000">
              <a:off x="1973777" y="2776144"/>
              <a:ext cx="271337" cy="1219200"/>
              <a:chOff x="1524000" y="1524000"/>
              <a:chExt cx="570542" cy="2064894"/>
            </a:xfrm>
          </p:grpSpPr>
          <p:sp>
            <p:nvSpPr>
              <p:cNvPr id="37" name="Oval 36">
                <a:extLst>
                  <a:ext uri="{FF2B5EF4-FFF2-40B4-BE49-F238E27FC236}">
                    <a16:creationId xmlns:a16="http://schemas.microsoft.com/office/drawing/2014/main" id="{5097BE81-BA36-2C68-500C-EC509BF4ED3C}"/>
                  </a:ext>
                </a:extLst>
              </p:cNvPr>
              <p:cNvSpPr/>
              <p:nvPr/>
            </p:nvSpPr>
            <p:spPr>
              <a:xfrm>
                <a:off x="1524000" y="1524000"/>
                <a:ext cx="5334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j-lt"/>
                </a:endParaRPr>
              </a:p>
            </p:txBody>
          </p:sp>
          <p:cxnSp>
            <p:nvCxnSpPr>
              <p:cNvPr id="38" name="Straight Connector 37">
                <a:extLst>
                  <a:ext uri="{FF2B5EF4-FFF2-40B4-BE49-F238E27FC236}">
                    <a16:creationId xmlns:a16="http://schemas.microsoft.com/office/drawing/2014/main" id="{9AFB776A-F76B-C448-674D-39257BAC8A49}"/>
                  </a:ext>
                </a:extLst>
              </p:cNvPr>
              <p:cNvCxnSpPr/>
              <p:nvPr/>
            </p:nvCxnSpPr>
            <p:spPr>
              <a:xfrm flipH="1">
                <a:off x="1596254" y="1905000"/>
                <a:ext cx="78115" cy="1655996"/>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1E78FE20-5404-ECDB-AB56-4C11D9052D9A}"/>
                  </a:ext>
                </a:extLst>
              </p:cNvPr>
              <p:cNvCxnSpPr/>
              <p:nvPr/>
            </p:nvCxnSpPr>
            <p:spPr>
              <a:xfrm>
                <a:off x="1864027" y="1877102"/>
                <a:ext cx="230515" cy="1711792"/>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17" name="Group 16">
              <a:extLst>
                <a:ext uri="{FF2B5EF4-FFF2-40B4-BE49-F238E27FC236}">
                  <a16:creationId xmlns:a16="http://schemas.microsoft.com/office/drawing/2014/main" id="{20242888-BA29-1E9B-9B6B-E9E5B300F90F}"/>
                </a:ext>
              </a:extLst>
            </p:cNvPr>
            <p:cNvGrpSpPr/>
            <p:nvPr/>
          </p:nvGrpSpPr>
          <p:grpSpPr>
            <a:xfrm rot="10800000">
              <a:off x="2443795" y="2776145"/>
              <a:ext cx="271337" cy="1219200"/>
              <a:chOff x="1524000" y="1524000"/>
              <a:chExt cx="570542" cy="2064894"/>
            </a:xfrm>
          </p:grpSpPr>
          <p:sp>
            <p:nvSpPr>
              <p:cNvPr id="34" name="Oval 33">
                <a:extLst>
                  <a:ext uri="{FF2B5EF4-FFF2-40B4-BE49-F238E27FC236}">
                    <a16:creationId xmlns:a16="http://schemas.microsoft.com/office/drawing/2014/main" id="{6135C518-E9C1-2F50-384A-4030594D446B}"/>
                  </a:ext>
                </a:extLst>
              </p:cNvPr>
              <p:cNvSpPr/>
              <p:nvPr/>
            </p:nvSpPr>
            <p:spPr>
              <a:xfrm>
                <a:off x="1524000" y="1524000"/>
                <a:ext cx="5334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j-lt"/>
                </a:endParaRPr>
              </a:p>
            </p:txBody>
          </p:sp>
          <p:cxnSp>
            <p:nvCxnSpPr>
              <p:cNvPr id="35" name="Straight Connector 34">
                <a:extLst>
                  <a:ext uri="{FF2B5EF4-FFF2-40B4-BE49-F238E27FC236}">
                    <a16:creationId xmlns:a16="http://schemas.microsoft.com/office/drawing/2014/main" id="{426C9F62-A151-B87C-96F3-59C121EF6AC2}"/>
                  </a:ext>
                </a:extLst>
              </p:cNvPr>
              <p:cNvCxnSpPr/>
              <p:nvPr/>
            </p:nvCxnSpPr>
            <p:spPr>
              <a:xfrm flipH="1">
                <a:off x="1596254" y="1905000"/>
                <a:ext cx="78115" cy="1655996"/>
              </a:xfrm>
              <a:prstGeom prst="line">
                <a:avLst/>
              </a:prstGeom>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02B087A9-F2DF-C12E-A8E7-DFC3E1EA671A}"/>
                  </a:ext>
                </a:extLst>
              </p:cNvPr>
              <p:cNvCxnSpPr/>
              <p:nvPr/>
            </p:nvCxnSpPr>
            <p:spPr>
              <a:xfrm>
                <a:off x="1864027" y="1877102"/>
                <a:ext cx="230515" cy="1711792"/>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18" name="Group 17">
              <a:extLst>
                <a:ext uri="{FF2B5EF4-FFF2-40B4-BE49-F238E27FC236}">
                  <a16:creationId xmlns:a16="http://schemas.microsoft.com/office/drawing/2014/main" id="{F0B859BB-337B-ECFE-268F-221564D2C570}"/>
                </a:ext>
              </a:extLst>
            </p:cNvPr>
            <p:cNvGrpSpPr/>
            <p:nvPr/>
          </p:nvGrpSpPr>
          <p:grpSpPr>
            <a:xfrm rot="10800000">
              <a:off x="2899151" y="2792617"/>
              <a:ext cx="271337" cy="1219200"/>
              <a:chOff x="1524000" y="1524000"/>
              <a:chExt cx="570542" cy="2064894"/>
            </a:xfrm>
          </p:grpSpPr>
          <p:sp>
            <p:nvSpPr>
              <p:cNvPr id="31" name="Oval 30">
                <a:extLst>
                  <a:ext uri="{FF2B5EF4-FFF2-40B4-BE49-F238E27FC236}">
                    <a16:creationId xmlns:a16="http://schemas.microsoft.com/office/drawing/2014/main" id="{FEDCBD01-86BC-8EC3-1D28-7A8E9796DDF5}"/>
                  </a:ext>
                </a:extLst>
              </p:cNvPr>
              <p:cNvSpPr/>
              <p:nvPr/>
            </p:nvSpPr>
            <p:spPr>
              <a:xfrm>
                <a:off x="1524000" y="1524000"/>
                <a:ext cx="5334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j-lt"/>
                </a:endParaRPr>
              </a:p>
            </p:txBody>
          </p:sp>
          <p:cxnSp>
            <p:nvCxnSpPr>
              <p:cNvPr id="32" name="Straight Connector 31">
                <a:extLst>
                  <a:ext uri="{FF2B5EF4-FFF2-40B4-BE49-F238E27FC236}">
                    <a16:creationId xmlns:a16="http://schemas.microsoft.com/office/drawing/2014/main" id="{C12A0644-2860-033C-E35C-936A6B125B64}"/>
                  </a:ext>
                </a:extLst>
              </p:cNvPr>
              <p:cNvCxnSpPr/>
              <p:nvPr/>
            </p:nvCxnSpPr>
            <p:spPr>
              <a:xfrm flipH="1">
                <a:off x="1596254" y="1905000"/>
                <a:ext cx="78115" cy="1655996"/>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D9FD4B87-996E-C5EA-7342-6776990A4541}"/>
                  </a:ext>
                </a:extLst>
              </p:cNvPr>
              <p:cNvCxnSpPr/>
              <p:nvPr/>
            </p:nvCxnSpPr>
            <p:spPr>
              <a:xfrm>
                <a:off x="1864027" y="1877102"/>
                <a:ext cx="230515" cy="1711792"/>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19" name="Group 18">
              <a:extLst>
                <a:ext uri="{FF2B5EF4-FFF2-40B4-BE49-F238E27FC236}">
                  <a16:creationId xmlns:a16="http://schemas.microsoft.com/office/drawing/2014/main" id="{C1C3337B-D26F-739E-6679-33D58FFCC63E}"/>
                </a:ext>
              </a:extLst>
            </p:cNvPr>
            <p:cNvGrpSpPr/>
            <p:nvPr/>
          </p:nvGrpSpPr>
          <p:grpSpPr>
            <a:xfrm rot="10800000">
              <a:off x="3302129" y="2744558"/>
              <a:ext cx="271337" cy="1219200"/>
              <a:chOff x="1524000" y="1524000"/>
              <a:chExt cx="570542" cy="2064894"/>
            </a:xfrm>
          </p:grpSpPr>
          <p:sp>
            <p:nvSpPr>
              <p:cNvPr id="28" name="Oval 27">
                <a:extLst>
                  <a:ext uri="{FF2B5EF4-FFF2-40B4-BE49-F238E27FC236}">
                    <a16:creationId xmlns:a16="http://schemas.microsoft.com/office/drawing/2014/main" id="{CC41FE38-4434-430D-D9E2-7150A0F5DA9A}"/>
                  </a:ext>
                </a:extLst>
              </p:cNvPr>
              <p:cNvSpPr/>
              <p:nvPr/>
            </p:nvSpPr>
            <p:spPr>
              <a:xfrm>
                <a:off x="1524000" y="1524000"/>
                <a:ext cx="5334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j-lt"/>
                </a:endParaRPr>
              </a:p>
            </p:txBody>
          </p:sp>
          <p:cxnSp>
            <p:nvCxnSpPr>
              <p:cNvPr id="29" name="Straight Connector 28">
                <a:extLst>
                  <a:ext uri="{FF2B5EF4-FFF2-40B4-BE49-F238E27FC236}">
                    <a16:creationId xmlns:a16="http://schemas.microsoft.com/office/drawing/2014/main" id="{6B9E6030-C6DF-FDEF-D258-B0B0DE767541}"/>
                  </a:ext>
                </a:extLst>
              </p:cNvPr>
              <p:cNvCxnSpPr/>
              <p:nvPr/>
            </p:nvCxnSpPr>
            <p:spPr>
              <a:xfrm flipH="1">
                <a:off x="1596254" y="1905000"/>
                <a:ext cx="78115" cy="1655996"/>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507094D-F30E-7B71-7000-C45BB93BE38C}"/>
                  </a:ext>
                </a:extLst>
              </p:cNvPr>
              <p:cNvCxnSpPr/>
              <p:nvPr/>
            </p:nvCxnSpPr>
            <p:spPr>
              <a:xfrm>
                <a:off x="1864027" y="1877102"/>
                <a:ext cx="230515" cy="1711792"/>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20" name="Group 19">
              <a:extLst>
                <a:ext uri="{FF2B5EF4-FFF2-40B4-BE49-F238E27FC236}">
                  <a16:creationId xmlns:a16="http://schemas.microsoft.com/office/drawing/2014/main" id="{BFAE15AF-EABD-E9AF-E1CC-EC7E421AB823}"/>
                </a:ext>
              </a:extLst>
            </p:cNvPr>
            <p:cNvGrpSpPr/>
            <p:nvPr/>
          </p:nvGrpSpPr>
          <p:grpSpPr>
            <a:xfrm rot="10800000">
              <a:off x="4091537" y="2761030"/>
              <a:ext cx="271337" cy="1219200"/>
              <a:chOff x="1524000" y="1524000"/>
              <a:chExt cx="570542" cy="2064894"/>
            </a:xfrm>
          </p:grpSpPr>
          <p:sp>
            <p:nvSpPr>
              <p:cNvPr id="25" name="Oval 24">
                <a:extLst>
                  <a:ext uri="{FF2B5EF4-FFF2-40B4-BE49-F238E27FC236}">
                    <a16:creationId xmlns:a16="http://schemas.microsoft.com/office/drawing/2014/main" id="{92C4C9F4-FA8C-94EE-8792-49E22321F170}"/>
                  </a:ext>
                </a:extLst>
              </p:cNvPr>
              <p:cNvSpPr/>
              <p:nvPr/>
            </p:nvSpPr>
            <p:spPr>
              <a:xfrm>
                <a:off x="1524000" y="1524000"/>
                <a:ext cx="5334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j-lt"/>
                </a:endParaRPr>
              </a:p>
            </p:txBody>
          </p:sp>
          <p:cxnSp>
            <p:nvCxnSpPr>
              <p:cNvPr id="26" name="Straight Connector 25">
                <a:extLst>
                  <a:ext uri="{FF2B5EF4-FFF2-40B4-BE49-F238E27FC236}">
                    <a16:creationId xmlns:a16="http://schemas.microsoft.com/office/drawing/2014/main" id="{5C99ED31-0385-6B9F-A22B-23B9004FCDDD}"/>
                  </a:ext>
                </a:extLst>
              </p:cNvPr>
              <p:cNvCxnSpPr/>
              <p:nvPr/>
            </p:nvCxnSpPr>
            <p:spPr>
              <a:xfrm flipH="1">
                <a:off x="1596254" y="1905000"/>
                <a:ext cx="78115" cy="1655996"/>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8AC50FBF-2505-056A-B77E-FF050A8E4F42}"/>
                  </a:ext>
                </a:extLst>
              </p:cNvPr>
              <p:cNvCxnSpPr/>
              <p:nvPr/>
            </p:nvCxnSpPr>
            <p:spPr>
              <a:xfrm>
                <a:off x="1864027" y="1877102"/>
                <a:ext cx="230515" cy="1711792"/>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21" name="Group 20">
              <a:extLst>
                <a:ext uri="{FF2B5EF4-FFF2-40B4-BE49-F238E27FC236}">
                  <a16:creationId xmlns:a16="http://schemas.microsoft.com/office/drawing/2014/main" id="{17B4A480-F5AF-A5CC-9EB7-8AC1D239885E}"/>
                </a:ext>
              </a:extLst>
            </p:cNvPr>
            <p:cNvGrpSpPr/>
            <p:nvPr/>
          </p:nvGrpSpPr>
          <p:grpSpPr>
            <a:xfrm rot="10800000">
              <a:off x="3700337" y="2732031"/>
              <a:ext cx="271337" cy="1219200"/>
              <a:chOff x="1524000" y="1524000"/>
              <a:chExt cx="570542" cy="2064894"/>
            </a:xfrm>
          </p:grpSpPr>
          <p:sp>
            <p:nvSpPr>
              <p:cNvPr id="22" name="Oval 21">
                <a:extLst>
                  <a:ext uri="{FF2B5EF4-FFF2-40B4-BE49-F238E27FC236}">
                    <a16:creationId xmlns:a16="http://schemas.microsoft.com/office/drawing/2014/main" id="{E49036CA-7AC2-04AD-173A-E554E07FC4EE}"/>
                  </a:ext>
                </a:extLst>
              </p:cNvPr>
              <p:cNvSpPr/>
              <p:nvPr/>
            </p:nvSpPr>
            <p:spPr>
              <a:xfrm>
                <a:off x="1524000" y="1524000"/>
                <a:ext cx="5334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j-lt"/>
                </a:endParaRPr>
              </a:p>
            </p:txBody>
          </p:sp>
          <p:cxnSp>
            <p:nvCxnSpPr>
              <p:cNvPr id="23" name="Straight Connector 22">
                <a:extLst>
                  <a:ext uri="{FF2B5EF4-FFF2-40B4-BE49-F238E27FC236}">
                    <a16:creationId xmlns:a16="http://schemas.microsoft.com/office/drawing/2014/main" id="{4E841C28-9B4A-0912-0986-ED72B9E577F4}"/>
                  </a:ext>
                </a:extLst>
              </p:cNvPr>
              <p:cNvCxnSpPr/>
              <p:nvPr/>
            </p:nvCxnSpPr>
            <p:spPr>
              <a:xfrm flipH="1">
                <a:off x="1596254" y="1905000"/>
                <a:ext cx="78115" cy="1655996"/>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E6F1FBDF-816E-8CAD-5E4D-B92C9463F61C}"/>
                  </a:ext>
                </a:extLst>
              </p:cNvPr>
              <p:cNvCxnSpPr/>
              <p:nvPr/>
            </p:nvCxnSpPr>
            <p:spPr>
              <a:xfrm>
                <a:off x="1864027" y="1877102"/>
                <a:ext cx="230515" cy="1711792"/>
              </a:xfrm>
              <a:prstGeom prst="line">
                <a:avLst/>
              </a:prstGeom>
            </p:spPr>
            <p:style>
              <a:lnRef idx="1">
                <a:schemeClr val="accent1"/>
              </a:lnRef>
              <a:fillRef idx="0">
                <a:schemeClr val="accent1"/>
              </a:fillRef>
              <a:effectRef idx="0">
                <a:schemeClr val="accent1"/>
              </a:effectRef>
              <a:fontRef idx="minor">
                <a:schemeClr val="tx1"/>
              </a:fontRef>
            </p:style>
          </p:cxnSp>
        </p:grpSp>
      </p:grpSp>
      <p:sp>
        <p:nvSpPr>
          <p:cNvPr id="70" name="TextBox 69">
            <a:extLst>
              <a:ext uri="{FF2B5EF4-FFF2-40B4-BE49-F238E27FC236}">
                <a16:creationId xmlns:a16="http://schemas.microsoft.com/office/drawing/2014/main" id="{1941220C-EE6C-8DD6-EBC7-8B02B140B4C9}"/>
              </a:ext>
            </a:extLst>
          </p:cNvPr>
          <p:cNvSpPr txBox="1"/>
          <p:nvPr/>
        </p:nvSpPr>
        <p:spPr>
          <a:xfrm>
            <a:off x="851506" y="1198208"/>
            <a:ext cx="5303521" cy="461665"/>
          </a:xfrm>
          <a:prstGeom prst="rect">
            <a:avLst/>
          </a:prstGeom>
          <a:noFill/>
        </p:spPr>
        <p:txBody>
          <a:bodyPr wrap="square" rtlCol="0">
            <a:spAutoFit/>
          </a:bodyPr>
          <a:lstStyle/>
          <a:p>
            <a:r>
              <a:rPr lang="en-US" dirty="0">
                <a:latin typeface="+mj-lt"/>
              </a:rPr>
              <a:t>Outside of cell – blood (mostly water)</a:t>
            </a:r>
          </a:p>
        </p:txBody>
      </p:sp>
      <p:sp>
        <p:nvSpPr>
          <p:cNvPr id="71" name="TextBox 70">
            <a:extLst>
              <a:ext uri="{FF2B5EF4-FFF2-40B4-BE49-F238E27FC236}">
                <a16:creationId xmlns:a16="http://schemas.microsoft.com/office/drawing/2014/main" id="{F8FB54B5-5788-19D4-4661-089F3F6355E0}"/>
              </a:ext>
            </a:extLst>
          </p:cNvPr>
          <p:cNvSpPr txBox="1"/>
          <p:nvPr/>
        </p:nvSpPr>
        <p:spPr>
          <a:xfrm>
            <a:off x="837426" y="4711429"/>
            <a:ext cx="5164724" cy="461665"/>
          </a:xfrm>
          <a:prstGeom prst="rect">
            <a:avLst/>
          </a:prstGeom>
          <a:noFill/>
        </p:spPr>
        <p:txBody>
          <a:bodyPr wrap="square" rtlCol="0">
            <a:spAutoFit/>
          </a:bodyPr>
          <a:lstStyle/>
          <a:p>
            <a:r>
              <a:rPr lang="en-US" dirty="0">
                <a:latin typeface="+mj-lt"/>
              </a:rPr>
              <a:t>Inside of cell – cytosol (mostly water)</a:t>
            </a:r>
          </a:p>
        </p:txBody>
      </p:sp>
      <p:cxnSp>
        <p:nvCxnSpPr>
          <p:cNvPr id="72" name="Straight Arrow Connector 71">
            <a:extLst>
              <a:ext uri="{FF2B5EF4-FFF2-40B4-BE49-F238E27FC236}">
                <a16:creationId xmlns:a16="http://schemas.microsoft.com/office/drawing/2014/main" id="{6366483E-0B1A-ADB3-DE25-A697A544811B}"/>
              </a:ext>
            </a:extLst>
          </p:cNvPr>
          <p:cNvCxnSpPr/>
          <p:nvPr/>
        </p:nvCxnSpPr>
        <p:spPr>
          <a:xfrm flipH="1">
            <a:off x="4327159" y="2597850"/>
            <a:ext cx="1554079" cy="14487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73" name="TextBox 72">
            <a:extLst>
              <a:ext uri="{FF2B5EF4-FFF2-40B4-BE49-F238E27FC236}">
                <a16:creationId xmlns:a16="http://schemas.microsoft.com/office/drawing/2014/main" id="{212E69B8-EB20-FC80-9118-2FC3DEC6BBD1}"/>
              </a:ext>
            </a:extLst>
          </p:cNvPr>
          <p:cNvSpPr txBox="1"/>
          <p:nvPr/>
        </p:nvSpPr>
        <p:spPr>
          <a:xfrm>
            <a:off x="5995346" y="1472322"/>
            <a:ext cx="3070350" cy="3046988"/>
          </a:xfrm>
          <a:prstGeom prst="rect">
            <a:avLst/>
          </a:prstGeom>
          <a:noFill/>
        </p:spPr>
        <p:txBody>
          <a:bodyPr wrap="square" rtlCol="0">
            <a:spAutoFit/>
          </a:bodyPr>
          <a:lstStyle/>
          <a:p>
            <a:r>
              <a:rPr lang="en-US" dirty="0">
                <a:latin typeface="+mj-lt"/>
              </a:rPr>
              <a:t>The water </a:t>
            </a:r>
            <a:r>
              <a:rPr lang="en-US" i="1" dirty="0" err="1">
                <a:latin typeface="+mj-lt"/>
              </a:rPr>
              <a:t>maximises</a:t>
            </a:r>
            <a:r>
              <a:rPr lang="en-US" i="1" dirty="0">
                <a:latin typeface="+mj-lt"/>
              </a:rPr>
              <a:t> </a:t>
            </a:r>
            <a:r>
              <a:rPr lang="en-US" dirty="0">
                <a:latin typeface="+mj-lt"/>
              </a:rPr>
              <a:t>the number of polar interactions by </a:t>
            </a:r>
            <a:r>
              <a:rPr lang="en-US" i="1" dirty="0">
                <a:latin typeface="+mj-lt"/>
              </a:rPr>
              <a:t>minimizing </a:t>
            </a:r>
            <a:r>
              <a:rPr lang="en-US" dirty="0">
                <a:latin typeface="+mj-lt"/>
              </a:rPr>
              <a:t>its interaction with non-polar hydrocarbon tails - resulting in membrane formation</a:t>
            </a:r>
          </a:p>
        </p:txBody>
      </p:sp>
      <p:grpSp>
        <p:nvGrpSpPr>
          <p:cNvPr id="74" name="Group 73">
            <a:extLst>
              <a:ext uri="{FF2B5EF4-FFF2-40B4-BE49-F238E27FC236}">
                <a16:creationId xmlns:a16="http://schemas.microsoft.com/office/drawing/2014/main" id="{AA2E2FB7-BD93-EF58-A68C-30EB5DC9828A}"/>
              </a:ext>
            </a:extLst>
          </p:cNvPr>
          <p:cNvGrpSpPr/>
          <p:nvPr/>
        </p:nvGrpSpPr>
        <p:grpSpPr>
          <a:xfrm>
            <a:off x="1995288" y="2139324"/>
            <a:ext cx="228600" cy="697547"/>
            <a:chOff x="5410200" y="761999"/>
            <a:chExt cx="228600" cy="697547"/>
          </a:xfrm>
        </p:grpSpPr>
        <p:sp>
          <p:nvSpPr>
            <p:cNvPr id="75" name="Oval 74">
              <a:extLst>
                <a:ext uri="{FF2B5EF4-FFF2-40B4-BE49-F238E27FC236}">
                  <a16:creationId xmlns:a16="http://schemas.microsoft.com/office/drawing/2014/main" id="{BB77A0DF-DEAD-D74E-EBF7-E7AB510FDC2D}"/>
                </a:ext>
              </a:extLst>
            </p:cNvPr>
            <p:cNvSpPr/>
            <p:nvPr/>
          </p:nvSpPr>
          <p:spPr>
            <a:xfrm>
              <a:off x="5410200" y="761999"/>
              <a:ext cx="228600" cy="152401"/>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j-lt"/>
              </a:endParaRPr>
            </a:p>
          </p:txBody>
        </p:sp>
        <p:cxnSp>
          <p:nvCxnSpPr>
            <p:cNvPr id="76" name="Straight Connector 75">
              <a:extLst>
                <a:ext uri="{FF2B5EF4-FFF2-40B4-BE49-F238E27FC236}">
                  <a16:creationId xmlns:a16="http://schemas.microsoft.com/office/drawing/2014/main" id="{95B7976F-15AC-69A1-1F07-E1FDABACD7B6}"/>
                </a:ext>
              </a:extLst>
            </p:cNvPr>
            <p:cNvCxnSpPr/>
            <p:nvPr/>
          </p:nvCxnSpPr>
          <p:spPr>
            <a:xfrm>
              <a:off x="5524500" y="914400"/>
              <a:ext cx="0" cy="545146"/>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77" name="Group 76">
            <a:extLst>
              <a:ext uri="{FF2B5EF4-FFF2-40B4-BE49-F238E27FC236}">
                <a16:creationId xmlns:a16="http://schemas.microsoft.com/office/drawing/2014/main" id="{66A374AA-78E3-356E-3552-61C0CE660E6C}"/>
              </a:ext>
            </a:extLst>
          </p:cNvPr>
          <p:cNvGrpSpPr/>
          <p:nvPr/>
        </p:nvGrpSpPr>
        <p:grpSpPr>
          <a:xfrm>
            <a:off x="2915090" y="2139324"/>
            <a:ext cx="228600" cy="697547"/>
            <a:chOff x="5410200" y="761999"/>
            <a:chExt cx="228600" cy="697547"/>
          </a:xfrm>
        </p:grpSpPr>
        <p:sp>
          <p:nvSpPr>
            <p:cNvPr id="78" name="Oval 77">
              <a:extLst>
                <a:ext uri="{FF2B5EF4-FFF2-40B4-BE49-F238E27FC236}">
                  <a16:creationId xmlns:a16="http://schemas.microsoft.com/office/drawing/2014/main" id="{A1FB766F-B7E5-A4EC-3F49-A128B93035DD}"/>
                </a:ext>
              </a:extLst>
            </p:cNvPr>
            <p:cNvSpPr/>
            <p:nvPr/>
          </p:nvSpPr>
          <p:spPr>
            <a:xfrm>
              <a:off x="5410200" y="761999"/>
              <a:ext cx="228600" cy="152401"/>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j-lt"/>
              </a:endParaRPr>
            </a:p>
          </p:txBody>
        </p:sp>
        <p:cxnSp>
          <p:nvCxnSpPr>
            <p:cNvPr id="79" name="Straight Connector 78">
              <a:extLst>
                <a:ext uri="{FF2B5EF4-FFF2-40B4-BE49-F238E27FC236}">
                  <a16:creationId xmlns:a16="http://schemas.microsoft.com/office/drawing/2014/main" id="{A52A5BDA-1B2F-1975-6E92-D19C39754FED}"/>
                </a:ext>
              </a:extLst>
            </p:cNvPr>
            <p:cNvCxnSpPr/>
            <p:nvPr/>
          </p:nvCxnSpPr>
          <p:spPr>
            <a:xfrm>
              <a:off x="5524500" y="914400"/>
              <a:ext cx="0" cy="545146"/>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80" name="TextBox 79">
            <a:extLst>
              <a:ext uri="{FF2B5EF4-FFF2-40B4-BE49-F238E27FC236}">
                <a16:creationId xmlns:a16="http://schemas.microsoft.com/office/drawing/2014/main" id="{B963F5FB-6F1D-B229-48A7-437C9C755D0F}"/>
              </a:ext>
            </a:extLst>
          </p:cNvPr>
          <p:cNvSpPr txBox="1"/>
          <p:nvPr/>
        </p:nvSpPr>
        <p:spPr>
          <a:xfrm>
            <a:off x="716549" y="6015782"/>
            <a:ext cx="8355951" cy="830997"/>
          </a:xfrm>
          <a:prstGeom prst="rect">
            <a:avLst/>
          </a:prstGeom>
          <a:noFill/>
        </p:spPr>
        <p:txBody>
          <a:bodyPr wrap="square" rtlCol="0">
            <a:spAutoFit/>
          </a:bodyPr>
          <a:lstStyle/>
          <a:p>
            <a:r>
              <a:rPr lang="en-US" dirty="0">
                <a:latin typeface="+mj-lt"/>
              </a:rPr>
              <a:t>The occasional presence of cholesterol makes membranes stronger and more fluid.</a:t>
            </a:r>
          </a:p>
        </p:txBody>
      </p:sp>
    </p:spTree>
    <p:extLst>
      <p:ext uri="{BB962C8B-B14F-4D97-AF65-F5344CB8AC3E}">
        <p14:creationId xmlns:p14="http://schemas.microsoft.com/office/powerpoint/2010/main" val="400614934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80"/>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74"/>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7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0" grpId="0"/>
      <p:bldP spid="71" grpId="0"/>
      <p:bldP spid="73" grpId="0"/>
      <p:bldP spid="80"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4795CF8-BE59-6377-DF91-DE2B929D26BE}"/>
              </a:ext>
            </a:extLst>
          </p:cNvPr>
          <p:cNvSpPr txBox="1">
            <a:spLocks noChangeArrowheads="1"/>
          </p:cNvSpPr>
          <p:nvPr/>
        </p:nvSpPr>
        <p:spPr bwMode="auto">
          <a:xfrm>
            <a:off x="304800" y="381002"/>
            <a:ext cx="83820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3600" dirty="0">
                <a:solidFill>
                  <a:srgbClr val="000000"/>
                </a:solidFill>
                <a:latin typeface="+mj-lt"/>
              </a:rPr>
              <a:t>Surfactants</a:t>
            </a:r>
          </a:p>
        </p:txBody>
      </p:sp>
      <p:sp>
        <p:nvSpPr>
          <p:cNvPr id="4" name="TextBox 3">
            <a:extLst>
              <a:ext uri="{FF2B5EF4-FFF2-40B4-BE49-F238E27FC236}">
                <a16:creationId xmlns:a16="http://schemas.microsoft.com/office/drawing/2014/main" id="{B1D598D7-57A9-989E-F7AE-EC7AB01AC750}"/>
              </a:ext>
            </a:extLst>
          </p:cNvPr>
          <p:cNvSpPr txBox="1"/>
          <p:nvPr/>
        </p:nvSpPr>
        <p:spPr>
          <a:xfrm>
            <a:off x="673100" y="1250950"/>
            <a:ext cx="8219380" cy="461665"/>
          </a:xfrm>
          <a:prstGeom prst="rect">
            <a:avLst/>
          </a:prstGeom>
          <a:noFill/>
        </p:spPr>
        <p:txBody>
          <a:bodyPr wrap="square" rtlCol="0">
            <a:spAutoFit/>
          </a:bodyPr>
          <a:lstStyle/>
          <a:p>
            <a:r>
              <a:rPr lang="en-GB" dirty="0">
                <a:latin typeface="+mj-lt"/>
              </a:rPr>
              <a:t>You can also use amphiphilic molecules to form liposomes:</a:t>
            </a:r>
          </a:p>
        </p:txBody>
      </p:sp>
      <p:pic>
        <p:nvPicPr>
          <p:cNvPr id="6" name="Picture 5">
            <a:extLst>
              <a:ext uri="{FF2B5EF4-FFF2-40B4-BE49-F238E27FC236}">
                <a16:creationId xmlns:a16="http://schemas.microsoft.com/office/drawing/2014/main" id="{88A6ADD5-F336-8DB1-435F-7A1D4A9FC791}"/>
              </a:ext>
            </a:extLst>
          </p:cNvPr>
          <p:cNvPicPr>
            <a:picLocks noChangeAspect="1"/>
          </p:cNvPicPr>
          <p:nvPr/>
        </p:nvPicPr>
        <p:blipFill>
          <a:blip r:embed="rId2"/>
          <a:stretch>
            <a:fillRect/>
          </a:stretch>
        </p:blipFill>
        <p:spPr>
          <a:xfrm>
            <a:off x="731837" y="2022475"/>
            <a:ext cx="3971925" cy="3905250"/>
          </a:xfrm>
          <a:prstGeom prst="rect">
            <a:avLst/>
          </a:prstGeom>
        </p:spPr>
      </p:pic>
      <p:sp>
        <p:nvSpPr>
          <p:cNvPr id="7" name="TextBox 6">
            <a:extLst>
              <a:ext uri="{FF2B5EF4-FFF2-40B4-BE49-F238E27FC236}">
                <a16:creationId xmlns:a16="http://schemas.microsoft.com/office/drawing/2014/main" id="{5E057500-1FE4-20C1-9F4B-D675C30DEB38}"/>
              </a:ext>
            </a:extLst>
          </p:cNvPr>
          <p:cNvSpPr txBox="1"/>
          <p:nvPr/>
        </p:nvSpPr>
        <p:spPr>
          <a:xfrm>
            <a:off x="5734050" y="3194050"/>
            <a:ext cx="3158430" cy="3416320"/>
          </a:xfrm>
          <a:prstGeom prst="rect">
            <a:avLst/>
          </a:prstGeom>
          <a:noFill/>
        </p:spPr>
        <p:txBody>
          <a:bodyPr wrap="square" rtlCol="0">
            <a:spAutoFit/>
          </a:bodyPr>
          <a:lstStyle/>
          <a:p>
            <a:pPr marL="285750" indent="-285750">
              <a:buFont typeface="Arial" panose="020B0604020202020204" pitchFamily="34" charset="0"/>
              <a:buChar char="•"/>
            </a:pPr>
            <a:r>
              <a:rPr lang="en-GB" dirty="0">
                <a:latin typeface="+mj-lt"/>
              </a:rPr>
              <a:t>Liposomes are formed by lipids in a similar way to cell membranes</a:t>
            </a:r>
          </a:p>
          <a:p>
            <a:pPr marL="285750" indent="-285750">
              <a:buFont typeface="Arial" panose="020B0604020202020204" pitchFamily="34" charset="0"/>
              <a:buChar char="•"/>
            </a:pPr>
            <a:endParaRPr lang="en-GB" dirty="0">
              <a:latin typeface="+mj-lt"/>
            </a:endParaRPr>
          </a:p>
          <a:p>
            <a:pPr marL="285750" indent="-285750">
              <a:buFont typeface="Arial" panose="020B0604020202020204" pitchFamily="34" charset="0"/>
              <a:buChar char="•"/>
            </a:pPr>
            <a:r>
              <a:rPr lang="en-GB" dirty="0">
                <a:latin typeface="+mj-lt"/>
              </a:rPr>
              <a:t>Can be used for drug delivery and cosmetics encapsulation.</a:t>
            </a:r>
          </a:p>
        </p:txBody>
      </p:sp>
    </p:spTree>
    <p:extLst>
      <p:ext uri="{BB962C8B-B14F-4D97-AF65-F5344CB8AC3E}">
        <p14:creationId xmlns:p14="http://schemas.microsoft.com/office/powerpoint/2010/main" val="293194189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4795CF8-BE59-6377-DF91-DE2B929D26BE}"/>
              </a:ext>
            </a:extLst>
          </p:cNvPr>
          <p:cNvSpPr txBox="1">
            <a:spLocks noChangeArrowheads="1"/>
          </p:cNvSpPr>
          <p:nvPr/>
        </p:nvSpPr>
        <p:spPr bwMode="auto">
          <a:xfrm>
            <a:off x="304800" y="381002"/>
            <a:ext cx="83820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3600" dirty="0">
                <a:solidFill>
                  <a:srgbClr val="000000"/>
                </a:solidFill>
                <a:latin typeface="+mj-lt"/>
              </a:rPr>
              <a:t>Lipids and boron neutron capture</a:t>
            </a:r>
          </a:p>
        </p:txBody>
      </p:sp>
      <p:pic>
        <p:nvPicPr>
          <p:cNvPr id="2" name="Picture 1">
            <a:extLst>
              <a:ext uri="{FF2B5EF4-FFF2-40B4-BE49-F238E27FC236}">
                <a16:creationId xmlns:a16="http://schemas.microsoft.com/office/drawing/2014/main" id="{1E4F6516-1177-6A80-9874-2A262F3DD521}"/>
              </a:ext>
            </a:extLst>
          </p:cNvPr>
          <p:cNvPicPr>
            <a:picLocks noChangeAspect="1"/>
          </p:cNvPicPr>
          <p:nvPr/>
        </p:nvPicPr>
        <p:blipFill>
          <a:blip r:embed="rId2"/>
          <a:stretch>
            <a:fillRect/>
          </a:stretch>
        </p:blipFill>
        <p:spPr>
          <a:xfrm>
            <a:off x="609600" y="1768439"/>
            <a:ext cx="7772400" cy="3891650"/>
          </a:xfrm>
          <a:prstGeom prst="rect">
            <a:avLst/>
          </a:prstGeom>
        </p:spPr>
      </p:pic>
      <p:sp>
        <p:nvSpPr>
          <p:cNvPr id="8" name="TextBox 7">
            <a:extLst>
              <a:ext uri="{FF2B5EF4-FFF2-40B4-BE49-F238E27FC236}">
                <a16:creationId xmlns:a16="http://schemas.microsoft.com/office/drawing/2014/main" id="{070C0A75-C2AD-46E5-925C-317F12C9206F}"/>
              </a:ext>
            </a:extLst>
          </p:cNvPr>
          <p:cNvSpPr txBox="1"/>
          <p:nvPr/>
        </p:nvSpPr>
        <p:spPr>
          <a:xfrm>
            <a:off x="17875" y="6027003"/>
            <a:ext cx="4572000" cy="830997"/>
          </a:xfrm>
          <a:prstGeom prst="rect">
            <a:avLst/>
          </a:prstGeom>
          <a:noFill/>
        </p:spPr>
        <p:txBody>
          <a:bodyPr wrap="square">
            <a:spAutoFit/>
          </a:bodyPr>
          <a:lstStyle/>
          <a:p>
            <a:r>
              <a:rPr lang="en-GB" sz="1200" b="0" i="0" u="none" strike="noStrike" dirty="0">
                <a:solidFill>
                  <a:srgbClr val="222222"/>
                </a:solidFill>
                <a:effectLst/>
                <a:latin typeface="Arial" panose="020B0604020202020204" pitchFamily="34" charset="0"/>
              </a:rPr>
              <a:t>Li, J., Sun, Q., Lu, C., Xiao, H., Guo, Z., Duan, D., ... &amp; Liu, Z. (2022). Boron encapsulated in a liposome can be used for combinational neutron capture therapy. </a:t>
            </a:r>
            <a:r>
              <a:rPr lang="en-GB" sz="1200" b="0" i="1" u="none" strike="noStrike" dirty="0">
                <a:solidFill>
                  <a:srgbClr val="222222"/>
                </a:solidFill>
                <a:effectLst/>
                <a:latin typeface="Arial" panose="020B0604020202020204" pitchFamily="34" charset="0"/>
              </a:rPr>
              <a:t>Nature Communications</a:t>
            </a:r>
            <a:r>
              <a:rPr lang="en-GB" sz="1200" b="0" i="0" u="none" strike="noStrike" dirty="0">
                <a:solidFill>
                  <a:srgbClr val="222222"/>
                </a:solidFill>
                <a:effectLst/>
                <a:latin typeface="Arial" panose="020B0604020202020204" pitchFamily="34" charset="0"/>
              </a:rPr>
              <a:t>, </a:t>
            </a:r>
            <a:r>
              <a:rPr lang="en-GB" sz="1200" b="0" i="1" u="none" strike="noStrike" dirty="0">
                <a:solidFill>
                  <a:srgbClr val="222222"/>
                </a:solidFill>
                <a:effectLst/>
                <a:latin typeface="Arial" panose="020B0604020202020204" pitchFamily="34" charset="0"/>
              </a:rPr>
              <a:t>13</a:t>
            </a:r>
            <a:r>
              <a:rPr lang="en-GB" sz="1200" b="0" i="0" u="none" strike="noStrike" dirty="0">
                <a:solidFill>
                  <a:srgbClr val="222222"/>
                </a:solidFill>
                <a:effectLst/>
                <a:latin typeface="Arial" panose="020B0604020202020204" pitchFamily="34" charset="0"/>
              </a:rPr>
              <a:t>(1), 2143</a:t>
            </a:r>
            <a:endParaRPr lang="en-US" sz="1200" dirty="0"/>
          </a:p>
        </p:txBody>
      </p:sp>
      <p:sp>
        <p:nvSpPr>
          <p:cNvPr id="9" name="TextBox 8">
            <a:extLst>
              <a:ext uri="{FF2B5EF4-FFF2-40B4-BE49-F238E27FC236}">
                <a16:creationId xmlns:a16="http://schemas.microsoft.com/office/drawing/2014/main" id="{75194902-E98C-8C0C-E209-C584B5CF24C7}"/>
              </a:ext>
            </a:extLst>
          </p:cNvPr>
          <p:cNvSpPr txBox="1"/>
          <p:nvPr/>
        </p:nvSpPr>
        <p:spPr>
          <a:xfrm>
            <a:off x="609600" y="1113843"/>
            <a:ext cx="2430270" cy="369332"/>
          </a:xfrm>
          <a:prstGeom prst="rect">
            <a:avLst/>
          </a:prstGeom>
          <a:noFill/>
        </p:spPr>
        <p:txBody>
          <a:bodyPr wrap="square">
            <a:spAutoFit/>
          </a:bodyPr>
          <a:lstStyle/>
          <a:p>
            <a:r>
              <a:rPr lang="en-GB" sz="1800" baseline="30000" dirty="0">
                <a:solidFill>
                  <a:srgbClr val="222222"/>
                </a:solidFill>
                <a:latin typeface="Arial" panose="020B0604020202020204" pitchFamily="34" charset="0"/>
              </a:rPr>
              <a:t>10</a:t>
            </a:r>
            <a:r>
              <a:rPr lang="en-GB" sz="1800" b="0" i="0" u="none" strike="noStrike" dirty="0">
                <a:solidFill>
                  <a:srgbClr val="222222"/>
                </a:solidFill>
                <a:effectLst/>
                <a:latin typeface="Arial" panose="020B0604020202020204" pitchFamily="34" charset="0"/>
              </a:rPr>
              <a:t>B + n → </a:t>
            </a:r>
            <a:r>
              <a:rPr lang="en-GB" sz="1800" b="0" i="0" u="none" strike="noStrike" baseline="30000" dirty="0">
                <a:solidFill>
                  <a:srgbClr val="222222"/>
                </a:solidFill>
                <a:effectLst/>
                <a:latin typeface="Arial" panose="020B0604020202020204" pitchFamily="34" charset="0"/>
              </a:rPr>
              <a:t>7</a:t>
            </a:r>
            <a:r>
              <a:rPr lang="en-GB" sz="1800" b="0" i="0" u="none" strike="noStrike" dirty="0">
                <a:solidFill>
                  <a:srgbClr val="222222"/>
                </a:solidFill>
                <a:effectLst/>
                <a:latin typeface="Arial" panose="020B0604020202020204" pitchFamily="34" charset="0"/>
              </a:rPr>
              <a:t>Li + </a:t>
            </a:r>
            <a:r>
              <a:rPr lang="en-GB" sz="1800" dirty="0">
                <a:solidFill>
                  <a:srgbClr val="222222"/>
                </a:solidFill>
                <a:latin typeface="Arial" panose="020B0604020202020204" pitchFamily="34" charset="0"/>
              </a:rPr>
              <a:t>𝛼</a:t>
            </a:r>
            <a:endParaRPr lang="en-US" sz="1800" dirty="0"/>
          </a:p>
        </p:txBody>
      </p:sp>
      <p:sp>
        <p:nvSpPr>
          <p:cNvPr id="10" name="TextBox 9">
            <a:extLst>
              <a:ext uri="{FF2B5EF4-FFF2-40B4-BE49-F238E27FC236}">
                <a16:creationId xmlns:a16="http://schemas.microsoft.com/office/drawing/2014/main" id="{57B8A170-AE70-E6B2-71AA-85439A801DD0}"/>
              </a:ext>
            </a:extLst>
          </p:cNvPr>
          <p:cNvSpPr txBox="1"/>
          <p:nvPr/>
        </p:nvSpPr>
        <p:spPr>
          <a:xfrm>
            <a:off x="3266855" y="1160009"/>
            <a:ext cx="4572000" cy="461665"/>
          </a:xfrm>
          <a:prstGeom prst="rect">
            <a:avLst/>
          </a:prstGeom>
          <a:noFill/>
        </p:spPr>
        <p:txBody>
          <a:bodyPr wrap="square">
            <a:spAutoFit/>
          </a:bodyPr>
          <a:lstStyle/>
          <a:p>
            <a:r>
              <a:rPr lang="en-GB" sz="1200" b="0" i="0" u="none" strike="noStrike" dirty="0">
                <a:solidFill>
                  <a:srgbClr val="222222"/>
                </a:solidFill>
                <a:effectLst/>
                <a:latin typeface="Arial" panose="020B0604020202020204" pitchFamily="34" charset="0"/>
              </a:rPr>
              <a:t>Alpha particle – very short ranged, but very strongly ionizing! Powerful alpha emitters include polonium-210 </a:t>
            </a:r>
            <a:endParaRPr lang="en-US" sz="1200" dirty="0"/>
          </a:p>
        </p:txBody>
      </p:sp>
    </p:spTree>
    <p:extLst>
      <p:ext uri="{BB962C8B-B14F-4D97-AF65-F5344CB8AC3E}">
        <p14:creationId xmlns:p14="http://schemas.microsoft.com/office/powerpoint/2010/main" val="373485049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654B6C7-03C3-061B-E96B-41BE9DCF97CB}"/>
              </a:ext>
            </a:extLst>
          </p:cNvPr>
          <p:cNvSpPr txBox="1">
            <a:spLocks noChangeArrowheads="1"/>
          </p:cNvSpPr>
          <p:nvPr/>
        </p:nvSpPr>
        <p:spPr bwMode="auto">
          <a:xfrm>
            <a:off x="304800" y="381002"/>
            <a:ext cx="83820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3600" dirty="0">
                <a:solidFill>
                  <a:srgbClr val="000000"/>
                </a:solidFill>
                <a:latin typeface="+mj-lt"/>
              </a:rPr>
              <a:t>Designing a surfactant</a:t>
            </a:r>
          </a:p>
        </p:txBody>
      </p:sp>
      <p:sp>
        <p:nvSpPr>
          <p:cNvPr id="4" name="TextBox 3">
            <a:extLst>
              <a:ext uri="{FF2B5EF4-FFF2-40B4-BE49-F238E27FC236}">
                <a16:creationId xmlns:a16="http://schemas.microsoft.com/office/drawing/2014/main" id="{E1D5641E-229D-AE85-FCEC-E107F9C400FF}"/>
              </a:ext>
            </a:extLst>
          </p:cNvPr>
          <p:cNvSpPr txBox="1"/>
          <p:nvPr/>
        </p:nvSpPr>
        <p:spPr>
          <a:xfrm>
            <a:off x="322560" y="1358770"/>
            <a:ext cx="4789500" cy="5170646"/>
          </a:xfrm>
          <a:prstGeom prst="rect">
            <a:avLst/>
          </a:prstGeom>
          <a:noFill/>
        </p:spPr>
        <p:txBody>
          <a:bodyPr wrap="square" rtlCol="0">
            <a:spAutoFit/>
          </a:bodyPr>
          <a:lstStyle/>
          <a:p>
            <a:pPr marL="285750" indent="-285750">
              <a:buFont typeface="Arial" panose="020B0604020202020204" pitchFamily="34" charset="0"/>
              <a:buChar char="•"/>
            </a:pPr>
            <a:r>
              <a:rPr lang="en-GB" sz="2200" dirty="0">
                <a:latin typeface="+mj-lt"/>
              </a:rPr>
              <a:t>Near-infinite number of different molecules are amphiphilic, but there are some common “design rules”.</a:t>
            </a:r>
          </a:p>
          <a:p>
            <a:pPr marL="285750" indent="-285750">
              <a:buFont typeface="Arial" panose="020B0604020202020204" pitchFamily="34" charset="0"/>
              <a:buChar char="•"/>
            </a:pPr>
            <a:r>
              <a:rPr lang="en-GB" sz="2200" dirty="0">
                <a:latin typeface="+mj-lt"/>
              </a:rPr>
              <a:t>Typically* amphiphiles have a region that is more polar and a region that is less polar (non-polar)</a:t>
            </a:r>
          </a:p>
          <a:p>
            <a:pPr marL="285750" indent="-285750">
              <a:buFont typeface="Arial" panose="020B0604020202020204" pitchFamily="34" charset="0"/>
              <a:buChar char="•"/>
            </a:pPr>
            <a:r>
              <a:rPr lang="en-GB" sz="2200" dirty="0">
                <a:latin typeface="+mj-lt"/>
              </a:rPr>
              <a:t>We often picture amphiphiles as having headgroups and tails</a:t>
            </a:r>
          </a:p>
          <a:p>
            <a:pPr marL="285750" indent="-285750">
              <a:buFont typeface="Arial" panose="020B0604020202020204" pitchFamily="34" charset="0"/>
              <a:buChar char="•"/>
            </a:pPr>
            <a:r>
              <a:rPr lang="en-GB" sz="2200" dirty="0">
                <a:latin typeface="+mj-lt"/>
              </a:rPr>
              <a:t>The headgroup is usually* more polar and the tail is usually* less polar</a:t>
            </a:r>
          </a:p>
          <a:p>
            <a:pPr marL="285750" indent="-285750">
              <a:buFont typeface="Arial" panose="020B0604020202020204" pitchFamily="34" charset="0"/>
              <a:buChar char="•"/>
            </a:pPr>
            <a:r>
              <a:rPr lang="en-GB" sz="2200" dirty="0">
                <a:latin typeface="+mj-lt"/>
              </a:rPr>
              <a:t>The headgroup can be non-ionic, cationic, anionic or zwitterionic, the tail is not charged*.</a:t>
            </a:r>
          </a:p>
        </p:txBody>
      </p:sp>
      <p:sp>
        <p:nvSpPr>
          <p:cNvPr id="5" name="TextBox 3">
            <a:extLst>
              <a:ext uri="{FF2B5EF4-FFF2-40B4-BE49-F238E27FC236}">
                <a16:creationId xmlns:a16="http://schemas.microsoft.com/office/drawing/2014/main" id="{B3A612ED-DD5D-7A33-BC41-7E01C8F4C057}"/>
              </a:ext>
            </a:extLst>
          </p:cNvPr>
          <p:cNvSpPr txBox="1"/>
          <p:nvPr/>
        </p:nvSpPr>
        <p:spPr>
          <a:xfrm>
            <a:off x="5922150" y="6476998"/>
            <a:ext cx="3501135"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latin typeface="+mj-lt"/>
              </a:rPr>
              <a:t>*as always there are exceptions</a:t>
            </a:r>
          </a:p>
        </p:txBody>
      </p:sp>
      <p:pic>
        <p:nvPicPr>
          <p:cNvPr id="7" name="Picture 6">
            <a:extLst>
              <a:ext uri="{FF2B5EF4-FFF2-40B4-BE49-F238E27FC236}">
                <a16:creationId xmlns:a16="http://schemas.microsoft.com/office/drawing/2014/main" id="{B4973796-F7A3-EE77-7724-0E41919F65D1}"/>
              </a:ext>
            </a:extLst>
          </p:cNvPr>
          <p:cNvPicPr>
            <a:picLocks noChangeAspect="1"/>
          </p:cNvPicPr>
          <p:nvPr/>
        </p:nvPicPr>
        <p:blipFill>
          <a:blip r:embed="rId2"/>
          <a:srcRect r="61148"/>
          <a:stretch/>
        </p:blipFill>
        <p:spPr>
          <a:xfrm>
            <a:off x="5562110" y="1639189"/>
            <a:ext cx="2980305" cy="4191000"/>
          </a:xfrm>
          <a:prstGeom prst="rect">
            <a:avLst/>
          </a:prstGeom>
        </p:spPr>
      </p:pic>
    </p:spTree>
    <p:extLst>
      <p:ext uri="{BB962C8B-B14F-4D97-AF65-F5344CB8AC3E}">
        <p14:creationId xmlns:p14="http://schemas.microsoft.com/office/powerpoint/2010/main" val="350170840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1" nodeType="clickEffect">
                                  <p:stCondLst>
                                    <p:cond delay="0"/>
                                  </p:stCondLst>
                                  <p:childTnLst>
                                    <p:set>
                                      <p:cBhvr>
                                        <p:cTn id="28" dur="1" fill="hold">
                                          <p:stCondLst>
                                            <p:cond delay="0"/>
                                          </p:stCondLst>
                                        </p:cTn>
                                        <p:tgtEl>
                                          <p:spTgt spid="4">
                                            <p:txEl>
                                              <p:pRg st="0" end="0"/>
                                            </p:txEl>
                                          </p:spTgt>
                                        </p:tgtEl>
                                        <p:attrNameLst>
                                          <p:attrName>style.visibility</p:attrName>
                                        </p:attrNameLst>
                                      </p:cBhvr>
                                      <p:to>
                                        <p:strVal val="visible"/>
                                      </p:to>
                                    </p:set>
                                  </p:childTnLst>
                                </p:cTn>
                              </p:par>
                              <p:par>
                                <p:cTn id="29" presetID="1" presetClass="entr" presetSubtype="0" fill="hold" grpId="1" nodeType="withEffect">
                                  <p:stCondLst>
                                    <p:cond delay="0"/>
                                  </p:stCondLst>
                                  <p:childTnLst>
                                    <p:set>
                                      <p:cBhvr>
                                        <p:cTn id="30" dur="1" fill="hold">
                                          <p:stCondLst>
                                            <p:cond delay="0"/>
                                          </p:stCondLst>
                                        </p:cTn>
                                        <p:tgtEl>
                                          <p:spTgt spid="4">
                                            <p:txEl>
                                              <p:pRg st="1" end="1"/>
                                            </p:txEl>
                                          </p:spTgt>
                                        </p:tgtEl>
                                        <p:attrNameLst>
                                          <p:attrName>style.visibility</p:attrName>
                                        </p:attrNameLst>
                                      </p:cBhvr>
                                      <p:to>
                                        <p:strVal val="visible"/>
                                      </p:to>
                                    </p:set>
                                  </p:childTnLst>
                                </p:cTn>
                              </p:par>
                              <p:par>
                                <p:cTn id="31" presetID="1" presetClass="entr" presetSubtype="0" fill="hold" grpId="1" nodeType="withEffect">
                                  <p:stCondLst>
                                    <p:cond delay="0"/>
                                  </p:stCondLst>
                                  <p:childTnLst>
                                    <p:set>
                                      <p:cBhvr>
                                        <p:cTn id="32" dur="1" fill="hold">
                                          <p:stCondLst>
                                            <p:cond delay="0"/>
                                          </p:stCondLst>
                                        </p:cTn>
                                        <p:tgtEl>
                                          <p:spTgt spid="4">
                                            <p:txEl>
                                              <p:pRg st="2" end="2"/>
                                            </p:txEl>
                                          </p:spTgt>
                                        </p:tgtEl>
                                        <p:attrNameLst>
                                          <p:attrName>style.visibility</p:attrName>
                                        </p:attrNameLst>
                                      </p:cBhvr>
                                      <p:to>
                                        <p:strVal val="visible"/>
                                      </p:to>
                                    </p:set>
                                  </p:childTnLst>
                                </p:cTn>
                              </p:par>
                              <p:par>
                                <p:cTn id="33" presetID="1" presetClass="entr" presetSubtype="0" fill="hold" grpId="1" nodeType="withEffect">
                                  <p:stCondLst>
                                    <p:cond delay="0"/>
                                  </p:stCondLst>
                                  <p:childTnLst>
                                    <p:set>
                                      <p:cBhvr>
                                        <p:cTn id="34" dur="1" fill="hold">
                                          <p:stCondLst>
                                            <p:cond delay="0"/>
                                          </p:stCondLst>
                                        </p:cTn>
                                        <p:tgtEl>
                                          <p:spTgt spid="4">
                                            <p:txEl>
                                              <p:pRg st="3" end="3"/>
                                            </p:txEl>
                                          </p:spTgt>
                                        </p:tgtEl>
                                        <p:attrNameLst>
                                          <p:attrName>style.visibility</p:attrName>
                                        </p:attrNameLst>
                                      </p:cBhvr>
                                      <p:to>
                                        <p:strVal val="visible"/>
                                      </p:to>
                                    </p:set>
                                  </p:childTnLst>
                                </p:cTn>
                              </p:par>
                              <p:par>
                                <p:cTn id="35" presetID="1" presetClass="entr" presetSubtype="0" fill="hold" grpId="1" nodeType="withEffect">
                                  <p:stCondLst>
                                    <p:cond delay="0"/>
                                  </p:stCondLst>
                                  <p:childTnLst>
                                    <p:set>
                                      <p:cBhvr>
                                        <p:cTn id="36"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4" grpId="1" build="allAtOnce"/>
      <p:bldP spid="5"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E62EEE3-DE84-482E-8291-3401E77329A0}"/>
              </a:ext>
            </a:extLst>
          </p:cNvPr>
          <p:cNvSpPr>
            <a:spLocks noGrp="1"/>
          </p:cNvSpPr>
          <p:nvPr>
            <p:ph type="sldNum" sz="quarter" idx="10"/>
          </p:nvPr>
        </p:nvSpPr>
        <p:spPr/>
        <p:txBody>
          <a:bodyPr/>
          <a:lstStyle/>
          <a:p>
            <a:fld id="{2B36FD51-1015-4304-9645-AC62F2AE25BF}" type="slidenum">
              <a:rPr lang="en-GB" smtClean="0"/>
              <a:pPr/>
              <a:t>15</a:t>
            </a:fld>
            <a:endParaRPr lang="en-GB"/>
          </a:p>
        </p:txBody>
      </p:sp>
      <p:pic>
        <p:nvPicPr>
          <p:cNvPr id="3" name="Picture 2">
            <a:extLst>
              <a:ext uri="{FF2B5EF4-FFF2-40B4-BE49-F238E27FC236}">
                <a16:creationId xmlns:a16="http://schemas.microsoft.com/office/drawing/2014/main" id="{4B8D0BF0-BA23-6725-5046-790858E44D9E}"/>
              </a:ext>
            </a:extLst>
          </p:cNvPr>
          <p:cNvPicPr>
            <a:picLocks noChangeAspect="1"/>
          </p:cNvPicPr>
          <p:nvPr/>
        </p:nvPicPr>
        <p:blipFill>
          <a:blip r:embed="rId2"/>
          <a:stretch>
            <a:fillRect/>
          </a:stretch>
        </p:blipFill>
        <p:spPr>
          <a:xfrm>
            <a:off x="446088" y="1583795"/>
            <a:ext cx="7670800" cy="4191000"/>
          </a:xfrm>
          <a:prstGeom prst="rect">
            <a:avLst/>
          </a:prstGeom>
        </p:spPr>
      </p:pic>
      <p:sp>
        <p:nvSpPr>
          <p:cNvPr id="4" name="Rectangle 3">
            <a:extLst>
              <a:ext uri="{FF2B5EF4-FFF2-40B4-BE49-F238E27FC236}">
                <a16:creationId xmlns:a16="http://schemas.microsoft.com/office/drawing/2014/main" id="{67344815-8F98-2C69-77F0-5078AED2CE66}"/>
              </a:ext>
            </a:extLst>
          </p:cNvPr>
          <p:cNvSpPr/>
          <p:nvPr/>
        </p:nvSpPr>
        <p:spPr bwMode="auto">
          <a:xfrm>
            <a:off x="2096725" y="2483895"/>
            <a:ext cx="1575175" cy="450050"/>
          </a:xfrm>
          <a:prstGeom prst="rect">
            <a:avLst/>
          </a:prstGeom>
          <a:solidFill>
            <a:srgbClr val="FDFDFD"/>
          </a:solidFill>
          <a:ln>
            <a:noFill/>
          </a:ln>
          <a:effectLst/>
        </p:spPr>
        <p:txBody>
          <a:bodyPr vert="horz" wrap="square" lIns="91440" tIns="45720" rIns="91440" bIns="45720" numCol="1" rtlCol="0" anchor="ctr"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Rdg Vesta" pitchFamily="2" charset="0"/>
            </a:endParaRPr>
          </a:p>
        </p:txBody>
      </p:sp>
      <p:sp>
        <p:nvSpPr>
          <p:cNvPr id="5" name="Rectangle 4">
            <a:extLst>
              <a:ext uri="{FF2B5EF4-FFF2-40B4-BE49-F238E27FC236}">
                <a16:creationId xmlns:a16="http://schemas.microsoft.com/office/drawing/2014/main" id="{23918A6E-2D29-C5FC-A5C7-2895B3089C84}"/>
              </a:ext>
            </a:extLst>
          </p:cNvPr>
          <p:cNvSpPr/>
          <p:nvPr/>
        </p:nvSpPr>
        <p:spPr bwMode="auto">
          <a:xfrm>
            <a:off x="2096725" y="1590999"/>
            <a:ext cx="1575175" cy="393157"/>
          </a:xfrm>
          <a:prstGeom prst="rect">
            <a:avLst/>
          </a:prstGeom>
          <a:solidFill>
            <a:srgbClr val="FDFDFD"/>
          </a:solidFill>
          <a:ln>
            <a:noFill/>
          </a:ln>
          <a:effectLst/>
        </p:spPr>
        <p:txBody>
          <a:bodyPr vert="horz" wrap="square" lIns="91440" tIns="45720" rIns="91440" bIns="45720" numCol="1" rtlCol="0" anchor="ctr"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Rdg Vesta" pitchFamily="2" charset="0"/>
            </a:endParaRPr>
          </a:p>
        </p:txBody>
      </p:sp>
      <p:sp>
        <p:nvSpPr>
          <p:cNvPr id="6" name="Rectangle 5">
            <a:extLst>
              <a:ext uri="{FF2B5EF4-FFF2-40B4-BE49-F238E27FC236}">
                <a16:creationId xmlns:a16="http://schemas.microsoft.com/office/drawing/2014/main" id="{EE4EC2A7-BBFF-9F02-5C3F-717D47FB2835}"/>
              </a:ext>
            </a:extLst>
          </p:cNvPr>
          <p:cNvSpPr/>
          <p:nvPr/>
        </p:nvSpPr>
        <p:spPr bwMode="auto">
          <a:xfrm>
            <a:off x="2045332" y="5106072"/>
            <a:ext cx="1575175" cy="393158"/>
          </a:xfrm>
          <a:prstGeom prst="rect">
            <a:avLst/>
          </a:prstGeom>
          <a:solidFill>
            <a:srgbClr val="FDFDFD"/>
          </a:solidFill>
          <a:ln>
            <a:noFill/>
          </a:ln>
          <a:effectLst/>
        </p:spPr>
        <p:txBody>
          <a:bodyPr vert="horz" wrap="square" lIns="91440" tIns="45720" rIns="91440" bIns="45720" numCol="1" rtlCol="0" anchor="ctr"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Rdg Vesta" pitchFamily="2" charset="0"/>
            </a:endParaRPr>
          </a:p>
        </p:txBody>
      </p:sp>
      <p:pic>
        <p:nvPicPr>
          <p:cNvPr id="7" name="Picture 6">
            <a:extLst>
              <a:ext uri="{FF2B5EF4-FFF2-40B4-BE49-F238E27FC236}">
                <a16:creationId xmlns:a16="http://schemas.microsoft.com/office/drawing/2014/main" id="{B1DD980D-C3BE-6CE3-69BC-D53CFFFBCEEE}"/>
              </a:ext>
            </a:extLst>
          </p:cNvPr>
          <p:cNvPicPr>
            <a:picLocks noChangeAspect="1"/>
          </p:cNvPicPr>
          <p:nvPr/>
        </p:nvPicPr>
        <p:blipFill>
          <a:blip r:embed="rId3"/>
          <a:stretch>
            <a:fillRect/>
          </a:stretch>
        </p:blipFill>
        <p:spPr>
          <a:xfrm rot="602247">
            <a:off x="1978104" y="5143900"/>
            <a:ext cx="1473200" cy="317500"/>
          </a:xfrm>
          <a:prstGeom prst="rect">
            <a:avLst/>
          </a:prstGeom>
        </p:spPr>
      </p:pic>
      <p:sp>
        <p:nvSpPr>
          <p:cNvPr id="8" name="TextBox 7">
            <a:extLst>
              <a:ext uri="{FF2B5EF4-FFF2-40B4-BE49-F238E27FC236}">
                <a16:creationId xmlns:a16="http://schemas.microsoft.com/office/drawing/2014/main" id="{E1796EE2-4EA4-87C2-5427-30D1BEE3E2AA}"/>
              </a:ext>
            </a:extLst>
          </p:cNvPr>
          <p:cNvSpPr txBox="1">
            <a:spLocks noChangeArrowheads="1"/>
          </p:cNvSpPr>
          <p:nvPr/>
        </p:nvSpPr>
        <p:spPr bwMode="auto">
          <a:xfrm>
            <a:off x="304800" y="381002"/>
            <a:ext cx="83820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3600" dirty="0">
                <a:solidFill>
                  <a:srgbClr val="000000"/>
                </a:solidFill>
                <a:latin typeface="+mj-lt"/>
              </a:rPr>
              <a:t>Designing a surfactant</a:t>
            </a:r>
          </a:p>
        </p:txBody>
      </p:sp>
    </p:spTree>
    <p:extLst>
      <p:ext uri="{BB962C8B-B14F-4D97-AF65-F5344CB8AC3E}">
        <p14:creationId xmlns:p14="http://schemas.microsoft.com/office/powerpoint/2010/main" val="41269866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Lst>
  </p:timing>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8E36E71-9323-2001-A5A9-502BDBA1FEC7}"/>
              </a:ext>
            </a:extLst>
          </p:cNvPr>
          <p:cNvSpPr txBox="1">
            <a:spLocks noChangeArrowheads="1"/>
          </p:cNvSpPr>
          <p:nvPr/>
        </p:nvSpPr>
        <p:spPr bwMode="auto">
          <a:xfrm>
            <a:off x="304800" y="381002"/>
            <a:ext cx="83820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3600" dirty="0">
                <a:solidFill>
                  <a:srgbClr val="000000"/>
                </a:solidFill>
                <a:latin typeface="+mj-lt"/>
              </a:rPr>
              <a:t>Surfactants</a:t>
            </a:r>
          </a:p>
        </p:txBody>
      </p:sp>
      <p:pic>
        <p:nvPicPr>
          <p:cNvPr id="5" name="Picture 4">
            <a:extLst>
              <a:ext uri="{FF2B5EF4-FFF2-40B4-BE49-F238E27FC236}">
                <a16:creationId xmlns:a16="http://schemas.microsoft.com/office/drawing/2014/main" id="{268595A4-41AD-D8E1-E1B3-68B157869FD9}"/>
              </a:ext>
            </a:extLst>
          </p:cNvPr>
          <p:cNvPicPr>
            <a:picLocks noChangeAspect="1"/>
          </p:cNvPicPr>
          <p:nvPr/>
        </p:nvPicPr>
        <p:blipFill>
          <a:blip r:embed="rId2"/>
          <a:stretch>
            <a:fillRect/>
          </a:stretch>
        </p:blipFill>
        <p:spPr>
          <a:xfrm>
            <a:off x="615950" y="1445318"/>
            <a:ext cx="7912100" cy="4729071"/>
          </a:xfrm>
          <a:prstGeom prst="rect">
            <a:avLst/>
          </a:prstGeom>
        </p:spPr>
      </p:pic>
    </p:spTree>
    <p:extLst>
      <p:ext uri="{BB962C8B-B14F-4D97-AF65-F5344CB8AC3E}">
        <p14:creationId xmlns:p14="http://schemas.microsoft.com/office/powerpoint/2010/main" val="89334860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9DA7075-26CF-28C4-F68E-DE954992B80C}"/>
              </a:ext>
            </a:extLst>
          </p:cNvPr>
          <p:cNvSpPr txBox="1">
            <a:spLocks noChangeArrowheads="1"/>
          </p:cNvSpPr>
          <p:nvPr/>
        </p:nvSpPr>
        <p:spPr bwMode="auto">
          <a:xfrm>
            <a:off x="304800" y="381002"/>
            <a:ext cx="83820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3600" dirty="0">
                <a:solidFill>
                  <a:srgbClr val="000000"/>
                </a:solidFill>
                <a:latin typeface="+mj-lt"/>
              </a:rPr>
              <a:t>Surfactants</a:t>
            </a:r>
          </a:p>
        </p:txBody>
      </p:sp>
      <p:pic>
        <p:nvPicPr>
          <p:cNvPr id="7" name="Picture 6">
            <a:extLst>
              <a:ext uri="{FF2B5EF4-FFF2-40B4-BE49-F238E27FC236}">
                <a16:creationId xmlns:a16="http://schemas.microsoft.com/office/drawing/2014/main" id="{73893F77-AB8F-E826-4DD0-FD262C0F1C02}"/>
              </a:ext>
            </a:extLst>
          </p:cNvPr>
          <p:cNvPicPr>
            <a:picLocks noChangeAspect="1"/>
          </p:cNvPicPr>
          <p:nvPr/>
        </p:nvPicPr>
        <p:blipFill>
          <a:blip r:embed="rId2"/>
          <a:stretch>
            <a:fillRect/>
          </a:stretch>
        </p:blipFill>
        <p:spPr>
          <a:xfrm>
            <a:off x="952500" y="1329883"/>
            <a:ext cx="7670800" cy="4756045"/>
          </a:xfrm>
          <a:prstGeom prst="rect">
            <a:avLst/>
          </a:prstGeom>
        </p:spPr>
      </p:pic>
    </p:spTree>
    <p:extLst>
      <p:ext uri="{BB962C8B-B14F-4D97-AF65-F5344CB8AC3E}">
        <p14:creationId xmlns:p14="http://schemas.microsoft.com/office/powerpoint/2010/main" val="264656123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9DA7075-26CF-28C4-F68E-DE954992B80C}"/>
              </a:ext>
            </a:extLst>
          </p:cNvPr>
          <p:cNvSpPr txBox="1">
            <a:spLocks noChangeArrowheads="1"/>
          </p:cNvSpPr>
          <p:nvPr/>
        </p:nvSpPr>
        <p:spPr bwMode="auto">
          <a:xfrm>
            <a:off x="304800" y="381002"/>
            <a:ext cx="83820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3600" dirty="0">
                <a:solidFill>
                  <a:srgbClr val="000000"/>
                </a:solidFill>
                <a:latin typeface="+mj-lt"/>
              </a:rPr>
              <a:t>Surfactants</a:t>
            </a:r>
          </a:p>
        </p:txBody>
      </p:sp>
      <p:pic>
        <p:nvPicPr>
          <p:cNvPr id="4" name="Picture 3">
            <a:extLst>
              <a:ext uri="{FF2B5EF4-FFF2-40B4-BE49-F238E27FC236}">
                <a16:creationId xmlns:a16="http://schemas.microsoft.com/office/drawing/2014/main" id="{A9D7C5EE-D3CD-3F1C-049E-8289EE203A82}"/>
              </a:ext>
            </a:extLst>
          </p:cNvPr>
          <p:cNvPicPr>
            <a:picLocks noChangeAspect="1"/>
          </p:cNvPicPr>
          <p:nvPr/>
        </p:nvPicPr>
        <p:blipFill>
          <a:blip r:embed="rId2"/>
          <a:stretch>
            <a:fillRect/>
          </a:stretch>
        </p:blipFill>
        <p:spPr>
          <a:xfrm>
            <a:off x="838200" y="1493785"/>
            <a:ext cx="7467600" cy="4739611"/>
          </a:xfrm>
          <a:prstGeom prst="rect">
            <a:avLst/>
          </a:prstGeom>
        </p:spPr>
      </p:pic>
    </p:spTree>
    <p:extLst>
      <p:ext uri="{BB962C8B-B14F-4D97-AF65-F5344CB8AC3E}">
        <p14:creationId xmlns:p14="http://schemas.microsoft.com/office/powerpoint/2010/main" val="333431608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9DA7075-26CF-28C4-F68E-DE954992B80C}"/>
              </a:ext>
            </a:extLst>
          </p:cNvPr>
          <p:cNvSpPr txBox="1">
            <a:spLocks noChangeArrowheads="1"/>
          </p:cNvSpPr>
          <p:nvPr/>
        </p:nvSpPr>
        <p:spPr bwMode="auto">
          <a:xfrm>
            <a:off x="304800" y="381002"/>
            <a:ext cx="83820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3600" dirty="0">
                <a:solidFill>
                  <a:srgbClr val="000000"/>
                </a:solidFill>
                <a:latin typeface="+mj-lt"/>
              </a:rPr>
              <a:t>Surfactants</a:t>
            </a:r>
          </a:p>
        </p:txBody>
      </p:sp>
      <p:grpSp>
        <p:nvGrpSpPr>
          <p:cNvPr id="6" name="Group 5">
            <a:extLst>
              <a:ext uri="{FF2B5EF4-FFF2-40B4-BE49-F238E27FC236}">
                <a16:creationId xmlns:a16="http://schemas.microsoft.com/office/drawing/2014/main" id="{A9C2F8FB-45C0-40AF-1A7E-56451B695005}"/>
              </a:ext>
            </a:extLst>
          </p:cNvPr>
          <p:cNvGrpSpPr/>
          <p:nvPr/>
        </p:nvGrpSpPr>
        <p:grpSpPr>
          <a:xfrm>
            <a:off x="752475" y="1076353"/>
            <a:ext cx="7889875" cy="5583210"/>
            <a:chOff x="752475" y="1076353"/>
            <a:chExt cx="7889875" cy="5583210"/>
          </a:xfrm>
        </p:grpSpPr>
        <p:pic>
          <p:nvPicPr>
            <p:cNvPr id="4" name="Picture 3">
              <a:extLst>
                <a:ext uri="{FF2B5EF4-FFF2-40B4-BE49-F238E27FC236}">
                  <a16:creationId xmlns:a16="http://schemas.microsoft.com/office/drawing/2014/main" id="{6E04A753-938C-7CC9-4FF4-E59294A20B71}"/>
                </a:ext>
              </a:extLst>
            </p:cNvPr>
            <p:cNvPicPr>
              <a:picLocks noChangeAspect="1"/>
            </p:cNvPicPr>
            <p:nvPr/>
          </p:nvPicPr>
          <p:blipFill>
            <a:blip r:embed="rId2"/>
            <a:stretch>
              <a:fillRect/>
            </a:stretch>
          </p:blipFill>
          <p:spPr>
            <a:xfrm>
              <a:off x="752475" y="1076353"/>
              <a:ext cx="7639050" cy="5290327"/>
            </a:xfrm>
            <a:prstGeom prst="rect">
              <a:avLst/>
            </a:prstGeom>
          </p:spPr>
        </p:pic>
        <p:sp>
          <p:nvSpPr>
            <p:cNvPr id="5" name="Rectangle 4">
              <a:extLst>
                <a:ext uri="{FF2B5EF4-FFF2-40B4-BE49-F238E27FC236}">
                  <a16:creationId xmlns:a16="http://schemas.microsoft.com/office/drawing/2014/main" id="{5C8A5BB8-33C7-725C-4665-B2DBC616E558}"/>
                </a:ext>
              </a:extLst>
            </p:cNvPr>
            <p:cNvSpPr/>
            <p:nvPr/>
          </p:nvSpPr>
          <p:spPr>
            <a:xfrm>
              <a:off x="8001000" y="6013450"/>
              <a:ext cx="641350" cy="64611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mj-lt"/>
              </a:endParaRPr>
            </a:p>
          </p:txBody>
        </p:sp>
      </p:grpSp>
    </p:spTree>
    <p:extLst>
      <p:ext uri="{BB962C8B-B14F-4D97-AF65-F5344CB8AC3E}">
        <p14:creationId xmlns:p14="http://schemas.microsoft.com/office/powerpoint/2010/main" val="138517711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6273B0CB-AC4A-BACE-86DD-55A916FAB0A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9950" y="2438400"/>
            <a:ext cx="2594571" cy="332105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A56D7643-2545-4549-24CB-31C5754C2304}"/>
              </a:ext>
            </a:extLst>
          </p:cNvPr>
          <p:cNvSpPr txBox="1">
            <a:spLocks noChangeArrowheads="1"/>
          </p:cNvSpPr>
          <p:nvPr/>
        </p:nvSpPr>
        <p:spPr bwMode="auto">
          <a:xfrm>
            <a:off x="304800" y="381002"/>
            <a:ext cx="83820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3600" dirty="0">
                <a:solidFill>
                  <a:srgbClr val="000000"/>
                </a:solidFill>
                <a:latin typeface="+mj-lt"/>
              </a:rPr>
              <a:t>Micelle formation</a:t>
            </a:r>
          </a:p>
        </p:txBody>
      </p:sp>
      <p:sp>
        <p:nvSpPr>
          <p:cNvPr id="4" name="TextBox 3">
            <a:extLst>
              <a:ext uri="{FF2B5EF4-FFF2-40B4-BE49-F238E27FC236}">
                <a16:creationId xmlns:a16="http://schemas.microsoft.com/office/drawing/2014/main" id="{0D5BA4CF-A261-7D64-4DFE-D10A17DC72B3}"/>
              </a:ext>
            </a:extLst>
          </p:cNvPr>
          <p:cNvSpPr txBox="1"/>
          <p:nvPr/>
        </p:nvSpPr>
        <p:spPr>
          <a:xfrm>
            <a:off x="622300" y="1206500"/>
            <a:ext cx="8185150" cy="1200329"/>
          </a:xfrm>
          <a:prstGeom prst="rect">
            <a:avLst/>
          </a:prstGeom>
          <a:noFill/>
        </p:spPr>
        <p:txBody>
          <a:bodyPr wrap="square" rtlCol="0">
            <a:spAutoFit/>
          </a:bodyPr>
          <a:lstStyle/>
          <a:p>
            <a:r>
              <a:rPr lang="en-GB" dirty="0">
                <a:latin typeface="+mj-lt"/>
              </a:rPr>
              <a:t>To avoid contact of hydrophobic groups with water, amphiphiles self-assemble into micelles above a certain concentration – the Critical Micelle Concentration (</a:t>
            </a:r>
            <a:r>
              <a:rPr lang="en-GB" dirty="0" err="1">
                <a:latin typeface="+mj-lt"/>
              </a:rPr>
              <a:t>cmc</a:t>
            </a:r>
            <a:r>
              <a:rPr lang="en-GB" dirty="0">
                <a:latin typeface="+mj-lt"/>
              </a:rPr>
              <a:t>)</a:t>
            </a:r>
          </a:p>
        </p:txBody>
      </p:sp>
      <p:pic>
        <p:nvPicPr>
          <p:cNvPr id="2050" name="Picture 2" descr="Critical Micelle Concentrations (CMC) of the surfactants used,... |  Download Table">
            <a:extLst>
              <a:ext uri="{FF2B5EF4-FFF2-40B4-BE49-F238E27FC236}">
                <a16:creationId xmlns:a16="http://schemas.microsoft.com/office/drawing/2014/main" id="{27CD50B9-DD65-997F-D79B-0C1F62639A2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93281" y="2753925"/>
            <a:ext cx="3878895" cy="35958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7247336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5D0BE2C-1CE7-213E-AEF0-D06F56D6C3D3}"/>
              </a:ext>
            </a:extLst>
          </p:cNvPr>
          <p:cNvSpPr txBox="1">
            <a:spLocks noChangeArrowheads="1"/>
          </p:cNvSpPr>
          <p:nvPr/>
        </p:nvSpPr>
        <p:spPr bwMode="auto">
          <a:xfrm>
            <a:off x="304800" y="381002"/>
            <a:ext cx="83820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3600" dirty="0">
                <a:solidFill>
                  <a:srgbClr val="000000"/>
                </a:solidFill>
                <a:latin typeface="+mj-lt"/>
              </a:rPr>
              <a:t>Critical micelle concentration</a:t>
            </a:r>
          </a:p>
        </p:txBody>
      </p:sp>
      <p:sp>
        <p:nvSpPr>
          <p:cNvPr id="6" name="TextBox 5">
            <a:extLst>
              <a:ext uri="{FF2B5EF4-FFF2-40B4-BE49-F238E27FC236}">
                <a16:creationId xmlns:a16="http://schemas.microsoft.com/office/drawing/2014/main" id="{C7941B46-B2CB-5CB1-7529-61FC75EFF4A2}"/>
              </a:ext>
            </a:extLst>
          </p:cNvPr>
          <p:cNvSpPr txBox="1"/>
          <p:nvPr/>
        </p:nvSpPr>
        <p:spPr>
          <a:xfrm>
            <a:off x="762000" y="1225550"/>
            <a:ext cx="7727950" cy="1938992"/>
          </a:xfrm>
          <a:prstGeom prst="rect">
            <a:avLst/>
          </a:prstGeom>
          <a:noFill/>
        </p:spPr>
        <p:txBody>
          <a:bodyPr wrap="square" rtlCol="0">
            <a:spAutoFit/>
          </a:bodyPr>
          <a:lstStyle/>
          <a:p>
            <a:pPr marL="285750" indent="-285750">
              <a:buFont typeface="Arial" panose="020B0604020202020204" pitchFamily="34" charset="0"/>
              <a:buChar char="•"/>
            </a:pPr>
            <a:r>
              <a:rPr lang="en-GB" dirty="0">
                <a:latin typeface="+mj-lt"/>
              </a:rPr>
              <a:t>The </a:t>
            </a:r>
            <a:r>
              <a:rPr lang="en-GB" dirty="0" err="1">
                <a:latin typeface="+mj-lt"/>
              </a:rPr>
              <a:t>cmc</a:t>
            </a:r>
            <a:r>
              <a:rPr lang="en-GB" dirty="0">
                <a:latin typeface="+mj-lt"/>
              </a:rPr>
              <a:t> is not a thermodynamic phase transition. It is defined phenomenologically by a sharp increase in the number of molecules associated into micelles</a:t>
            </a:r>
          </a:p>
          <a:p>
            <a:pPr marL="285750" indent="-285750">
              <a:buFont typeface="Arial" panose="020B0604020202020204" pitchFamily="34" charset="0"/>
              <a:buChar char="•"/>
            </a:pPr>
            <a:r>
              <a:rPr lang="en-GB" dirty="0">
                <a:latin typeface="+mj-lt"/>
              </a:rPr>
              <a:t>It can be measured via colligative properties, or from techniques sensitive to the dynamics of molecules</a:t>
            </a:r>
          </a:p>
        </p:txBody>
      </p:sp>
      <p:pic>
        <p:nvPicPr>
          <p:cNvPr id="8" name="Picture 7">
            <a:extLst>
              <a:ext uri="{FF2B5EF4-FFF2-40B4-BE49-F238E27FC236}">
                <a16:creationId xmlns:a16="http://schemas.microsoft.com/office/drawing/2014/main" id="{ACFF9EFF-3F18-7E94-7BF0-87B5EC0580EB}"/>
              </a:ext>
            </a:extLst>
          </p:cNvPr>
          <p:cNvPicPr>
            <a:picLocks noChangeAspect="1"/>
          </p:cNvPicPr>
          <p:nvPr/>
        </p:nvPicPr>
        <p:blipFill>
          <a:blip r:embed="rId2"/>
          <a:stretch>
            <a:fillRect/>
          </a:stretch>
        </p:blipFill>
        <p:spPr>
          <a:xfrm>
            <a:off x="1693863" y="3098338"/>
            <a:ext cx="5272088" cy="3759662"/>
          </a:xfrm>
          <a:prstGeom prst="rect">
            <a:avLst/>
          </a:prstGeom>
        </p:spPr>
      </p:pic>
    </p:spTree>
    <p:extLst>
      <p:ext uri="{BB962C8B-B14F-4D97-AF65-F5344CB8AC3E}">
        <p14:creationId xmlns:p14="http://schemas.microsoft.com/office/powerpoint/2010/main" val="187621017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67EA1FD-2D44-965D-0A87-AC02D29846E5}"/>
              </a:ext>
            </a:extLst>
          </p:cNvPr>
          <p:cNvSpPr txBox="1">
            <a:spLocks noChangeArrowheads="1"/>
          </p:cNvSpPr>
          <p:nvPr/>
        </p:nvSpPr>
        <p:spPr bwMode="auto">
          <a:xfrm>
            <a:off x="304800" y="381002"/>
            <a:ext cx="83820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3600" dirty="0">
                <a:solidFill>
                  <a:srgbClr val="000000"/>
                </a:solidFill>
                <a:latin typeface="+mj-lt"/>
              </a:rPr>
              <a:t>Surface tension</a:t>
            </a:r>
          </a:p>
        </p:txBody>
      </p:sp>
      <p:sp>
        <p:nvSpPr>
          <p:cNvPr id="5" name="TextBox 4">
            <a:extLst>
              <a:ext uri="{FF2B5EF4-FFF2-40B4-BE49-F238E27FC236}">
                <a16:creationId xmlns:a16="http://schemas.microsoft.com/office/drawing/2014/main" id="{BD3DEA8D-608A-4905-129D-BD3ED4DE8911}"/>
              </a:ext>
            </a:extLst>
          </p:cNvPr>
          <p:cNvSpPr txBox="1"/>
          <p:nvPr/>
        </p:nvSpPr>
        <p:spPr>
          <a:xfrm>
            <a:off x="321052" y="1161080"/>
            <a:ext cx="7727950" cy="830997"/>
          </a:xfrm>
          <a:prstGeom prst="rect">
            <a:avLst/>
          </a:prstGeom>
          <a:noFill/>
        </p:spPr>
        <p:txBody>
          <a:bodyPr wrap="square" rtlCol="0">
            <a:spAutoFit/>
          </a:bodyPr>
          <a:lstStyle/>
          <a:p>
            <a:pPr marL="285750" indent="-285750">
              <a:buFont typeface="Arial" panose="020B0604020202020204" pitchFamily="34" charset="0"/>
              <a:buChar char="•"/>
            </a:pPr>
            <a:r>
              <a:rPr lang="en-GB" dirty="0">
                <a:latin typeface="+mj-lt"/>
              </a:rPr>
              <a:t>Surface tension measurements are perhaps the most common way to measure </a:t>
            </a:r>
            <a:r>
              <a:rPr lang="en-GB" dirty="0" err="1">
                <a:latin typeface="+mj-lt"/>
              </a:rPr>
              <a:t>cmc</a:t>
            </a:r>
            <a:endParaRPr lang="en-GB" dirty="0">
              <a:latin typeface="+mj-lt"/>
            </a:endParaRPr>
          </a:p>
        </p:txBody>
      </p:sp>
      <p:pic>
        <p:nvPicPr>
          <p:cNvPr id="7" name="Picture 6">
            <a:extLst>
              <a:ext uri="{FF2B5EF4-FFF2-40B4-BE49-F238E27FC236}">
                <a16:creationId xmlns:a16="http://schemas.microsoft.com/office/drawing/2014/main" id="{E427B24F-5515-0AEC-E9F7-CA552D091F77}"/>
              </a:ext>
            </a:extLst>
          </p:cNvPr>
          <p:cNvPicPr>
            <a:picLocks noChangeAspect="1"/>
          </p:cNvPicPr>
          <p:nvPr/>
        </p:nvPicPr>
        <p:blipFill>
          <a:blip r:embed="rId2"/>
          <a:stretch>
            <a:fillRect/>
          </a:stretch>
        </p:blipFill>
        <p:spPr>
          <a:xfrm>
            <a:off x="656565" y="2143666"/>
            <a:ext cx="4483100" cy="3583874"/>
          </a:xfrm>
          <a:prstGeom prst="rect">
            <a:avLst/>
          </a:prstGeom>
        </p:spPr>
      </p:pic>
      <p:sp>
        <p:nvSpPr>
          <p:cNvPr id="8" name="TextBox 7">
            <a:extLst>
              <a:ext uri="{FF2B5EF4-FFF2-40B4-BE49-F238E27FC236}">
                <a16:creationId xmlns:a16="http://schemas.microsoft.com/office/drawing/2014/main" id="{26A0EAD4-E9FE-F66C-BF69-891EC0086D87}"/>
              </a:ext>
            </a:extLst>
          </p:cNvPr>
          <p:cNvSpPr txBox="1"/>
          <p:nvPr/>
        </p:nvSpPr>
        <p:spPr>
          <a:xfrm>
            <a:off x="5391150" y="1871881"/>
            <a:ext cx="3752850" cy="4832092"/>
          </a:xfrm>
          <a:prstGeom prst="rect">
            <a:avLst/>
          </a:prstGeom>
          <a:noFill/>
        </p:spPr>
        <p:txBody>
          <a:bodyPr wrap="square" rtlCol="0">
            <a:spAutoFit/>
          </a:bodyPr>
          <a:lstStyle/>
          <a:p>
            <a:pPr marL="285750" indent="-285750">
              <a:buFont typeface="Arial" panose="020B0604020202020204" pitchFamily="34" charset="0"/>
              <a:buChar char="•"/>
            </a:pPr>
            <a:r>
              <a:rPr lang="en-GB" sz="2200" dirty="0">
                <a:latin typeface="+mj-lt"/>
              </a:rPr>
              <a:t>Addition of many organic molecules causes reduction in surface tension of an aqueous solution </a:t>
            </a:r>
          </a:p>
          <a:p>
            <a:pPr marL="285750" indent="-285750">
              <a:buFont typeface="Arial" panose="020B0604020202020204" pitchFamily="34" charset="0"/>
              <a:buChar char="•"/>
            </a:pPr>
            <a:r>
              <a:rPr lang="en-GB" sz="2200" dirty="0">
                <a:latin typeface="+mj-lt"/>
              </a:rPr>
              <a:t>In contrast, for salts, surface tension increases because ions are depleted from the surface due to bulk interactions. </a:t>
            </a:r>
          </a:p>
          <a:p>
            <a:pPr marL="285750" indent="-285750">
              <a:buFont typeface="Arial" panose="020B0604020202020204" pitchFamily="34" charset="0"/>
              <a:buChar char="•"/>
            </a:pPr>
            <a:r>
              <a:rPr lang="en-GB" sz="2200" dirty="0">
                <a:latin typeface="+mj-lt"/>
              </a:rPr>
              <a:t>For surfactants, the decrease in surface tension with increasing </a:t>
            </a:r>
            <a:r>
              <a:rPr lang="en-GB" sz="2200" dirty="0" err="1">
                <a:latin typeface="+mj-lt"/>
              </a:rPr>
              <a:t>conc</a:t>
            </a:r>
            <a:r>
              <a:rPr lang="en-GB" sz="2200" dirty="0">
                <a:latin typeface="+mj-lt"/>
              </a:rPr>
              <a:t> shows a discontinuity at the </a:t>
            </a:r>
            <a:r>
              <a:rPr lang="en-GB" sz="2200" dirty="0" err="1">
                <a:latin typeface="+mj-lt"/>
              </a:rPr>
              <a:t>cmc</a:t>
            </a:r>
            <a:endParaRPr lang="en-GB" sz="2200" dirty="0">
              <a:latin typeface="+mj-lt"/>
            </a:endParaRPr>
          </a:p>
        </p:txBody>
      </p:sp>
      <p:sp>
        <p:nvSpPr>
          <p:cNvPr id="9" name="TextBox 8">
            <a:extLst>
              <a:ext uri="{FF2B5EF4-FFF2-40B4-BE49-F238E27FC236}">
                <a16:creationId xmlns:a16="http://schemas.microsoft.com/office/drawing/2014/main" id="{E2DABB22-1A2C-703A-B797-B5F470633987}"/>
              </a:ext>
            </a:extLst>
          </p:cNvPr>
          <p:cNvSpPr txBox="1"/>
          <p:nvPr/>
        </p:nvSpPr>
        <p:spPr>
          <a:xfrm>
            <a:off x="762000" y="5943600"/>
            <a:ext cx="4953000" cy="830997"/>
          </a:xfrm>
          <a:prstGeom prst="rect">
            <a:avLst/>
          </a:prstGeom>
          <a:noFill/>
        </p:spPr>
        <p:txBody>
          <a:bodyPr wrap="square" rtlCol="0">
            <a:spAutoFit/>
          </a:bodyPr>
          <a:lstStyle/>
          <a:p>
            <a:pPr marL="285750" indent="-285750">
              <a:buFont typeface="Arial" panose="020B0604020202020204" pitchFamily="34" charset="0"/>
              <a:buChar char="•"/>
            </a:pPr>
            <a:r>
              <a:rPr lang="en-GB" dirty="0">
                <a:latin typeface="+mj-lt"/>
              </a:rPr>
              <a:t>Solid – pure surfactant</a:t>
            </a:r>
          </a:p>
          <a:p>
            <a:pPr marL="285750" indent="-285750">
              <a:buFont typeface="Arial" panose="020B0604020202020204" pitchFamily="34" charset="0"/>
              <a:buChar char="•"/>
            </a:pPr>
            <a:r>
              <a:rPr lang="en-GB" dirty="0">
                <a:latin typeface="+mj-lt"/>
              </a:rPr>
              <a:t>Dashed – impure surfactant</a:t>
            </a:r>
          </a:p>
        </p:txBody>
      </p:sp>
    </p:spTree>
    <p:extLst>
      <p:ext uri="{BB962C8B-B14F-4D97-AF65-F5344CB8AC3E}">
        <p14:creationId xmlns:p14="http://schemas.microsoft.com/office/powerpoint/2010/main" val="327052345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P spid="9"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F1FA6DE-502E-5E55-A984-BA5281787B0B}"/>
              </a:ext>
            </a:extLst>
          </p:cNvPr>
          <p:cNvSpPr txBox="1">
            <a:spLocks noChangeArrowheads="1"/>
          </p:cNvSpPr>
          <p:nvPr/>
        </p:nvSpPr>
        <p:spPr bwMode="auto">
          <a:xfrm>
            <a:off x="304800" y="381002"/>
            <a:ext cx="83820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3600" dirty="0">
                <a:solidFill>
                  <a:srgbClr val="000000"/>
                </a:solidFill>
                <a:latin typeface="+mj-lt"/>
              </a:rPr>
              <a:t>Surface tension and micelles</a:t>
            </a:r>
          </a:p>
        </p:txBody>
      </p:sp>
      <p:pic>
        <p:nvPicPr>
          <p:cNvPr id="5" name="Picture 4">
            <a:extLst>
              <a:ext uri="{FF2B5EF4-FFF2-40B4-BE49-F238E27FC236}">
                <a16:creationId xmlns:a16="http://schemas.microsoft.com/office/drawing/2014/main" id="{686BF13A-CF42-3EF6-5008-80CE6D50EDB9}"/>
              </a:ext>
            </a:extLst>
          </p:cNvPr>
          <p:cNvPicPr>
            <a:picLocks noChangeAspect="1"/>
          </p:cNvPicPr>
          <p:nvPr/>
        </p:nvPicPr>
        <p:blipFill>
          <a:blip r:embed="rId2"/>
          <a:stretch>
            <a:fillRect/>
          </a:stretch>
        </p:blipFill>
        <p:spPr>
          <a:xfrm>
            <a:off x="628650" y="1236802"/>
            <a:ext cx="7581900" cy="4610371"/>
          </a:xfrm>
          <a:prstGeom prst="rect">
            <a:avLst/>
          </a:prstGeom>
        </p:spPr>
      </p:pic>
    </p:spTree>
    <p:extLst>
      <p:ext uri="{BB962C8B-B14F-4D97-AF65-F5344CB8AC3E}">
        <p14:creationId xmlns:p14="http://schemas.microsoft.com/office/powerpoint/2010/main" val="67148521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F8FE931-E3D8-225F-A7C4-EAFC463BB2C5}"/>
              </a:ext>
            </a:extLst>
          </p:cNvPr>
          <p:cNvPicPr>
            <a:picLocks noChangeAspect="1"/>
          </p:cNvPicPr>
          <p:nvPr/>
        </p:nvPicPr>
        <p:blipFill>
          <a:blip r:embed="rId2"/>
          <a:stretch>
            <a:fillRect/>
          </a:stretch>
        </p:blipFill>
        <p:spPr>
          <a:xfrm>
            <a:off x="2088155" y="2031769"/>
            <a:ext cx="6293845" cy="4445229"/>
          </a:xfrm>
          <a:prstGeom prst="rect">
            <a:avLst/>
          </a:prstGeom>
        </p:spPr>
      </p:pic>
      <p:sp>
        <p:nvSpPr>
          <p:cNvPr id="5" name="TextBox 4">
            <a:extLst>
              <a:ext uri="{FF2B5EF4-FFF2-40B4-BE49-F238E27FC236}">
                <a16:creationId xmlns:a16="http://schemas.microsoft.com/office/drawing/2014/main" id="{BA1FE700-32CF-8578-414B-13B1B632D401}"/>
              </a:ext>
            </a:extLst>
          </p:cNvPr>
          <p:cNvSpPr txBox="1">
            <a:spLocks noChangeArrowheads="1"/>
          </p:cNvSpPr>
          <p:nvPr/>
        </p:nvSpPr>
        <p:spPr bwMode="auto">
          <a:xfrm>
            <a:off x="304800" y="381002"/>
            <a:ext cx="83820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3600" dirty="0">
                <a:solidFill>
                  <a:srgbClr val="000000"/>
                </a:solidFill>
                <a:latin typeface="+mj-lt"/>
              </a:rPr>
              <a:t>Surface activity and </a:t>
            </a:r>
            <a:r>
              <a:rPr lang="en-US" altLang="en-US" sz="3600">
                <a:solidFill>
                  <a:srgbClr val="000000"/>
                </a:solidFill>
                <a:latin typeface="+mj-lt"/>
              </a:rPr>
              <a:t>surface tension</a:t>
            </a:r>
            <a:endParaRPr lang="en-US" altLang="en-US" sz="3600" dirty="0">
              <a:solidFill>
                <a:srgbClr val="000000"/>
              </a:solidFill>
              <a:latin typeface="+mj-lt"/>
            </a:endParaRPr>
          </a:p>
        </p:txBody>
      </p:sp>
      <p:sp>
        <p:nvSpPr>
          <p:cNvPr id="7" name="TextBox 6">
            <a:extLst>
              <a:ext uri="{FF2B5EF4-FFF2-40B4-BE49-F238E27FC236}">
                <a16:creationId xmlns:a16="http://schemas.microsoft.com/office/drawing/2014/main" id="{65ACC1D3-93BF-AA82-32CF-62AFCFB97187}"/>
              </a:ext>
            </a:extLst>
          </p:cNvPr>
          <p:cNvSpPr txBox="1"/>
          <p:nvPr/>
        </p:nvSpPr>
        <p:spPr>
          <a:xfrm>
            <a:off x="762000" y="1225550"/>
            <a:ext cx="8130480" cy="1200329"/>
          </a:xfrm>
          <a:prstGeom prst="rect">
            <a:avLst/>
          </a:prstGeom>
          <a:noFill/>
        </p:spPr>
        <p:txBody>
          <a:bodyPr wrap="square" rtlCol="0">
            <a:spAutoFit/>
          </a:bodyPr>
          <a:lstStyle/>
          <a:p>
            <a:r>
              <a:rPr lang="en-GB" dirty="0"/>
              <a:t>Correlation between surface activity and micelle formation – when the properties of the surface change we also form micelles.</a:t>
            </a:r>
          </a:p>
        </p:txBody>
      </p:sp>
    </p:spTree>
    <p:extLst>
      <p:ext uri="{BB962C8B-B14F-4D97-AF65-F5344CB8AC3E}">
        <p14:creationId xmlns:p14="http://schemas.microsoft.com/office/powerpoint/2010/main" val="389159731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604875D-C810-7592-D0F7-3576A5C1538F}"/>
              </a:ext>
            </a:extLst>
          </p:cNvPr>
          <p:cNvSpPr txBox="1">
            <a:spLocks noChangeArrowheads="1"/>
          </p:cNvSpPr>
          <p:nvPr/>
        </p:nvSpPr>
        <p:spPr bwMode="auto">
          <a:xfrm>
            <a:off x="304800" y="381004"/>
            <a:ext cx="83820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3600" dirty="0">
                <a:solidFill>
                  <a:srgbClr val="000000"/>
                </a:solidFill>
              </a:rPr>
              <a:t>Surface tension regimes</a:t>
            </a:r>
          </a:p>
        </p:txBody>
      </p:sp>
      <p:sp>
        <p:nvSpPr>
          <p:cNvPr id="4" name="TextBox 3">
            <a:extLst>
              <a:ext uri="{FF2B5EF4-FFF2-40B4-BE49-F238E27FC236}">
                <a16:creationId xmlns:a16="http://schemas.microsoft.com/office/drawing/2014/main" id="{2D6D788E-4B5A-56E8-2BE4-12100B9BE7CA}"/>
              </a:ext>
            </a:extLst>
          </p:cNvPr>
          <p:cNvSpPr txBox="1"/>
          <p:nvPr/>
        </p:nvSpPr>
        <p:spPr>
          <a:xfrm>
            <a:off x="859899" y="3113965"/>
            <a:ext cx="7424201" cy="2677656"/>
          </a:xfrm>
          <a:prstGeom prst="rect">
            <a:avLst/>
          </a:prstGeom>
          <a:noFill/>
        </p:spPr>
        <p:txBody>
          <a:bodyPr wrap="square" rtlCol="0">
            <a:spAutoFit/>
          </a:bodyPr>
          <a:lstStyle/>
          <a:p>
            <a:pPr marL="285750" indent="-285750">
              <a:buFont typeface="Arial" panose="020B0604020202020204" pitchFamily="34" charset="0"/>
              <a:buChar char="•"/>
            </a:pPr>
            <a:r>
              <a:rPr lang="en-GB" dirty="0"/>
              <a:t>Consider behaviour in three regimes </a:t>
            </a:r>
          </a:p>
          <a:p>
            <a:pPr marL="285750" indent="-285750">
              <a:buFont typeface="Arial" panose="020B0604020202020204" pitchFamily="34" charset="0"/>
              <a:buChar char="•"/>
            </a:pPr>
            <a:r>
              <a:rPr lang="en-GB" dirty="0"/>
              <a:t>(</a:t>
            </a:r>
            <a:r>
              <a:rPr lang="en-GB" dirty="0" err="1"/>
              <a:t>i</a:t>
            </a:r>
            <a:r>
              <a:rPr lang="en-GB" dirty="0"/>
              <a:t>) Regime I: Two-dimensional “ideal gas behaviour” </a:t>
            </a:r>
          </a:p>
          <a:p>
            <a:pPr marL="285750" indent="-285750">
              <a:buFont typeface="Arial" panose="020B0604020202020204" pitchFamily="34" charset="0"/>
              <a:buChar char="•"/>
            </a:pPr>
            <a:r>
              <a:rPr lang="en-GB" dirty="0"/>
              <a:t>(ii)Regime II: Linear relationship (between 𝛾 and </a:t>
            </a:r>
            <a:r>
              <a:rPr lang="en-GB" dirty="0" err="1"/>
              <a:t>lnc</a:t>
            </a:r>
            <a:r>
              <a:rPr lang="en-GB" dirty="0"/>
              <a:t>) – Gibbs adsorption isotherm </a:t>
            </a:r>
          </a:p>
          <a:p>
            <a:pPr marL="285750" indent="-285750">
              <a:buFont typeface="Arial" panose="020B0604020202020204" pitchFamily="34" charset="0"/>
              <a:buChar char="•"/>
            </a:pPr>
            <a:r>
              <a:rPr lang="en-GB" dirty="0"/>
              <a:t>(iii) Regime III: Increasing the concentration leads to more micelles forming in bulk, with no further changes at the surface</a:t>
            </a:r>
          </a:p>
        </p:txBody>
      </p:sp>
      <p:pic>
        <p:nvPicPr>
          <p:cNvPr id="2" name="Picture 1">
            <a:extLst>
              <a:ext uri="{FF2B5EF4-FFF2-40B4-BE49-F238E27FC236}">
                <a16:creationId xmlns:a16="http://schemas.microsoft.com/office/drawing/2014/main" id="{8421EA07-5B80-C32E-8253-014A8BD67AA0}"/>
              </a:ext>
            </a:extLst>
          </p:cNvPr>
          <p:cNvPicPr>
            <a:picLocks noChangeAspect="1"/>
          </p:cNvPicPr>
          <p:nvPr/>
        </p:nvPicPr>
        <p:blipFill rotWithShape="1">
          <a:blip r:embed="rId2"/>
          <a:srcRect t="14642" r="44710" b="25712"/>
          <a:stretch/>
        </p:blipFill>
        <p:spPr>
          <a:xfrm>
            <a:off x="5517105" y="924883"/>
            <a:ext cx="2700300" cy="2054615"/>
          </a:xfrm>
          <a:prstGeom prst="rect">
            <a:avLst/>
          </a:prstGeom>
        </p:spPr>
      </p:pic>
    </p:spTree>
    <p:extLst>
      <p:ext uri="{BB962C8B-B14F-4D97-AF65-F5344CB8AC3E}">
        <p14:creationId xmlns:p14="http://schemas.microsoft.com/office/powerpoint/2010/main" val="425641677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604875D-C810-7592-D0F7-3576A5C1538F}"/>
              </a:ext>
            </a:extLst>
          </p:cNvPr>
          <p:cNvSpPr txBox="1">
            <a:spLocks noChangeArrowheads="1"/>
          </p:cNvSpPr>
          <p:nvPr/>
        </p:nvSpPr>
        <p:spPr bwMode="auto">
          <a:xfrm>
            <a:off x="304800" y="381004"/>
            <a:ext cx="83820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3600" dirty="0">
                <a:solidFill>
                  <a:srgbClr val="000000"/>
                </a:solidFill>
              </a:rPr>
              <a:t>Surface excess</a:t>
            </a:r>
          </a:p>
        </p:txBody>
      </p:sp>
      <p:sp>
        <p:nvSpPr>
          <p:cNvPr id="5" name="TextBox 4">
            <a:extLst>
              <a:ext uri="{FF2B5EF4-FFF2-40B4-BE49-F238E27FC236}">
                <a16:creationId xmlns:a16="http://schemas.microsoft.com/office/drawing/2014/main" id="{6EB519F6-5BE4-F868-45A7-E5491FBE5F38}"/>
              </a:ext>
            </a:extLst>
          </p:cNvPr>
          <p:cNvSpPr txBox="1"/>
          <p:nvPr/>
        </p:nvSpPr>
        <p:spPr>
          <a:xfrm>
            <a:off x="319552" y="1241434"/>
            <a:ext cx="4972528" cy="2677656"/>
          </a:xfrm>
          <a:prstGeom prst="rect">
            <a:avLst/>
          </a:prstGeom>
          <a:noFill/>
        </p:spPr>
        <p:txBody>
          <a:bodyPr wrap="square" rtlCol="0">
            <a:spAutoFit/>
          </a:bodyPr>
          <a:lstStyle/>
          <a:p>
            <a:r>
              <a:rPr lang="en-GB" dirty="0"/>
              <a:t>The Gibbs adsorption equation Relates surface excess (number of moles in excess at surface per unit area) to gradient of 𝛾 versus ln(c) plot in regime II (where this slope is linear). </a:t>
            </a:r>
          </a:p>
          <a:p>
            <a:endParaRPr lang="en-GB" dirty="0"/>
          </a:p>
        </p:txBody>
      </p:sp>
      <p:sp>
        <p:nvSpPr>
          <p:cNvPr id="6" name="TextBox 5">
            <a:extLst>
              <a:ext uri="{FF2B5EF4-FFF2-40B4-BE49-F238E27FC236}">
                <a16:creationId xmlns:a16="http://schemas.microsoft.com/office/drawing/2014/main" id="{96905A93-11BF-9564-9CFF-667AC4DA9900}"/>
              </a:ext>
            </a:extLst>
          </p:cNvPr>
          <p:cNvSpPr txBox="1"/>
          <p:nvPr/>
        </p:nvSpPr>
        <p:spPr>
          <a:xfrm>
            <a:off x="294267" y="3976852"/>
            <a:ext cx="4997813" cy="2677656"/>
          </a:xfrm>
          <a:prstGeom prst="rect">
            <a:avLst/>
          </a:prstGeom>
          <a:noFill/>
        </p:spPr>
        <p:txBody>
          <a:bodyPr wrap="square" lIns="91440" tIns="45720" rIns="91440" bIns="45720" rtlCol="0" anchor="t">
            <a:spAutoFit/>
          </a:bodyPr>
          <a:lstStyle/>
          <a:p>
            <a:r>
              <a:rPr lang="en-GB" dirty="0">
                <a:latin typeface="Rdg Vesta"/>
              </a:rPr>
              <a:t>The surface excess </a:t>
            </a:r>
            <a:r>
              <a:rPr lang="en-GB" dirty="0" err="1">
                <a:latin typeface="Rdg Vesta"/>
              </a:rPr>
              <a:t>Γ</a:t>
            </a:r>
            <a:r>
              <a:rPr lang="en-GB" sz="1600" baseline="-25000" dirty="0" err="1">
                <a:latin typeface="Rdg Vesta"/>
              </a:rPr>
              <a:t>s</a:t>
            </a:r>
            <a:r>
              <a:rPr lang="en-GB" dirty="0">
                <a:latin typeface="Rdg Vesta"/>
              </a:rPr>
              <a:t> may be inverted to obtain the area per molecule. So, surface tension vs concentration measurements can give us the area per molecule in surface monolayers, as well as determination of the </a:t>
            </a:r>
            <a:r>
              <a:rPr lang="en-GB" dirty="0" err="1">
                <a:latin typeface="Rdg Vesta"/>
              </a:rPr>
              <a:t>cmc</a:t>
            </a:r>
            <a:r>
              <a:rPr lang="en-GB" dirty="0">
                <a:latin typeface="Rdg Vesta"/>
              </a:rPr>
              <a:t>.</a:t>
            </a:r>
          </a:p>
        </p:txBody>
      </p:sp>
      <p:pic>
        <p:nvPicPr>
          <p:cNvPr id="7" name="Picture 6">
            <a:extLst>
              <a:ext uri="{FF2B5EF4-FFF2-40B4-BE49-F238E27FC236}">
                <a16:creationId xmlns:a16="http://schemas.microsoft.com/office/drawing/2014/main" id="{4233CF8B-4B54-9911-F171-FB9C1F45A307}"/>
              </a:ext>
            </a:extLst>
          </p:cNvPr>
          <p:cNvPicPr>
            <a:picLocks noChangeAspect="1"/>
          </p:cNvPicPr>
          <p:nvPr/>
        </p:nvPicPr>
        <p:blipFill rotWithShape="1">
          <a:blip r:embed="rId3"/>
          <a:srcRect t="14642" r="44710" b="25712"/>
          <a:stretch/>
        </p:blipFill>
        <p:spPr>
          <a:xfrm>
            <a:off x="5517105" y="924883"/>
            <a:ext cx="2700300" cy="2054615"/>
          </a:xfrm>
          <a:prstGeom prst="rect">
            <a:avLst/>
          </a:prstGeom>
        </p:spPr>
      </p:pic>
      <p:sp>
        <p:nvSpPr>
          <p:cNvPr id="2" name="TextBox 1">
            <a:extLst>
              <a:ext uri="{FF2B5EF4-FFF2-40B4-BE49-F238E27FC236}">
                <a16:creationId xmlns:a16="http://schemas.microsoft.com/office/drawing/2014/main" id="{82D83FB7-6E0D-B168-0BA8-C731822BB267}"/>
              </a:ext>
            </a:extLst>
          </p:cNvPr>
          <p:cNvSpPr txBox="1"/>
          <p:nvPr/>
        </p:nvSpPr>
        <p:spPr>
          <a:xfrm>
            <a:off x="5517105" y="3419557"/>
            <a:ext cx="3467643" cy="3785652"/>
          </a:xfrm>
          <a:prstGeom prst="rect">
            <a:avLst/>
          </a:prstGeom>
          <a:noFill/>
        </p:spPr>
        <p:txBody>
          <a:bodyPr wrap="square" rtlCol="0">
            <a:spAutoFit/>
          </a:bodyPr>
          <a:lstStyle/>
          <a:p>
            <a:pPr marL="342900" indent="-342900">
              <a:buFont typeface="Arial" panose="020B0604020202020204" pitchFamily="34" charset="0"/>
              <a:buChar char="•"/>
            </a:pPr>
            <a:r>
              <a:rPr lang="en-GB" dirty="0"/>
              <a:t>For example:</a:t>
            </a:r>
          </a:p>
          <a:p>
            <a:pPr marL="342900" indent="-342900">
              <a:buFont typeface="Arial" panose="020B0604020202020204" pitchFamily="34" charset="0"/>
              <a:buChar char="•"/>
            </a:pPr>
            <a:r>
              <a:rPr lang="en-GB" dirty="0" err="1"/>
              <a:t>Γ</a:t>
            </a:r>
            <a:r>
              <a:rPr lang="en-GB" baseline="-25000" dirty="0" err="1"/>
              <a:t>s</a:t>
            </a:r>
            <a:r>
              <a:rPr lang="en-GB" dirty="0"/>
              <a:t>=10</a:t>
            </a:r>
            <a:r>
              <a:rPr lang="en-GB" baseline="30000" dirty="0"/>
              <a:t>-6 </a:t>
            </a:r>
            <a:r>
              <a:rPr lang="en-GB" dirty="0"/>
              <a:t>mol m</a:t>
            </a:r>
            <a:r>
              <a:rPr lang="en-GB" baseline="30000" dirty="0"/>
              <a:t>-2</a:t>
            </a:r>
          </a:p>
          <a:p>
            <a:pPr marL="342900" indent="-342900">
              <a:buFont typeface="Arial" panose="020B0604020202020204" pitchFamily="34" charset="0"/>
              <a:buChar char="•"/>
            </a:pPr>
            <a:endParaRPr lang="en-GB" baseline="30000" dirty="0"/>
          </a:p>
          <a:p>
            <a:pPr marL="342900" indent="-342900">
              <a:buFont typeface="Arial" panose="020B0604020202020204" pitchFamily="34" charset="0"/>
              <a:buChar char="•"/>
            </a:pPr>
            <a:r>
              <a:rPr lang="en-GB" dirty="0"/>
              <a:t>1/</a:t>
            </a:r>
            <a:r>
              <a:rPr lang="en-GB" dirty="0" err="1"/>
              <a:t>N</a:t>
            </a:r>
            <a:r>
              <a:rPr lang="en-GB" baseline="-25000" dirty="0" err="1"/>
              <a:t>a</a:t>
            </a:r>
            <a:r>
              <a:rPr lang="en-GB" dirty="0" err="1"/>
              <a:t>Γ</a:t>
            </a:r>
            <a:r>
              <a:rPr lang="en-GB" baseline="-25000" dirty="0" err="1"/>
              <a:t>s</a:t>
            </a:r>
            <a:r>
              <a:rPr lang="en-GB" dirty="0"/>
              <a:t>=1.66 ✕ 10</a:t>
            </a:r>
            <a:r>
              <a:rPr lang="en-GB" baseline="30000" dirty="0"/>
              <a:t>-18 </a:t>
            </a:r>
            <a:r>
              <a:rPr lang="en-GB" dirty="0"/>
              <a:t>m</a:t>
            </a:r>
            <a:r>
              <a:rPr lang="en-GB" baseline="30000" dirty="0"/>
              <a:t>2 </a:t>
            </a:r>
            <a:r>
              <a:rPr lang="en-GB" dirty="0"/>
              <a:t>per molecule</a:t>
            </a:r>
          </a:p>
          <a:p>
            <a:pPr marL="342900" indent="-342900">
              <a:buFont typeface="Arial" panose="020B0604020202020204" pitchFamily="34" charset="0"/>
              <a:buChar char="•"/>
            </a:pPr>
            <a:endParaRPr lang="en-GB" dirty="0"/>
          </a:p>
          <a:p>
            <a:pPr marL="342900" indent="-342900">
              <a:buFont typeface="Arial" panose="020B0604020202020204" pitchFamily="34" charset="0"/>
              <a:buChar char="•"/>
            </a:pPr>
            <a:r>
              <a:rPr lang="en-GB" dirty="0"/>
              <a:t>1/</a:t>
            </a:r>
            <a:r>
              <a:rPr lang="en-GB" dirty="0" err="1"/>
              <a:t>N</a:t>
            </a:r>
            <a:r>
              <a:rPr lang="en-GB" baseline="-25000" dirty="0" err="1"/>
              <a:t>a</a:t>
            </a:r>
            <a:r>
              <a:rPr lang="en-GB" dirty="0" err="1"/>
              <a:t>Γ</a:t>
            </a:r>
            <a:r>
              <a:rPr lang="en-GB" baseline="-25000" dirty="0" err="1"/>
              <a:t>s</a:t>
            </a:r>
            <a:r>
              <a:rPr lang="en-GB" dirty="0"/>
              <a:t>=1.66</a:t>
            </a:r>
            <a:r>
              <a:rPr lang="en-GB" baseline="30000" dirty="0"/>
              <a:t> </a:t>
            </a:r>
            <a:r>
              <a:rPr lang="en-GB" dirty="0"/>
              <a:t>nm</a:t>
            </a:r>
            <a:r>
              <a:rPr lang="en-GB" baseline="30000" dirty="0"/>
              <a:t>2 </a:t>
            </a:r>
            <a:r>
              <a:rPr lang="en-GB" dirty="0"/>
              <a:t>per molecule</a:t>
            </a:r>
          </a:p>
          <a:p>
            <a:pPr marL="342900" indent="-342900">
              <a:buFont typeface="Arial" panose="020B0604020202020204" pitchFamily="34" charset="0"/>
              <a:buChar char="•"/>
            </a:pPr>
            <a:endParaRPr lang="en-GB" dirty="0"/>
          </a:p>
          <a:p>
            <a:pPr marL="342900" indent="-342900">
              <a:buFont typeface="Arial" panose="020B0604020202020204" pitchFamily="34" charset="0"/>
              <a:buChar char="•"/>
            </a:pPr>
            <a:endParaRPr lang="en-GB" baseline="30000" dirty="0"/>
          </a:p>
          <a:p>
            <a:pPr marL="342900" indent="-342900">
              <a:buFont typeface="Arial" panose="020B0604020202020204" pitchFamily="34" charset="0"/>
              <a:buChar char="•"/>
            </a:pPr>
            <a:endParaRPr lang="en-GB" baseline="-25000" dirty="0"/>
          </a:p>
        </p:txBody>
      </p:sp>
    </p:spTree>
    <p:extLst>
      <p:ext uri="{BB962C8B-B14F-4D97-AF65-F5344CB8AC3E}">
        <p14:creationId xmlns:p14="http://schemas.microsoft.com/office/powerpoint/2010/main" val="220570329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1" nodeType="clickEffect">
                                  <p:stCondLst>
                                    <p:cond delay="0"/>
                                  </p:stCondLst>
                                  <p:childTnLst>
                                    <p:set>
                                      <p:cBhvr>
                                        <p:cTn id="30" dur="1" fill="hold">
                                          <p:stCondLst>
                                            <p:cond delay="0"/>
                                          </p:stCondLst>
                                        </p:cTn>
                                        <p:tgtEl>
                                          <p:spTgt spid="2">
                                            <p:txEl>
                                              <p:pRg st="0" end="0"/>
                                            </p:txEl>
                                          </p:spTgt>
                                        </p:tgtEl>
                                        <p:attrNameLst>
                                          <p:attrName>style.visibility</p:attrName>
                                        </p:attrNameLst>
                                      </p:cBhvr>
                                      <p:to>
                                        <p:strVal val="visible"/>
                                      </p:to>
                                    </p:set>
                                  </p:childTnLst>
                                </p:cTn>
                              </p:par>
                              <p:par>
                                <p:cTn id="31" presetID="1" presetClass="entr" presetSubtype="0" fill="hold" grpId="1" nodeType="withEffect">
                                  <p:stCondLst>
                                    <p:cond delay="0"/>
                                  </p:stCondLst>
                                  <p:childTnLst>
                                    <p:set>
                                      <p:cBhvr>
                                        <p:cTn id="32" dur="1" fill="hold">
                                          <p:stCondLst>
                                            <p:cond delay="0"/>
                                          </p:stCondLst>
                                        </p:cTn>
                                        <p:tgtEl>
                                          <p:spTgt spid="2">
                                            <p:txEl>
                                              <p:pRg st="1" end="1"/>
                                            </p:txEl>
                                          </p:spTgt>
                                        </p:tgtEl>
                                        <p:attrNameLst>
                                          <p:attrName>style.visibility</p:attrName>
                                        </p:attrNameLst>
                                      </p:cBhvr>
                                      <p:to>
                                        <p:strVal val="visible"/>
                                      </p:to>
                                    </p:set>
                                  </p:childTnLst>
                                </p:cTn>
                              </p:par>
                              <p:par>
                                <p:cTn id="33" presetID="1" presetClass="entr" presetSubtype="0" fill="hold" grpId="1" nodeType="with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childTnLst>
                                </p:cTn>
                              </p:par>
                              <p:par>
                                <p:cTn id="35" presetID="1" presetClass="entr" presetSubtype="0" fill="hold" grpId="1" nodeType="withEffect">
                                  <p:stCondLst>
                                    <p:cond delay="0"/>
                                  </p:stCondLst>
                                  <p:childTnLst>
                                    <p:set>
                                      <p:cBhvr>
                                        <p:cTn id="3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build="p"/>
      <p:bldP spid="2" grpId="0" build="p"/>
      <p:bldP spid="2" grpId="1" build="allAtOnce"/>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29E007-DD06-766C-5318-850C3E78BA73}"/>
              </a:ext>
            </a:extLst>
          </p:cNvPr>
          <p:cNvSpPr>
            <a:spLocks noGrp="1"/>
          </p:cNvSpPr>
          <p:nvPr>
            <p:ph type="title"/>
          </p:nvPr>
        </p:nvSpPr>
        <p:spPr/>
        <p:txBody>
          <a:bodyPr/>
          <a:lstStyle/>
          <a:p>
            <a:r>
              <a:rPr lang="en-GB" dirty="0"/>
              <a:t>Learning Outcomes</a:t>
            </a:r>
          </a:p>
        </p:txBody>
      </p:sp>
      <p:sp>
        <p:nvSpPr>
          <p:cNvPr id="4" name="Content Placeholder 3">
            <a:extLst>
              <a:ext uri="{FF2B5EF4-FFF2-40B4-BE49-F238E27FC236}">
                <a16:creationId xmlns:a16="http://schemas.microsoft.com/office/drawing/2014/main" id="{9C030777-94D1-D088-D86C-A829D276EDB7}"/>
              </a:ext>
            </a:extLst>
          </p:cNvPr>
          <p:cNvSpPr>
            <a:spLocks noGrp="1"/>
          </p:cNvSpPr>
          <p:nvPr>
            <p:ph idx="1"/>
          </p:nvPr>
        </p:nvSpPr>
        <p:spPr/>
        <p:txBody>
          <a:bodyPr/>
          <a:lstStyle/>
          <a:p>
            <a:r>
              <a:rPr lang="en-GB" dirty="0"/>
              <a:t>Today we have:</a:t>
            </a:r>
            <a:br>
              <a:rPr lang="en-GB" dirty="0"/>
            </a:br>
            <a:r>
              <a:rPr lang="en-GB" dirty="0"/>
              <a:t>Learned about different kinds of surfactant, how their molecular structure differs and how this changes their properties</a:t>
            </a:r>
          </a:p>
          <a:p>
            <a:r>
              <a:rPr lang="en-GB" dirty="0"/>
              <a:t>Learned about the role of surfactants in the body and in medicine</a:t>
            </a:r>
          </a:p>
          <a:p>
            <a:r>
              <a:rPr lang="en-GB" dirty="0"/>
              <a:t>Introduced the concept of surface excess and how it can be calculated</a:t>
            </a:r>
          </a:p>
        </p:txBody>
      </p:sp>
      <p:sp>
        <p:nvSpPr>
          <p:cNvPr id="2" name="Slide Number Placeholder 1">
            <a:extLst>
              <a:ext uri="{FF2B5EF4-FFF2-40B4-BE49-F238E27FC236}">
                <a16:creationId xmlns:a16="http://schemas.microsoft.com/office/drawing/2014/main" id="{6DFDCE0A-1DE3-E196-A672-717562B36E10}"/>
              </a:ext>
            </a:extLst>
          </p:cNvPr>
          <p:cNvSpPr>
            <a:spLocks noGrp="1"/>
          </p:cNvSpPr>
          <p:nvPr>
            <p:ph type="sldNum" sz="quarter" idx="10"/>
          </p:nvPr>
        </p:nvSpPr>
        <p:spPr/>
        <p:txBody>
          <a:bodyPr/>
          <a:lstStyle/>
          <a:p>
            <a:fld id="{2B36FD51-1015-4304-9645-AC62F2AE25BF}" type="slidenum">
              <a:rPr lang="en-GB" smtClean="0"/>
              <a:pPr/>
              <a:t>27</a:t>
            </a:fld>
            <a:endParaRPr lang="en-GB"/>
          </a:p>
        </p:txBody>
      </p:sp>
    </p:spTree>
    <p:extLst>
      <p:ext uri="{BB962C8B-B14F-4D97-AF65-F5344CB8AC3E}">
        <p14:creationId xmlns:p14="http://schemas.microsoft.com/office/powerpoint/2010/main" val="1677050311"/>
      </p:ext>
    </p:extLst>
  </p:cSld>
  <p:clrMapOvr>
    <a:masterClrMapping/>
  </p:clrMapOvr>
  <p:transition>
    <p:fade/>
  </p:transition>
</p:sld>
</file>

<file path=ppt/theme/theme1.xml><?xml version="1.0" encoding="utf-8"?>
<a:theme xmlns:a="http://schemas.openxmlformats.org/drawingml/2006/main" name="Bright colours jl">
  <a:themeElements>
    <a:clrScheme name="Bright colours jl 1">
      <a:dk1>
        <a:srgbClr val="000000"/>
      </a:dk1>
      <a:lt1>
        <a:srgbClr val="F8F8F8"/>
      </a:lt1>
      <a:dk2>
        <a:srgbClr val="BF0071"/>
      </a:dk2>
      <a:lt2>
        <a:srgbClr val="1C1C1C"/>
      </a:lt2>
      <a:accent1>
        <a:srgbClr val="BF0071"/>
      </a:accent1>
      <a:accent2>
        <a:srgbClr val="808080"/>
      </a:accent2>
      <a:accent3>
        <a:srgbClr val="FBFBFB"/>
      </a:accent3>
      <a:accent4>
        <a:srgbClr val="000000"/>
      </a:accent4>
      <a:accent5>
        <a:srgbClr val="DCAABB"/>
      </a:accent5>
      <a:accent6>
        <a:srgbClr val="737373"/>
      </a:accent6>
      <a:hlink>
        <a:srgbClr val="BF0071"/>
      </a:hlink>
      <a:folHlink>
        <a:srgbClr val="777777"/>
      </a:folHlink>
    </a:clrScheme>
    <a:fontScheme name="Bright colours jl">
      <a:majorFont>
        <a:latin typeface="Rdg Vesta"/>
        <a:ea typeface=""/>
        <a:cs typeface=""/>
      </a:majorFont>
      <a:minorFont>
        <a:latin typeface="Rdg Vest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a:spPr>
      <a:bodyPr vert="horz" wrap="square" lIns="91440" tIns="45720" rIns="91440" bIns="45720" numCol="1" anchor="ctr"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Rdg Vesta" pitchFamily="2" charset="0"/>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a:spPr>
      <a:bodyPr vert="horz" wrap="square" lIns="91440" tIns="45720" rIns="91440" bIns="45720" numCol="1" anchor="ctr"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Rdg Vesta" pitchFamily="2" charset="0"/>
          </a:defRPr>
        </a:defPPr>
      </a:lstStyle>
    </a:lnDef>
  </a:objectDefaults>
  <a:extraClrSchemeLst>
    <a:extraClrScheme>
      <a:clrScheme name="Bright colours jl 1">
        <a:dk1>
          <a:srgbClr val="000000"/>
        </a:dk1>
        <a:lt1>
          <a:srgbClr val="F8F8F8"/>
        </a:lt1>
        <a:dk2>
          <a:srgbClr val="BF0071"/>
        </a:dk2>
        <a:lt2>
          <a:srgbClr val="1C1C1C"/>
        </a:lt2>
        <a:accent1>
          <a:srgbClr val="BF0071"/>
        </a:accent1>
        <a:accent2>
          <a:srgbClr val="808080"/>
        </a:accent2>
        <a:accent3>
          <a:srgbClr val="FBFBFB"/>
        </a:accent3>
        <a:accent4>
          <a:srgbClr val="000000"/>
        </a:accent4>
        <a:accent5>
          <a:srgbClr val="DCAABB"/>
        </a:accent5>
        <a:accent6>
          <a:srgbClr val="737373"/>
        </a:accent6>
        <a:hlink>
          <a:srgbClr val="BF0071"/>
        </a:hlink>
        <a:folHlink>
          <a:srgbClr val="777777"/>
        </a:folHlink>
      </a:clrScheme>
      <a:clrMap bg1="lt1" tx1="dk1" bg2="lt2" tx2="dk2" accent1="accent1" accent2="accent2" accent3="accent3" accent4="accent4" accent5="accent5" accent6="accent6" hlink="hlink" folHlink="folHlink"/>
    </a:extraClrScheme>
    <a:extraClrScheme>
      <a:clrScheme name="Bright colours jl 2">
        <a:dk1>
          <a:srgbClr val="000000"/>
        </a:dk1>
        <a:lt1>
          <a:srgbClr val="F8F8F8"/>
        </a:lt1>
        <a:dk2>
          <a:srgbClr val="642864"/>
        </a:dk2>
        <a:lt2>
          <a:srgbClr val="1C1C1C"/>
        </a:lt2>
        <a:accent1>
          <a:srgbClr val="642864"/>
        </a:accent1>
        <a:accent2>
          <a:srgbClr val="808080"/>
        </a:accent2>
        <a:accent3>
          <a:srgbClr val="FBFBFB"/>
        </a:accent3>
        <a:accent4>
          <a:srgbClr val="000000"/>
        </a:accent4>
        <a:accent5>
          <a:srgbClr val="B8ACB8"/>
        </a:accent5>
        <a:accent6>
          <a:srgbClr val="737373"/>
        </a:accent6>
        <a:hlink>
          <a:srgbClr val="642864"/>
        </a:hlink>
        <a:folHlink>
          <a:srgbClr val="777777"/>
        </a:folHlink>
      </a:clrScheme>
      <a:clrMap bg1="lt1" tx1="dk1" bg2="lt2" tx2="dk2" accent1="accent1" accent2="accent2" accent3="accent3" accent4="accent4" accent5="accent5" accent6="accent6" hlink="hlink" folHlink="folHlink"/>
    </a:extraClrScheme>
    <a:extraClrScheme>
      <a:clrScheme name="Bright colours jl 3">
        <a:dk1>
          <a:srgbClr val="000000"/>
        </a:dk1>
        <a:lt1>
          <a:srgbClr val="F8F8F8"/>
        </a:lt1>
        <a:dk2>
          <a:srgbClr val="0F5C9D"/>
        </a:dk2>
        <a:lt2>
          <a:srgbClr val="1C1C1C"/>
        </a:lt2>
        <a:accent1>
          <a:srgbClr val="0F5C9D"/>
        </a:accent1>
        <a:accent2>
          <a:srgbClr val="808080"/>
        </a:accent2>
        <a:accent3>
          <a:srgbClr val="FBFBFB"/>
        </a:accent3>
        <a:accent4>
          <a:srgbClr val="000000"/>
        </a:accent4>
        <a:accent5>
          <a:srgbClr val="AAB5CC"/>
        </a:accent5>
        <a:accent6>
          <a:srgbClr val="737373"/>
        </a:accent6>
        <a:hlink>
          <a:srgbClr val="0F5C9D"/>
        </a:hlink>
        <a:folHlink>
          <a:srgbClr val="777777"/>
        </a:folHlink>
      </a:clrScheme>
      <a:clrMap bg1="lt1" tx1="dk1" bg2="lt2" tx2="dk2" accent1="accent1" accent2="accent2" accent3="accent3" accent4="accent4" accent5="accent5" accent6="accent6" hlink="hlink" folHlink="folHlink"/>
    </a:extraClrScheme>
    <a:extraClrScheme>
      <a:clrScheme name="Bright colours jl 4">
        <a:dk1>
          <a:srgbClr val="000000"/>
        </a:dk1>
        <a:lt1>
          <a:srgbClr val="F8F8F8"/>
        </a:lt1>
        <a:dk2>
          <a:srgbClr val="FF6600"/>
        </a:dk2>
        <a:lt2>
          <a:srgbClr val="1C1C1C"/>
        </a:lt2>
        <a:accent1>
          <a:srgbClr val="FF6600"/>
        </a:accent1>
        <a:accent2>
          <a:srgbClr val="808080"/>
        </a:accent2>
        <a:accent3>
          <a:srgbClr val="FBFBFB"/>
        </a:accent3>
        <a:accent4>
          <a:srgbClr val="000000"/>
        </a:accent4>
        <a:accent5>
          <a:srgbClr val="FFB8AA"/>
        </a:accent5>
        <a:accent6>
          <a:srgbClr val="737373"/>
        </a:accent6>
        <a:hlink>
          <a:srgbClr val="FF6600"/>
        </a:hlink>
        <a:folHlink>
          <a:srgbClr val="777777"/>
        </a:folHlink>
      </a:clrScheme>
      <a:clrMap bg1="lt1" tx1="dk1" bg2="lt2" tx2="dk2" accent1="accent1" accent2="accent2" accent3="accent3" accent4="accent4" accent5="accent5" accent6="accent6" hlink="hlink" folHlink="folHlink"/>
    </a:extraClrScheme>
    <a:extraClrScheme>
      <a:clrScheme name="Bright colours jl 5">
        <a:dk1>
          <a:srgbClr val="000000"/>
        </a:dk1>
        <a:lt1>
          <a:srgbClr val="F8F8F8"/>
        </a:lt1>
        <a:dk2>
          <a:srgbClr val="12AD2B"/>
        </a:dk2>
        <a:lt2>
          <a:srgbClr val="1C1C1C"/>
        </a:lt2>
        <a:accent1>
          <a:srgbClr val="12AD2B"/>
        </a:accent1>
        <a:accent2>
          <a:srgbClr val="808080"/>
        </a:accent2>
        <a:accent3>
          <a:srgbClr val="FBFBFB"/>
        </a:accent3>
        <a:accent4>
          <a:srgbClr val="000000"/>
        </a:accent4>
        <a:accent5>
          <a:srgbClr val="AAD3AC"/>
        </a:accent5>
        <a:accent6>
          <a:srgbClr val="737373"/>
        </a:accent6>
        <a:hlink>
          <a:srgbClr val="12AD2B"/>
        </a:hlink>
        <a:folHlink>
          <a:srgbClr val="777777"/>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Rdg_PP_without_R_WHITE_slides</Template>
  <TotalTime>868</TotalTime>
  <Words>961</Words>
  <Application>Microsoft Office PowerPoint</Application>
  <PresentationFormat>On-screen Show (4:3)</PresentationFormat>
  <Paragraphs>107</Paragraphs>
  <Slides>27</Slides>
  <Notes>4</Notes>
  <HiddenSlides>4</HiddenSlides>
  <MMClips>2</MMClips>
  <ScaleCrop>false</ScaleCrop>
  <HeadingPairs>
    <vt:vector size="4" baseType="variant">
      <vt:variant>
        <vt:lpstr>Theme</vt:lpstr>
      </vt:variant>
      <vt:variant>
        <vt:i4>1</vt:i4>
      </vt:variant>
      <vt:variant>
        <vt:lpstr>Slide Titles</vt:lpstr>
      </vt:variant>
      <vt:variant>
        <vt:i4>27</vt:i4>
      </vt:variant>
    </vt:vector>
  </HeadingPairs>
  <TitlesOfParts>
    <vt:vector size="28" baseType="lpstr">
      <vt:lpstr>Bright colours jl</vt:lpstr>
      <vt:lpstr>CH2PH2:  Surfaces and Interfaces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Learning Outcomes</vt:lpstr>
    </vt:vector>
  </TitlesOfParts>
  <Company>University of Reading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scs07dn</dc:creator>
  <cp:lastModifiedBy>James Hallett</cp:lastModifiedBy>
  <cp:revision>397</cp:revision>
  <cp:lastPrinted>2006-09-19T14:59:33Z</cp:lastPrinted>
  <dcterms:created xsi:type="dcterms:W3CDTF">2009-08-10T15:23:00Z</dcterms:created>
  <dcterms:modified xsi:type="dcterms:W3CDTF">2026-02-10T12:24:57Z</dcterms:modified>
</cp:coreProperties>
</file>